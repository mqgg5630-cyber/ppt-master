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各位老师、同学好。今天我汇报的题目是《机器学习筛选鲜味肽》。鲜味是国际公认的第五种基本味觉，鲜味肽是能被 T1R1/T1R3 受体识别的短肽，也是新型调味品开发的热点。过去鲜味肽的发现高度依赖分离纯化和人工感官评价，成本高、周期长。而现在，机器学习让我们可以先在计算机里对成千上万条肽快速打分，再把最有希望的少数候选交给湿实验。目前主流模型预测准确率已经超过 90%，单条肽打分只需毫秒。下面我将从背景、技术路线、模型进展、应用案例和展望五个部分展开。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首先看鲜味肽是什么。鲜味感知主要依靠舌面的 T1R1/T1R3 异源二聚体受体，它属于 C 类 G 蛋白偶联受体，图中示意了一条肽链结合到受体 Venus flytrap 结构域的过程，橙色标记的就是酸性氨基酸 D 天冬氨酸和 E 谷氨酸。鲜味肽通常是 2 到 8 个氨基酸的短肽，分子量小于 3000 道尔顿，序列上普遍富含 D、E，A、S、G 等残基起协同作用；2025 年发表在 Food Chemistry 的可解释深度学习工作还识别出 D、E、Q、K、R 是关键残基。鲜味肽在肉、海鲜、菌菇，以及腐乳、酱油等大豆发酵食品中含量丰富，谷氨酸与 IMP、GMP 等 5′ 核苷酸还有协同增鲜效应。它的应用价值在于低钠健康调味品、发酵风味调控和蛋白副产物高值化，部分鲜味肽的鲜味强度可以达到味精的数倍。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传统鲜味肽筛选为什么难？右边这张图给出了答案。传统湿实验要走五步：蛋白水解、分离纯化、LC-MS 质谱鉴定、人工合成、最后人工感官评价。一条蛋白可以酶解出成百上千条肽，而每一条都要合成、评测，单条肽验证以周计，成本高、通量极低，大量鲜味肽因此被漏掉。图右侧的定性对比显示，机器学习虚拟筛选在通量上大幅领先，在成本和耗时上则显著下降。关键的转变是「先算后验」：计算先行富集候选，把湿实验集中到最有希望的少数肽上。这就是机器学习介入鲜味肽研究的根本动因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全局技术路线。干实验侧共五步：第一步数据收集，从味肽数据库和文献中获取已标注的鲜味肽；第二步虚拟酶解，按照蛋白酶切规则在计算机中把蛋白序列切成候选短肽库；第三步特征编码，把氨基酸序列转换成数值向量；第四步是核心——模型预测，用 SVM、随机森林或 BERT 等模型对每条肽打呈鲜概率分；第五步分子对接，模拟肽与 T1R1/T1R3 受体的结合模式。第六步进入湿实验：合成肽并做感官评价确证。大家注意底部的回注箭头——验证结果会回流为新的训练数据，形成数据飞轮，模型随研究推进持续改进。本质上，我们把「这条肽鲜不鲜」转化为一个监督学习二分类问题：f 序列映射到呈鲜概率。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具体看数据基础。正样本主要来自两个渠道：一是 BioPEP-UWM、BIOPEP 等味肽数据库，收录经实验验证的呈味肽序列；二是实验文献中经感官评价确证的肽，标签最可靠。负样本多取无鲜味或苦味肽，并严格控制类别平衡。候选库则靠虚拟酶解批量扩充：如左下示意，用 ExPASy PeptideCutter 这类工具，按胰蛋白酶、胃蛋白酶的酶切位点规则，把 UniProt 蛋白序列切成大量 2 到 8 肽。右侧是候选肽的逐级过滤：先卡长度和分子量，再用 PeptideRanker 以 0.5 概率阈值初筛生物活性，然后做毒性、致敏性、肠道稳定性等安全性过滤，最后评估吸收和半衰期等 ADMET 性质，得到高质量候选肽库。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数据规模的增长是模型进步的燃料，这张表列了三代基准数据集。最早的 UMP442 含 140 条鲜味肽、302 条非鲜味肽，iUmami-SCM 和 UMPred-FRL 都在其上评测；UMP499 扩充到 212 条正样本、287 条负样本，Umami-MRNN 使用；Umami-BERT 进一步整合出 UMP789。两张说明卡强调两点：第一，数据扩充直接支撑性能提升；第二，鲜味肽是少数类，模型若「全猜负类」也能虚高准确率，所以 iUP-BERT 等工作用 SMOTE 过采样合成少数类样本，显著提升了灵敏度。需要说明各研究划分训练测试集的方式不同，跨数据集比较要看趋势。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模型不能直接读字母序列，必须先编码。顶部展示转换过程：一条 E-G-D-S-E-R 六肽被映射成数十到数千维的数值向量。编码有两条路线。左侧是手工特征，依赖专家经验：AAC 氨基酸组成 20 维、DPC 二肽组成 400 维、PAAC/APAAC 拟氨基酸组成、CTD 组成转换分布特征，以及电荷、疏水性、pKa 等理化描述符，VirtuousUmami 还使用 Mordred 二维分子描述符。手工特征可解释但存在噪声和冗余。右侧是当前主流的深度表征：BERT/Transformer 先在海量蛋白序列上预训练，再把每个残基映射为带上下文语义的高维嵌入，两阶段微调后端到端学习，注意力权重还能定位关键残基，代表是 iUP-BERT 和 Umami-BERT。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算法本身经历三代。图中横向条带表示代表能力逐级提升：第一代传统机器学习，包括 SVM、随机森林、极端随机树、KNN、逻辑回归、偏最小二乘、GBDT，搭配手工特征，代表是 iUmami-SCM 和 UMPred-FRL；第二代深度学习，MLP、CNN、RNN/LSTM 自动学习特征，代表是 Umami-MRNN，用 MLP 加 RNN 达到 90.5% 准确率；第三代预训练大模型，BERT/Transformer 两阶段预训练加对比学习，iUP-BERT、Umami-BERT 和 2025 年的对比学习模型都属此类，准确率达到 0.94，且注意力可解释。底部是集成学习范例 UMPred-FRL：6 种算法配 7 种编码，独立测试集 ACC 0.888、MCC 0.735、灵敏度 0.786、平衡准确率 0.860，是传统路线的高峰。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模型好在哪里，不能只看一个数字。左侧甜甜圈示意五类指标要交叉考察：ACC 准确率最直观，但类别不平衡时会被多数类带偏；MCC 相关系数在 -1 到 1 之间、综合混淆矩阵，对不平衡数据最稳健；Sn 灵敏度即召回率，表示鲜味肽被找出的比例——漏筛等于漏掉一条新肽，筛选阶段尤其关键，iUP-BERT 相对前代灵敏度提升 13.6 到 25 个百分点，主要归功于 SMOTE；此外还有 BACC 平衡准确率和 auROC。底部深蓝条是验证协议：10 折交叉验证用于调参，独立测试集用于报告指标，分子对接提供机制证据，最后合成加感官评价确证。必须强调：比较模型要在同一独立测试集上，且指标高不等于感官呈鲜。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把代表性工作放到时间线上看脉络更清晰。2020 年 iUmami-SCM 用 SCM 评分卡，准确率 0.824，是首个专用预测器；2021 年 UMPred-FRL 集成 6 算法 7 编码，提升到 0.888；2022 年出现两个重要工作，iUP-BERT 把 BERT 嵌入与 SMOTE、SVM 结合，灵敏度大幅领先，同年 VirtuousUmami 用 Mordred 描述符做通用味觉预测并开源；2023 年 Umami-MRNN 达到 90.5%，Umami-BERT 两阶段架构在平衡集上达到 93.2%，还能用注意力做解释；2024 年 VmmScore/Mlp4Umami 把深度学习预测与分子对接打分一体化；2025 年对比学习模型准确率 0.9398，超越已有模型 2 到 9 个百分点。方法和数据双轮驱动，研究重心从「分得准」转向「可解释、可对接、可验证」。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这些模型大多提供免费工具，左边表格汇总了六个：iUmami-SCM 的 Web 服务器、UMPred-FRL 的 pmlabstack 服务器、iUP-BERT 在 aibiochem.net 的服务器、Umami-BERT 带注意力解释的服务器，以及两个开源方案——VirtuousUmami 在 GitHub 开源、支持 SMILES/FASTA/InChI 多种输入，VmmScore/Mlp4Umami 提供预测对接一体管线。配套资源还有 BIOPEP-UWM 肽库和 PeptideRanker 活性初筛。右侧深蓝卡是快速上手三步：第一步准备 FASTA 序列，第二步粘贴到服务器即可返回呈鲜概率和排名，第三步把高置信肽送对接和感官验证。本地部署开源工具还能对自建肽库做批量筛选，完全零成本起步。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这张柱状图汇总六个模型的准确率，纵轴从 0.80 起并标注了断裂轴，请大家注意差异被放大。iUmami-SCM 0.824，UMPred-FRL 0.888，iUP-BERT 约 0.91，Umami-MRNN 0.905，Umami-BERT 平衡集 0.932、非平衡集 95.0%，2025 年对比学习模型 0.94。橙色虚线是 90% 参考线——深度学习一代已稳定站上。右侧三个 KPI：最高准确率 94%、五年提升约 12 个百分点、MCC 最高达到 0.85。要说明的是，这些数字来自各文献各自测试集，口径不同，不能简单横向排名；但趋势非常明确：模型已足够准确，足以作为湿实验的前置过滤器。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光有分类分数还不够，分子对接提供机制层证据。左图示意肽段嵌入受体结合口袋：橙色是酸性残基 D，它与受体的 Arg277 残基形成关键盐桥——这在腐乳研究中被证实是 DFEGDV 等肽结合的核心；绿色虚线表示与口袋内其他残基的氢键网络。对接的原理是结构互补加能量匹配，搜索肽在口袋中的最优构象并以结合能打分。传统上用 AutoDock 等工具，但力场计算昂贵；VmmScore/Mlp4Umami 的思路是用机器学习优化对接打分函数来加速。对接回答的问题从「模型觉得它鲜」推进到「它为什么能结合受体」，让预测结果更可信，也为肽的改造设计指明位点。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一个完整跑通双轨范式的案例是 2025 年 Food Chemistry 的腐乳研究。流程四步：其一，肽组学追踪腐乳 0 到 90 天发酵，发现前 60 天是呈鲜关键窗口；其二，用随机森林等模型从肽库中筛出 637 条候选肽，模型准确率约 89%，其中 30% 以上来自 11 种大豆蛋白的特定位点；其三，分子对接按结合能锁定 5 条高结合力新肽；其四，合成后感官评价确证，阈值低至 0.22 到 0.38 毫摩尔每升，鲜味强度达到味精的 3 到 5 倍。表中是这五条肽：DFEGDV、GRGPTVTDP、NDDRDSYNL、RVPAGTTY、SDNFEY。机制上 D 残基与 Arg277 的盐桥是结合关键。这个案例证明：计算筛选把湿实验工作量压缩到极小，且预测、对接、感官三轨结果一致。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是挑战与展望。当前局限有三：数据规模小、标注仅数百条且口径不一，跨数据集泛化受限；可解释性仍浅，注意力虽能定位残基但机制解释有待补强；能力上还停留在「鲜不鲜」的分类，阈值、强度、增鲜协同等定量回归问题尚未突破。展望方向令人振奋：多任务多味觉学习、AI 从头设计鲜味肽——2025 年工作中的模块替换策略已经验证了这种设计思路；预测、对接、验证闭环走向自动化，并服务低钠调味品开发和蛋白副产物高值化。总结三句话：筛选周期从月缩短到秒，准确率站上 90%，「计算预测加实验验证」双轨范式已经成型。我们正从预测鲜味，走向设计鲜味。我的汇报到此结束，谢谢大家，欢迎提问。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umami_peptide_ml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umami_peptide_ml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d1e0b1ba94621f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f9d7504619382bc.png"/>
  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857625" y="1103128"/>
            <a:ext cx="8334375" cy="4651744"/>
            <a:chOff x="3857625" y="1103128"/>
            <a:chExt cx="8334375" cy="4651744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7625" y="1103128"/>
              <a:ext cx="8334375" cy="4651744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601980" y="1257300"/>
            <a:ext cx="4550957" cy="950595"/>
            <a:chOff x="601980" y="1257300"/>
            <a:chExt cx="4550957" cy="950595"/>
          </a:xfrm>
        </p:grpSpPr>
        <p:sp>
          <p:nvSpPr>
            <p:cNvPr id="4" name="Rectangle 4"/>
            <p:cNvSpPr/>
            <p:nvPr/>
          </p:nvSpPr>
          <p:spPr>
            <a:xfrm>
              <a:off x="609600" y="1257300"/>
              <a:ext cx="3028950" cy="323850"/>
            </a:xfrm>
            <a:prstGeom prst="roundRect">
              <a:avLst>
                <a:gd name="adj" fmla="val 50000"/>
              </a:avLst>
            </a:prstGeom>
            <a:solidFill>
              <a:srgbClr val="E2F2F0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62000" y="13620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65454" y="1346835"/>
              <a:ext cx="2825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食品风味化学 × 生物信息学 × 机器学习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914525"/>
              <a:ext cx="45509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Machine Learning Screening of Umami Peptides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2387918"/>
            <a:ext cx="4991252" cy="1795271"/>
            <a:chOff x="590550" y="2387918"/>
            <a:chExt cx="4991252" cy="1795271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23879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机器学习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550" y="3073718"/>
              <a:ext cx="296608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筛选</a:t>
              </a:r>
              <a:r>
                <a:rPr lang="zh-CN" sz="4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鲜味肽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3860482"/>
              <a:ext cx="49805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从序列到呈味：AI 驱动的鲜味肽高通量虚拟筛选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4476750"/>
            <a:ext cx="5524500" cy="762000"/>
            <a:chOff x="609600" y="4476750"/>
            <a:chExt cx="5524500" cy="762000"/>
          </a:xfrm>
        </p:grpSpPr>
        <p:sp>
          <p:nvSpPr>
            <p:cNvPr id="13" name="Rectangle 13"/>
            <p:cNvSpPr/>
            <p:nvPr/>
          </p:nvSpPr>
          <p:spPr>
            <a:xfrm>
              <a:off x="609600" y="4476750"/>
              <a:ext cx="1714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E2F2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8670" y="4576762"/>
              <a:ext cx="7861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&gt;90%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4964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模型预测准确率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14600" y="4476750"/>
              <a:ext cx="1714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E2F2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93670" y="457676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毫秒级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99385" y="4964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单条肽打分速度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19600" y="4476750"/>
              <a:ext cx="1714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E2F2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98670" y="4576762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万级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04385" y="4964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候选肽一次筛完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123" y="6057900"/>
            <a:ext cx="5308092" cy="397478"/>
            <a:chOff x="603123" y="6057900"/>
            <a:chExt cx="5308092" cy="397478"/>
          </a:xfrm>
        </p:grpSpPr>
        <p:sp>
          <p:nvSpPr>
            <p:cNvPr id="23" name="Line 23"/>
            <p:cNvSpPr/>
            <p:nvPr/>
          </p:nvSpPr>
          <p:spPr>
            <a:xfrm>
              <a:off x="609600" y="60579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3123" y="6206014"/>
              <a:ext cx="16154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汇报人 / 单位 / 日期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95139" y="62222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学术组会汇报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4566285" cy="852011"/>
            <a:chOff x="598170" y="469106"/>
            <a:chExt cx="4566285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1303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· 背景与问题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45662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鲜味肽：第五种味觉背后的小分子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0" y="1428750"/>
            <a:ext cx="3962400" cy="4191000"/>
            <a:chOff x="7620000" y="1428750"/>
            <a:chExt cx="3962400" cy="4191000"/>
          </a:xfrm>
        </p:grpSpPr>
        <p:sp>
          <p:nvSpPr>
            <p:cNvPr id="6" name="Rectangle 6"/>
            <p:cNvSpPr/>
            <p:nvPr/>
          </p:nvSpPr>
          <p:spPr>
            <a:xfrm>
              <a:off x="7620000" y="1428750"/>
              <a:ext cx="3962400" cy="4191000"/>
            </a:xfrm>
            <a:prstGeom prst="roundRect">
              <a:avLst>
                <a:gd name="adj" fmla="val 3365"/>
              </a:avLst>
            </a:prstGeom>
            <a:solidFill>
              <a:srgbClr val="FFFFFF"/>
            </a:solidFill>
            <a:ln w="14288">
              <a:solidFill>
                <a:srgbClr val="E2F2F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42123" y="1634014"/>
              <a:ext cx="30766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鲜味感知：肽链结合 T1R1/T1R3 受体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8191500" y="2590800"/>
              <a:ext cx="2819400" cy="2362200"/>
              <a:chOff x="8191500" y="2590800"/>
              <a:chExt cx="2819400" cy="2362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191500" y="2590800"/>
                <a:ext cx="762000" cy="23622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362200">
                    <a:moveTo>
                      <a:pt x="762000" y="2362200"/>
                    </a:moveTo>
                    <a:lnTo>
                      <a:pt x="762000" y="838200"/>
                    </a:lnTo>
                    <a:cubicBezTo>
                      <a:pt x="762000" y="584200"/>
                      <a:pt x="650875" y="393700"/>
                      <a:pt x="428625" y="266700"/>
                    </a:cubicBez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248900" y="2590800"/>
                <a:ext cx="762000" cy="23622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362200">
                    <a:moveTo>
                      <a:pt x="0" y="2362200"/>
                    </a:moveTo>
                    <a:lnTo>
                      <a:pt x="0" y="838200"/>
                    </a:lnTo>
                    <a:cubicBezTo>
                      <a:pt x="0" y="584200"/>
                      <a:pt x="111125" y="393700"/>
                      <a:pt x="333375" y="266700"/>
                    </a:cubicBezTo>
                    <a:lnTo>
                      <a:pt x="76200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</p:grpSp>
        <p:sp>
          <p:nvSpPr>
            <p:cNvPr id="11" name="Ellipse 11"/>
            <p:cNvSpPr/>
            <p:nvPr/>
          </p:nvSpPr>
          <p:spPr>
            <a:xfrm>
              <a:off x="8820150" y="49720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115550" y="49720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11439" y="5182552"/>
              <a:ext cx="2579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T1R1 / T1R3 异源二聚体（C 类 GPCR）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705725" y="2105025"/>
              <a:ext cx="2971800" cy="971550"/>
              <a:chOff x="7705725" y="2105025"/>
              <a:chExt cx="2971800" cy="97155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7981950" y="2343150"/>
                <a:ext cx="3238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190500">
                    <a:moveTo>
                      <a:pt x="0" y="0"/>
                    </a:moveTo>
                    <a:lnTo>
                      <a:pt x="323850" y="190500"/>
                    </a:lnTo>
                  </a:path>
                </a:pathLst>
              </a:custGeom>
              <a:noFill/>
              <a:ln w="38100">
                <a:solidFill>
                  <a:srgbClr val="B9C6CF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8629650" y="2695575"/>
                <a:ext cx="38100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61925">
                    <a:moveTo>
                      <a:pt x="0" y="0"/>
                    </a:moveTo>
                    <a:lnTo>
                      <a:pt x="381000" y="161925"/>
                    </a:lnTo>
                  </a:path>
                </a:pathLst>
              </a:custGeom>
              <a:noFill/>
              <a:ln w="38100">
                <a:solidFill>
                  <a:srgbClr val="B9C6CF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9353550" y="2857500"/>
                <a:ext cx="3619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14300">
                    <a:moveTo>
                      <a:pt x="0" y="114300"/>
                    </a:moveTo>
                    <a:lnTo>
                      <a:pt x="361950" y="0"/>
                    </a:lnTo>
                  </a:path>
                </a:pathLst>
              </a:custGeom>
              <a:noFill/>
              <a:ln w="38100">
                <a:solidFill>
                  <a:srgbClr val="B9C6CF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0058400" y="2581275"/>
                <a:ext cx="3238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171450">
                    <a:moveTo>
                      <a:pt x="0" y="171450"/>
                    </a:moveTo>
                    <a:lnTo>
                      <a:pt x="323850" y="0"/>
                    </a:lnTo>
                  </a:path>
                </a:pathLst>
              </a:custGeom>
              <a:noFill/>
              <a:ln w="38100">
                <a:solidFill>
                  <a:srgbClr val="B9C6CF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7705725" y="2105025"/>
                <a:ext cx="323850" cy="3238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8296275" y="2447925"/>
                <a:ext cx="323850" cy="3238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9020175" y="2752725"/>
                <a:ext cx="323850" cy="3238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9725025" y="2638425"/>
                <a:ext cx="323850" cy="323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10353675" y="2343150"/>
                <a:ext cx="323850" cy="3238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4" name="Line 24"/>
            <p:cNvSpPr/>
            <p:nvPr/>
          </p:nvSpPr>
          <p:spPr>
            <a:xfrm>
              <a:off x="9001125" y="3076575"/>
              <a:ext cx="180975" cy="276225"/>
            </a:xfrm>
            <a:custGeom>
              <a:avLst/>
              <a:gdLst/>
              <a:ahLst/>
              <a:cxnLst/>
              <a:rect l="l" t="t" r="r" b="b"/>
              <a:pathLst>
                <a:path w="180975" h="276225">
                  <a:moveTo>
                    <a:pt x="180975" y="0"/>
                  </a:moveTo>
                  <a:lnTo>
                    <a:pt x="0" y="276225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prstDash val="dash"/>
            </a:ln>
          </p:spPr>
        </p:sp>
        <p:sp>
          <p:nvSpPr>
            <p:cNvPr id="25" name="Line 25"/>
            <p:cNvSpPr/>
            <p:nvPr/>
          </p:nvSpPr>
          <p:spPr>
            <a:xfrm>
              <a:off x="9886950" y="2962275"/>
              <a:ext cx="314325" cy="352425"/>
            </a:xfrm>
            <a:custGeom>
              <a:avLst/>
              <a:gdLst/>
              <a:ahLst/>
              <a:cxnLst/>
              <a:rect l="l" t="t" r="r" b="b"/>
              <a:pathLst>
                <a:path w="314325" h="352425">
                  <a:moveTo>
                    <a:pt x="0" y="0"/>
                  </a:moveTo>
                  <a:lnTo>
                    <a:pt x="314325" y="352425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prstDash val="dash"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92678" y="3380899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氢键 / 盐桥相互作用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7896225" y="4029075"/>
              <a:ext cx="2098777" cy="825436"/>
              <a:chOff x="7896225" y="4029075"/>
              <a:chExt cx="2098777" cy="82543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896225" y="402907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09966" y="4039552"/>
                <a:ext cx="18850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酸性残基 D / E（关键呈鲜）</a:t>
                </a:r>
              </a:p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896225" y="43338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109966" y="43443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其他氨基酸残基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896225" y="463867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109966" y="4649152"/>
                <a:ext cx="12428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/ S / G 协同残基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7843647" y="51144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示意图，非真实构象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1428750"/>
            <a:ext cx="6743700" cy="1428750"/>
            <a:chOff x="609600" y="1428750"/>
            <a:chExt cx="6743700" cy="1428750"/>
          </a:xfrm>
        </p:grpSpPr>
        <p:sp>
          <p:nvSpPr>
            <p:cNvPr id="36" name="Rectangle 36"/>
            <p:cNvSpPr/>
            <p:nvPr/>
          </p:nvSpPr>
          <p:spPr>
            <a:xfrm>
              <a:off x="609600" y="1428750"/>
              <a:ext cx="674370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E6EFF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9600" y="1428750"/>
              <a:ext cx="7620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7161" y="16559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什么是鲜味肽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7923" y="2015014"/>
              <a:ext cx="51622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鲜味（umami）是国际公认的第五种基本味觉，主要由 T1R1/T1R3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7923" y="228171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异源二聚体受体感知；鲜味肽是能结合该受体、赋予食品鲜美滋味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7923" y="2548414"/>
              <a:ext cx="38791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的短肽，多为 2–8 肽，分子量通常小于 </a:t>
              </a:r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3000 Da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09600" y="3048000"/>
            <a:ext cx="6743700" cy="2571750"/>
            <a:chOff x="609600" y="3048000"/>
            <a:chExt cx="6743700" cy="2571750"/>
          </a:xfrm>
        </p:grpSpPr>
        <p:grpSp>
          <p:nvGrpSpPr>
            <p:cNvPr id="59" name="Group 59"/>
            <p:cNvGrpSpPr/>
            <p:nvPr/>
          </p:nvGrpSpPr>
          <p:grpSpPr>
            <a:xfrm>
              <a:off x="609600" y="3048000"/>
              <a:ext cx="2560982" cy="2571750"/>
              <a:chOff x="609600" y="3048000"/>
              <a:chExt cx="2560982" cy="25717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609600" y="3048000"/>
                <a:ext cx="2133600" cy="257175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800100" y="3276600"/>
                <a:ext cx="457200" cy="457200"/>
              </a:xfrm>
              <a:prstGeom prst="ellipse">
                <a:avLst/>
              </a:prstGeom>
              <a:solidFill>
                <a:srgbClr val="E2F2F0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914400" y="3381839"/>
                <a:ext cx="238124" cy="247185"/>
                <a:chOff x="914400" y="3381839"/>
                <a:chExt cx="238124" cy="247185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990600" y="34671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1028700" y="361949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914400" y="3467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1142999" y="3467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914400" y="3517900"/>
                  <a:ext cx="63500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90170">
                      <a:moveTo>
                        <a:pt x="63500" y="90170"/>
                      </a:moveTo>
                      <a:cubicBezTo>
                        <a:pt x="28274" y="72988"/>
                        <a:pt x="4307" y="38956"/>
                        <a:pt x="0" y="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1079499" y="3517900"/>
                  <a:ext cx="63500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90170">
                      <a:moveTo>
                        <a:pt x="0" y="90170"/>
                      </a:moveTo>
                      <a:cubicBezTo>
                        <a:pt x="35226" y="72988"/>
                        <a:pt x="59193" y="38956"/>
                        <a:pt x="63500" y="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955040" y="3381839"/>
                  <a:ext cx="144780" cy="34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780" h="34461">
                      <a:moveTo>
                        <a:pt x="0" y="34461"/>
                      </a:moveTo>
                      <a:cubicBezTo>
                        <a:pt x="42108" y="0"/>
                        <a:pt x="102672" y="0"/>
                        <a:pt x="144780" y="34461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831342" y="38928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序列有规律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32294" y="4217908"/>
                <a:ext cx="141724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普遍富含酸性氨基酸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32294" y="4446508"/>
                <a:ext cx="2338288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D（天冬氨酸）、E（谷氨酸）；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32294" y="4675108"/>
                <a:ext cx="181854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A、S、G 等可协同呈鲜。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32866" y="5030152"/>
                <a:ext cx="14948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2025 年可解释深度学习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32866" y="5239702"/>
                <a:ext cx="191490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识别 D/E/Q/K/R 为关键残基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2914650" y="3048000"/>
              <a:ext cx="2175510" cy="2571750"/>
              <a:chOff x="2914650" y="3048000"/>
              <a:chExt cx="2175510" cy="257175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2914650" y="3048000"/>
                <a:ext cx="2133600" cy="257175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3105150" y="3276600"/>
                <a:ext cx="457200" cy="457200"/>
              </a:xfrm>
              <a:prstGeom prst="ellipse">
                <a:avLst/>
              </a:prstGeom>
              <a:solidFill>
                <a:srgbClr val="FCEBDF"/>
              </a:solidFill>
              <a:ln>
                <a:noFill/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3219450" y="3403600"/>
                <a:ext cx="228599" cy="215900"/>
                <a:chOff x="3219450" y="3403600"/>
                <a:chExt cx="228599" cy="215900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3219450" y="3492500"/>
                  <a:ext cx="228599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27000">
                      <a:moveTo>
                        <a:pt x="12700" y="0"/>
                      </a:moveTo>
                      <a:lnTo>
                        <a:pt x="215899" y="0"/>
                      </a:lnTo>
                      <a:cubicBezTo>
                        <a:pt x="222913" y="0"/>
                        <a:pt x="228599" y="5686"/>
                        <a:pt x="228599" y="12700"/>
                      </a:cubicBezTo>
                      <a:lnTo>
                        <a:pt x="228599" y="19050"/>
                      </a:lnTo>
                      <a:cubicBezTo>
                        <a:pt x="228599" y="38100"/>
                        <a:pt x="196634" y="89827"/>
                        <a:pt x="177800" y="101600"/>
                      </a:cubicBezTo>
                      <a:lnTo>
                        <a:pt x="177800" y="114300"/>
                      </a:lnTo>
                      <a:cubicBezTo>
                        <a:pt x="177800" y="121314"/>
                        <a:pt x="172114" y="127000"/>
                        <a:pt x="165100" y="127000"/>
                      </a:cubicBezTo>
                      <a:lnTo>
                        <a:pt x="63500" y="127000"/>
                      </a:lnTo>
                      <a:cubicBezTo>
                        <a:pt x="56486" y="127000"/>
                        <a:pt x="50800" y="121314"/>
                        <a:pt x="50800" y="114300"/>
                      </a:cubicBezTo>
                      <a:lnTo>
                        <a:pt x="50800" y="101600"/>
                      </a:lnTo>
                      <a:cubicBezTo>
                        <a:pt x="29375" y="88214"/>
                        <a:pt x="0" y="38100"/>
                        <a:pt x="0" y="19050"/>
                      </a:cubicBezTo>
                      <a:lnTo>
                        <a:pt x="0" y="12700"/>
                      </a:lnTo>
                      <a:cubicBezTo>
                        <a:pt x="0" y="5686"/>
                        <a:pt x="5686" y="0"/>
                        <a:pt x="12700" y="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3320839" y="3403600"/>
                  <a:ext cx="1291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10" h="50800">
                      <a:moveTo>
                        <a:pt x="12910" y="0"/>
                      </a:moveTo>
                      <a:cubicBezTo>
                        <a:pt x="4750" y="5857"/>
                        <a:pt x="0" y="15358"/>
                        <a:pt x="210" y="25400"/>
                      </a:cubicBezTo>
                      <a:cubicBezTo>
                        <a:pt x="0" y="35442"/>
                        <a:pt x="4750" y="44943"/>
                        <a:pt x="12910" y="508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3371639" y="3403600"/>
                  <a:ext cx="1291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10" h="50800">
                      <a:moveTo>
                        <a:pt x="12910" y="0"/>
                      </a:moveTo>
                      <a:cubicBezTo>
                        <a:pt x="4750" y="5857"/>
                        <a:pt x="0" y="15358"/>
                        <a:pt x="210" y="25400"/>
                      </a:cubicBezTo>
                      <a:cubicBezTo>
                        <a:pt x="0" y="35442"/>
                        <a:pt x="4750" y="44943"/>
                        <a:pt x="12910" y="508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3270039" y="3403600"/>
                  <a:ext cx="1291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10" h="50800">
                      <a:moveTo>
                        <a:pt x="12910" y="0"/>
                      </a:moveTo>
                      <a:cubicBezTo>
                        <a:pt x="4750" y="5857"/>
                        <a:pt x="0" y="15358"/>
                        <a:pt x="210" y="25400"/>
                      </a:cubicBezTo>
                      <a:cubicBezTo>
                        <a:pt x="0" y="35442"/>
                        <a:pt x="4750" y="44943"/>
                        <a:pt x="12910" y="508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67" name="TextBox 67"/>
              <p:cNvSpPr txBox="1"/>
              <p:nvPr/>
            </p:nvSpPr>
            <p:spPr>
              <a:xfrm>
                <a:off x="3136392" y="38928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来源很广泛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3137344" y="421790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肉、海鲜、菌菇等蛋白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3137344" y="444650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水解物；大豆发酵食品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3137344" y="4675108"/>
                <a:ext cx="1885721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（腐乳、酱油）中尤为丰富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3137916" y="5030152"/>
                <a:ext cx="12757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谷氨酸与 5′-核苷酸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137916" y="5239702"/>
                <a:ext cx="19522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（IMP/GMP）有协同增鲜效应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5219700" y="3048000"/>
              <a:ext cx="2133600" cy="2571750"/>
              <a:chOff x="5219700" y="3048000"/>
              <a:chExt cx="2133600" cy="257175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5219700" y="3048000"/>
                <a:ext cx="2133600" cy="257175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5410200" y="3276600"/>
                <a:ext cx="457200" cy="4572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5561358" y="3390900"/>
                <a:ext cx="154884" cy="228599"/>
                <a:chOff x="5561358" y="3390900"/>
                <a:chExt cx="154884" cy="228599"/>
              </a:xfrm>
            </p:grpSpPr>
            <p:sp>
              <p:nvSpPr>
                <p:cNvPr id="76" name="Freeform 76"/>
                <p:cNvSpPr/>
                <p:nvPr/>
              </p:nvSpPr>
              <p:spPr>
                <a:xfrm>
                  <a:off x="5600700" y="339090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5613400" y="3467100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5561358" y="3390900"/>
                  <a:ext cx="154884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884" h="228599">
                      <a:moveTo>
                        <a:pt x="52042" y="0"/>
                      </a:moveTo>
                      <a:lnTo>
                        <a:pt x="52042" y="76200"/>
                      </a:lnTo>
                      <a:lnTo>
                        <a:pt x="1242" y="215899"/>
                      </a:lnTo>
                      <a:cubicBezTo>
                        <a:pt x="0" y="218399"/>
                        <a:pt x="3" y="221336"/>
                        <a:pt x="1252" y="223832"/>
                      </a:cubicBezTo>
                      <a:cubicBezTo>
                        <a:pt x="2500" y="226329"/>
                        <a:pt x="4848" y="228094"/>
                        <a:pt x="7592" y="228599"/>
                      </a:cubicBezTo>
                      <a:lnTo>
                        <a:pt x="147292" y="228599"/>
                      </a:lnTo>
                      <a:cubicBezTo>
                        <a:pt x="150037" y="228094"/>
                        <a:pt x="152385" y="226329"/>
                        <a:pt x="153633" y="223832"/>
                      </a:cubicBezTo>
                      <a:cubicBezTo>
                        <a:pt x="154881" y="221336"/>
                        <a:pt x="154884" y="218399"/>
                        <a:pt x="153642" y="215899"/>
                      </a:cubicBezTo>
                      <a:lnTo>
                        <a:pt x="102842" y="76200"/>
                      </a:lnTo>
                      <a:lnTo>
                        <a:pt x="102842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5441442" y="38928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应用价值高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5442394" y="421790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开发低钠健康调味品、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5442394" y="4446508"/>
                <a:ext cx="141724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发酵食品风味调控、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5442394" y="467510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蛋白副产物高值化利用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5442966" y="503015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部分鲜味肽鲜味强度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5442966" y="5239702"/>
                <a:ext cx="16311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可达味精（MSG）的数倍</a:t>
                </a:r>
              </a:p>
            </p:txBody>
          </p:sp>
        </p:grpSp>
      </p:grpSp>
      <p:grpSp>
        <p:nvGrpSpPr>
          <p:cNvPr id="91" name="Group 91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88" name="Line 88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04647" y="6543199"/>
              <a:ext cx="59223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来源：Characterization and evaluation of umami taste 综述；JBC 2013；Food Chemistry 2025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5172075" cy="852011"/>
            <a:chOff x="598170" y="469106"/>
            <a:chExt cx="5172075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1303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· 背景与问题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传统筛选：在肽的海洋里「大海捞针」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1428750"/>
            <a:ext cx="7048500" cy="1390650"/>
            <a:chOff x="609600" y="1428750"/>
            <a:chExt cx="7048500" cy="13906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7048500" cy="1390650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4288">
              <a:solidFill>
                <a:srgbClr val="E6EFF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1342" y="16068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传统湿实验路径：逐肽分离、逐肽验证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838200" y="1943100"/>
              <a:ext cx="6591300" cy="495300"/>
              <a:chOff x="838200" y="1943100"/>
              <a:chExt cx="6591300" cy="4953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838200" y="1943100"/>
                <a:ext cx="10287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53554" y="2035254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9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蛋白水解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47462" y="2237899"/>
                <a:ext cx="61017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酶解/发酵</a:t>
                </a:r>
              </a:p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1939131" y="2128838"/>
                <a:ext cx="122238" cy="104775"/>
                <a:chOff x="1939131" y="2128838"/>
                <a:chExt cx="122238" cy="104775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939131" y="2181225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2008981" y="218122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52388"/>
                      </a:moveTo>
                      <a:lnTo>
                        <a:pt x="5238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008981" y="212883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52388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</p:grpSp>
          <p:sp>
            <p:nvSpPr>
              <p:cNvPr id="15" name="Rectangle 15"/>
              <p:cNvSpPr/>
              <p:nvPr/>
            </p:nvSpPr>
            <p:spPr>
              <a:xfrm>
                <a:off x="2152650" y="1943100"/>
                <a:ext cx="10287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368004" y="2035254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9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分离纯化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361912" y="2237899"/>
                <a:ext cx="61017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色谱/超滤</a:t>
                </a:r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3253581" y="2128838"/>
                <a:ext cx="122238" cy="104775"/>
                <a:chOff x="3253581" y="2128838"/>
                <a:chExt cx="122238" cy="104775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3253581" y="2181225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323431" y="218122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52388"/>
                      </a:moveTo>
                      <a:lnTo>
                        <a:pt x="5238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323431" y="212883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52388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</p:grpSp>
          <p:sp>
            <p:nvSpPr>
              <p:cNvPr id="22" name="Rectangle 22"/>
              <p:cNvSpPr/>
              <p:nvPr/>
            </p:nvSpPr>
            <p:spPr>
              <a:xfrm>
                <a:off x="3467100" y="1943100"/>
                <a:ext cx="10287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682454" y="2035254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9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质谱鉴定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641949" y="2237899"/>
                <a:ext cx="67900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LC-MS/MS</a:t>
                </a:r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4568031" y="2128838"/>
                <a:ext cx="122238" cy="104775"/>
                <a:chOff x="4568031" y="2128838"/>
                <a:chExt cx="122238" cy="104775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4568031" y="2181225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637881" y="218122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52388"/>
                      </a:moveTo>
                      <a:lnTo>
                        <a:pt x="5238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637881" y="212883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52388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</p:grpSp>
          <p:sp>
            <p:nvSpPr>
              <p:cNvPr id="29" name="Rectangle 29"/>
              <p:cNvSpPr/>
              <p:nvPr/>
            </p:nvSpPr>
            <p:spPr>
              <a:xfrm>
                <a:off x="4781550" y="1943100"/>
                <a:ext cx="1028700" cy="495300"/>
              </a:xfrm>
              <a:prstGeom prst="roundRect">
                <a:avLst>
                  <a:gd name="adj" fmla="val 15385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996904" y="2035254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9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人工合成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027092" y="22378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固相合成</a:t>
                </a:r>
              </a:p>
            </p:txBody>
          </p:sp>
          <p:grpSp>
            <p:nvGrpSpPr>
              <p:cNvPr id="35" name="Group 35"/>
              <p:cNvGrpSpPr/>
              <p:nvPr/>
            </p:nvGrpSpPr>
            <p:grpSpPr>
              <a:xfrm>
                <a:off x="5882481" y="2128838"/>
                <a:ext cx="122238" cy="104775"/>
                <a:chOff x="5882481" y="2128838"/>
                <a:chExt cx="122238" cy="104775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5882481" y="2181225"/>
                  <a:ext cx="1222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8" h="9525">
                      <a:moveTo>
                        <a:pt x="0" y="0"/>
                      </a:moveTo>
                      <a:lnTo>
                        <a:pt x="12223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5952331" y="218122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52388"/>
                      </a:moveTo>
                      <a:lnTo>
                        <a:pt x="52388" y="0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5952331" y="212883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lnTo>
                        <a:pt x="52388" y="52388"/>
                      </a:lnTo>
                    </a:path>
                  </a:pathLst>
                </a:custGeom>
                <a:noFill/>
                <a:ln w="17463">
                  <a:solidFill>
                    <a:srgbClr val="9AA8B3"/>
                  </a:solidFill>
                </a:ln>
              </p:spPr>
            </p:sp>
          </p:grpSp>
          <p:sp>
            <p:nvSpPr>
              <p:cNvPr id="36" name="Rectangle 36"/>
              <p:cNvSpPr/>
              <p:nvPr/>
            </p:nvSpPr>
            <p:spPr>
              <a:xfrm>
                <a:off x="6096000" y="1943100"/>
                <a:ext cx="13335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CEBDF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463754" y="2035254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9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感官评价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325734" y="2237899"/>
                <a:ext cx="8740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滋味稀释/阈值</a:t>
                </a: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833056" y="2576751"/>
              <a:ext cx="377655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一个蛋白可酶解出成百上千条肽 —— 周期以「月」计，通量极低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09600" y="3009900"/>
            <a:ext cx="7048500" cy="2381250"/>
            <a:chOff x="609600" y="3009900"/>
            <a:chExt cx="7048500" cy="2381250"/>
          </a:xfrm>
        </p:grpSpPr>
        <p:grpSp>
          <p:nvGrpSpPr>
            <p:cNvPr id="51" name="Group 51"/>
            <p:cNvGrpSpPr/>
            <p:nvPr/>
          </p:nvGrpSpPr>
          <p:grpSpPr>
            <a:xfrm>
              <a:off x="609600" y="3009900"/>
              <a:ext cx="2209800" cy="2381250"/>
              <a:chOff x="609600" y="3009900"/>
              <a:chExt cx="2209800" cy="23812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09600" y="3009900"/>
                <a:ext cx="2209800" cy="2381250"/>
              </a:xfrm>
              <a:prstGeom prst="roundRect">
                <a:avLst>
                  <a:gd name="adj" fmla="val 6034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819150" y="3238500"/>
                <a:ext cx="457200" cy="457200"/>
              </a:xfrm>
              <a:prstGeom prst="ellipse">
                <a:avLst/>
              </a:prstGeom>
              <a:solidFill>
                <a:srgbClr val="FCEBDF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933450" y="3352800"/>
                <a:ext cx="228599" cy="228599"/>
                <a:chOff x="933450" y="3352800"/>
                <a:chExt cx="228599" cy="228599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933450" y="3352800"/>
                  <a:ext cx="228599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28599">
                      <a:moveTo>
                        <a:pt x="0" y="114300"/>
                      </a:moveTo>
                      <a:cubicBezTo>
                        <a:pt x="0" y="177426"/>
                        <a:pt x="51174" y="228599"/>
                        <a:pt x="114300" y="228599"/>
                      </a:cubicBezTo>
                      <a:cubicBezTo>
                        <a:pt x="177426" y="228599"/>
                        <a:pt x="228599" y="177426"/>
                        <a:pt x="228599" y="114300"/>
                      </a:cubicBezTo>
                      <a:cubicBezTo>
                        <a:pt x="228599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1047750" y="3403600"/>
                  <a:ext cx="381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01600">
                      <a:moveTo>
                        <a:pt x="0" y="0"/>
                      </a:moveTo>
                      <a:lnTo>
                        <a:pt x="0" y="63500"/>
                      </a:lnTo>
                      <a:lnTo>
                        <a:pt x="38100" y="1016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831342" y="38547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耗时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32294" y="4179808"/>
                <a:ext cx="141724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分离纯化与人工感官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2294" y="440840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评价步骤多、周期长，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2294" y="4637008"/>
                <a:ext cx="126108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单条肽验证以周计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3028950" y="3009900"/>
              <a:ext cx="2209800" cy="2381250"/>
              <a:chOff x="3028950" y="3009900"/>
              <a:chExt cx="2209800" cy="23812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3028950" y="3009900"/>
                <a:ext cx="2209800" cy="2381250"/>
              </a:xfrm>
              <a:prstGeom prst="roundRect">
                <a:avLst>
                  <a:gd name="adj" fmla="val 6034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3238500" y="3238500"/>
                <a:ext cx="457200" cy="457200"/>
              </a:xfrm>
              <a:prstGeom prst="ellipse">
                <a:avLst/>
              </a:prstGeom>
              <a:solidFill>
                <a:srgbClr val="FCEBDF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3352800" y="3352800"/>
                <a:ext cx="228599" cy="228599"/>
                <a:chOff x="3352800" y="3352800"/>
                <a:chExt cx="228599" cy="228599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3352800" y="3352800"/>
                  <a:ext cx="228599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28599">
                      <a:moveTo>
                        <a:pt x="0" y="114300"/>
                      </a:moveTo>
                      <a:cubicBezTo>
                        <a:pt x="0" y="177426"/>
                        <a:pt x="51174" y="228599"/>
                        <a:pt x="114300" y="228599"/>
                      </a:cubicBezTo>
                      <a:cubicBezTo>
                        <a:pt x="177426" y="228599"/>
                        <a:pt x="228599" y="177426"/>
                        <a:pt x="228599" y="114300"/>
                      </a:cubicBezTo>
                      <a:cubicBezTo>
                        <a:pt x="228599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3429000" y="3415984"/>
                  <a:ext cx="76200" cy="10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02231">
                      <a:moveTo>
                        <a:pt x="73660" y="13016"/>
                      </a:moveTo>
                      <a:cubicBezTo>
                        <a:pt x="68972" y="4884"/>
                        <a:pt x="60181" y="0"/>
                        <a:pt x="50800" y="316"/>
                      </a:cubicBezTo>
                      <a:lnTo>
                        <a:pt x="25400" y="316"/>
                      </a:lnTo>
                      <a:cubicBezTo>
                        <a:pt x="11372" y="316"/>
                        <a:pt x="0" y="11688"/>
                        <a:pt x="0" y="25716"/>
                      </a:cubicBezTo>
                      <a:cubicBezTo>
                        <a:pt x="0" y="39744"/>
                        <a:pt x="11372" y="51116"/>
                        <a:pt x="25400" y="51116"/>
                      </a:cubicBezTo>
                      <a:lnTo>
                        <a:pt x="50800" y="51116"/>
                      </a:lnTo>
                      <a:cubicBezTo>
                        <a:pt x="64828" y="51116"/>
                        <a:pt x="76200" y="62488"/>
                        <a:pt x="76200" y="76516"/>
                      </a:cubicBezTo>
                      <a:cubicBezTo>
                        <a:pt x="76200" y="90544"/>
                        <a:pt x="64828" y="101916"/>
                        <a:pt x="50800" y="101916"/>
                      </a:cubicBezTo>
                      <a:lnTo>
                        <a:pt x="25400" y="101916"/>
                      </a:lnTo>
                      <a:cubicBezTo>
                        <a:pt x="16019" y="102231"/>
                        <a:pt x="7228" y="97348"/>
                        <a:pt x="2540" y="89216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3467100" y="3403600"/>
                  <a:ext cx="95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7000">
                      <a:moveTo>
                        <a:pt x="0" y="0"/>
                      </a:moveTo>
                      <a:lnTo>
                        <a:pt x="0" y="1270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3250692" y="38547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昂贵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251644" y="4179808"/>
                <a:ext cx="141724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肽合成、质谱机时与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3251644" y="4408408"/>
                <a:ext cx="126108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评价人力成本高，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3251644" y="4637008"/>
                <a:ext cx="110492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难以大规模铺开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5448300" y="3009900"/>
              <a:ext cx="2209800" cy="2381250"/>
              <a:chOff x="5448300" y="3009900"/>
              <a:chExt cx="2209800" cy="238125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5448300" y="3009900"/>
                <a:ext cx="2209800" cy="2381250"/>
              </a:xfrm>
              <a:prstGeom prst="roundRect">
                <a:avLst>
                  <a:gd name="adj" fmla="val 6034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5657850" y="3238500"/>
                <a:ext cx="457200" cy="457200"/>
              </a:xfrm>
              <a:prstGeom prst="ellipse">
                <a:avLst/>
              </a:prstGeom>
              <a:solidFill>
                <a:srgbClr val="FCEBDF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5784850" y="3365500"/>
                <a:ext cx="203199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15899">
                    <a:moveTo>
                      <a:pt x="0" y="0"/>
                    </a:moveTo>
                    <a:lnTo>
                      <a:pt x="203199" y="0"/>
                    </a:lnTo>
                    <a:lnTo>
                      <a:pt x="203199" y="27584"/>
                    </a:lnTo>
                    <a:cubicBezTo>
                      <a:pt x="203198" y="34320"/>
                      <a:pt x="200521" y="40780"/>
                      <a:pt x="195757" y="45542"/>
                    </a:cubicBezTo>
                    <a:lnTo>
                      <a:pt x="139700" y="101600"/>
                    </a:lnTo>
                    <a:lnTo>
                      <a:pt x="139700" y="190500"/>
                    </a:lnTo>
                    <a:lnTo>
                      <a:pt x="63500" y="215899"/>
                    </a:lnTo>
                    <a:lnTo>
                      <a:pt x="63500" y="107950"/>
                    </a:lnTo>
                    <a:lnTo>
                      <a:pt x="6604" y="45364"/>
                    </a:lnTo>
                    <a:cubicBezTo>
                      <a:pt x="2355" y="40690"/>
                      <a:pt x="1" y="34600"/>
                      <a:pt x="0" y="28283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5670042" y="38547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低通量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5670994" y="4179808"/>
                <a:ext cx="126108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万级候选肽中只能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5670994" y="4408408"/>
                <a:ext cx="126108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验证极小一部分，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5670994" y="4637008"/>
                <a:ext cx="126108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大量鲜味肽被漏掉</a:t>
                </a:r>
              </a:p>
            </p:txBody>
          </p:sp>
        </p:grpSp>
      </p:grpSp>
      <p:grpSp>
        <p:nvGrpSpPr>
          <p:cNvPr id="97" name="Group 97"/>
          <p:cNvGrpSpPr/>
          <p:nvPr/>
        </p:nvGrpSpPr>
        <p:grpSpPr>
          <a:xfrm>
            <a:off x="7962900" y="1428750"/>
            <a:ext cx="3619500" cy="3962400"/>
            <a:chOff x="7962900" y="1428750"/>
            <a:chExt cx="3619500" cy="3962400"/>
          </a:xfrm>
        </p:grpSpPr>
        <p:grpSp>
          <p:nvGrpSpPr>
            <p:cNvPr id="96" name="Group 96"/>
            <p:cNvGrpSpPr/>
            <p:nvPr/>
          </p:nvGrpSpPr>
          <p:grpSpPr>
            <a:xfrm>
              <a:off x="7962900" y="1428750"/>
              <a:ext cx="3619500" cy="3962400"/>
              <a:chOff x="7962900" y="1428750"/>
              <a:chExt cx="3619500" cy="39624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7962900" y="1428750"/>
                <a:ext cx="3619500" cy="3962400"/>
              </a:xfrm>
              <a:prstGeom prst="roundRect">
                <a:avLst>
                  <a:gd name="adj" fmla="val 3684"/>
                </a:avLst>
              </a:prstGeom>
              <a:solidFill>
                <a:srgbClr val="FFFFFF"/>
              </a:solidFill>
              <a:ln w="14288">
                <a:solidFill>
                  <a:srgbClr val="E2F2F0"/>
                </a:solidFill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185023" y="1634014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范式对比：先算后验</a:t>
                </a:r>
              </a:p>
            </p:txBody>
          </p:sp>
          <p:grpSp>
            <p:nvGrpSpPr>
              <p:cNvPr id="89" name="Group 89"/>
              <p:cNvGrpSpPr/>
              <p:nvPr/>
            </p:nvGrpSpPr>
            <p:grpSpPr>
              <a:xfrm>
                <a:off x="8892819" y="2114550"/>
                <a:ext cx="2022069" cy="1787461"/>
                <a:chOff x="8892819" y="2114550"/>
                <a:chExt cx="2022069" cy="1787461"/>
              </a:xfrm>
            </p:grpSpPr>
            <p:sp>
              <p:nvSpPr>
                <p:cNvPr id="74" name="TextBox 74"/>
                <p:cNvSpPr txBox="1"/>
                <p:nvPr/>
              </p:nvSpPr>
              <p:spPr>
                <a:xfrm>
                  <a:off x="10338816" y="217265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筛选通量</a:t>
                  </a:r>
                </a:p>
              </p:txBody>
            </p:sp>
            <p:sp>
              <p:nvSpPr>
                <p:cNvPr id="75" name="Rectangle 75"/>
                <p:cNvSpPr/>
                <p:nvPr/>
              </p:nvSpPr>
              <p:spPr>
                <a:xfrm>
                  <a:off x="9144000" y="2114550"/>
                  <a:ext cx="228600" cy="1905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B9C6CF"/>
                </a:solidFill>
                <a:ln>
                  <a:noFill/>
                </a:ln>
              </p:spPr>
            </p:sp>
            <p:sp>
              <p:nvSpPr>
                <p:cNvPr id="76" name="Rectangle 76"/>
                <p:cNvSpPr/>
                <p:nvPr/>
              </p:nvSpPr>
              <p:spPr>
                <a:xfrm>
                  <a:off x="9410700" y="2114550"/>
                  <a:ext cx="876300" cy="190500"/>
                </a:xfrm>
                <a:prstGeom prst="roundRect">
                  <a:avLst>
                    <a:gd name="adj" fmla="val 15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8892819" y="2152174"/>
                  <a:ext cx="14183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低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10339197" y="2152174"/>
                  <a:ext cx="14183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高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10338816" y="293465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单肽成本</a:t>
                  </a:r>
                </a:p>
              </p:txBody>
            </p:sp>
            <p:sp>
              <p:nvSpPr>
                <p:cNvPr id="80" name="Rectangle 80"/>
                <p:cNvSpPr/>
                <p:nvPr/>
              </p:nvSpPr>
              <p:spPr>
                <a:xfrm>
                  <a:off x="9144000" y="2876550"/>
                  <a:ext cx="876300" cy="1905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B9C6CF"/>
                </a:solidFill>
                <a:ln>
                  <a:noFill/>
                </a:ln>
              </p:spPr>
            </p:sp>
            <p:sp>
              <p:nvSpPr>
                <p:cNvPr id="81" name="Rectangle 81"/>
                <p:cNvSpPr/>
                <p:nvPr/>
              </p:nvSpPr>
              <p:spPr>
                <a:xfrm>
                  <a:off x="9410700" y="2876550"/>
                  <a:ext cx="152400" cy="190500"/>
                </a:xfrm>
                <a:prstGeom prst="roundRect">
                  <a:avLst>
                    <a:gd name="adj" fmla="val 1875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10072497" y="2914174"/>
                  <a:ext cx="14183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高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9615297" y="2914174"/>
                  <a:ext cx="14183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低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10338816" y="369665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单肽耗时</a:t>
                  </a:r>
                </a:p>
              </p:txBody>
            </p:sp>
            <p:sp>
              <p:nvSpPr>
                <p:cNvPr id="85" name="Rectangle 85"/>
                <p:cNvSpPr/>
                <p:nvPr/>
              </p:nvSpPr>
              <p:spPr>
                <a:xfrm>
                  <a:off x="9144000" y="3638550"/>
                  <a:ext cx="914400" cy="190500"/>
                </a:xfrm>
                <a:prstGeom prst="roundRect">
                  <a:avLst>
                    <a:gd name="adj" fmla="val 15000"/>
                  </a:avLst>
                </a:prstGeom>
                <a:solidFill>
                  <a:srgbClr val="B9C6CF"/>
                </a:solidFill>
                <a:ln>
                  <a:noFill/>
                </a:ln>
              </p:spPr>
            </p:sp>
            <p:sp>
              <p:nvSpPr>
                <p:cNvPr id="86" name="Rectangle 86"/>
                <p:cNvSpPr/>
                <p:nvPr/>
              </p:nvSpPr>
              <p:spPr>
                <a:xfrm>
                  <a:off x="9410700" y="3638550"/>
                  <a:ext cx="114300" cy="1905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10110597" y="3676174"/>
                  <a:ext cx="14183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长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9577197" y="3676174"/>
                  <a:ext cx="14183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短</a:t>
                  </a:r>
                </a:p>
              </p:txBody>
            </p:sp>
          </p:grpSp>
          <p:grpSp>
            <p:nvGrpSpPr>
              <p:cNvPr id="94" name="Group 94"/>
              <p:cNvGrpSpPr/>
              <p:nvPr/>
            </p:nvGrpSpPr>
            <p:grpSpPr>
              <a:xfrm>
                <a:off x="8343900" y="4857750"/>
                <a:ext cx="2295552" cy="203026"/>
                <a:chOff x="8343900" y="4857750"/>
                <a:chExt cx="2295552" cy="203026"/>
              </a:xfrm>
            </p:grpSpPr>
            <p:sp>
              <p:nvSpPr>
                <p:cNvPr id="90" name="Rectangle 90"/>
                <p:cNvSpPr/>
                <p:nvPr/>
              </p:nvSpPr>
              <p:spPr>
                <a:xfrm>
                  <a:off x="8343900" y="485775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B9C6CF"/>
                </a:solidFill>
                <a:ln>
                  <a:noFill/>
                </a:ln>
              </p:spPr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8548306" y="4862751"/>
                  <a:ext cx="690118" cy="198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1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传统湿实验</a:t>
                  </a:r>
                </a:p>
              </p:txBody>
            </p:sp>
            <p:sp>
              <p:nvSpPr>
                <p:cNvPr id="92" name="Rectangle 92"/>
                <p:cNvSpPr/>
                <p:nvPr/>
              </p:nvSpPr>
              <p:spPr>
                <a:xfrm>
                  <a:off x="9620250" y="485775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9824656" y="4862751"/>
                  <a:ext cx="814796" cy="198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1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ML 虚拟筛选</a:t>
                  </a:r>
                </a:p>
              </p:txBody>
            </p:sp>
          </p:grpSp>
          <p:sp>
            <p:nvSpPr>
              <p:cNvPr id="95" name="TextBox 95"/>
              <p:cNvSpPr txBox="1"/>
              <p:nvPr/>
            </p:nvSpPr>
            <p:spPr>
              <a:xfrm>
                <a:off x="8186547" y="5114449"/>
                <a:ext cx="159303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定性示意，不代表绝对数值</a:t>
                </a:r>
              </a:p>
            </p:txBody>
          </p:sp>
        </p:grpSp>
      </p:grpSp>
      <p:grpSp>
        <p:nvGrpSpPr>
          <p:cNvPr id="104" name="Group 104"/>
          <p:cNvGrpSpPr/>
          <p:nvPr/>
        </p:nvGrpSpPr>
        <p:grpSpPr>
          <a:xfrm>
            <a:off x="609600" y="5581650"/>
            <a:ext cx="10972800" cy="533400"/>
            <a:chOff x="609600" y="5581650"/>
            <a:chExt cx="10972800" cy="533400"/>
          </a:xfrm>
        </p:grpSpPr>
        <p:sp>
          <p:nvSpPr>
            <p:cNvPr id="98" name="Rectangle 98"/>
            <p:cNvSpPr/>
            <p:nvPr/>
          </p:nvSpPr>
          <p:spPr>
            <a:xfrm>
              <a:off x="609600" y="5581650"/>
              <a:ext cx="10972800" cy="533400"/>
            </a:xfrm>
            <a:prstGeom prst="roundRect">
              <a:avLst>
                <a:gd name="adj" fmla="val 21429"/>
              </a:avLst>
            </a:prstGeom>
            <a:solidFill>
              <a:srgbClr val="E2F2F0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909638" y="5748338"/>
              <a:ext cx="200026" cy="200025"/>
              <a:chOff x="909638" y="5748338"/>
              <a:chExt cx="200026" cy="200025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909638" y="57483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949376" y="57927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984092" y="59039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288542" y="5778818"/>
              <a:ext cx="6335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出路：机器学习让「先算后验」成为可能 —— 计算先行富集候选，实验集中验证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105" name="Line 105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04647" y="6543199"/>
              <a:ext cx="42892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来源：iUP-BERT（Foods 2022）；食品呈味肽计算机辅助分析研究进展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4629136" cy="852011"/>
            <a:chOff x="598170" y="469106"/>
            <a:chExt cx="4629136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1474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机器学习路线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462913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完整流水线：「预测 — 验证」双轨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581150"/>
            <a:ext cx="800100" cy="2057400"/>
            <a:chOff x="609600" y="1581150"/>
            <a:chExt cx="800100" cy="205740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800100" cy="1143000"/>
            </a:xfrm>
            <a:prstGeom prst="roundRect">
              <a:avLst>
                <a:gd name="adj" fmla="val 11905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1238" y="18897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干实验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00557" y="2176701"/>
              <a:ext cx="41818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计算侧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1545" y="2386251"/>
              <a:ext cx="31621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① — ⑤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2971800"/>
              <a:ext cx="800100" cy="666750"/>
            </a:xfrm>
            <a:prstGeom prst="roundRect">
              <a:avLst>
                <a:gd name="adj" fmla="val 14286"/>
              </a:avLst>
            </a:prstGeom>
            <a:solidFill>
              <a:srgbClr val="FCEBD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1238" y="31470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5663A"/>
                  </a:solidFill>
                  <a:latin typeface="+mn-lt"/>
                  <a:ea typeface="+mn-ea"/>
                  <a:cs typeface="+mn-cs"/>
                </a:rPr>
                <a:t>湿实验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7116" y="3414951"/>
              <a:ext cx="8506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rgbClr val="B5663A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638300" y="1581150"/>
            <a:ext cx="9065506" cy="2057400"/>
            <a:chOff x="1638300" y="1581150"/>
            <a:chExt cx="9065506" cy="2057400"/>
          </a:xfrm>
        </p:grpSpPr>
        <p:grpSp>
          <p:nvGrpSpPr>
            <p:cNvPr id="23" name="Group 23"/>
            <p:cNvGrpSpPr/>
            <p:nvPr/>
          </p:nvGrpSpPr>
          <p:grpSpPr>
            <a:xfrm>
              <a:off x="1638300" y="1581150"/>
              <a:ext cx="1504950" cy="1177861"/>
              <a:chOff x="1638300" y="1581150"/>
              <a:chExt cx="1504950" cy="1177861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638300" y="1581150"/>
                <a:ext cx="150495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804416" y="1753552"/>
                <a:ext cx="5752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STEP 01</a:t>
                </a:r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2749550" y="1804988"/>
                <a:ext cx="177801" cy="200025"/>
                <a:chOff x="2749550" y="1804988"/>
                <a:chExt cx="177801" cy="200025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2749550" y="1804988"/>
                  <a:ext cx="177801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1" h="66675">
                      <a:moveTo>
                        <a:pt x="0" y="33338"/>
                      </a:moveTo>
                      <a:cubicBezTo>
                        <a:pt x="0" y="51749"/>
                        <a:pt x="39802" y="66675"/>
                        <a:pt x="88900" y="66675"/>
                      </a:cubicBezTo>
                      <a:cubicBezTo>
                        <a:pt x="137999" y="66675"/>
                        <a:pt x="177801" y="51749"/>
                        <a:pt x="177801" y="33338"/>
                      </a:cubicBezTo>
                      <a:cubicBezTo>
                        <a:pt x="177801" y="14926"/>
                        <a:pt x="137999" y="0"/>
                        <a:pt x="88900" y="0"/>
                      </a:cubicBezTo>
                      <a:cubicBezTo>
                        <a:pt x="39802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2749550" y="1838325"/>
                  <a:ext cx="177801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1" h="100013">
                      <a:moveTo>
                        <a:pt x="0" y="0"/>
                      </a:moveTo>
                      <a:lnTo>
                        <a:pt x="0" y="66675"/>
                      </a:lnTo>
                      <a:cubicBezTo>
                        <a:pt x="0" y="85087"/>
                        <a:pt x="39802" y="100013"/>
                        <a:pt x="88900" y="100013"/>
                      </a:cubicBezTo>
                      <a:cubicBezTo>
                        <a:pt x="137999" y="100013"/>
                        <a:pt x="177801" y="85087"/>
                        <a:pt x="177801" y="66675"/>
                      </a:cubicBezTo>
                      <a:lnTo>
                        <a:pt x="177801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2749550" y="1905000"/>
                  <a:ext cx="177801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1" h="100013">
                      <a:moveTo>
                        <a:pt x="0" y="0"/>
                      </a:moveTo>
                      <a:lnTo>
                        <a:pt x="0" y="66675"/>
                      </a:lnTo>
                      <a:cubicBezTo>
                        <a:pt x="0" y="85087"/>
                        <a:pt x="39802" y="100013"/>
                        <a:pt x="88900" y="100013"/>
                      </a:cubicBezTo>
                      <a:cubicBezTo>
                        <a:pt x="137999" y="100013"/>
                        <a:pt x="177801" y="85087"/>
                        <a:pt x="177801" y="66675"/>
                      </a:cubicBezTo>
                      <a:lnTo>
                        <a:pt x="177801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803273" y="20912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数据收集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04416" y="2363152"/>
                <a:ext cx="87997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数据库 + 文献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804416" y="25536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标注鲜味肽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228975" y="2114550"/>
              <a:ext cx="133350" cy="114300"/>
              <a:chOff x="3228975" y="2114550"/>
              <a:chExt cx="133350" cy="1143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228975" y="21717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305175" y="21717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305175" y="21145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3448050" y="1581150"/>
              <a:ext cx="1504950" cy="1177861"/>
              <a:chOff x="3448050" y="1581150"/>
              <a:chExt cx="1504950" cy="1177861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448050" y="1581150"/>
                <a:ext cx="150495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614166" y="1753552"/>
                <a:ext cx="5752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STEP 02</a:t>
                </a:r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>
                <a:off x="4545091" y="1804988"/>
                <a:ext cx="205446" cy="203138"/>
                <a:chOff x="4545091" y="1804988"/>
                <a:chExt cx="205446" cy="203138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4545091" y="1816100"/>
                  <a:ext cx="192009" cy="192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009" h="192026">
                      <a:moveTo>
                        <a:pt x="192009" y="44895"/>
                      </a:moveTo>
                      <a:lnTo>
                        <a:pt x="57303" y="179623"/>
                      </a:lnTo>
                      <a:cubicBezTo>
                        <a:pt x="44906" y="192023"/>
                        <a:pt x="24803" y="192026"/>
                        <a:pt x="12403" y="179629"/>
                      </a:cubicBezTo>
                      <a:cubicBezTo>
                        <a:pt x="2" y="167231"/>
                        <a:pt x="0" y="147129"/>
                        <a:pt x="12397" y="134728"/>
                      </a:cubicBezTo>
                      <a:lnTo>
                        <a:pt x="147103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592638" y="1916113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701439" y="1938338"/>
                  <a:ext cx="49098" cy="56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098" h="56767">
                      <a:moveTo>
                        <a:pt x="24549" y="0"/>
                      </a:moveTo>
                      <a:lnTo>
                        <a:pt x="41218" y="17780"/>
                      </a:lnTo>
                      <a:cubicBezTo>
                        <a:pt x="49098" y="26715"/>
                        <a:pt x="48531" y="40275"/>
                        <a:pt x="39933" y="48521"/>
                      </a:cubicBezTo>
                      <a:cubicBezTo>
                        <a:pt x="31334" y="56767"/>
                        <a:pt x="17763" y="56767"/>
                        <a:pt x="9165" y="48521"/>
                      </a:cubicBezTo>
                      <a:cubicBezTo>
                        <a:pt x="567" y="40275"/>
                        <a:pt x="0" y="26715"/>
                        <a:pt x="7880" y="17780"/>
                      </a:cubicBezTo>
                      <a:lnTo>
                        <a:pt x="24549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81538" y="180498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0"/>
                      </a:moveTo>
                      <a:lnTo>
                        <a:pt x="66675" y="66675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3613023" y="20912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虚拟酶解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614166" y="23631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蛋白酶切规则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614166" y="25536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批量生成候选库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038725" y="2114550"/>
              <a:ext cx="133350" cy="114300"/>
              <a:chOff x="5038725" y="2114550"/>
              <a:chExt cx="133350" cy="1143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5038725" y="21717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114925" y="21717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114925" y="21145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5257800" y="1581150"/>
              <a:ext cx="1504950" cy="1177861"/>
              <a:chOff x="5257800" y="1581150"/>
              <a:chExt cx="1504950" cy="1177861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5257800" y="1581150"/>
                <a:ext cx="150495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423916" y="1753552"/>
                <a:ext cx="5752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STEP 03</a:t>
                </a:r>
              </a:p>
            </p:txBody>
          </p:sp>
          <p:grpSp>
            <p:nvGrpSpPr>
              <p:cNvPr id="54" name="Group 54"/>
              <p:cNvGrpSpPr/>
              <p:nvPr/>
            </p:nvGrpSpPr>
            <p:grpSpPr>
              <a:xfrm>
                <a:off x="6346825" y="1793875"/>
                <a:ext cx="211138" cy="222251"/>
                <a:chOff x="6346825" y="1793875"/>
                <a:chExt cx="211138" cy="222251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6346825" y="1971676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44450" y="22225"/>
                      </a:move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6457950" y="17938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44450" y="22225"/>
                      </a:move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457950" y="1971676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44450" y="22225"/>
                      </a:move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6402388" y="18827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44450" y="22225"/>
                      </a:move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513513" y="18827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44450" y="22225"/>
                      </a:move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380807" y="1923892"/>
                  <a:ext cx="32004" cy="511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04" h="51184">
                      <a:moveTo>
                        <a:pt x="0" y="51184"/>
                      </a:moveTo>
                      <a:lnTo>
                        <a:pt x="32004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436403" y="1834980"/>
                  <a:ext cx="31971" cy="51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1" h="51162">
                      <a:moveTo>
                        <a:pt x="0" y="51162"/>
                      </a:moveTo>
                      <a:lnTo>
                        <a:pt x="31971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436448" y="1923947"/>
                  <a:ext cx="31960" cy="51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60" h="51118">
                      <a:moveTo>
                        <a:pt x="0" y="0"/>
                      </a:moveTo>
                      <a:lnTo>
                        <a:pt x="31960" y="51118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491988" y="1834991"/>
                  <a:ext cx="32015" cy="51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5" h="51229">
                      <a:moveTo>
                        <a:pt x="0" y="0"/>
                      </a:moveTo>
                      <a:lnTo>
                        <a:pt x="32015" y="51229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5422773" y="20912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特征编码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5423916" y="2363152"/>
                <a:ext cx="95905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描述符 / BERT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5423916" y="25536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序列转向量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848475" y="2114550"/>
              <a:ext cx="133350" cy="114300"/>
              <a:chOff x="6848475" y="2114550"/>
              <a:chExt cx="133350" cy="1143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848475" y="21717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924675" y="21717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924675" y="21145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</p:grpSp>
        <p:grpSp>
          <p:nvGrpSpPr>
            <p:cNvPr id="75" name="Group 75"/>
            <p:cNvGrpSpPr/>
            <p:nvPr/>
          </p:nvGrpSpPr>
          <p:grpSpPr>
            <a:xfrm>
              <a:off x="7067550" y="1581150"/>
              <a:ext cx="1504950" cy="1177861"/>
              <a:chOff x="7067550" y="1581150"/>
              <a:chExt cx="1504950" cy="1177861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7067550" y="1581150"/>
                <a:ext cx="1504950" cy="1143000"/>
              </a:xfrm>
              <a:prstGeom prst="roundRect">
                <a:avLst>
                  <a:gd name="adj" fmla="val 11667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7233666" y="1753552"/>
                <a:ext cx="10542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7FA6C9"/>
                    </a:solidFill>
                    <a:latin typeface="+mn-lt"/>
                    <a:ea typeface="+mn-ea"/>
                    <a:cs typeface="+mn-cs"/>
                  </a:rPr>
                  <a:t>STEP 04 · 核心</a:t>
                </a:r>
              </a:p>
            </p:txBody>
          </p:sp>
          <p:grpSp>
            <p:nvGrpSpPr>
              <p:cNvPr id="71" name="Group 71"/>
              <p:cNvGrpSpPr/>
              <p:nvPr/>
            </p:nvGrpSpPr>
            <p:grpSpPr>
              <a:xfrm>
                <a:off x="8167688" y="1804988"/>
                <a:ext cx="200025" cy="200025"/>
                <a:chOff x="8167688" y="1804988"/>
                <a:chExt cx="200025" cy="200025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8267700" y="1916113"/>
                  <a:ext cx="7778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88900">
                      <a:moveTo>
                        <a:pt x="38894" y="0"/>
                      </a:moveTo>
                      <a:cubicBezTo>
                        <a:pt x="17413" y="0"/>
                        <a:pt x="0" y="17413"/>
                        <a:pt x="0" y="38894"/>
                      </a:cubicBezTo>
                      <a:lnTo>
                        <a:pt x="0" y="50006"/>
                      </a:lnTo>
                      <a:cubicBezTo>
                        <a:pt x="0" y="71487"/>
                        <a:pt x="17413" y="88900"/>
                        <a:pt x="38894" y="88900"/>
                      </a:cubicBezTo>
                      <a:cubicBezTo>
                        <a:pt x="60374" y="88900"/>
                        <a:pt x="77788" y="71487"/>
                        <a:pt x="77788" y="50006"/>
                      </a:cubicBezTo>
                      <a:lnTo>
                        <a:pt x="77788" y="30004"/>
                      </a:lnTo>
                    </a:path>
                  </a:pathLst>
                </a:custGeom>
                <a:noFill/>
                <a:ln w="22225">
                  <a:solidFill>
                    <a:srgbClr val="7ED3C8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189913" y="1916113"/>
                  <a:ext cx="7778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88900">
                      <a:moveTo>
                        <a:pt x="38894" y="0"/>
                      </a:moveTo>
                      <a:cubicBezTo>
                        <a:pt x="60374" y="0"/>
                        <a:pt x="77788" y="17413"/>
                        <a:pt x="77788" y="38894"/>
                      </a:cubicBezTo>
                      <a:lnTo>
                        <a:pt x="77788" y="50006"/>
                      </a:lnTo>
                      <a:cubicBezTo>
                        <a:pt x="77788" y="71487"/>
                        <a:pt x="60374" y="88900"/>
                        <a:pt x="38894" y="88900"/>
                      </a:cubicBezTo>
                      <a:cubicBezTo>
                        <a:pt x="17413" y="88900"/>
                        <a:pt x="0" y="71487"/>
                        <a:pt x="0" y="50006"/>
                      </a:cubicBezTo>
                      <a:lnTo>
                        <a:pt x="0" y="30004"/>
                      </a:lnTo>
                    </a:path>
                  </a:pathLst>
                </a:custGeom>
                <a:noFill/>
                <a:ln w="22225">
                  <a:solidFill>
                    <a:srgbClr val="7ED3C8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323263" y="1871663"/>
                  <a:ext cx="444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77788">
                      <a:moveTo>
                        <a:pt x="5556" y="77788"/>
                      </a:moveTo>
                      <a:cubicBezTo>
                        <a:pt x="27037" y="77788"/>
                        <a:pt x="44450" y="60374"/>
                        <a:pt x="44450" y="38894"/>
                      </a:cubicBezTo>
                      <a:cubicBezTo>
                        <a:pt x="44450" y="17413"/>
                        <a:pt x="27037" y="0"/>
                        <a:pt x="5556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rgbClr val="7ED3C8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267700" y="1804988"/>
                  <a:ext cx="77788" cy="70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70009">
                      <a:moveTo>
                        <a:pt x="77788" y="70009"/>
                      </a:moveTo>
                      <a:lnTo>
                        <a:pt x="77788" y="38894"/>
                      </a:lnTo>
                      <a:cubicBezTo>
                        <a:pt x="77788" y="17413"/>
                        <a:pt x="60374" y="0"/>
                        <a:pt x="38894" y="0"/>
                      </a:cubicBezTo>
                      <a:cubicBezTo>
                        <a:pt x="17413" y="0"/>
                        <a:pt x="0" y="17413"/>
                        <a:pt x="0" y="38894"/>
                      </a:cubicBezTo>
                    </a:path>
                  </a:pathLst>
                </a:custGeom>
                <a:noFill/>
                <a:ln w="22225">
                  <a:solidFill>
                    <a:srgbClr val="7ED3C8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8167688" y="1871663"/>
                  <a:ext cx="444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77788">
                      <a:moveTo>
                        <a:pt x="38894" y="77788"/>
                      </a:moveTo>
                      <a:cubicBezTo>
                        <a:pt x="17413" y="77788"/>
                        <a:pt x="0" y="60374"/>
                        <a:pt x="0" y="38894"/>
                      </a:cubicBezTo>
                      <a:cubicBezTo>
                        <a:pt x="0" y="17413"/>
                        <a:pt x="17413" y="0"/>
                        <a:pt x="38894" y="0"/>
                      </a:cubicBez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rgbClr val="7ED3C8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8189913" y="1804988"/>
                  <a:ext cx="77788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150019">
                      <a:moveTo>
                        <a:pt x="0" y="70009"/>
                      </a:moveTo>
                      <a:lnTo>
                        <a:pt x="0" y="38894"/>
                      </a:lnTo>
                      <a:cubicBezTo>
                        <a:pt x="0" y="17413"/>
                        <a:pt x="17413" y="0"/>
                        <a:pt x="38894" y="0"/>
                      </a:cubicBezTo>
                      <a:cubicBezTo>
                        <a:pt x="60374" y="0"/>
                        <a:pt x="77788" y="17413"/>
                        <a:pt x="77788" y="38894"/>
                      </a:cubicBezTo>
                      <a:lnTo>
                        <a:pt x="77788" y="150019"/>
                      </a:lnTo>
                    </a:path>
                  </a:pathLst>
                </a:custGeom>
                <a:noFill/>
                <a:ln w="22225">
                  <a:solidFill>
                    <a:srgbClr val="7ED3C8"/>
                  </a:solidFill>
                </a:ln>
              </p:spPr>
            </p:sp>
          </p:grpSp>
          <p:sp>
            <p:nvSpPr>
              <p:cNvPr id="72" name="TextBox 72"/>
              <p:cNvSpPr txBox="1"/>
              <p:nvPr/>
            </p:nvSpPr>
            <p:spPr>
              <a:xfrm>
                <a:off x="7232523" y="20912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模型预测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233666" y="2363152"/>
                <a:ext cx="9441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AEA"/>
                    </a:solidFill>
                    <a:latin typeface="+mn-lt"/>
                    <a:ea typeface="+mn-ea"/>
                    <a:cs typeface="+mn-cs"/>
                  </a:rPr>
                  <a:t>SVM/RF/BERT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233666" y="25536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AEA"/>
                    </a:solidFill>
                    <a:latin typeface="+mn-lt"/>
                    <a:ea typeface="+mn-ea"/>
                    <a:cs typeface="+mn-cs"/>
                  </a:rPr>
                  <a:t>呈鲜概率打分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8658225" y="2114550"/>
              <a:ext cx="133350" cy="114300"/>
              <a:chOff x="8658225" y="2114550"/>
              <a:chExt cx="133350" cy="1143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8658225" y="21717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34425" y="21717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34425" y="21145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9AA8B3"/>
                </a:solidFill>
              </a:ln>
            </p:spPr>
          </p:sp>
        </p:grpSp>
        <p:grpSp>
          <p:nvGrpSpPr>
            <p:cNvPr id="89" name="Group 89"/>
            <p:cNvGrpSpPr/>
            <p:nvPr/>
          </p:nvGrpSpPr>
          <p:grpSpPr>
            <a:xfrm>
              <a:off x="8877300" y="1581150"/>
              <a:ext cx="1504950" cy="1177861"/>
              <a:chOff x="8877300" y="1581150"/>
              <a:chExt cx="1504950" cy="1177861"/>
            </a:xfrm>
          </p:grpSpPr>
          <p:sp>
            <p:nvSpPr>
              <p:cNvPr id="80" name="Rectangle 80"/>
              <p:cNvSpPr/>
              <p:nvPr/>
            </p:nvSpPr>
            <p:spPr>
              <a:xfrm>
                <a:off x="8877300" y="1581150"/>
                <a:ext cx="150495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14288">
                <a:solidFill>
                  <a:srgbClr val="E2F2F0"/>
                </a:solidFill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9043416" y="1753552"/>
                <a:ext cx="5752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STEP 05</a:t>
                </a:r>
              </a:p>
            </p:txBody>
          </p:sp>
          <p:grpSp>
            <p:nvGrpSpPr>
              <p:cNvPr id="85" name="Group 85"/>
              <p:cNvGrpSpPr/>
              <p:nvPr/>
            </p:nvGrpSpPr>
            <p:grpSpPr>
              <a:xfrm>
                <a:off x="9988549" y="1810671"/>
                <a:ext cx="183215" cy="188636"/>
                <a:chOff x="9988549" y="1810671"/>
                <a:chExt cx="183215" cy="188636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10044113" y="1871663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66675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10066338" y="1810671"/>
                  <a:ext cx="105426" cy="105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426" h="105442">
                      <a:moveTo>
                        <a:pt x="0" y="27655"/>
                      </a:moveTo>
                      <a:lnTo>
                        <a:pt x="5145" y="21698"/>
                      </a:lnTo>
                      <a:cubicBezTo>
                        <a:pt x="26847" y="0"/>
                        <a:pt x="62029" y="2"/>
                        <a:pt x="83727" y="21704"/>
                      </a:cubicBezTo>
                      <a:cubicBezTo>
                        <a:pt x="105426" y="43405"/>
                        <a:pt x="105423" y="78588"/>
                        <a:pt x="83722" y="100286"/>
                      </a:cubicBezTo>
                      <a:lnTo>
                        <a:pt x="77788" y="105442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9988549" y="1893888"/>
                  <a:ext cx="100014" cy="10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4" h="105419">
                      <a:moveTo>
                        <a:pt x="100014" y="77788"/>
                      </a:moveTo>
                      <a:lnTo>
                        <a:pt x="95603" y="83722"/>
                      </a:lnTo>
                      <a:cubicBezTo>
                        <a:pt x="73661" y="105419"/>
                        <a:pt x="38345" y="105419"/>
                        <a:pt x="16404" y="83722"/>
                      </a:cubicBezTo>
                      <a:cubicBezTo>
                        <a:pt x="5907" y="73343"/>
                        <a:pt x="0" y="59195"/>
                        <a:pt x="0" y="44433"/>
                      </a:cubicBezTo>
                      <a:cubicBezTo>
                        <a:pt x="0" y="29672"/>
                        <a:pt x="5907" y="15524"/>
                        <a:pt x="16404" y="5145"/>
                      </a:cubicBezTo>
                      <a:lnTo>
                        <a:pt x="22227" y="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</p:grpSp>
          <p:sp>
            <p:nvSpPr>
              <p:cNvPr id="86" name="TextBox 86"/>
              <p:cNvSpPr txBox="1"/>
              <p:nvPr/>
            </p:nvSpPr>
            <p:spPr>
              <a:xfrm>
                <a:off x="9042273" y="20912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分子对接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9043416" y="2363152"/>
                <a:ext cx="7499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T1R1/T1R3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043416" y="25536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结合模式验证</a:t>
                </a: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8877300" y="2971800"/>
              <a:ext cx="1826506" cy="666750"/>
              <a:chOff x="8877300" y="2971800"/>
              <a:chExt cx="1826506" cy="666750"/>
            </a:xfrm>
          </p:grpSpPr>
          <p:sp>
            <p:nvSpPr>
              <p:cNvPr id="90" name="Rectangle 90"/>
              <p:cNvSpPr/>
              <p:nvPr/>
            </p:nvSpPr>
            <p:spPr>
              <a:xfrm>
                <a:off x="8877300" y="2971800"/>
                <a:ext cx="1504950" cy="666750"/>
              </a:xfrm>
              <a:prstGeom prst="roundRect">
                <a:avLst>
                  <a:gd name="adj" fmla="val 20000"/>
                </a:avLst>
              </a:prstGeom>
              <a:solidFill>
                <a:srgbClr val="FFFFFF"/>
              </a:solidFill>
              <a:ln w="14288">
                <a:solidFill>
                  <a:srgbClr val="F3D3BE"/>
                </a:solidFill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9043416" y="3125152"/>
                <a:ext cx="5752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STEP 06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9042654" y="3356610"/>
                <a:ext cx="16611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实验验证：合成 + 感官</a:t>
                </a: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10506075" y="3238500"/>
              <a:ext cx="133350" cy="114300"/>
              <a:chOff x="10506075" y="3238500"/>
              <a:chExt cx="133350" cy="1143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10506075" y="329565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10582275" y="3295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10582275" y="3238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</p:grpSp>
      <p:grpSp>
        <p:nvGrpSpPr>
          <p:cNvPr id="106" name="Group 106"/>
          <p:cNvGrpSpPr/>
          <p:nvPr/>
        </p:nvGrpSpPr>
        <p:grpSpPr>
          <a:xfrm>
            <a:off x="2333625" y="2781300"/>
            <a:ext cx="8239125" cy="1371600"/>
            <a:chOff x="2333625" y="2781300"/>
            <a:chExt cx="8239125" cy="1371600"/>
          </a:xfrm>
        </p:grpSpPr>
        <p:sp>
          <p:nvSpPr>
            <p:cNvPr id="99" name="Freeform 99"/>
            <p:cNvSpPr/>
            <p:nvPr/>
          </p:nvSpPr>
          <p:spPr>
            <a:xfrm>
              <a:off x="2400300" y="2781300"/>
              <a:ext cx="8172450" cy="1257300"/>
            </a:xfrm>
            <a:custGeom>
              <a:avLst/>
              <a:gdLst/>
              <a:ahLst/>
              <a:cxnLst/>
              <a:rect l="l" t="t" r="r" b="b"/>
              <a:pathLst>
                <a:path w="8172450" h="1257300">
                  <a:moveTo>
                    <a:pt x="8172450" y="990600"/>
                  </a:moveTo>
                  <a:lnTo>
                    <a:pt x="8172450" y="1257300"/>
                  </a:lnTo>
                  <a:lnTo>
                    <a:pt x="0" y="125730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50000" sp="250000"/>
              </a:custDash>
            </a:ln>
          </p:spPr>
        </p:sp>
        <p:sp>
          <p:nvSpPr>
            <p:cNvPr id="100" name="Freeform 100"/>
            <p:cNvSpPr/>
            <p:nvPr/>
          </p:nvSpPr>
          <p:spPr>
            <a:xfrm>
              <a:off x="2333625" y="27813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675" y="0"/>
                  </a:moveTo>
                  <a:lnTo>
                    <a:pt x="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3048000" y="3829050"/>
              <a:ext cx="4000500" cy="323850"/>
            </a:xfrm>
            <a:prstGeom prst="roundRect">
              <a:avLst>
                <a:gd name="adj" fmla="val 50000"/>
              </a:avLst>
            </a:prstGeom>
            <a:solidFill>
              <a:srgbClr val="E2F2F0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3273425" y="3917756"/>
              <a:ext cx="139700" cy="146438"/>
              <a:chOff x="3273425" y="3917756"/>
              <a:chExt cx="139700" cy="146438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3273425" y="3917756"/>
                <a:ext cx="139700" cy="64488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4488">
                    <a:moveTo>
                      <a:pt x="139700" y="64488"/>
                    </a:moveTo>
                    <a:cubicBezTo>
                      <a:pt x="135311" y="32903"/>
                      <a:pt x="110327" y="8162"/>
                      <a:pt x="78701" y="4081"/>
                    </a:cubicBezTo>
                    <a:cubicBezTo>
                      <a:pt x="47074" y="0"/>
                      <a:pt x="16629" y="17589"/>
                      <a:pt x="4366" y="47025"/>
                    </a:cubicBezTo>
                    <a:moveTo>
                      <a:pt x="0" y="12100"/>
                    </a:moveTo>
                    <a:lnTo>
                      <a:pt x="0" y="47025"/>
                    </a:lnTo>
                    <a:lnTo>
                      <a:pt x="34925" y="47025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3273425" y="3999706"/>
                <a:ext cx="139700" cy="64488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4488">
                    <a:moveTo>
                      <a:pt x="0" y="0"/>
                    </a:moveTo>
                    <a:cubicBezTo>
                      <a:pt x="4389" y="31585"/>
                      <a:pt x="29373" y="56326"/>
                      <a:pt x="60999" y="60407"/>
                    </a:cubicBezTo>
                    <a:cubicBezTo>
                      <a:pt x="92626" y="64488"/>
                      <a:pt x="123071" y="46899"/>
                      <a:pt x="135334" y="17463"/>
                    </a:cubicBezTo>
                    <a:moveTo>
                      <a:pt x="139700" y="52388"/>
                    </a:moveTo>
                    <a:lnTo>
                      <a:pt x="139700" y="17463"/>
                    </a:lnTo>
                    <a:lnTo>
                      <a:pt x="104775" y="17463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3537394" y="3922633"/>
              <a:ext cx="3134995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验证结果回流训练集，数据飞轮持续提升模型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609600" y="4629150"/>
            <a:ext cx="10972800" cy="1200150"/>
            <a:chOff x="609600" y="4629150"/>
            <a:chExt cx="10972800" cy="1200150"/>
          </a:xfrm>
        </p:grpSpPr>
        <p:sp>
          <p:nvSpPr>
            <p:cNvPr id="107" name="Rectangle 107"/>
            <p:cNvSpPr/>
            <p:nvPr/>
          </p:nvSpPr>
          <p:spPr>
            <a:xfrm>
              <a:off x="609600" y="4629150"/>
              <a:ext cx="10972800" cy="12001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4288">
              <a:solidFill>
                <a:srgbClr val="E2F2F0"/>
              </a:solidFill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952500" y="4933950"/>
              <a:ext cx="228599" cy="228600"/>
              <a:chOff x="952500" y="4933950"/>
              <a:chExt cx="228599" cy="228600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952500" y="4933950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997915" y="4984750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1037590" y="5111749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12" name="TextBox 112"/>
            <p:cNvSpPr txBox="1"/>
            <p:nvPr/>
          </p:nvSpPr>
          <p:spPr>
            <a:xfrm>
              <a:off x="1422273" y="483441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核心思想：把「这条肽是否呈鲜」转化为监督学习二分类问题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422654" y="5128260"/>
              <a:ext cx="1941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f(氨基酸序列) → 呈鲜概率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422844" y="5418058"/>
              <a:ext cx="719513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模型用已知标签学习序列与呈味之间的统计规律，从万级候选中富集高置信肽，再交给对接与感官确证。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116" name="Line 116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04647" y="6543199"/>
              <a:ext cx="8688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来源：iUP-BERT（Foods 2022）；iUmami-SCM（Trends Food Sci Technol 2020）；食品工业科技 2023；Mlp4Umami（Comput Biol Med 2024）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3354705" cy="852011"/>
            <a:chOff x="598170" y="469106"/>
            <a:chExt cx="3354705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29049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机器学习路线 · STEP 01–02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数据层：候选肽从哪里来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" y="1485900"/>
            <a:ext cx="5905500" cy="4095750"/>
            <a:chOff x="609600" y="1485900"/>
            <a:chExt cx="5905500" cy="4095750"/>
          </a:xfrm>
        </p:grpSpPr>
        <p:grpSp>
          <p:nvGrpSpPr>
            <p:cNvPr id="18" name="Group 18"/>
            <p:cNvGrpSpPr/>
            <p:nvPr/>
          </p:nvGrpSpPr>
          <p:grpSpPr>
            <a:xfrm>
              <a:off x="609600" y="1485900"/>
              <a:ext cx="2857500" cy="1866900"/>
              <a:chOff x="609600" y="1485900"/>
              <a:chExt cx="2857500" cy="18669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1485900"/>
                <a:ext cx="2857500" cy="18669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819150" y="1714500"/>
                <a:ext cx="457200" cy="4572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946150" y="1828800"/>
                <a:ext cx="203199" cy="228600"/>
                <a:chOff x="946150" y="1828800"/>
                <a:chExt cx="203199" cy="228600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946150" y="1828800"/>
                  <a:ext cx="203199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199" y="59142"/>
                        <a:pt x="203199" y="38100"/>
                      </a:cubicBezTo>
                      <a:cubicBezTo>
                        <a:pt x="203199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946150" y="18669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946150" y="19431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402842" y="17592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味肽数据库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04366" y="20202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正样本主来源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32294" y="2408158"/>
                <a:ext cx="184659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BioPEP-UWM、BIOPEP 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2294" y="2655808"/>
                <a:ext cx="1729562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收录经实验验证的呈味肽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2294" y="2903458"/>
                <a:ext cx="1837906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序列与活性标注；Peptide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2294" y="3113008"/>
                <a:ext cx="1808820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Ranker 概率 &gt;0.5 可初筛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657600" y="1485900"/>
              <a:ext cx="2857500" cy="1866900"/>
              <a:chOff x="3657600" y="1485900"/>
              <a:chExt cx="2857500" cy="18669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657600" y="1485900"/>
                <a:ext cx="2857500" cy="18669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3867150" y="1714500"/>
                <a:ext cx="457200" cy="4572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4006850" y="1828800"/>
                <a:ext cx="177800" cy="228599"/>
                <a:chOff x="4006850" y="1828800"/>
                <a:chExt cx="177800" cy="228599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4121150" y="18288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006850" y="1828800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057650" y="1905000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057650" y="195580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057650" y="200659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4450842" y="17592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实验文献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2366" y="202025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最可靠标签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880294" y="2408158"/>
                <a:ext cx="141724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已发表研究中经感官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880294" y="2655808"/>
                <a:ext cx="141724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评价确证的鲜味肽；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880294" y="2903458"/>
                <a:ext cx="1659291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负样本多取无鲜味/苦味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880294" y="3113008"/>
                <a:ext cx="141724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肽，并控制类别平衡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609600" y="3543300"/>
              <a:ext cx="5905500" cy="2038350"/>
              <a:chOff x="609600" y="3543300"/>
              <a:chExt cx="5905500" cy="20383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09600" y="3543300"/>
                <a:ext cx="5905500" cy="2038350"/>
              </a:xfrm>
              <a:prstGeom prst="roundRect">
                <a:avLst>
                  <a:gd name="adj" fmla="val 6542"/>
                </a:avLst>
              </a:prstGeom>
              <a:solidFill>
                <a:srgbClr val="FFFFFF"/>
              </a:solidFill>
              <a:ln w="14288">
                <a:solidFill>
                  <a:srgbClr val="E2F2F0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819150" y="3771900"/>
                <a:ext cx="457200" cy="457200"/>
              </a:xfrm>
              <a:prstGeom prst="ellipse">
                <a:avLst/>
              </a:prstGeom>
              <a:solidFill>
                <a:srgbClr val="E2F2F0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929912" y="3886200"/>
                <a:ext cx="234793" cy="232157"/>
                <a:chOff x="929912" y="3886200"/>
                <a:chExt cx="234793" cy="232157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929912" y="3898900"/>
                  <a:ext cx="219438" cy="219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438" h="219457">
                      <a:moveTo>
                        <a:pt x="219438" y="51308"/>
                      </a:moveTo>
                      <a:lnTo>
                        <a:pt x="65489" y="205282"/>
                      </a:lnTo>
                      <a:cubicBezTo>
                        <a:pt x="51321" y="219454"/>
                        <a:pt x="28346" y="219457"/>
                        <a:pt x="14175" y="205289"/>
                      </a:cubicBezTo>
                      <a:cubicBezTo>
                        <a:pt x="3" y="191120"/>
                        <a:pt x="0" y="168146"/>
                        <a:pt x="14168" y="153974"/>
                      </a:cubicBezTo>
                      <a:lnTo>
                        <a:pt x="168117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84250" y="4013200"/>
                  <a:ext cx="101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9525">
                      <a:moveTo>
                        <a:pt x="0" y="0"/>
                      </a:moveTo>
                      <a:lnTo>
                        <a:pt x="101600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108594" y="4038600"/>
                  <a:ext cx="56111" cy="64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11" h="64876">
                      <a:moveTo>
                        <a:pt x="28056" y="0"/>
                      </a:moveTo>
                      <a:lnTo>
                        <a:pt x="47106" y="20320"/>
                      </a:lnTo>
                      <a:cubicBezTo>
                        <a:pt x="56111" y="30531"/>
                        <a:pt x="55464" y="46028"/>
                        <a:pt x="45637" y="55452"/>
                      </a:cubicBezTo>
                      <a:cubicBezTo>
                        <a:pt x="35811" y="64876"/>
                        <a:pt x="20301" y="64876"/>
                        <a:pt x="10474" y="55452"/>
                      </a:cubicBezTo>
                      <a:cubicBezTo>
                        <a:pt x="648" y="46028"/>
                        <a:pt x="0" y="30531"/>
                        <a:pt x="9006" y="20320"/>
                      </a:cubicBezTo>
                      <a:lnTo>
                        <a:pt x="28056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085850" y="38862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402842" y="3816668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虚拟酶解：蛋白「切」出候选肽库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404366" y="4096702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负样本与候选库的重要补充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1143000" y="4686300"/>
                <a:ext cx="514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9525">
                    <a:moveTo>
                      <a:pt x="0" y="0"/>
                    </a:moveTo>
                    <a:lnTo>
                      <a:pt x="5143500" y="0"/>
                    </a:lnTo>
                  </a:path>
                </a:pathLst>
              </a:custGeom>
              <a:noFill/>
              <a:ln w="57150" cap="rnd">
                <a:solidFill>
                  <a:srgbClr val="B9C6CF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2286000" y="4572000"/>
                <a:ext cx="2867025" cy="228600"/>
                <a:chOff x="2286000" y="4572000"/>
                <a:chExt cx="2867025" cy="228600"/>
              </a:xfrm>
            </p:grpSpPr>
            <p:sp>
              <p:nvSpPr>
                <p:cNvPr id="44" name="Line 44"/>
                <p:cNvSpPr/>
                <p:nvPr/>
              </p:nvSpPr>
              <p:spPr>
                <a:xfrm>
                  <a:off x="2286000" y="4572000"/>
                  <a:ext cx="9525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8600">
                      <a:moveTo>
                        <a:pt x="0" y="0"/>
                      </a:moveTo>
                      <a:lnTo>
                        <a:pt x="0" y="228600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  <p:sp>
              <p:nvSpPr>
                <p:cNvPr id="45" name="Line 45"/>
                <p:cNvSpPr/>
                <p:nvPr/>
              </p:nvSpPr>
              <p:spPr>
                <a:xfrm>
                  <a:off x="3619500" y="4572000"/>
                  <a:ext cx="9525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8600">
                      <a:moveTo>
                        <a:pt x="0" y="0"/>
                      </a:moveTo>
                      <a:lnTo>
                        <a:pt x="0" y="228600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  <p:sp>
              <p:nvSpPr>
                <p:cNvPr id="46" name="Line 46"/>
                <p:cNvSpPr/>
                <p:nvPr/>
              </p:nvSpPr>
              <p:spPr>
                <a:xfrm>
                  <a:off x="5143500" y="4572000"/>
                  <a:ext cx="9525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8600">
                      <a:moveTo>
                        <a:pt x="0" y="0"/>
                      </a:moveTo>
                      <a:lnTo>
                        <a:pt x="0" y="228600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1116118" y="4923949"/>
                <a:ext cx="233976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▼ 酶切位点（ExPASy PeptideCutter）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128216" y="5216604"/>
                <a:ext cx="3173067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9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UniProt 蛋白序列 → 2–8 肽候选库（&lt;3000 Da）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6819900" y="1485900"/>
            <a:ext cx="4762500" cy="4095750"/>
            <a:chOff x="6819900" y="1485900"/>
            <a:chExt cx="4762500" cy="4095750"/>
          </a:xfrm>
        </p:grpSpPr>
        <p:sp>
          <p:nvSpPr>
            <p:cNvPr id="52" name="Rectangle 52"/>
            <p:cNvSpPr/>
            <p:nvPr/>
          </p:nvSpPr>
          <p:spPr>
            <a:xfrm>
              <a:off x="6819900" y="1485900"/>
              <a:ext cx="4762500" cy="4095750"/>
            </a:xfrm>
            <a:prstGeom prst="roundRect">
              <a:avLst>
                <a:gd name="adj" fmla="val 3256"/>
              </a:avLst>
            </a:prstGeom>
            <a:solidFill>
              <a:srgbClr val="FFFFFF"/>
            </a:solidFill>
            <a:ln w="14288">
              <a:solidFill>
                <a:srgbClr val="E6EFF6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096125" y="1800225"/>
              <a:ext cx="190500" cy="202406"/>
            </a:xfrm>
            <a:custGeom>
              <a:avLst/>
              <a:gdLst/>
              <a:ahLst/>
              <a:cxnLst/>
              <a:rect l="l" t="t" r="r" b="b"/>
              <a:pathLst>
                <a:path w="190500" h="202406">
                  <a:moveTo>
                    <a:pt x="0" y="0"/>
                  </a:moveTo>
                  <a:lnTo>
                    <a:pt x="190500" y="0"/>
                  </a:lnTo>
                  <a:lnTo>
                    <a:pt x="190500" y="25860"/>
                  </a:lnTo>
                  <a:cubicBezTo>
                    <a:pt x="190499" y="32175"/>
                    <a:pt x="187989" y="38231"/>
                    <a:pt x="183523" y="42696"/>
                  </a:cubicBezTo>
                  <a:lnTo>
                    <a:pt x="130969" y="95250"/>
                  </a:lnTo>
                  <a:lnTo>
                    <a:pt x="130969" y="178594"/>
                  </a:lnTo>
                  <a:lnTo>
                    <a:pt x="59531" y="202406"/>
                  </a:lnTo>
                  <a:lnTo>
                    <a:pt x="59531" y="101203"/>
                  </a:lnTo>
                  <a:lnTo>
                    <a:pt x="6191" y="42529"/>
                  </a:lnTo>
                  <a:cubicBezTo>
                    <a:pt x="2208" y="38147"/>
                    <a:pt x="1" y="32437"/>
                    <a:pt x="0" y="26515"/>
                  </a:cubicBezTo>
                  <a:lnTo>
                    <a:pt x="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41692" y="18164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候选肽的逐级过滤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7124700" y="2247900"/>
              <a:ext cx="4152900" cy="2263711"/>
              <a:chOff x="7124700" y="2247900"/>
              <a:chExt cx="4152900" cy="2263711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7124700" y="2247900"/>
                <a:ext cx="415290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F2F7FA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309294" y="2331958"/>
                <a:ext cx="1088138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① 长度与分子量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309866" y="2534602"/>
                <a:ext cx="26415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2–8 肽、&lt;3000 Da，匹配已知鲜味肽范围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7124700" y="2838450"/>
                <a:ext cx="415290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F2F7FA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309294" y="2922508"/>
                <a:ext cx="1658279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② PeptideRanker 初筛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309866" y="3125152"/>
                <a:ext cx="23429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生物活性概率 &gt;0.5，过滤无活性片段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7124700" y="3429000"/>
                <a:ext cx="415290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F2F7FA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309294" y="3513058"/>
                <a:ext cx="931979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③ 安全性过滤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309866" y="3715702"/>
                <a:ext cx="19895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毒性、致敏性、肠道稳定性筛查</a:t>
                </a: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7124700" y="4019550"/>
                <a:ext cx="4152900" cy="476250"/>
              </a:xfrm>
              <a:prstGeom prst="roundRect">
                <a:avLst>
                  <a:gd name="adj" fmla="val 20000"/>
                </a:avLst>
              </a:prstGeom>
              <a:solidFill>
                <a:srgbClr val="F2F7FA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309294" y="4103608"/>
                <a:ext cx="1088138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④ 吸收与半衰期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309866" y="4306252"/>
                <a:ext cx="19895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口服利用度、ADMET 性质评估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8970963" y="4695825"/>
              <a:ext cx="155575" cy="133350"/>
              <a:chOff x="8970963" y="4695825"/>
              <a:chExt cx="155575" cy="13335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8970963" y="476250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059863" y="47625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059863" y="469582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72" name="Rectangle 72"/>
            <p:cNvSpPr/>
            <p:nvPr/>
          </p:nvSpPr>
          <p:spPr>
            <a:xfrm>
              <a:off x="7124700" y="4991100"/>
              <a:ext cx="4152900" cy="419100"/>
            </a:xfrm>
            <a:prstGeom prst="roundRect">
              <a:avLst>
                <a:gd name="adj" fmla="val 22727"/>
              </a:avLst>
            </a:prstGeom>
            <a:solidFill>
              <a:srgbClr val="E2F2F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805170" y="5128260"/>
              <a:ext cx="2791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高质量候选肽库 → 进入特征编码与模型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75" name="Line 75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04647" y="6543199"/>
              <a:ext cx="67545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来源：BioPEP-UWM；PeptideRanker；ExPASy PeptideCutter；iUP-BERT（Foods 2022）；食品工业科技 2023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5237912" cy="852011"/>
            <a:chOff x="598170" y="469106"/>
            <a:chExt cx="5237912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2400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机器学习路线 · 数据基础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52379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基准数据集：从 UMP442 到 UMP789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1447800"/>
            <a:ext cx="10972800" cy="2857500"/>
            <a:chOff x="609600" y="1447800"/>
            <a:chExt cx="10972800" cy="2857500"/>
          </a:xfrm>
        </p:grpSpPr>
        <p:grpSp>
          <p:nvGrpSpPr>
            <p:cNvPr id="31" name="Group 31"/>
            <p:cNvGrpSpPr/>
            <p:nvPr/>
          </p:nvGrpSpPr>
          <p:grpSpPr>
            <a:xfrm>
              <a:off x="609600" y="1447800"/>
              <a:ext cx="10972800" cy="2857500"/>
              <a:chOff x="609600" y="1447800"/>
              <a:chExt cx="10972800" cy="2857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1447800"/>
                <a:ext cx="10972800" cy="2857500"/>
              </a:xfrm>
              <a:prstGeom prst="roundRect">
                <a:avLst>
                  <a:gd name="adj" fmla="val 4667"/>
                </a:avLst>
              </a:prstGeom>
              <a:solidFill>
                <a:srgbClr val="FFFFFF"/>
              </a:solidFill>
              <a:ln w="14288">
                <a:solidFill>
                  <a:srgbClr val="E2F2F0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31723" y="1653064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三代基准数据集对照</a:t>
                </a:r>
              </a:p>
            </p:txBody>
          </p:sp>
          <p:sp>
            <p:nvSpPr>
              <p:cNvPr id="8" name="Line 8"/>
              <p:cNvSpPr/>
              <p:nvPr/>
            </p:nvSpPr>
            <p:spPr>
              <a:xfrm>
                <a:off x="838200" y="1924050"/>
                <a:ext cx="1051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15600" h="9525">
                    <a:moveTo>
                      <a:pt x="0" y="0"/>
                    </a:moveTo>
                    <a:lnTo>
                      <a:pt x="10515600" y="0"/>
                    </a:lnTo>
                  </a:path>
                </a:pathLst>
              </a:custGeom>
              <a:noFill/>
              <a:ln w="14288">
                <a:solidFill>
                  <a:srgbClr val="E6EFF6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838200" y="2038350"/>
                <a:ext cx="10515600" cy="361950"/>
              </a:xfrm>
              <a:prstGeom prst="roundRect">
                <a:avLst>
                  <a:gd name="adj" fmla="val 21053"/>
                </a:avLst>
              </a:prstGeom>
              <a:solidFill>
                <a:srgbClr val="F2F7FA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61085" y="2155031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数据集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423285" y="2155031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鲜味肽（正样本）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185535" y="2155031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非鲜味肽（负样本）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47785" y="215503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使用模型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838200" y="2400300"/>
                <a:ext cx="1051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15600" h="9525">
                    <a:moveTo>
                      <a:pt x="0" y="0"/>
                    </a:moveTo>
                    <a:lnTo>
                      <a:pt x="10515600" y="0"/>
                    </a:lnTo>
                  </a:path>
                </a:pathLst>
              </a:custGeom>
              <a:noFill/>
              <a:ln w="9525">
                <a:solidFill>
                  <a:srgbClr val="E6EFF6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38200" y="2651760"/>
                <a:ext cx="10515600" cy="1339596"/>
                <a:chOff x="838200" y="2651760"/>
                <a:chExt cx="10515600" cy="1339596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1060704" y="2651760"/>
                  <a:ext cx="63947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UMP442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3422904" y="2651760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140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185154" y="2651760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302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8947404" y="2651760"/>
                  <a:ext cx="206166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iUmami-SCM、UMPred-FRL</a:t>
                  </a:r>
                </a:p>
              </p:txBody>
            </p:sp>
            <p:sp>
              <p:nvSpPr>
                <p:cNvPr id="19" name="Line 19"/>
                <p:cNvSpPr/>
                <p:nvPr/>
              </p:nvSpPr>
              <p:spPr>
                <a:xfrm>
                  <a:off x="838200" y="2952750"/>
                  <a:ext cx="1051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5600" h="9525">
                      <a:moveTo>
                        <a:pt x="0" y="0"/>
                      </a:moveTo>
                      <a:lnTo>
                        <a:pt x="10515600" y="0"/>
                      </a:lnTo>
                    </a:path>
                  </a:pathLst>
                </a:custGeom>
                <a:noFill/>
                <a:ln w="9525">
                  <a:solidFill>
                    <a:srgbClr val="F2F5F8"/>
                  </a:solidFill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060704" y="3204210"/>
                  <a:ext cx="63947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UMP499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3422904" y="3204210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212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6185154" y="3204210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287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947404" y="3204210"/>
                  <a:ext cx="98694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Umami-MRNN</a:t>
                  </a:r>
                </a:p>
              </p:txBody>
            </p:sp>
            <p:sp>
              <p:nvSpPr>
                <p:cNvPr id="24" name="Line 24"/>
                <p:cNvSpPr/>
                <p:nvPr/>
              </p:nvSpPr>
              <p:spPr>
                <a:xfrm>
                  <a:off x="838200" y="3505200"/>
                  <a:ext cx="10515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5600" h="9525">
                      <a:moveTo>
                        <a:pt x="0" y="0"/>
                      </a:moveTo>
                      <a:lnTo>
                        <a:pt x="10515600" y="0"/>
                      </a:lnTo>
                    </a:path>
                  </a:pathLst>
                </a:custGeom>
                <a:noFill/>
                <a:ln w="9525">
                  <a:solidFill>
                    <a:srgbClr val="F2F5F8"/>
                  </a:solidFill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060704" y="3756660"/>
                  <a:ext cx="63947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UMP789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3422904" y="3756660"/>
                  <a:ext cx="92491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789（扩展）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6185154" y="3756660"/>
                  <a:ext cx="81991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含多源整合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8947404" y="3756660"/>
                  <a:ext cx="95361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Umami-BERT</a:t>
                  </a:r>
                </a:p>
              </p:txBody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33056" y="4043601"/>
                <a:ext cx="5915427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注：UMP789 为 Umami-BERT 对 UMP499 的扩展整合数据集；各研究划分训练/测试集方式不同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609600" y="4533900"/>
            <a:ext cx="10972800" cy="1295400"/>
            <a:chOff x="609600" y="4533900"/>
            <a:chExt cx="10972800" cy="1295400"/>
          </a:xfrm>
        </p:grpSpPr>
        <p:grpSp>
          <p:nvGrpSpPr>
            <p:cNvPr id="42" name="Group 42"/>
            <p:cNvGrpSpPr/>
            <p:nvPr/>
          </p:nvGrpSpPr>
          <p:grpSpPr>
            <a:xfrm>
              <a:off x="609600" y="4533900"/>
              <a:ext cx="5391150" cy="1295400"/>
              <a:chOff x="609600" y="4533900"/>
              <a:chExt cx="5391150" cy="12954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09600" y="4533900"/>
                <a:ext cx="5391150" cy="1295400"/>
              </a:xfrm>
              <a:prstGeom prst="roundRect">
                <a:avLst>
                  <a:gd name="adj" fmla="val 10294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819150" y="4762500"/>
                <a:ext cx="457200" cy="457200"/>
              </a:xfrm>
              <a:prstGeom prst="ellipse">
                <a:avLst/>
              </a:prstGeom>
              <a:solidFill>
                <a:srgbClr val="E2F2F0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946150" y="4876800"/>
                <a:ext cx="203199" cy="228600"/>
                <a:chOff x="946150" y="4876800"/>
                <a:chExt cx="203199" cy="228600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946150" y="4876800"/>
                  <a:ext cx="203199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199" y="59142"/>
                        <a:pt x="203199" y="38100"/>
                      </a:cubicBezTo>
                      <a:cubicBezTo>
                        <a:pt x="203199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46150" y="49149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46150" y="499110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1403223" y="4815364"/>
                <a:ext cx="20807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数据扩充是性能提升的燃料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403985" y="5117306"/>
                <a:ext cx="351693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正样本从 140 条增至数百条，多数据库交叉去冗余；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403985" y="5364956"/>
                <a:ext cx="34792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数据规模与标注质量直接决定模型能学到多少规律。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191250" y="4533900"/>
              <a:ext cx="5391150" cy="1295400"/>
              <a:chOff x="6191250" y="4533900"/>
              <a:chExt cx="5391150" cy="12954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6191250" y="4533900"/>
                <a:ext cx="5391150" cy="1295400"/>
              </a:xfrm>
              <a:prstGeom prst="roundRect">
                <a:avLst>
                  <a:gd name="adj" fmla="val 10294"/>
                </a:avLst>
              </a:prstGeom>
              <a:solidFill>
                <a:srgbClr val="FCEBDF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6400800" y="4762500"/>
                <a:ext cx="457200" cy="45720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6527800" y="4884600"/>
                <a:ext cx="203199" cy="213000"/>
                <a:chOff x="6527800" y="4884600"/>
                <a:chExt cx="203199" cy="213000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6527800" y="4884600"/>
                  <a:ext cx="203199" cy="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93800">
                      <a:moveTo>
                        <a:pt x="203199" y="93800"/>
                      </a:moveTo>
                      <a:cubicBezTo>
                        <a:pt x="196815" y="47858"/>
                        <a:pt x="160475" y="11871"/>
                        <a:pt x="114473" y="5936"/>
                      </a:cubicBezTo>
                      <a:cubicBezTo>
                        <a:pt x="68472" y="0"/>
                        <a:pt x="24187" y="25584"/>
                        <a:pt x="6350" y="68400"/>
                      </a:cubicBezTo>
                      <a:moveTo>
                        <a:pt x="0" y="17600"/>
                      </a:moveTo>
                      <a:lnTo>
                        <a:pt x="0" y="68400"/>
                      </a:lnTo>
                      <a:lnTo>
                        <a:pt x="50800" y="684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6527800" y="5003800"/>
                  <a:ext cx="203199" cy="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93800">
                      <a:moveTo>
                        <a:pt x="0" y="0"/>
                      </a:moveTo>
                      <a:cubicBezTo>
                        <a:pt x="6385" y="45942"/>
                        <a:pt x="42724" y="81928"/>
                        <a:pt x="88726" y="87864"/>
                      </a:cubicBezTo>
                      <a:cubicBezTo>
                        <a:pt x="134728" y="93800"/>
                        <a:pt x="179012" y="68216"/>
                        <a:pt x="196850" y="25400"/>
                      </a:cubicBezTo>
                      <a:moveTo>
                        <a:pt x="203199" y="76200"/>
                      </a:moveTo>
                      <a:lnTo>
                        <a:pt x="203199" y="25400"/>
                      </a:lnTo>
                      <a:lnTo>
                        <a:pt x="152400" y="254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6984873" y="4815364"/>
                <a:ext cx="194696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SMOTE 过采样平衡类别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985635" y="5117306"/>
                <a:ext cx="334894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鲜味肽占比低，模型易「全猜负类」刷高 ACC；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985635" y="5364956"/>
                <a:ext cx="400809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iUP-BERT 等用 SMOTE 合成少数类样本显著提升灵敏度。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53" name="Line 53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4647" y="6543199"/>
              <a:ext cx="853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来源：iUmami-SCM（2020，UMP442）；Umami-MRNN（2023，UMP499）；Umami-BERT（FRI 2023，UMP789）；iUP-BERT（Foods 2022）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4869180" cy="852011"/>
            <a:chOff x="598170" y="469106"/>
            <a:chExt cx="4869180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2564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机器学习路线 · STEP 03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特征工程：从氨基酸序列到数值向量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1447800"/>
            <a:ext cx="10972800" cy="1619250"/>
            <a:chOff x="609600" y="1447800"/>
            <a:chExt cx="10972800" cy="1619250"/>
          </a:xfrm>
        </p:grpSpPr>
        <p:sp>
          <p:nvSpPr>
            <p:cNvPr id="6" name="Rectangle 6"/>
            <p:cNvSpPr/>
            <p:nvPr/>
          </p:nvSpPr>
          <p:spPr>
            <a:xfrm>
              <a:off x="609600" y="1447800"/>
              <a:ext cx="10972800" cy="1619250"/>
            </a:xfrm>
            <a:prstGeom prst="roundRect">
              <a:avLst>
                <a:gd name="adj" fmla="val 8235"/>
              </a:avLst>
            </a:prstGeom>
            <a:solidFill>
              <a:srgbClr val="FFFFFF"/>
            </a:solidFill>
            <a:ln w="14288">
              <a:solidFill>
                <a:srgbClr val="E2F2F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1723" y="1653064"/>
              <a:ext cx="125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序列 → 数字向量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4618" y="2145982"/>
              <a:ext cx="22469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 − G − D − S − E − 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476" y="2530554"/>
              <a:ext cx="238816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六肽（Glu-Gly-Asp-Ser-Glu-Arg）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4175125" y="2209800"/>
              <a:ext cx="222250" cy="190500"/>
              <a:chOff x="4175125" y="2209800"/>
              <a:chExt cx="222250" cy="190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4175125" y="2305050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4302125" y="23050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302125" y="22098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4852035" y="1993106"/>
              <a:ext cx="1639794" cy="791528"/>
              <a:chOff x="4852035" y="1993106"/>
              <a:chExt cx="1639794" cy="79152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4852035" y="1993106"/>
                <a:ext cx="163979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[0.31, 0.08, 0.15, …]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852035" y="2278856"/>
                <a:ext cx="163979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[0.62, 0.44, 0.71, …]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852035" y="2564606"/>
                <a:ext cx="163979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[0.05, 0.90, 0.22, …]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8185594" y="2274808"/>
              <a:ext cx="204188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编码向量（数十至数千维），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85594" y="2541508"/>
              <a:ext cx="204188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描述组成、顺序、理化与语义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056" y="2843451"/>
              <a:ext cx="204978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向量为示意，不对应真实编码数值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3276600"/>
            <a:ext cx="5391150" cy="2552700"/>
            <a:chOff x="609600" y="3276600"/>
            <a:chExt cx="5391150" cy="2552700"/>
          </a:xfrm>
        </p:grpSpPr>
        <p:sp>
          <p:nvSpPr>
            <p:cNvPr id="22" name="Rectangle 22"/>
            <p:cNvSpPr/>
            <p:nvPr/>
          </p:nvSpPr>
          <p:spPr>
            <a:xfrm>
              <a:off x="609600" y="3276600"/>
              <a:ext cx="5391150" cy="2552700"/>
            </a:xfrm>
            <a:prstGeom prst="roundRect">
              <a:avLst>
                <a:gd name="adj" fmla="val 5224"/>
              </a:avLst>
            </a:prstGeom>
            <a:solidFill>
              <a:srgbClr val="FFFFFF"/>
            </a:solidFill>
            <a:ln w="14288">
              <a:solidFill>
                <a:srgbClr val="E6EFF6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19150" y="3505200"/>
              <a:ext cx="457200" cy="457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20750" y="3606800"/>
              <a:ext cx="241299" cy="253999"/>
              <a:chOff x="920750" y="3606800"/>
              <a:chExt cx="241299" cy="25399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20750" y="38099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47750" y="36068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47750" y="38099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84250" y="3708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11249" y="3708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25400"/>
                    </a:move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59586" y="3755390"/>
                <a:ext cx="36576" cy="58496"/>
              </a:xfrm>
              <a:custGeom>
                <a:avLst/>
                <a:gdLst/>
                <a:ahLst/>
                <a:cxnLst/>
                <a:rect l="l" t="t" r="r" b="b"/>
                <a:pathLst>
                  <a:path w="36576" h="58496">
                    <a:moveTo>
                      <a:pt x="0" y="58496"/>
                    </a:moveTo>
                    <a:lnTo>
                      <a:pt x="36576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23124" y="3653777"/>
                <a:ext cx="36538" cy="58471"/>
              </a:xfrm>
              <a:custGeom>
                <a:avLst/>
                <a:gdLst/>
                <a:ahLst/>
                <a:cxnLst/>
                <a:rect l="l" t="t" r="r" b="b"/>
                <a:pathLst>
                  <a:path w="36538" h="58471">
                    <a:moveTo>
                      <a:pt x="0" y="58471"/>
                    </a:moveTo>
                    <a:lnTo>
                      <a:pt x="36538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23175" y="3755453"/>
                <a:ext cx="36525" cy="58420"/>
              </a:xfrm>
              <a:custGeom>
                <a:avLst/>
                <a:gdLst/>
                <a:ahLst/>
                <a:cxnLst/>
                <a:rect l="l" t="t" r="r" b="b"/>
                <a:pathLst>
                  <a:path w="36525" h="58420">
                    <a:moveTo>
                      <a:pt x="0" y="0"/>
                    </a:moveTo>
                    <a:lnTo>
                      <a:pt x="36525" y="5842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86650" y="3653790"/>
                <a:ext cx="36589" cy="58547"/>
              </a:xfrm>
              <a:custGeom>
                <a:avLst/>
                <a:gdLst/>
                <a:ahLst/>
                <a:cxnLst/>
                <a:rect l="l" t="t" r="r" b="b"/>
                <a:pathLst>
                  <a:path w="36589" h="58547">
                    <a:moveTo>
                      <a:pt x="0" y="0"/>
                    </a:moveTo>
                    <a:lnTo>
                      <a:pt x="36589" y="58547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402842" y="3549968"/>
              <a:ext cx="2317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手工特征（传统 ML 路线）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04366" y="38109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依赖专家经验设计，可解释但有噪声冗余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294" y="4141708"/>
              <a:ext cx="397324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AAC 氨基酸组成（20 维）、DPC 二肽组成（400 维）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294" y="4427458"/>
              <a:ext cx="384124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PAAC / APAAC 拟氨基酸组成、CTD 组成-转换-分布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2294" y="4713208"/>
              <a:ext cx="310435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理化描述符：电荷、疏水性、pKa、分子量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294" y="4998958"/>
              <a:ext cx="326232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Mordred 2D 分子描述符（VirtuousUmami）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676" y="5426154"/>
              <a:ext cx="366615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代表：iUmami-SCM、UMPred-FRL（6 算法 × 7 编码）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191250" y="3276600"/>
            <a:ext cx="5391150" cy="2552700"/>
            <a:chOff x="6191250" y="3276600"/>
            <a:chExt cx="5391150" cy="2552700"/>
          </a:xfrm>
        </p:grpSpPr>
        <p:sp>
          <p:nvSpPr>
            <p:cNvPr id="42" name="Rectangle 42"/>
            <p:cNvSpPr/>
            <p:nvPr/>
          </p:nvSpPr>
          <p:spPr>
            <a:xfrm>
              <a:off x="6191250" y="3276600"/>
              <a:ext cx="5391150" cy="2552700"/>
            </a:xfrm>
            <a:prstGeom prst="roundRect">
              <a:avLst>
                <a:gd name="adj" fmla="val 522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400800" y="3505200"/>
              <a:ext cx="457200" cy="457200"/>
            </a:xfrm>
            <a:prstGeom prst="ellipse">
              <a:avLst/>
            </a:prstGeom>
            <a:solidFill>
              <a:srgbClr val="1F507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515100" y="3619500"/>
              <a:ext cx="228599" cy="228600"/>
              <a:chOff x="6515100" y="3619500"/>
              <a:chExt cx="228599" cy="2286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629400" y="37465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25400">
                <a:solidFill>
                  <a:srgbClr val="7ED3C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40500" y="37465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25400">
                <a:solidFill>
                  <a:srgbClr val="7ED3C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92899" y="36957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7ED3C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29400" y="361950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5400">
                <a:solidFill>
                  <a:srgbClr val="7ED3C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15100" y="36957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7ED3C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40500" y="361950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25400">
                <a:solidFill>
                  <a:srgbClr val="7ED3C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984492" y="3549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深度表征（新主流）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86016" y="38109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DC0D8"/>
                  </a:solidFill>
                  <a:latin typeface="+mn-lt"/>
                  <a:ea typeface="+mn-ea"/>
                  <a:cs typeface="+mn-cs"/>
                </a:rPr>
                <a:t>预训练语言模型自动提特征，端到端学习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13944" y="4141708"/>
              <a:ext cx="336687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BERT/Transformer 在海量蛋白序列上预训练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13944" y="4427458"/>
              <a:ext cx="263558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每个残基映射为高维上下文嵌入向量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13944" y="4713208"/>
              <a:ext cx="297132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两阶段微调 + 注意力权重可定位关键残基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13944" y="4998958"/>
              <a:ext cx="279173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5222" indent="-125222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16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免去手工特征工程，自动捕捉长程依赖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14326" y="5426154"/>
              <a:ext cx="356304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7ED3C8"/>
                  </a:solidFill>
                  <a:latin typeface="+mn-lt"/>
                  <a:ea typeface="+mn-ea"/>
                  <a:cs typeface="+mn-cs"/>
                </a:rPr>
                <a:t>代表：iUP-BERT、Umami-BERT、2025 对比学习模型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59" name="Line 59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4647" y="6543199"/>
              <a:ext cx="9103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来源：UMPred-FRL（IJMS 2021）；iUmami-SCM（2020）；VirtuousUmami（Sci Rep 2022）；iUP-BERT（Foods 2022）；Umami-BERT（FRI 2023）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3926548" cy="852011"/>
            <a:chOff x="598170" y="469106"/>
            <a:chExt cx="3926548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2564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机器学习路线 · STEP 04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392654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算法演进：从 SVM 到 BERT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1428750"/>
            <a:ext cx="10972800" cy="3390900"/>
            <a:chOff x="609600" y="1428750"/>
            <a:chExt cx="10972800" cy="3390900"/>
          </a:xfrm>
        </p:grpSpPr>
        <p:grpSp>
          <p:nvGrpSpPr>
            <p:cNvPr id="24" name="Group 24"/>
            <p:cNvGrpSpPr/>
            <p:nvPr/>
          </p:nvGrpSpPr>
          <p:grpSpPr>
            <a:xfrm>
              <a:off x="609600" y="1428750"/>
              <a:ext cx="10972800" cy="3390900"/>
              <a:chOff x="609600" y="1428750"/>
              <a:chExt cx="10972800" cy="33909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1428750"/>
                <a:ext cx="10972800" cy="3390900"/>
              </a:xfrm>
              <a:prstGeom prst="roundRect">
                <a:avLst>
                  <a:gd name="adj" fmla="val 3933"/>
                </a:avLst>
              </a:prstGeom>
              <a:solidFill>
                <a:srgbClr val="FFFFFF"/>
              </a:solidFill>
              <a:ln w="14288">
                <a:solidFill>
                  <a:srgbClr val="E2F2F0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31723" y="1634014"/>
                <a:ext cx="34592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三代算法谱系（表达能力与准确率逐级提升）</a:t>
                </a:r>
              </a:p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2661285" y="2088356"/>
                <a:ext cx="7244715" cy="2667620"/>
                <a:chOff x="2661285" y="2088356"/>
                <a:chExt cx="7244715" cy="2667620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2661285" y="2088356"/>
                  <a:ext cx="3451930" cy="953120"/>
                  <a:chOff x="2661285" y="2088356"/>
                  <a:chExt cx="3451930" cy="953120"/>
                </a:xfrm>
              </p:grpSpPr>
              <p:sp>
                <p:nvSpPr>
                  <p:cNvPr id="8" name="Rectangle 8"/>
                  <p:cNvSpPr/>
                  <p:nvPr/>
                </p:nvSpPr>
                <p:spPr>
                  <a:xfrm>
                    <a:off x="2667000" y="2286000"/>
                    <a:ext cx="3429000" cy="438150"/>
                  </a:xfrm>
                  <a:prstGeom prst="roundRect">
                    <a:avLst>
                      <a:gd name="adj" fmla="val 13043"/>
                    </a:avLst>
                  </a:prstGeom>
                  <a:solidFill>
                    <a:srgbClr val="8FB3CC"/>
                  </a:solidFill>
                  <a:ln>
                    <a:noFill/>
                  </a:ln>
                </p:spPr>
              </p:sp>
              <p:sp>
                <p:nvSpPr>
                  <p:cNvPr id="9" name="TextBox 9"/>
                  <p:cNvSpPr txBox="1"/>
                  <p:nvPr/>
                </p:nvSpPr>
                <p:spPr>
                  <a:xfrm>
                    <a:off x="2813685" y="2450306"/>
                    <a:ext cx="2947093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b="1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rPr>
                      <a:t>SVM · RF · ET · KNN · LR · PLS · GBDT</a:t>
                    </a:r>
                  </a:p>
                </p:txBody>
              </p:sp>
              <p:sp>
                <p:nvSpPr>
                  <p:cNvPr id="10" name="TextBox 10"/>
                  <p:cNvSpPr txBox="1"/>
                  <p:nvPr/>
                </p:nvSpPr>
                <p:spPr>
                  <a:xfrm>
                    <a:off x="2661285" y="2088356"/>
                    <a:ext cx="916076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b="1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rPr>
                      <a:t>传统机器学习</a:t>
                    </a:r>
                  </a:p>
                </p:txBody>
              </p:sp>
              <p:sp>
                <p:nvSpPr>
                  <p:cNvPr id="11" name="TextBox 11"/>
                  <p:cNvSpPr txBox="1"/>
                  <p:nvPr/>
                </p:nvSpPr>
                <p:spPr>
                  <a:xfrm>
                    <a:off x="2814256" y="2843451"/>
                    <a:ext cx="3298959" cy="1980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1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手工特征 + 经典分类器；iUmami-SCM、UMPred-FRL</a:t>
                    </a:r>
                  </a:p>
                </p:txBody>
              </p:sp>
            </p:grpSp>
            <p:grpSp>
              <p:nvGrpSpPr>
                <p:cNvPr id="17" name="Group 17"/>
                <p:cNvGrpSpPr/>
                <p:nvPr/>
              </p:nvGrpSpPr>
              <p:grpSpPr>
                <a:xfrm>
                  <a:off x="2661285" y="2945606"/>
                  <a:ext cx="5339715" cy="953120"/>
                  <a:chOff x="2661285" y="2945606"/>
                  <a:chExt cx="5339715" cy="953120"/>
                </a:xfrm>
              </p:grpSpPr>
              <p:sp>
                <p:nvSpPr>
                  <p:cNvPr id="13" name="Rectangle 13"/>
                  <p:cNvSpPr/>
                  <p:nvPr/>
                </p:nvSpPr>
                <p:spPr>
                  <a:xfrm>
                    <a:off x="2667000" y="3143250"/>
                    <a:ext cx="5334000" cy="438150"/>
                  </a:xfrm>
                  <a:prstGeom prst="roundRect">
                    <a:avLst>
                      <a:gd name="adj" fmla="val 13043"/>
                    </a:avLst>
                  </a:prstGeom>
                  <a:solidFill>
                    <a:srgbClr val="5B8DB8"/>
                  </a:solidFill>
                  <a:ln>
                    <a:noFill/>
                  </a:ln>
                </p:spPr>
              </p:sp>
              <p:sp>
                <p:nvSpPr>
                  <p:cNvPr id="14" name="TextBox 14"/>
                  <p:cNvSpPr txBox="1"/>
                  <p:nvPr/>
                </p:nvSpPr>
                <p:spPr>
                  <a:xfrm>
                    <a:off x="2813685" y="3307556"/>
                    <a:ext cx="1851447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b="1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rPr>
                      <a:t>MLP · CNN · RNN / LSTM</a:t>
                    </a:r>
                  </a:p>
                </p:txBody>
              </p:sp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2661285" y="2945606"/>
                    <a:ext cx="614528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b="1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rPr>
                      <a:t>深度学习</a:t>
                    </a:r>
                  </a:p>
                </p:txBody>
              </p:sp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2814256" y="3700701"/>
                    <a:ext cx="3530700" cy="1980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1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自动特征学习；Umami-MRNN（MLP+RNN，ACC 90.5%）</a:t>
                    </a:r>
                  </a:p>
                </p:txBody>
              </p:sp>
            </p:grpSp>
            <p:grpSp>
              <p:nvGrpSpPr>
                <p:cNvPr id="22" name="Group 22"/>
                <p:cNvGrpSpPr/>
                <p:nvPr/>
              </p:nvGrpSpPr>
              <p:grpSpPr>
                <a:xfrm>
                  <a:off x="2661285" y="3802856"/>
                  <a:ext cx="7244715" cy="953120"/>
                  <a:chOff x="2661285" y="3802856"/>
                  <a:chExt cx="7244715" cy="953120"/>
                </a:xfrm>
              </p:grpSpPr>
              <p:sp>
                <p:nvSpPr>
                  <p:cNvPr id="18" name="Rectangle 18"/>
                  <p:cNvSpPr/>
                  <p:nvPr/>
                </p:nvSpPr>
                <p:spPr>
                  <a:xfrm>
                    <a:off x="2667000" y="4000500"/>
                    <a:ext cx="7239000" cy="438150"/>
                  </a:xfrm>
                  <a:prstGeom prst="roundRect">
                    <a:avLst>
                      <a:gd name="adj" fmla="val 13043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</p:spPr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2813685" y="4164806"/>
                    <a:ext cx="3467094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b="1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rPr>
                      <a:t>BERT / Transformer · 两阶段预训练 · 对比学习</a:t>
                    </a:r>
                  </a:p>
                </p:txBody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2661285" y="3802856"/>
                    <a:ext cx="916076" cy="2200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120" b="1" dirty="0">
                        <a:solidFill>
                          <a:srgbClr val="B5663A"/>
                        </a:solidFill>
                        <a:latin typeface="+mn-lt"/>
                        <a:ea typeface="+mn-ea"/>
                        <a:cs typeface="+mn-cs"/>
                      </a:rPr>
                      <a:t>预训练大模型</a:t>
                    </a:r>
                  </a:p>
                </p:txBody>
              </p:sp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2814256" y="4557951"/>
                    <a:ext cx="4464773" cy="1980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01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iUP-BERT、Umami-BERT、2025 对比学习（ACC 0.94）；注意力可解释</a:t>
                    </a:r>
                  </a:p>
                </p:txBody>
              </p:sp>
            </p:grpSp>
          </p:grpSp>
        </p:grpSp>
      </p:grpSp>
      <p:grpSp>
        <p:nvGrpSpPr>
          <p:cNvPr id="40" name="Group 40"/>
          <p:cNvGrpSpPr/>
          <p:nvPr/>
        </p:nvGrpSpPr>
        <p:grpSpPr>
          <a:xfrm>
            <a:off x="609600" y="5010150"/>
            <a:ext cx="10972800" cy="819150"/>
            <a:chOff x="609600" y="5010150"/>
            <a:chExt cx="10972800" cy="819150"/>
          </a:xfrm>
        </p:grpSpPr>
        <p:sp>
          <p:nvSpPr>
            <p:cNvPr id="26" name="Rectangle 26"/>
            <p:cNvSpPr/>
            <p:nvPr/>
          </p:nvSpPr>
          <p:spPr>
            <a:xfrm>
              <a:off x="609600" y="5010150"/>
              <a:ext cx="10972800" cy="819150"/>
            </a:xfrm>
            <a:prstGeom prst="roundRect">
              <a:avLst>
                <a:gd name="adj" fmla="val 13953"/>
              </a:avLst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52500" y="5295900"/>
              <a:ext cx="228600" cy="241299"/>
              <a:chOff x="952500" y="5295900"/>
              <a:chExt cx="228600" cy="24129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990600" y="52959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66800" y="52959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cubicBezTo>
                      <a:pt x="16929" y="4229"/>
                      <a:pt x="25400" y="29629"/>
                      <a:pt x="25400" y="76200"/>
                    </a:cubicBezTo>
                    <a:cubicBezTo>
                      <a:pt x="25400" y="122771"/>
                      <a:pt x="16929" y="148171"/>
                      <a:pt x="0" y="152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41400" y="52959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25400" y="0"/>
                    </a:moveTo>
                    <a:cubicBezTo>
                      <a:pt x="8471" y="4229"/>
                      <a:pt x="0" y="29629"/>
                      <a:pt x="0" y="76200"/>
                    </a:cubicBezTo>
                    <a:cubicBezTo>
                      <a:pt x="0" y="122771"/>
                      <a:pt x="8471" y="148171"/>
                      <a:pt x="25400" y="152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90600" y="53721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52500" y="5511799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92200" y="5511799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41400" y="54863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66800" y="54483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384173" y="5158264"/>
              <a:ext cx="23348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集成学习范例：UMPred-FRL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84744" y="5456158"/>
              <a:ext cx="647149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种算法（ET/KNN/LR/PLS/RF/SVM）× 7 种序列编码（AAC/APAAC/DPC/CTD/PAAC 等）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33094" y="5170408"/>
              <a:ext cx="291578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独立测试集：ACC 0.888、MCC 0.735、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33094" y="5456158"/>
              <a:ext cx="171247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Sn 0.786、BACC 0.860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41" name="Line 41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4647" y="6543199"/>
              <a:ext cx="8474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来源：UMPred-FRL（IJMS 2021）；iUP-BERT（Foods 2022）；Umami-MRNN（2023）；Umami-BERT（FRI 2023）；Food Chemistry 2025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3354705" cy="852011"/>
            <a:chOff x="598170" y="469106"/>
            <a:chExt cx="3354705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2564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机器学习路线 · STEP 05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怎么判断模型「准不准」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1428750"/>
            <a:ext cx="4953000" cy="3733800"/>
            <a:chOff x="609600" y="1428750"/>
            <a:chExt cx="4953000" cy="3733800"/>
          </a:xfrm>
        </p:grpSpPr>
        <p:grpSp>
          <p:nvGrpSpPr>
            <p:cNvPr id="30" name="Group 30"/>
            <p:cNvGrpSpPr/>
            <p:nvPr/>
          </p:nvGrpSpPr>
          <p:grpSpPr>
            <a:xfrm>
              <a:off x="609600" y="1428750"/>
              <a:ext cx="4953000" cy="3733800"/>
              <a:chOff x="609600" y="1428750"/>
              <a:chExt cx="4953000" cy="37338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1428750"/>
                <a:ext cx="4953000" cy="3733800"/>
              </a:xfrm>
              <a:prstGeom prst="roundRect">
                <a:avLst>
                  <a:gd name="adj" fmla="val 3571"/>
                </a:avLst>
              </a:prstGeom>
              <a:solidFill>
                <a:srgbClr val="FFFFFF"/>
              </a:solidFill>
              <a:ln w="14288">
                <a:solidFill>
                  <a:srgbClr val="E2F2F0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31723" y="1634014"/>
                <a:ext cx="19084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五维评价体系（环示意）</a:t>
                </a:r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1332738" y="2343150"/>
                <a:ext cx="2173224" cy="2286000"/>
                <a:chOff x="1332738" y="2343150"/>
                <a:chExt cx="2173224" cy="2286000"/>
              </a:xfrm>
            </p:grpSpPr>
            <p:grpSp>
              <p:nvGrpSpPr>
                <p:cNvPr id="13" name="Group 13"/>
                <p:cNvGrpSpPr/>
                <p:nvPr/>
              </p:nvGrpSpPr>
              <p:grpSpPr>
                <a:xfrm>
                  <a:off x="1332738" y="2343150"/>
                  <a:ext cx="2173224" cy="2286000"/>
                  <a:chOff x="1332738" y="2343150"/>
                  <a:chExt cx="2173224" cy="2286000"/>
                </a:xfrm>
              </p:grpSpPr>
              <p:sp>
                <p:nvSpPr>
                  <p:cNvPr id="8" name="Freeform 8"/>
                  <p:cNvSpPr/>
                  <p:nvPr/>
                </p:nvSpPr>
                <p:spPr>
                  <a:xfrm>
                    <a:off x="2419350" y="2343150"/>
                    <a:ext cx="1086612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6612" h="1143000">
                        <a:moveTo>
                          <a:pt x="0" y="0"/>
                        </a:moveTo>
                        <a:cubicBezTo>
                          <a:pt x="608838" y="30480"/>
                          <a:pt x="1086612" y="533400"/>
                          <a:pt x="1085850" y="1143000"/>
                        </a:cubicBezTo>
                        <a:lnTo>
                          <a:pt x="914400" y="1143000"/>
                        </a:lnTo>
                        <a:cubicBezTo>
                          <a:pt x="915595" y="626172"/>
                          <a:pt x="515634" y="197048"/>
                          <a:pt x="0" y="16192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</p:sp>
              <p:sp>
                <p:nvSpPr>
                  <p:cNvPr id="9" name="Freeform 9"/>
                  <p:cNvSpPr/>
                  <p:nvPr/>
                </p:nvSpPr>
                <p:spPr>
                  <a:xfrm>
                    <a:off x="2419350" y="3486150"/>
                    <a:ext cx="1086612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6612" h="1143000">
                        <a:moveTo>
                          <a:pt x="1085850" y="0"/>
                        </a:moveTo>
                        <a:cubicBezTo>
                          <a:pt x="1086612" y="609600"/>
                          <a:pt x="608838" y="1112520"/>
                          <a:pt x="0" y="1143000"/>
                        </a:cubicBezTo>
                        <a:lnTo>
                          <a:pt x="0" y="981075"/>
                        </a:lnTo>
                        <a:cubicBezTo>
                          <a:pt x="515634" y="945952"/>
                          <a:pt x="915595" y="516828"/>
                          <a:pt x="914400" y="0"/>
                        </a:cubicBezTo>
                        <a:close/>
                      </a:path>
                    </a:pathLst>
                  </a:custGeom>
                  <a:solidFill>
                    <a:srgbClr val="5B8DB8"/>
                  </a:solidFill>
                  <a:ln>
                    <a:noFill/>
                  </a:ln>
                </p:spPr>
              </p:sp>
              <p:sp>
                <p:nvSpPr>
                  <p:cNvPr id="10" name="Freeform 10"/>
                  <p:cNvSpPr/>
                  <p:nvPr/>
                </p:nvSpPr>
                <p:spPr>
                  <a:xfrm>
                    <a:off x="1332738" y="3486150"/>
                    <a:ext cx="1086612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6612" h="1143000">
                        <a:moveTo>
                          <a:pt x="1086612" y="1143000"/>
                        </a:moveTo>
                        <a:cubicBezTo>
                          <a:pt x="477774" y="1112520"/>
                          <a:pt x="0" y="609600"/>
                          <a:pt x="762" y="0"/>
                        </a:cubicBezTo>
                        <a:lnTo>
                          <a:pt x="172212" y="0"/>
                        </a:lnTo>
                        <a:cubicBezTo>
                          <a:pt x="171018" y="516828"/>
                          <a:pt x="570978" y="945952"/>
                          <a:pt x="1086612" y="981075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</p:sp>
              <p:sp>
                <p:nvSpPr>
                  <p:cNvPr id="11" name="Freeform 11"/>
                  <p:cNvSpPr/>
                  <p:nvPr/>
                </p:nvSpPr>
                <p:spPr>
                  <a:xfrm>
                    <a:off x="1332738" y="2343150"/>
                    <a:ext cx="1086612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6612" h="1143000">
                        <a:moveTo>
                          <a:pt x="762" y="1143000"/>
                        </a:moveTo>
                        <a:cubicBezTo>
                          <a:pt x="0" y="533400"/>
                          <a:pt x="477774" y="30480"/>
                          <a:pt x="1086612" y="0"/>
                        </a:cubicBezTo>
                        <a:lnTo>
                          <a:pt x="1086612" y="161925"/>
                        </a:lnTo>
                        <a:cubicBezTo>
                          <a:pt x="570978" y="197048"/>
                          <a:pt x="171018" y="626172"/>
                          <a:pt x="172212" y="114300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</p:sp>
              <p:sp>
                <p:nvSpPr>
                  <p:cNvPr id="12" name="Freeform 12"/>
                  <p:cNvSpPr/>
                  <p:nvPr/>
                </p:nvSpPr>
                <p:spPr>
                  <a:xfrm>
                    <a:off x="2419350" y="2343150"/>
                    <a:ext cx="1086612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6612" h="1143000">
                        <a:moveTo>
                          <a:pt x="0" y="0"/>
                        </a:moveTo>
                        <a:cubicBezTo>
                          <a:pt x="608838" y="30480"/>
                          <a:pt x="1086612" y="533400"/>
                          <a:pt x="1085850" y="1143000"/>
                        </a:cubicBezTo>
                      </a:path>
                    </a:pathLst>
                  </a:custGeom>
                  <a:noFill/>
                  <a:ln w="28575">
                    <a:solidFill>
                      <a:srgbClr val="FFFFFF"/>
                    </a:solidFill>
                  </a:ln>
                </p:spPr>
              </p:sp>
            </p:grpSp>
            <p:sp>
              <p:nvSpPr>
                <p:cNvPr id="14" name="Ellipse 14"/>
                <p:cNvSpPr/>
                <p:nvPr/>
              </p:nvSpPr>
              <p:spPr>
                <a:xfrm>
                  <a:off x="1828800" y="2895600"/>
                  <a:ext cx="1181100" cy="11811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2112086" y="3326606"/>
                  <a:ext cx="61452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综合考察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2098849" y="3566160"/>
                  <a:ext cx="64100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5 类指标</a:t>
                  </a:r>
                </a:p>
              </p:txBody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3886200" y="2244804"/>
                <a:ext cx="1466759" cy="1736693"/>
                <a:chOff x="3886200" y="2244804"/>
                <a:chExt cx="1466759" cy="1736693"/>
              </a:xfrm>
            </p:grpSpPr>
            <p:sp>
              <p:nvSpPr>
                <p:cNvPr id="18" name="Rectangle 18"/>
                <p:cNvSpPr/>
                <p:nvPr/>
              </p:nvSpPr>
              <p:spPr>
                <a:xfrm>
                  <a:off x="3886200" y="22479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4090226" y="2244804"/>
                  <a:ext cx="778505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ACC 准确率</a:t>
                  </a: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3886200" y="26289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5B8DB8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4090226" y="2625804"/>
                  <a:ext cx="964555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MCC 相关系数</a:t>
                  </a:r>
                </a:p>
              </p:txBody>
            </p:sp>
            <p:sp>
              <p:nvSpPr>
                <p:cNvPr id="22" name="Rectangle 22"/>
                <p:cNvSpPr/>
                <p:nvPr/>
              </p:nvSpPr>
              <p:spPr>
                <a:xfrm>
                  <a:off x="3886200" y="30099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090226" y="3006804"/>
                  <a:ext cx="674959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Sn 灵敏度</a:t>
                  </a:r>
                </a:p>
              </p:txBody>
            </p:sp>
            <p:sp>
              <p:nvSpPr>
                <p:cNvPr id="24" name="Rectangle 24"/>
                <p:cNvSpPr/>
                <p:nvPr/>
              </p:nvSpPr>
              <p:spPr>
                <a:xfrm>
                  <a:off x="3886200" y="33909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090226" y="3387804"/>
                  <a:ext cx="1173861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BACC 平衡准确率</a:t>
                  </a:r>
                </a:p>
              </p:txBody>
            </p:sp>
            <p:sp>
              <p:nvSpPr>
                <p:cNvPr id="26" name="Rectangle 26"/>
                <p:cNvSpPr/>
                <p:nvPr/>
              </p:nvSpPr>
              <p:spPr>
                <a:xfrm>
                  <a:off x="3886200" y="3771900"/>
                  <a:ext cx="133350" cy="133350"/>
                </a:xfrm>
                <a:prstGeom prst="roundRect">
                  <a:avLst>
                    <a:gd name="adj" fmla="val 21429"/>
                  </a:avLst>
                </a:prstGeom>
                <a:solidFill>
                  <a:srgbClr val="B9C6CF"/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090226" y="3768804"/>
                  <a:ext cx="1262733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auROC 曲线下面积</a:t>
                  </a:r>
                </a:p>
              </p:txBody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833056" y="4805601"/>
                <a:ext cx="3681374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环形等分为示意；重点在「多指标交叉看」，尤其不平衡数据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867400" y="-209550"/>
            <a:ext cx="5715000" cy="5372100"/>
            <a:chOff x="5867400" y="-209550"/>
            <a:chExt cx="5715000" cy="5372100"/>
          </a:xfrm>
        </p:grpSpPr>
        <p:grpSp>
          <p:nvGrpSpPr>
            <p:cNvPr id="40" name="Group 40"/>
            <p:cNvGrpSpPr/>
            <p:nvPr/>
          </p:nvGrpSpPr>
          <p:grpSpPr>
            <a:xfrm>
              <a:off x="5867400" y="1428750"/>
              <a:ext cx="2762250" cy="1733550"/>
              <a:chOff x="5867400" y="1428750"/>
              <a:chExt cx="2762250" cy="1733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867400" y="1428750"/>
                <a:ext cx="2762250" cy="173355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6096000" y="1657350"/>
                <a:ext cx="419100" cy="419100"/>
              </a:xfrm>
              <a:prstGeom prst="ellipse">
                <a:avLst/>
              </a:prstGeom>
              <a:solidFill>
                <a:srgbClr val="E2F2F0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227763" y="181133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622923" y="1691164"/>
                <a:ext cx="9319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ACC 准确率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624066" y="19440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整体分类正确率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090094" y="2274808"/>
                <a:ext cx="1729562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最直观，但类别不平衡时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090094" y="250340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会被多数类「带偏」，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090094" y="2732008"/>
                <a:ext cx="792607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虚高风险大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8820150" y="1428750"/>
              <a:ext cx="2762250" cy="1733550"/>
              <a:chOff x="8820150" y="1428750"/>
              <a:chExt cx="2762250" cy="17335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820150" y="1428750"/>
                <a:ext cx="2762250" cy="1733550"/>
              </a:xfrm>
              <a:prstGeom prst="roundRect">
                <a:avLst>
                  <a:gd name="adj" fmla="val 7692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9048750" y="1657350"/>
                <a:ext cx="419100" cy="4191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9158288" y="1778000"/>
                <a:ext cx="200025" cy="187326"/>
                <a:chOff x="9158288" y="1778000"/>
                <a:chExt cx="200025" cy="187326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9158288" y="1866900"/>
                  <a:ext cx="6667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8890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77788"/>
                      </a:lnTo>
                      <a:cubicBezTo>
                        <a:pt x="66675" y="83925"/>
                        <a:pt x="61700" y="88900"/>
                        <a:pt x="55563" y="88900"/>
                      </a:cubicBezTo>
                      <a:lnTo>
                        <a:pt x="11113" y="88900"/>
                      </a:lnTo>
                      <a:cubicBezTo>
                        <a:pt x="4975" y="88900"/>
                        <a:pt x="0" y="83925"/>
                        <a:pt x="0" y="777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9291638" y="1822450"/>
                  <a:ext cx="6667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122238"/>
                      </a:lnTo>
                      <a:cubicBezTo>
                        <a:pt x="66675" y="128375"/>
                        <a:pt x="61700" y="133350"/>
                        <a:pt x="55563" y="133350"/>
                      </a:cubicBezTo>
                      <a:lnTo>
                        <a:pt x="11113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9224963" y="1778000"/>
                  <a:ext cx="66675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77801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166688"/>
                      </a:lnTo>
                      <a:cubicBezTo>
                        <a:pt x="66675" y="172825"/>
                        <a:pt x="61700" y="177801"/>
                        <a:pt x="55563" y="177801"/>
                      </a:cubicBezTo>
                      <a:lnTo>
                        <a:pt x="11113" y="177801"/>
                      </a:lnTo>
                      <a:cubicBezTo>
                        <a:pt x="4975" y="177801"/>
                        <a:pt x="0" y="172825"/>
                        <a:pt x="0" y="1666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9169400" y="1955801"/>
                  <a:ext cx="155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9525">
                      <a:moveTo>
                        <a:pt x="0" y="0"/>
                      </a:moveTo>
                      <a:lnTo>
                        <a:pt x="155575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9575673" y="1691164"/>
                <a:ext cx="11522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MCC 相关系数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576816" y="1944052"/>
                <a:ext cx="147365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−1 ~ +1，综合混淆矩阵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042844" y="2274808"/>
                <a:ext cx="157340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不平衡数据下最稳健，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042844" y="2503408"/>
                <a:ext cx="1261085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文献常并列报告；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042844" y="2732008"/>
                <a:ext cx="1316084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BACC/auROC 互补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5867400" y="-209550"/>
              <a:ext cx="5715000" cy="5372100"/>
              <a:chOff x="5867400" y="-209550"/>
              <a:chExt cx="5715000" cy="53721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5867400" y="3352800"/>
                <a:ext cx="5715000" cy="1809750"/>
              </a:xfrm>
              <a:prstGeom prst="roundRect">
                <a:avLst>
                  <a:gd name="adj" fmla="val 7368"/>
                </a:avLst>
              </a:prstGeom>
              <a:solidFill>
                <a:srgbClr val="FCEBDF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6096000" y="-209550"/>
                <a:ext cx="419100" cy="41910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6205538" y="3690938"/>
                <a:ext cx="200025" cy="200025"/>
                <a:chOff x="6205538" y="3690938"/>
                <a:chExt cx="200025" cy="200025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6205538" y="3690938"/>
                  <a:ext cx="155575" cy="1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55575">
                      <a:moveTo>
                        <a:pt x="0" y="77788"/>
                      </a:moveTo>
                      <a:cubicBezTo>
                        <a:pt x="0" y="120749"/>
                        <a:pt x="34827" y="155575"/>
                        <a:pt x="77788" y="155575"/>
                      </a:cubicBezTo>
                      <a:cubicBezTo>
                        <a:pt x="120749" y="155575"/>
                        <a:pt x="155575" y="120749"/>
                        <a:pt x="155575" y="77788"/>
                      </a:cubicBezTo>
                      <a:cubicBezTo>
                        <a:pt x="155575" y="34827"/>
                        <a:pt x="120749" y="0"/>
                        <a:pt x="77788" y="0"/>
                      </a:cubicBezTo>
                      <a:cubicBezTo>
                        <a:pt x="34827" y="0"/>
                        <a:pt x="0" y="34827"/>
                        <a:pt x="0" y="77788"/>
                      </a:cubicBez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6338888" y="382428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66675" y="666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6622923" y="3615214"/>
                <a:ext cx="293128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Sn 灵敏度（召回）：筛选阶段最关键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090094" y="3989308"/>
                <a:ext cx="4809266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鲜味肽被找出的比例 —— 漏筛 = 漏掉一条新肽；iUP-BERT 相对前代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090094" y="4236958"/>
                <a:ext cx="4607016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灵敏度提升 13.6–25.07 个百分点，靠的正是 SMOTE 过采样。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090094" y="4579858"/>
                <a:ext cx="509479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比较模型必须在同一独立测试集上评估；训练集/交叉验证表现仅供参考，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090094" y="4827508"/>
                <a:ext cx="3111571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指标高 ≠ 感官呈鲜 —— 最终仍需湿实验确证。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609600" y="5353050"/>
            <a:ext cx="10972800" cy="514350"/>
            <a:chOff x="609600" y="5353050"/>
            <a:chExt cx="10972800" cy="514350"/>
          </a:xfrm>
        </p:grpSpPr>
        <p:sp>
          <p:nvSpPr>
            <p:cNvPr id="66" name="Rectangle 66"/>
            <p:cNvSpPr/>
            <p:nvPr/>
          </p:nvSpPr>
          <p:spPr>
            <a:xfrm>
              <a:off x="609600" y="5353050"/>
              <a:ext cx="10972800" cy="5143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46214" y="5543312"/>
              <a:ext cx="775055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验证协议：10 折交叉验证（调参）→ 独立测试集（报告）→ 分子对接（机制）→ 合成 + 感官评价（确证）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69" name="Line 69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04647" y="6543199"/>
              <a:ext cx="77831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来源：UMPred-FRL 独立测试集（ACC 0.888 / MCC 0.735 / Sn 0.786 / BACC 0.860，IJMS 2021）；iUP-BERT（Foods 2022）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4263390" cy="852011"/>
            <a:chOff x="598170" y="469106"/>
            <a:chExt cx="4263390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2158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42633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五年模型演进：准确率节节攀升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7750" y="3733800"/>
            <a:ext cx="10096500" cy="9525"/>
            <a:chOff x="1047750" y="3733800"/>
            <a:chExt cx="10096500" cy="9525"/>
          </a:xfrm>
        </p:grpSpPr>
        <p:sp>
          <p:nvSpPr>
            <p:cNvPr id="6" name="Line 6"/>
            <p:cNvSpPr/>
            <p:nvPr/>
          </p:nvSpPr>
          <p:spPr>
            <a:xfrm>
              <a:off x="1047750" y="37338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38100" cap="rnd">
              <a:solidFill>
                <a:srgbClr val="D5DEE6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838200" y="1619250"/>
            <a:ext cx="10687050" cy="3140011"/>
            <a:chOff x="838200" y="1619250"/>
            <a:chExt cx="10687050" cy="3140011"/>
          </a:xfrm>
        </p:grpSpPr>
        <p:grpSp>
          <p:nvGrpSpPr>
            <p:cNvPr id="15" name="Group 15"/>
            <p:cNvGrpSpPr/>
            <p:nvPr/>
          </p:nvGrpSpPr>
          <p:grpSpPr>
            <a:xfrm>
              <a:off x="838200" y="1619250"/>
              <a:ext cx="1524000" cy="2219325"/>
              <a:chOff x="838200" y="1619250"/>
              <a:chExt cx="1524000" cy="221932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333500" y="28194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19050">
                <a:solidFill>
                  <a:srgbClr val="B9C6CF"/>
                </a:solidFill>
                <a:prstDash val="dash"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228725" y="3629025"/>
                <a:ext cx="209550" cy="209550"/>
              </a:xfrm>
              <a:prstGeom prst="ellipse">
                <a:avLst/>
              </a:prstGeom>
              <a:solidFill>
                <a:srgbClr val="5B8DB8"/>
              </a:solidFill>
              <a:ln w="28575">
                <a:solidFill>
                  <a:srgbClr val="F7FAFA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38200" y="1619250"/>
                <a:ext cx="1524000" cy="12001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4885" y="176450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5B8DB8"/>
                    </a:solidFill>
                    <a:latin typeface="+mn-lt"/>
                    <a:ea typeface="+mn-ea"/>
                    <a:cs typeface="+mn-cs"/>
                  </a:rPr>
                  <a:t>2020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4694" y="2027158"/>
                <a:ext cx="953127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iUmami-SCM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5266" y="2286952"/>
                <a:ext cx="7798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SCM 评分卡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85266" y="2515552"/>
                <a:ext cx="7126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ACC 0.824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743200" y="2819400"/>
              <a:ext cx="1524000" cy="1428750"/>
              <a:chOff x="2743200" y="2819400"/>
              <a:chExt cx="1524000" cy="1428750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3238500" y="28194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19050">
                <a:solidFill>
                  <a:srgbClr val="B9C6CF"/>
                </a:solidFill>
                <a:prstDash val="dash"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133725" y="3629025"/>
                <a:ext cx="209550" cy="209550"/>
              </a:xfrm>
              <a:prstGeom prst="ellipse">
                <a:avLst/>
              </a:prstGeom>
              <a:solidFill>
                <a:srgbClr val="5B8DB8"/>
              </a:solidFill>
              <a:ln w="28575">
                <a:solidFill>
                  <a:srgbClr val="F7FAFA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743200" y="3048000"/>
                <a:ext cx="1524000" cy="12001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889885" y="319325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5B8DB8"/>
                    </a:solidFill>
                    <a:latin typeface="+mn-lt"/>
                    <a:ea typeface="+mn-ea"/>
                    <a:cs typeface="+mn-cs"/>
                  </a:rPr>
                  <a:t>2021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889694" y="3455908"/>
                <a:ext cx="981692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UMPred-FRL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890266" y="3715702"/>
                <a:ext cx="12616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 算法 × 7 编码集成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890266" y="3944302"/>
                <a:ext cx="7126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ACC 0.888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648200" y="1619250"/>
              <a:ext cx="1571244" cy="3140011"/>
              <a:chOff x="4648200" y="1619250"/>
              <a:chExt cx="1571244" cy="3140011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5143500" y="28194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19050">
                <a:solidFill>
                  <a:srgbClr val="B9C6CF"/>
                </a:solidFill>
                <a:prstDash val="dash"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5038725" y="3629025"/>
                <a:ext cx="209550" cy="20955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rgbClr val="F7FAFA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4648200" y="1619250"/>
                <a:ext cx="1524000" cy="12001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2F2F0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794885" y="176450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2022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794694" y="2027158"/>
                <a:ext cx="725289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iUP-BERT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795266" y="2286952"/>
                <a:ext cx="125029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BERT+SMOTE+SVM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795266" y="25155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灵敏度大幅领先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795266" y="4363402"/>
                <a:ext cx="134380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同年 VirtuousUmami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795266" y="45539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通用味觉预测（开源）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553200" y="2819400"/>
              <a:ext cx="1725917" cy="1428750"/>
              <a:chOff x="6553200" y="2819400"/>
              <a:chExt cx="1725917" cy="1428750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7048500" y="28194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19050">
                <a:solidFill>
                  <a:srgbClr val="B9C6CF"/>
                </a:solidFill>
                <a:prstDash val="dash"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6943725" y="3629025"/>
                <a:ext cx="209550" cy="20955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rgbClr val="F7FAFA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553200" y="3048000"/>
                <a:ext cx="1619250" cy="12001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E2F2F0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99885" y="319325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2023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99694" y="3455908"/>
                <a:ext cx="1579423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Umami-MRNN / BERT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00266" y="3715702"/>
                <a:ext cx="13324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MRNN 90.5%；BERT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700266" y="3944302"/>
                <a:ext cx="143831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93.2% + 注意力可解释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458200" y="1619250"/>
              <a:ext cx="1619250" cy="2219325"/>
              <a:chOff x="8458200" y="1619250"/>
              <a:chExt cx="1619250" cy="2219325"/>
            </a:xfrm>
          </p:grpSpPr>
          <p:sp>
            <p:nvSpPr>
              <p:cNvPr id="42" name="Line 42"/>
              <p:cNvSpPr/>
              <p:nvPr/>
            </p:nvSpPr>
            <p:spPr>
              <a:xfrm>
                <a:off x="8953500" y="28194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19050">
                <a:solidFill>
                  <a:srgbClr val="B9C6CF"/>
                </a:solidFill>
                <a:prstDash val="dash"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8848725" y="3629025"/>
                <a:ext cx="209550" cy="209550"/>
              </a:xfrm>
              <a:prstGeom prst="ellipse">
                <a:avLst/>
              </a:prstGeom>
              <a:solidFill>
                <a:schemeClr val="accent3"/>
              </a:solidFill>
              <a:ln w="28575">
                <a:solidFill>
                  <a:srgbClr val="F7FAFA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458200" y="1619250"/>
                <a:ext cx="1619250" cy="1200150"/>
              </a:xfrm>
              <a:prstGeom prst="roundRect">
                <a:avLst>
                  <a:gd name="adj" fmla="val 9524"/>
                </a:avLst>
              </a:prstGeom>
              <a:solidFill>
                <a:srgbClr val="FFFFFF"/>
              </a:solidFill>
              <a:ln w="14288">
                <a:solidFill>
                  <a:srgbClr val="F3D3BE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604885" y="176450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2024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604694" y="2027158"/>
                <a:ext cx="809991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VmmScore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605266" y="2286952"/>
                <a:ext cx="12278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DL 预测 + ML 优化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605266" y="25155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对接打分一体化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0001250" y="2819400"/>
              <a:ext cx="1524000" cy="1428750"/>
              <a:chOff x="10001250" y="2819400"/>
              <a:chExt cx="1524000" cy="1428750"/>
            </a:xfrm>
          </p:grpSpPr>
          <p:sp>
            <p:nvSpPr>
              <p:cNvPr id="50" name="Line 50"/>
              <p:cNvSpPr/>
              <p:nvPr/>
            </p:nvSpPr>
            <p:spPr>
              <a:xfrm>
                <a:off x="10858500" y="2819400"/>
                <a:ext cx="95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14400">
                    <a:moveTo>
                      <a:pt x="0" y="0"/>
                    </a:moveTo>
                    <a:lnTo>
                      <a:pt x="0" y="9144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prstDash val="dash"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10753725" y="3629025"/>
                <a:ext cx="209550" cy="209550"/>
              </a:xfrm>
              <a:prstGeom prst="ellipse">
                <a:avLst/>
              </a:prstGeom>
              <a:solidFill>
                <a:schemeClr val="accent3"/>
              </a:solidFill>
              <a:ln w="28575">
                <a:solidFill>
                  <a:srgbClr val="F7FAFA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10001250" y="3048000"/>
                <a:ext cx="1524000" cy="1200150"/>
              </a:xfrm>
              <a:prstGeom prst="roundRect">
                <a:avLst>
                  <a:gd name="adj" fmla="val 9524"/>
                </a:avLst>
              </a:prstGeom>
              <a:solidFill>
                <a:srgbClr val="FCEBDF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0147935" y="319325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2025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147745" y="3455908"/>
                <a:ext cx="914352" cy="2273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6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对比学习 DL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148316" y="3715702"/>
                <a:ext cx="11556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预训练+增强+对比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0148316" y="3944302"/>
                <a:ext cx="79476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ACC 0.9398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1047750" y="4953000"/>
            <a:ext cx="10287000" cy="342900"/>
            <a:chOff x="1047750" y="4953000"/>
            <a:chExt cx="10287000" cy="342900"/>
          </a:xfrm>
        </p:grpSpPr>
        <p:sp>
          <p:nvSpPr>
            <p:cNvPr id="59" name="Rectangle 59"/>
            <p:cNvSpPr/>
            <p:nvPr/>
          </p:nvSpPr>
          <p:spPr>
            <a:xfrm>
              <a:off x="1047750" y="4953000"/>
              <a:ext cx="3429000" cy="342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908810" y="50682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传统机器学习（手工特征）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667250" y="4953000"/>
              <a:ext cx="3238500" cy="342900"/>
            </a:xfrm>
            <a:prstGeom prst="roundRect">
              <a:avLst>
                <a:gd name="adj" fmla="val 50000"/>
              </a:avLst>
            </a:prstGeom>
            <a:solidFill>
              <a:srgbClr val="E2F2F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57113" y="50682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深度学习表示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096250" y="4953000"/>
              <a:ext cx="3238500" cy="342900"/>
            </a:xfrm>
            <a:prstGeom prst="roundRect">
              <a:avLst>
                <a:gd name="adj" fmla="val 50000"/>
              </a:avLst>
            </a:prstGeom>
            <a:solidFill>
              <a:srgbClr val="FCEBD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130097" y="5068252"/>
              <a:ext cx="1170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5663A"/>
                  </a:solidFill>
                  <a:latin typeface="+mn-lt"/>
                  <a:ea typeface="+mn-ea"/>
                  <a:cs typeface="+mn-cs"/>
                </a:rPr>
                <a:t>可解释 + 对接融合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9600" y="5581650"/>
            <a:ext cx="10972800" cy="533400"/>
            <a:chOff x="609600" y="5581650"/>
            <a:chExt cx="10972800" cy="533400"/>
          </a:xfrm>
        </p:grpSpPr>
        <p:sp>
          <p:nvSpPr>
            <p:cNvPr id="66" name="Rectangle 66"/>
            <p:cNvSpPr/>
            <p:nvPr/>
          </p:nvSpPr>
          <p:spPr>
            <a:xfrm>
              <a:off x="609600" y="5581650"/>
              <a:ext cx="10972800" cy="533400"/>
            </a:xfrm>
            <a:prstGeom prst="roundRect">
              <a:avLst>
                <a:gd name="adj" fmla="val 21429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969963" y="5781675"/>
              <a:ext cx="155575" cy="133350"/>
              <a:chOff x="969963" y="5781675"/>
              <a:chExt cx="155575" cy="13335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969963" y="584835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7ED3C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058863" y="58483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7ED3C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1058863" y="57816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22225">
                <a:solidFill>
                  <a:srgbClr val="7ED3C8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327023" y="5786914"/>
              <a:ext cx="73203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方法与数据双轮驱动：准确率 82% → 94%，重心从「分得准」转向「可解释、可对接、可验证」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04647" y="6438900"/>
            <a:ext cx="11032498" cy="294989"/>
            <a:chOff x="604647" y="6438900"/>
            <a:chExt cx="11032498" cy="294989"/>
          </a:xfrm>
        </p:grpSpPr>
        <p:sp>
          <p:nvSpPr>
            <p:cNvPr id="73" name="Line 73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04647" y="6543199"/>
              <a:ext cx="110324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来源：iUmami-SCM（2020）；UMPred-FRL（IJMS 2021）；VirtuousUmami/iUP-BERT（2022）；Umami-MRNN/Umami-BERT（2023）；Mlp4Umami（2024）；Food Chemistry 2025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3657600" cy="852011"/>
            <a:chOff x="598170" y="469106"/>
            <a:chExt cx="3657600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2158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开箱即用：在线预测服务器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1447800"/>
            <a:ext cx="7239000" cy="4000500"/>
            <a:chOff x="609600" y="1447800"/>
            <a:chExt cx="7239000" cy="4000500"/>
          </a:xfrm>
        </p:grpSpPr>
        <p:grpSp>
          <p:nvGrpSpPr>
            <p:cNvPr id="40" name="Group 40"/>
            <p:cNvGrpSpPr/>
            <p:nvPr/>
          </p:nvGrpSpPr>
          <p:grpSpPr>
            <a:xfrm>
              <a:off x="609600" y="1447800"/>
              <a:ext cx="7239000" cy="4000500"/>
              <a:chOff x="609600" y="1447800"/>
              <a:chExt cx="7239000" cy="4000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1447800"/>
                <a:ext cx="7239000" cy="40005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14288">
                <a:solidFill>
                  <a:srgbClr val="E2F2F0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31723" y="1634014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鲜味肽预测工具一览</a:t>
                </a:r>
              </a:p>
            </p:txBody>
          </p:sp>
          <p:sp>
            <p:nvSpPr>
              <p:cNvPr id="8" name="Line 8"/>
              <p:cNvSpPr/>
              <p:nvPr/>
            </p:nvSpPr>
            <p:spPr>
              <a:xfrm>
                <a:off x="838200" y="1905000"/>
                <a:ext cx="6781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81800" h="9525">
                    <a:moveTo>
                      <a:pt x="0" y="0"/>
                    </a:moveTo>
                    <a:lnTo>
                      <a:pt x="6781800" y="0"/>
                    </a:lnTo>
                  </a:path>
                </a:pathLst>
              </a:custGeom>
              <a:noFill/>
              <a:ln w="14288">
                <a:solidFill>
                  <a:srgbClr val="E6EFF6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838200" y="2019300"/>
                <a:ext cx="67818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2F7FA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85076" y="2120979"/>
                <a:ext cx="304521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工具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851976" y="2120979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方法核心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709476" y="2120979"/>
                <a:ext cx="59799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获取方式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838200" y="2343150"/>
                <a:ext cx="6781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81800" h="9525">
                    <a:moveTo>
                      <a:pt x="0" y="0"/>
                    </a:moveTo>
                    <a:lnTo>
                      <a:pt x="6781800" y="0"/>
                    </a:lnTo>
                  </a:path>
                </a:pathLst>
              </a:custGeom>
              <a:noFill/>
              <a:ln w="9525">
                <a:solidFill>
                  <a:srgbClr val="E6EFF6"/>
                </a:solidFill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838200" y="2549604"/>
                <a:ext cx="6781800" cy="2777872"/>
                <a:chOff x="838200" y="2549604"/>
                <a:chExt cx="6781800" cy="2777872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985076" y="2549604"/>
                  <a:ext cx="895561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iUmami-SCM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2851976" y="2549604"/>
                  <a:ext cx="1607977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SCM 评分卡 + 组成特征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5709476" y="2549604"/>
                  <a:ext cx="780997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Web 服务器</a:t>
                  </a:r>
                </a:p>
              </p:txBody>
            </p:sp>
            <p:sp>
              <p:nvSpPr>
                <p:cNvPr id="17" name="Line 17"/>
                <p:cNvSpPr/>
                <p:nvPr/>
              </p:nvSpPr>
              <p:spPr>
                <a:xfrm>
                  <a:off x="838200" y="2800350"/>
                  <a:ext cx="678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9525">
                      <a:moveTo>
                        <a:pt x="0" y="0"/>
                      </a:moveTo>
                      <a:lnTo>
                        <a:pt x="6781800" y="0"/>
                      </a:lnTo>
                    </a:path>
                  </a:pathLst>
                </a:custGeom>
                <a:noFill/>
                <a:ln w="9525">
                  <a:solidFill>
                    <a:srgbClr val="F2F5F8"/>
                  </a:solidFill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85076" y="2987754"/>
                  <a:ext cx="922403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UMPred-FRL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851976" y="2987754"/>
                  <a:ext cx="1309661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 算法 × 7 编码集成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5709476" y="2987754"/>
                  <a:ext cx="1294987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pmlabstack 服务器</a:t>
                  </a:r>
                </a:p>
              </p:txBody>
            </p:sp>
            <p:sp>
              <p:nvSpPr>
                <p:cNvPr id="21" name="Line 21"/>
                <p:cNvSpPr/>
                <p:nvPr/>
              </p:nvSpPr>
              <p:spPr>
                <a:xfrm>
                  <a:off x="838200" y="3238500"/>
                  <a:ext cx="678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9525">
                      <a:moveTo>
                        <a:pt x="0" y="0"/>
                      </a:moveTo>
                      <a:lnTo>
                        <a:pt x="6781800" y="0"/>
                      </a:lnTo>
                    </a:path>
                  </a:pathLst>
                </a:custGeom>
                <a:noFill/>
                <a:ln w="9525">
                  <a:solidFill>
                    <a:srgbClr val="F2F5F8"/>
                  </a:solidFill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985076" y="3425904"/>
                  <a:ext cx="681472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iUP-BERT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2851976" y="3425904"/>
                  <a:ext cx="1840540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BERT 嵌入 + SMOTE + SVM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5709476" y="3425904"/>
                  <a:ext cx="1500417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aibiochem.net 服务器</a:t>
                  </a:r>
                </a:p>
              </p:txBody>
            </p:sp>
            <p:sp>
              <p:nvSpPr>
                <p:cNvPr id="25" name="Line 25"/>
                <p:cNvSpPr/>
                <p:nvPr/>
              </p:nvSpPr>
              <p:spPr>
                <a:xfrm>
                  <a:off x="838200" y="3676650"/>
                  <a:ext cx="678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9525">
                      <a:moveTo>
                        <a:pt x="0" y="0"/>
                      </a:moveTo>
                      <a:lnTo>
                        <a:pt x="6781800" y="0"/>
                      </a:lnTo>
                    </a:path>
                  </a:pathLst>
                </a:custGeom>
                <a:noFill/>
                <a:ln w="9525">
                  <a:solidFill>
                    <a:srgbClr val="F2F5F8"/>
                  </a:solidFill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985076" y="3864054"/>
                  <a:ext cx="908934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Umami-BERT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2851976" y="3864054"/>
                  <a:ext cx="1675276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两阶段 BERT + Inception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709476" y="3864054"/>
                  <a:ext cx="1625143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服务器（注意力可解释）</a:t>
                  </a:r>
                </a:p>
              </p:txBody>
            </p:sp>
            <p:sp>
              <p:nvSpPr>
                <p:cNvPr id="29" name="Line 29"/>
                <p:cNvSpPr/>
                <p:nvPr/>
              </p:nvSpPr>
              <p:spPr>
                <a:xfrm>
                  <a:off x="838200" y="4114800"/>
                  <a:ext cx="678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9525">
                      <a:moveTo>
                        <a:pt x="0" y="0"/>
                      </a:moveTo>
                      <a:lnTo>
                        <a:pt x="6781800" y="0"/>
                      </a:lnTo>
                    </a:path>
                  </a:pathLst>
                </a:custGeom>
                <a:noFill/>
                <a:ln w="9525">
                  <a:solidFill>
                    <a:srgbClr val="F2F5F8"/>
                  </a:solidFill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985076" y="4302204"/>
                  <a:ext cx="1106720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VirtuousUmami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2851976" y="4302204"/>
                  <a:ext cx="1313156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Mordred 2D 描述符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5709476" y="4302204"/>
                  <a:ext cx="1707924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GitHub 开源，多输入格式</a:t>
                  </a:r>
                </a:p>
              </p:txBody>
            </p:sp>
            <p:sp>
              <p:nvSpPr>
                <p:cNvPr id="33" name="Line 33"/>
                <p:cNvSpPr/>
                <p:nvPr/>
              </p:nvSpPr>
              <p:spPr>
                <a:xfrm>
                  <a:off x="838200" y="4552950"/>
                  <a:ext cx="678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9525">
                      <a:moveTo>
                        <a:pt x="0" y="0"/>
                      </a:moveTo>
                      <a:lnTo>
                        <a:pt x="6781800" y="0"/>
                      </a:lnTo>
                    </a:path>
                  </a:pathLst>
                </a:custGeom>
                <a:noFill/>
                <a:ln w="9525">
                  <a:solidFill>
                    <a:srgbClr val="F2F5F8"/>
                  </a:solidFill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985076" y="4740354"/>
                  <a:ext cx="761063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b="1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VmmScore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2851976" y="4740354"/>
                  <a:ext cx="1336655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DL 预测 + 对接打分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709476" y="4740354"/>
                  <a:ext cx="1402444" cy="212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9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Mlp4Umami 开源管线</a:t>
                  </a:r>
                </a:p>
              </p:txBody>
            </p:sp>
            <p:sp>
              <p:nvSpPr>
                <p:cNvPr id="37" name="Line 37"/>
                <p:cNvSpPr/>
                <p:nvPr/>
              </p:nvSpPr>
              <p:spPr>
                <a:xfrm>
                  <a:off x="838200" y="4991100"/>
                  <a:ext cx="678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800" h="9525">
                      <a:moveTo>
                        <a:pt x="0" y="0"/>
                      </a:moveTo>
                      <a:lnTo>
                        <a:pt x="6781800" y="0"/>
                      </a:lnTo>
                    </a:path>
                  </a:pathLst>
                </a:custGeom>
                <a:noFill/>
                <a:ln w="9525">
                  <a:solidFill>
                    <a:srgbClr val="F2F5F8"/>
                  </a:solidFill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985456" y="5129451"/>
                  <a:ext cx="3750320" cy="1980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1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配套：BIOPEP-UWM（肽库）、PeptideRanker（活性初筛）</a:t>
                  </a:r>
                </a:p>
              </p:txBody>
            </p:sp>
          </p:grpSp>
        </p:grpSp>
      </p:grpSp>
      <p:grpSp>
        <p:nvGrpSpPr>
          <p:cNvPr id="70" name="Group 70"/>
          <p:cNvGrpSpPr/>
          <p:nvPr/>
        </p:nvGrpSpPr>
        <p:grpSpPr>
          <a:xfrm>
            <a:off x="8077200" y="1447800"/>
            <a:ext cx="3505200" cy="4000500"/>
            <a:chOff x="8077200" y="1447800"/>
            <a:chExt cx="3505200" cy="4000500"/>
          </a:xfrm>
        </p:grpSpPr>
        <p:sp>
          <p:nvSpPr>
            <p:cNvPr id="42" name="Rectangle 42"/>
            <p:cNvSpPr/>
            <p:nvPr/>
          </p:nvSpPr>
          <p:spPr>
            <a:xfrm>
              <a:off x="8077200" y="1447800"/>
              <a:ext cx="3505200" cy="4000500"/>
            </a:xfrm>
            <a:prstGeom prst="roundRect">
              <a:avLst>
                <a:gd name="adj" fmla="val 3804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382000" y="1771650"/>
              <a:ext cx="228599" cy="228599"/>
              <a:chOff x="8382000" y="1771650"/>
              <a:chExt cx="228599" cy="228599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0" y="17716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rgbClr val="7ED3C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9620" y="1847850"/>
                <a:ext cx="21335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3359" h="9525">
                    <a:moveTo>
                      <a:pt x="0" y="0"/>
                    </a:moveTo>
                    <a:lnTo>
                      <a:pt x="213359" y="0"/>
                    </a:lnTo>
                  </a:path>
                </a:pathLst>
              </a:custGeom>
              <a:noFill/>
              <a:ln w="25400">
                <a:solidFill>
                  <a:srgbClr val="7ED3C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9620" y="1924050"/>
                <a:ext cx="21335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3359" h="9525">
                    <a:moveTo>
                      <a:pt x="0" y="0"/>
                    </a:moveTo>
                    <a:lnTo>
                      <a:pt x="213359" y="0"/>
                    </a:lnTo>
                  </a:path>
                </a:pathLst>
              </a:custGeom>
              <a:noFill/>
              <a:ln w="25400">
                <a:solidFill>
                  <a:srgbClr val="7ED3C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446299" y="1771650"/>
                <a:ext cx="43651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43651" h="228599">
                    <a:moveTo>
                      <a:pt x="43651" y="0"/>
                    </a:moveTo>
                    <a:cubicBezTo>
                      <a:pt x="0" y="69949"/>
                      <a:pt x="0" y="158651"/>
                      <a:pt x="43651" y="228599"/>
                    </a:cubicBezTo>
                  </a:path>
                </a:pathLst>
              </a:custGeom>
              <a:noFill/>
              <a:ln w="25400">
                <a:solidFill>
                  <a:srgbClr val="7ED3C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502650" y="1771650"/>
                <a:ext cx="43651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43651" h="228599">
                    <a:moveTo>
                      <a:pt x="0" y="0"/>
                    </a:moveTo>
                    <a:cubicBezTo>
                      <a:pt x="43651" y="69949"/>
                      <a:pt x="43651" y="158651"/>
                      <a:pt x="0" y="228599"/>
                    </a:cubicBezTo>
                  </a:path>
                </a:pathLst>
              </a:custGeom>
              <a:noFill/>
              <a:ln w="25400">
                <a:solidFill>
                  <a:srgbClr val="7ED3C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8755761" y="18083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快速上手三步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8343900" y="2366010"/>
              <a:ext cx="1645768" cy="678751"/>
              <a:chOff x="8343900" y="2366010"/>
              <a:chExt cx="1645768" cy="678751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343900" y="2400300"/>
                <a:ext cx="304800" cy="304800"/>
              </a:xfrm>
              <a:prstGeom prst="ellipse">
                <a:avLst/>
              </a:prstGeom>
              <a:solidFill>
                <a:srgbClr val="1F5078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450151" y="24965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7ED3C8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775954" y="23660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准备序列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776716" y="2629852"/>
                <a:ext cx="121295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AEA"/>
                    </a:solidFill>
                    <a:latin typeface="+mn-lt"/>
                    <a:ea typeface="+mn-ea"/>
                    <a:cs typeface="+mn-cs"/>
                  </a:rPr>
                  <a:t>单字母 FASTA，或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776716" y="2839402"/>
                <a:ext cx="99418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AEA"/>
                    </a:solidFill>
                    <a:latin typeface="+mn-lt"/>
                    <a:ea typeface="+mn-ea"/>
                    <a:cs typeface="+mn-cs"/>
                  </a:rPr>
                  <a:t>SMILES / InChI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343900" y="3356610"/>
              <a:ext cx="1432941" cy="678751"/>
              <a:chOff x="8343900" y="3356610"/>
              <a:chExt cx="1432941" cy="678751"/>
            </a:xfrm>
          </p:grpSpPr>
          <p:sp>
            <p:nvSpPr>
              <p:cNvPr id="56" name="Ellipse 56"/>
              <p:cNvSpPr/>
              <p:nvPr/>
            </p:nvSpPr>
            <p:spPr>
              <a:xfrm>
                <a:off x="8343900" y="3390900"/>
                <a:ext cx="304800" cy="304800"/>
              </a:xfrm>
              <a:prstGeom prst="ellipse">
                <a:avLst/>
              </a:prstGeom>
              <a:solidFill>
                <a:srgbClr val="1F5078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450151" y="34871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7ED3C8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775954" y="33566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粘贴提交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776716" y="362045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AEA"/>
                    </a:solidFill>
                    <a:latin typeface="+mn-lt"/>
                    <a:ea typeface="+mn-ea"/>
                    <a:cs typeface="+mn-cs"/>
                  </a:rPr>
                  <a:t>服务器返回呈鲜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776716" y="383000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AEA"/>
                    </a:solidFill>
                    <a:latin typeface="+mn-lt"/>
                    <a:ea typeface="+mn-ea"/>
                    <a:cs typeface="+mn-cs"/>
                  </a:rPr>
                  <a:t>概率与排名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8343900" y="4347210"/>
              <a:ext cx="1574292" cy="678751"/>
              <a:chOff x="8343900" y="4347210"/>
              <a:chExt cx="1574292" cy="678751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8343900" y="4381500"/>
                <a:ext cx="304800" cy="304800"/>
              </a:xfrm>
              <a:prstGeom prst="ellipse">
                <a:avLst/>
              </a:prstGeom>
              <a:solidFill>
                <a:srgbClr val="1F5078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8450151" y="44777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7ED3C8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775954" y="43472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合成验证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776716" y="461105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AEA"/>
                    </a:solidFill>
                    <a:latin typeface="+mn-lt"/>
                    <a:ea typeface="+mn-ea"/>
                    <a:cs typeface="+mn-cs"/>
                  </a:rPr>
                  <a:t>高置信肽进入对接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776716" y="482060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AEA"/>
                    </a:solidFill>
                    <a:latin typeface="+mn-lt"/>
                    <a:ea typeface="+mn-ea"/>
                    <a:cs typeface="+mn-cs"/>
                  </a:rPr>
                  <a:t>与感官实验</a:t>
                </a:r>
              </a:p>
            </p:txBody>
          </p:sp>
        </p:grpSp>
        <p:sp>
          <p:nvSpPr>
            <p:cNvPr id="68" name="Rectangle 68"/>
            <p:cNvSpPr/>
            <p:nvPr/>
          </p:nvSpPr>
          <p:spPr>
            <a:xfrm>
              <a:off x="8343900" y="5067300"/>
              <a:ext cx="2971800" cy="247650"/>
            </a:xfrm>
            <a:prstGeom prst="roundRect">
              <a:avLst>
                <a:gd name="adj" fmla="val 50000"/>
              </a:avLst>
            </a:prstGeom>
            <a:solidFill>
              <a:srgbClr val="1F507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804910" y="5129451"/>
              <a:ext cx="204978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dirty="0">
                  <a:solidFill>
                    <a:srgbClr val="7ED3C8"/>
                  </a:solidFill>
                  <a:latin typeface="+mn-lt"/>
                  <a:ea typeface="+mn-ea"/>
                  <a:cs typeface="+mn-cs"/>
                </a:rPr>
                <a:t>开源工具可本地批量筛选自建肽库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71" name="Line 71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04647" y="6543199"/>
              <a:ext cx="10477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来源：iUmami-SCM（2020）；UMPred-FRL（IJMS 2021）；iUP-BERT（Foods 2022）；Umami-BERT（FRI 2023）；VirtuousUmami（Sci Rep 2022）；Mlp4Umami（2024）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3303213" cy="852011"/>
            <a:chOff x="598170" y="469106"/>
            <a:chExt cx="3303213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2158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33032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准确率：从 82% 到 94%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1447800"/>
            <a:ext cx="7620000" cy="4343400"/>
            <a:chOff x="609600" y="1447800"/>
            <a:chExt cx="7620000" cy="4343400"/>
          </a:xfrm>
        </p:grpSpPr>
        <p:grpSp>
          <p:nvGrpSpPr>
            <p:cNvPr id="48" name="Group 48"/>
            <p:cNvGrpSpPr/>
            <p:nvPr/>
          </p:nvGrpSpPr>
          <p:grpSpPr>
            <a:xfrm>
              <a:off x="609600" y="1447800"/>
              <a:ext cx="7620000" cy="4343400"/>
              <a:chOff x="609600" y="1447800"/>
              <a:chExt cx="7620000" cy="4343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1447800"/>
                <a:ext cx="7620000" cy="4343400"/>
              </a:xfrm>
              <a:prstGeom prst="roundRect">
                <a:avLst>
                  <a:gd name="adj" fmla="val 3070"/>
                </a:avLst>
              </a:prstGeom>
              <a:solidFill>
                <a:srgbClr val="FFFFFF"/>
              </a:solidFill>
              <a:ln w="14288">
                <a:solidFill>
                  <a:srgbClr val="E2F2F0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831723" y="1634014"/>
                <a:ext cx="34592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代表性模型准确率（各文献自报，口径不同）</a:t>
                </a:r>
              </a:p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771606" y="2123599"/>
                <a:ext cx="7229394" cy="2952940"/>
                <a:chOff x="771606" y="2123599"/>
                <a:chExt cx="7229394" cy="2952940"/>
              </a:xfrm>
            </p:grpSpPr>
            <p:grpSp>
              <p:nvGrpSpPr>
                <p:cNvPr id="10" name="Group 10"/>
                <p:cNvGrpSpPr/>
                <p:nvPr/>
              </p:nvGrpSpPr>
              <p:grpSpPr>
                <a:xfrm>
                  <a:off x="1143000" y="2190750"/>
                  <a:ext cx="6858000" cy="2581275"/>
                  <a:chOff x="1143000" y="2190750"/>
                  <a:chExt cx="6858000" cy="2581275"/>
                </a:xfrm>
              </p:grpSpPr>
              <p:sp>
                <p:nvSpPr>
                  <p:cNvPr id="8" name="Line 8"/>
                  <p:cNvSpPr/>
                  <p:nvPr/>
                </p:nvSpPr>
                <p:spPr>
                  <a:xfrm>
                    <a:off x="1143000" y="2190750"/>
                    <a:ext cx="9525" cy="2571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2571750">
                        <a:moveTo>
                          <a:pt x="0" y="0"/>
                        </a:moveTo>
                        <a:lnTo>
                          <a:pt x="0" y="2571750"/>
                        </a:lnTo>
                      </a:path>
                    </a:pathLst>
                  </a:custGeom>
                  <a:noFill/>
                  <a:ln w="9525">
                    <a:solidFill>
                      <a:srgbClr val="D5DEE6"/>
                    </a:solidFill>
                  </a:ln>
                </p:spPr>
              </p:sp>
              <p:sp>
                <p:nvSpPr>
                  <p:cNvPr id="9" name="Line 9"/>
                  <p:cNvSpPr/>
                  <p:nvPr/>
                </p:nvSpPr>
                <p:spPr>
                  <a:xfrm>
                    <a:off x="1143000" y="4762500"/>
                    <a:ext cx="68580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58000" h="9525">
                        <a:moveTo>
                          <a:pt x="0" y="0"/>
                        </a:moveTo>
                        <a:lnTo>
                          <a:pt x="6858000" y="0"/>
                        </a:lnTo>
                      </a:path>
                    </a:pathLst>
                  </a:custGeom>
                  <a:noFill/>
                  <a:ln w="9525">
                    <a:solidFill>
                      <a:srgbClr val="D5DEE6"/>
                    </a:solidFill>
                  </a:ln>
                </p:spPr>
              </p:sp>
            </p:grpSp>
            <p:grpSp>
              <p:nvGrpSpPr>
                <p:cNvPr id="13" name="Group 13"/>
                <p:cNvGrpSpPr/>
                <p:nvPr/>
              </p:nvGrpSpPr>
              <p:grpSpPr>
                <a:xfrm>
                  <a:off x="1085850" y="2266950"/>
                  <a:ext cx="2548143" cy="218789"/>
                  <a:chOff x="1085850" y="2266950"/>
                  <a:chExt cx="2548143" cy="218789"/>
                </a:xfrm>
              </p:grpSpPr>
              <p:sp>
                <p:nvSpPr>
                  <p:cNvPr id="11" name="Freeform 11"/>
                  <p:cNvSpPr/>
                  <p:nvPr/>
                </p:nvSpPr>
                <p:spPr>
                  <a:xfrm>
                    <a:off x="1085850" y="2266950"/>
                    <a:ext cx="11430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300" h="171450">
                        <a:moveTo>
                          <a:pt x="0" y="0"/>
                        </a:moveTo>
                        <a:lnTo>
                          <a:pt x="114300" y="57150"/>
                        </a:lnTo>
                        <a:lnTo>
                          <a:pt x="0" y="114300"/>
                        </a:lnTo>
                        <a:lnTo>
                          <a:pt x="114300" y="171450"/>
                        </a:lnTo>
                      </a:path>
                    </a:pathLst>
                  </a:custGeom>
                  <a:noFill/>
                  <a:ln w="19050">
                    <a:solidFill>
                      <a:schemeClr val="accent3"/>
                    </a:solidFill>
                  </a:ln>
                </p:spPr>
              </p:sp>
              <p:sp>
                <p:nvSpPr>
                  <p:cNvPr id="12" name="TextBox 12"/>
                  <p:cNvSpPr txBox="1"/>
                  <p:nvPr/>
                </p:nvSpPr>
                <p:spPr>
                  <a:xfrm>
                    <a:off x="1328547" y="2295049"/>
                    <a:ext cx="2305446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8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rPr>
                      <a:t>纵轴显示 0.80–1.00 区间（轴断裂 ≁）</a:t>
                    </a:r>
                  </a:p>
                </p:txBody>
              </p:sp>
            </p:grpSp>
            <p:grpSp>
              <p:nvGrpSpPr>
                <p:cNvPr id="17" name="Group 17"/>
                <p:cNvGrpSpPr/>
                <p:nvPr/>
              </p:nvGrpSpPr>
              <p:grpSpPr>
                <a:xfrm>
                  <a:off x="1143000" y="2857500"/>
                  <a:ext cx="6858000" cy="1343025"/>
                  <a:chOff x="1143000" y="2857500"/>
                  <a:chExt cx="6858000" cy="1343025"/>
                </a:xfrm>
              </p:grpSpPr>
              <p:sp>
                <p:nvSpPr>
                  <p:cNvPr id="14" name="Line 14"/>
                  <p:cNvSpPr/>
                  <p:nvPr/>
                </p:nvSpPr>
                <p:spPr>
                  <a:xfrm>
                    <a:off x="1143000" y="2857500"/>
                    <a:ext cx="68580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58000" h="9525">
                        <a:moveTo>
                          <a:pt x="0" y="0"/>
                        </a:moveTo>
                        <a:lnTo>
                          <a:pt x="6858000" y="0"/>
                        </a:lnTo>
                      </a:path>
                    </a:pathLst>
                  </a:custGeom>
                  <a:noFill/>
                  <a:ln w="9525">
                    <a:solidFill>
                      <a:srgbClr val="F0F4F7"/>
                    </a:solidFill>
                  </a:ln>
                </p:spPr>
              </p:sp>
              <p:sp>
                <p:nvSpPr>
                  <p:cNvPr id="15" name="Line 15"/>
                  <p:cNvSpPr/>
                  <p:nvPr/>
                </p:nvSpPr>
                <p:spPr>
                  <a:xfrm>
                    <a:off x="1143000" y="3524250"/>
                    <a:ext cx="68580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58000" h="9525">
                        <a:moveTo>
                          <a:pt x="0" y="0"/>
                        </a:moveTo>
                        <a:lnTo>
                          <a:pt x="6858000" y="0"/>
                        </a:lnTo>
                      </a:path>
                    </a:pathLst>
                  </a:custGeom>
                  <a:noFill/>
                  <a:ln w="9525">
                    <a:solidFill>
                      <a:srgbClr val="F0F4F7"/>
                    </a:solidFill>
                  </a:ln>
                </p:spPr>
              </p:sp>
              <p:sp>
                <p:nvSpPr>
                  <p:cNvPr id="16" name="Line 16"/>
                  <p:cNvSpPr/>
                  <p:nvPr/>
                </p:nvSpPr>
                <p:spPr>
                  <a:xfrm>
                    <a:off x="1143000" y="4191000"/>
                    <a:ext cx="68580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58000" h="9525">
                        <a:moveTo>
                          <a:pt x="0" y="0"/>
                        </a:moveTo>
                        <a:lnTo>
                          <a:pt x="6858000" y="0"/>
                        </a:lnTo>
                      </a:path>
                    </a:pathLst>
                  </a:custGeom>
                  <a:noFill/>
                  <a:ln w="9525">
                    <a:solidFill>
                      <a:srgbClr val="F0F4F7"/>
                    </a:solidFill>
                  </a:ln>
                </p:spPr>
              </p:sp>
            </p:grpSp>
            <p:grpSp>
              <p:nvGrpSpPr>
                <p:cNvPr id="22" name="Group 22"/>
                <p:cNvGrpSpPr/>
                <p:nvPr/>
              </p:nvGrpSpPr>
              <p:grpSpPr>
                <a:xfrm>
                  <a:off x="771606" y="2123599"/>
                  <a:ext cx="300147" cy="2190940"/>
                  <a:chOff x="771606" y="2123599"/>
                  <a:chExt cx="300147" cy="2190940"/>
                </a:xfrm>
              </p:grpSpPr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771606" y="2123599"/>
                    <a:ext cx="300147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r"/>
                    <a:r>
                      <a:rPr lang="zh-CN" sz="980" dirty="0">
                        <a:solidFill>
                          <a:srgbClr val="9AA8B3"/>
                        </a:solidFill>
                        <a:latin typeface="+mn-lt"/>
                        <a:ea typeface="+mn-ea"/>
                        <a:cs typeface="+mn-cs"/>
                      </a:rPr>
                      <a:t>1.00</a:t>
                    </a:r>
                  </a:p>
                </p:txBody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771606" y="2790349"/>
                    <a:ext cx="300147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r"/>
                    <a:r>
                      <a:rPr lang="zh-CN" sz="980" dirty="0">
                        <a:solidFill>
                          <a:srgbClr val="9AA8B3"/>
                        </a:solidFill>
                        <a:latin typeface="+mn-lt"/>
                        <a:ea typeface="+mn-ea"/>
                        <a:cs typeface="+mn-cs"/>
                      </a:rPr>
                      <a:t>0.93</a:t>
                    </a:r>
                  </a:p>
                </p:txBody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771606" y="3457099"/>
                    <a:ext cx="300147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r"/>
                    <a:r>
                      <a:rPr lang="zh-CN" sz="980" dirty="0">
                        <a:solidFill>
                          <a:srgbClr val="9AA8B3"/>
                        </a:solidFill>
                        <a:latin typeface="+mn-lt"/>
                        <a:ea typeface="+mn-ea"/>
                        <a:cs typeface="+mn-cs"/>
                      </a:rPr>
                      <a:t>0.87</a:t>
                    </a:r>
                  </a:p>
                </p:txBody>
              </p:sp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771606" y="4123849"/>
                    <a:ext cx="300147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r"/>
                    <a:r>
                      <a:rPr lang="zh-CN" sz="980" dirty="0">
                        <a:solidFill>
                          <a:srgbClr val="9AA8B3"/>
                        </a:solidFill>
                        <a:latin typeface="+mn-lt"/>
                        <a:ea typeface="+mn-ea"/>
                        <a:cs typeface="+mn-cs"/>
                      </a:rPr>
                      <a:t>0.80</a:t>
                    </a:r>
                  </a:p>
                </p:txBody>
              </p:sp>
            </p:grpSp>
            <p:grpSp>
              <p:nvGrpSpPr>
                <p:cNvPr id="25" name="Group 25"/>
                <p:cNvGrpSpPr/>
                <p:nvPr/>
              </p:nvGrpSpPr>
              <p:grpSpPr>
                <a:xfrm>
                  <a:off x="1143000" y="3005376"/>
                  <a:ext cx="6858000" cy="198025"/>
                  <a:chOff x="1143000" y="3005376"/>
                  <a:chExt cx="6858000" cy="198025"/>
                </a:xfrm>
              </p:grpSpPr>
              <p:sp>
                <p:nvSpPr>
                  <p:cNvPr id="23" name="Line 23"/>
                  <p:cNvSpPr/>
                  <p:nvPr/>
                </p:nvSpPr>
                <p:spPr>
                  <a:xfrm>
                    <a:off x="1143000" y="3190875"/>
                    <a:ext cx="68580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58000" h="9525">
                        <a:moveTo>
                          <a:pt x="0" y="0"/>
                        </a:moveTo>
                        <a:lnTo>
                          <a:pt x="6858000" y="0"/>
                        </a:lnTo>
                      </a:path>
                    </a:pathLst>
                  </a:custGeom>
                  <a:noFill/>
                  <a:ln w="19050">
                    <a:solidFill>
                      <a:schemeClr val="accent3"/>
                    </a:solidFill>
                    <a:custDash>
                      <a:ds d="400000" sp="300000"/>
                    </a:custDash>
                  </a:ln>
                </p:spPr>
              </p:sp>
              <p:sp>
                <p:nvSpPr>
                  <p:cNvPr id="24" name="TextBox 24"/>
                  <p:cNvSpPr txBox="1"/>
                  <p:nvPr/>
                </p:nvSpPr>
                <p:spPr>
                  <a:xfrm>
                    <a:off x="7242914" y="3005376"/>
                    <a:ext cx="725129" cy="1980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r"/>
                    <a:r>
                      <a:rPr lang="zh-CN" sz="1010" b="1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rPr>
                      <a:t>90% 参考线</a:t>
                    </a:r>
                  </a:p>
                </p:txBody>
              </p:sp>
            </p:grpSp>
            <p:grpSp>
              <p:nvGrpSpPr>
                <p:cNvPr id="38" name="Group 38"/>
                <p:cNvGrpSpPr/>
                <p:nvPr/>
              </p:nvGrpSpPr>
              <p:grpSpPr>
                <a:xfrm>
                  <a:off x="1581150" y="2511504"/>
                  <a:ext cx="6096000" cy="2250996"/>
                  <a:chOff x="1581150" y="2511504"/>
                  <a:chExt cx="6096000" cy="2250996"/>
                </a:xfrm>
              </p:grpSpPr>
              <p:sp>
                <p:nvSpPr>
                  <p:cNvPr id="26" name="Rectangle 26"/>
                  <p:cNvSpPr/>
                  <p:nvPr/>
                </p:nvSpPr>
                <p:spPr>
                  <a:xfrm>
                    <a:off x="1581150" y="3943350"/>
                    <a:ext cx="762000" cy="819150"/>
                  </a:xfrm>
                  <a:prstGeom prst="roundRect">
                    <a:avLst>
                      <a:gd name="adj" fmla="val 5000"/>
                    </a:avLst>
                  </a:prstGeom>
                  <a:solidFill>
                    <a:srgbClr val="8FB3CC"/>
                  </a:solidFill>
                  <a:ln>
                    <a:noFill/>
                  </a:ln>
                </p:spPr>
              </p:sp>
              <p:sp>
                <p:nvSpPr>
                  <p:cNvPr id="27" name="TextBox 27"/>
                  <p:cNvSpPr txBox="1"/>
                  <p:nvPr/>
                </p:nvSpPr>
                <p:spPr>
                  <a:xfrm>
                    <a:off x="1744776" y="3730704"/>
                    <a:ext cx="434749" cy="212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9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0.824</a:t>
                    </a:r>
                  </a:p>
                </p:txBody>
              </p:sp>
              <p:sp>
                <p:nvSpPr>
                  <p:cNvPr id="28" name="Rectangle 28"/>
                  <p:cNvSpPr/>
                  <p:nvPr/>
                </p:nvSpPr>
                <p:spPr>
                  <a:xfrm>
                    <a:off x="2647950" y="3295650"/>
                    <a:ext cx="762000" cy="1466850"/>
                  </a:xfrm>
                  <a:prstGeom prst="roundRect">
                    <a:avLst>
                      <a:gd name="adj" fmla="val 5000"/>
                    </a:avLst>
                  </a:prstGeom>
                  <a:solidFill>
                    <a:srgbClr val="8FB3CC"/>
                  </a:solidFill>
                  <a:ln>
                    <a:noFill/>
                  </a:ln>
                </p:spPr>
              </p:sp>
              <p:sp>
                <p:nvSpPr>
                  <p:cNvPr id="29" name="TextBox 29"/>
                  <p:cNvSpPr txBox="1"/>
                  <p:nvPr/>
                </p:nvSpPr>
                <p:spPr>
                  <a:xfrm>
                    <a:off x="2811576" y="3083004"/>
                    <a:ext cx="434749" cy="212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9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0.888</a:t>
                    </a:r>
                  </a:p>
                </p:txBody>
              </p:sp>
              <p:sp>
                <p:nvSpPr>
                  <p:cNvPr id="30" name="Rectangle 30"/>
                  <p:cNvSpPr/>
                  <p:nvPr/>
                </p:nvSpPr>
                <p:spPr>
                  <a:xfrm>
                    <a:off x="3714750" y="3124200"/>
                    <a:ext cx="762000" cy="1638300"/>
                  </a:xfrm>
                  <a:prstGeom prst="roundRect">
                    <a:avLst>
                      <a:gd name="adj" fmla="val 5000"/>
                    </a:avLst>
                  </a:prstGeom>
                  <a:solidFill>
                    <a:srgbClr val="5B8DB8"/>
                  </a:solidFill>
                  <a:ln>
                    <a:noFill/>
                  </a:ln>
                </p:spPr>
              </p:sp>
              <p:sp>
                <p:nvSpPr>
                  <p:cNvPr id="31" name="TextBox 31"/>
                  <p:cNvSpPr txBox="1"/>
                  <p:nvPr/>
                </p:nvSpPr>
                <p:spPr>
                  <a:xfrm>
                    <a:off x="3878376" y="2911554"/>
                    <a:ext cx="434749" cy="212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9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≈0.91</a:t>
                    </a:r>
                  </a:p>
                </p:txBody>
              </p:sp>
              <p:sp>
                <p:nvSpPr>
                  <p:cNvPr id="32" name="Rectangle 32"/>
                  <p:cNvSpPr/>
                  <p:nvPr/>
                </p:nvSpPr>
                <p:spPr>
                  <a:xfrm>
                    <a:off x="4781550" y="3124200"/>
                    <a:ext cx="762000" cy="1638300"/>
                  </a:xfrm>
                  <a:prstGeom prst="roundRect">
                    <a:avLst>
                      <a:gd name="adj" fmla="val 5000"/>
                    </a:avLst>
                  </a:prstGeom>
                  <a:solidFill>
                    <a:srgbClr val="5B8DB8"/>
                  </a:solidFill>
                  <a:ln>
                    <a:noFill/>
                  </a:ln>
                </p:spPr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4945176" y="2911554"/>
                    <a:ext cx="434749" cy="212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9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0.905</a:t>
                    </a:r>
                  </a:p>
                </p:txBody>
              </p:sp>
              <p:sp>
                <p:nvSpPr>
                  <p:cNvPr id="34" name="Rectangle 34"/>
                  <p:cNvSpPr/>
                  <p:nvPr/>
                </p:nvSpPr>
                <p:spPr>
                  <a:xfrm>
                    <a:off x="5848350" y="2819400"/>
                    <a:ext cx="762000" cy="1943100"/>
                  </a:xfrm>
                  <a:prstGeom prst="roundRect">
                    <a:avLst>
                      <a:gd name="adj" fmla="val 5000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</p:spPr>
              </p:sp>
              <p:sp>
                <p:nvSpPr>
                  <p:cNvPr id="35" name="TextBox 35"/>
                  <p:cNvSpPr txBox="1"/>
                  <p:nvPr/>
                </p:nvSpPr>
                <p:spPr>
                  <a:xfrm>
                    <a:off x="6011976" y="2606754"/>
                    <a:ext cx="434749" cy="212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90" b="1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rPr>
                      <a:t>0.932</a:t>
                    </a:r>
                  </a:p>
                </p:txBody>
              </p:sp>
              <p:sp>
                <p:nvSpPr>
                  <p:cNvPr id="36" name="Rectangle 36"/>
                  <p:cNvSpPr/>
                  <p:nvPr/>
                </p:nvSpPr>
                <p:spPr>
                  <a:xfrm>
                    <a:off x="6915150" y="2724150"/>
                    <a:ext cx="762000" cy="2038350"/>
                  </a:xfrm>
                  <a:prstGeom prst="roundRect">
                    <a:avLst>
                      <a:gd name="adj" fmla="val 5000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</p:spPr>
              </p:sp>
              <p:sp>
                <p:nvSpPr>
                  <p:cNvPr id="37" name="TextBox 37"/>
                  <p:cNvSpPr txBox="1"/>
                  <p:nvPr/>
                </p:nvSpPr>
                <p:spPr>
                  <a:xfrm>
                    <a:off x="7121146" y="2511504"/>
                    <a:ext cx="350009" cy="212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090" b="1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rPr>
                      <a:t>0.94</a:t>
                    </a:r>
                  </a:p>
                </p:txBody>
              </p:sp>
            </p:grpSp>
            <p:grpSp>
              <p:nvGrpSpPr>
                <p:cNvPr id="45" name="Group 45"/>
                <p:cNvGrpSpPr/>
                <p:nvPr/>
              </p:nvGrpSpPr>
              <p:grpSpPr>
                <a:xfrm>
                  <a:off x="1578507" y="4885849"/>
                  <a:ext cx="6112902" cy="190690"/>
                  <a:chOff x="1578507" y="4885849"/>
                  <a:chExt cx="6112902" cy="190690"/>
                </a:xfrm>
              </p:grpSpPr>
              <p:sp>
                <p:nvSpPr>
                  <p:cNvPr id="39" name="TextBox 39"/>
                  <p:cNvSpPr txBox="1"/>
                  <p:nvPr/>
                </p:nvSpPr>
                <p:spPr>
                  <a:xfrm>
                    <a:off x="1578507" y="4885849"/>
                    <a:ext cx="767287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8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iUmami-SCM</a:t>
                    </a:r>
                  </a:p>
                </p:txBody>
              </p:sp>
              <p:sp>
                <p:nvSpPr>
                  <p:cNvPr id="40" name="TextBox 40"/>
                  <p:cNvSpPr txBox="1"/>
                  <p:nvPr/>
                </p:nvSpPr>
                <p:spPr>
                  <a:xfrm>
                    <a:off x="2633815" y="4885849"/>
                    <a:ext cx="790270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8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UMPred-FRL</a:t>
                    </a:r>
                  </a:p>
                </p:txBody>
              </p:sp>
              <p:sp>
                <p:nvSpPr>
                  <p:cNvPr id="41" name="TextBox 41"/>
                  <p:cNvSpPr txBox="1"/>
                  <p:nvPr/>
                </p:nvSpPr>
                <p:spPr>
                  <a:xfrm>
                    <a:off x="3803766" y="4885849"/>
                    <a:ext cx="583969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8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iUP-BERT</a:t>
                    </a:r>
                  </a:p>
                </p:txBody>
              </p:sp>
              <p:sp>
                <p:nvSpPr>
                  <p:cNvPr id="42" name="TextBox 42"/>
                  <p:cNvSpPr txBox="1"/>
                  <p:nvPr/>
                </p:nvSpPr>
                <p:spPr>
                  <a:xfrm>
                    <a:off x="4759574" y="4885849"/>
                    <a:ext cx="805952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8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Umami-MRNN</a:t>
                    </a:r>
                  </a:p>
                </p:txBody>
              </p:sp>
              <p:sp>
                <p:nvSpPr>
                  <p:cNvPr id="43" name="TextBox 43"/>
                  <p:cNvSpPr txBox="1"/>
                  <p:nvPr/>
                </p:nvSpPr>
                <p:spPr>
                  <a:xfrm>
                    <a:off x="5839982" y="4885849"/>
                    <a:ext cx="778737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8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Umami-BERT</a:t>
                    </a:r>
                  </a:p>
                </p:txBody>
              </p:sp>
              <p:sp>
                <p:nvSpPr>
                  <p:cNvPr id="44" name="TextBox 44"/>
                  <p:cNvSpPr txBox="1"/>
                  <p:nvPr/>
                </p:nvSpPr>
                <p:spPr>
                  <a:xfrm>
                    <a:off x="6900890" y="4885849"/>
                    <a:ext cx="790519" cy="1906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80" dirty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rPr>
                      <a:t>2025 对比DL</a:t>
                    </a:r>
                  </a:p>
                </p:txBody>
              </p:sp>
            </p:grpSp>
          </p:grpSp>
          <p:sp>
            <p:nvSpPr>
              <p:cNvPr id="47" name="TextBox 47"/>
              <p:cNvSpPr txBox="1"/>
              <p:nvPr/>
            </p:nvSpPr>
            <p:spPr>
              <a:xfrm>
                <a:off x="833247" y="5381149"/>
                <a:ext cx="479979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Umami-BERT 非平衡集 95.0%；纵轴断裂放大差异，跨数据集比较仅供趋势参考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8458200" y="1447800"/>
            <a:ext cx="3124200" cy="4343400"/>
            <a:chOff x="8458200" y="1447800"/>
            <a:chExt cx="3124200" cy="4343400"/>
          </a:xfrm>
        </p:grpSpPr>
        <p:grpSp>
          <p:nvGrpSpPr>
            <p:cNvPr id="54" name="Group 54"/>
            <p:cNvGrpSpPr/>
            <p:nvPr/>
          </p:nvGrpSpPr>
          <p:grpSpPr>
            <a:xfrm>
              <a:off x="8458200" y="1447800"/>
              <a:ext cx="3124200" cy="1257300"/>
              <a:chOff x="8458200" y="1447800"/>
              <a:chExt cx="3124200" cy="12573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8458200" y="1447800"/>
                <a:ext cx="3124200" cy="1257300"/>
              </a:xfrm>
              <a:prstGeom prst="roundRect">
                <a:avLst>
                  <a:gd name="adj" fmla="val 10606"/>
                </a:avLst>
              </a:prstGeom>
              <a:solidFill>
                <a:srgbClr val="FFFFFF"/>
              </a:solidFill>
              <a:ln w="14288">
                <a:solidFill>
                  <a:srgbClr val="F3D3BE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671560" y="1638300"/>
                <a:ext cx="814978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94%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680704" y="2118360"/>
                <a:ext cx="22132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最高准确率（2025 对比学习）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681466" y="2382202"/>
                <a:ext cx="18835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较已有模型超出 2–9 个百分点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8458200" y="2895600"/>
              <a:ext cx="3124200" cy="1257300"/>
              <a:chOff x="8458200" y="2895600"/>
              <a:chExt cx="3124200" cy="12573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8458200" y="2895600"/>
                <a:ext cx="3124200" cy="1257300"/>
              </a:xfrm>
              <a:prstGeom prst="roundRect">
                <a:avLst>
                  <a:gd name="adj" fmla="val 10606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671560" y="3086100"/>
                <a:ext cx="1196626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+12pp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680704" y="3566160"/>
                <a:ext cx="109819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五年 ACC 提升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681466" y="3830002"/>
                <a:ext cx="21450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82.4% → 94%，深度学习稳站 90%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8458200" y="4343400"/>
              <a:ext cx="3124200" cy="1447800"/>
              <a:chOff x="8458200" y="4343400"/>
              <a:chExt cx="3124200" cy="14478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8458200" y="4343400"/>
                <a:ext cx="3124200" cy="1447800"/>
              </a:xfrm>
              <a:prstGeom prst="roundRect">
                <a:avLst>
                  <a:gd name="adj" fmla="val 92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65" name="Group 65"/>
              <p:cNvGrpSpPr/>
              <p:nvPr/>
            </p:nvGrpSpPr>
            <p:grpSpPr>
              <a:xfrm>
                <a:off x="8720138" y="4635500"/>
                <a:ext cx="200025" cy="187326"/>
                <a:chOff x="8720138" y="4635500"/>
                <a:chExt cx="200025" cy="187326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8720138" y="4724400"/>
                  <a:ext cx="6667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8890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77788"/>
                      </a:lnTo>
                      <a:cubicBezTo>
                        <a:pt x="66675" y="83925"/>
                        <a:pt x="61700" y="88900"/>
                        <a:pt x="55563" y="88900"/>
                      </a:cubicBezTo>
                      <a:lnTo>
                        <a:pt x="11113" y="88900"/>
                      </a:lnTo>
                      <a:cubicBezTo>
                        <a:pt x="4975" y="88900"/>
                        <a:pt x="0" y="83925"/>
                        <a:pt x="0" y="777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rgbClr val="7ED3C8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8853488" y="4679950"/>
                  <a:ext cx="6667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122238"/>
                      </a:lnTo>
                      <a:cubicBezTo>
                        <a:pt x="66675" y="128375"/>
                        <a:pt x="61700" y="133350"/>
                        <a:pt x="55563" y="133350"/>
                      </a:cubicBezTo>
                      <a:lnTo>
                        <a:pt x="11113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rgbClr val="7ED3C8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786813" y="4635500"/>
                  <a:ext cx="66675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77801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166688"/>
                      </a:lnTo>
                      <a:cubicBezTo>
                        <a:pt x="66675" y="172825"/>
                        <a:pt x="61700" y="177801"/>
                        <a:pt x="55563" y="177801"/>
                      </a:cubicBezTo>
                      <a:lnTo>
                        <a:pt x="11113" y="177801"/>
                      </a:lnTo>
                      <a:cubicBezTo>
                        <a:pt x="4975" y="177801"/>
                        <a:pt x="0" y="172825"/>
                        <a:pt x="0" y="1666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rgbClr val="7ED3C8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731250" y="4813301"/>
                  <a:ext cx="155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9525">
                      <a:moveTo>
                        <a:pt x="0" y="0"/>
                      </a:moveTo>
                      <a:lnTo>
                        <a:pt x="155575" y="0"/>
                      </a:lnTo>
                    </a:path>
                  </a:pathLst>
                </a:custGeom>
                <a:noFill/>
                <a:ln w="22225">
                  <a:solidFill>
                    <a:srgbClr val="7ED3C8"/>
                  </a:solidFill>
                </a:ln>
              </p:spPr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8680704" y="4975860"/>
                <a:ext cx="11869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MCC 最高 0.85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681276" y="5273754"/>
                <a:ext cx="2386508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rgbClr val="C9DAEA"/>
                    </a:solidFill>
                    <a:latin typeface="+mn-lt"/>
                    <a:ea typeface="+mn-ea"/>
                    <a:cs typeface="+mn-cs"/>
                  </a:rPr>
                  <a:t>Umami-BERT 非平衡集 MCC 0.85；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8681276" y="5502354"/>
                <a:ext cx="2173713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rgbClr val="C9DAEA"/>
                    </a:solidFill>
                    <a:latin typeface="+mn-lt"/>
                    <a:ea typeface="+mn-ea"/>
                    <a:cs typeface="+mn-cs"/>
                  </a:rPr>
                  <a:t>不平衡数据下看 MCC/Sn 更可靠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604647" y="6438900"/>
            <a:ext cx="11598018" cy="294989"/>
            <a:chOff x="604647" y="6438900"/>
            <a:chExt cx="11598018" cy="294989"/>
          </a:xfrm>
        </p:grpSpPr>
        <p:sp>
          <p:nvSpPr>
            <p:cNvPr id="71" name="Line 71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04647" y="6543199"/>
              <a:ext cx="115980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来源：iUmami-SCM（0.824）；UMPred-FRL（0.888）；iUP-BERT（≈0.91）；Umami-MRNN（0.905）；Umami-BERT（0.932/0.950，MCC 0.78/0.85）；Food Chemistry 2025（0.9398）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5172075" cy="852011"/>
            <a:chOff x="598170" y="469106"/>
            <a:chExt cx="5172075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2158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分子对接：从「猜得准」到「说得清」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1447800"/>
            <a:ext cx="5905500" cy="4343400"/>
            <a:chOff x="609600" y="1447800"/>
            <a:chExt cx="5905500" cy="4343400"/>
          </a:xfrm>
        </p:grpSpPr>
        <p:sp>
          <p:nvSpPr>
            <p:cNvPr id="6" name="Rectangle 6"/>
            <p:cNvSpPr/>
            <p:nvPr/>
          </p:nvSpPr>
          <p:spPr>
            <a:xfrm>
              <a:off x="609600" y="1447800"/>
              <a:ext cx="5905500" cy="4343400"/>
            </a:xfrm>
            <a:prstGeom prst="roundRect">
              <a:avLst>
                <a:gd name="adj" fmla="val 3070"/>
              </a:avLst>
            </a:prstGeom>
            <a:solidFill>
              <a:srgbClr val="FFFFFF"/>
            </a:solidFill>
            <a:ln w="14288">
              <a:solidFill>
                <a:srgbClr val="E2F2F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1723" y="1653064"/>
              <a:ext cx="4243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肽与 T1R1/T1R3 结合口袋（Venus flytrap 域）示意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1651000" y="2127250"/>
              <a:ext cx="3683000" cy="2508250"/>
            </a:xfrm>
            <a:custGeom>
              <a:avLst/>
              <a:gdLst/>
              <a:ahLst/>
              <a:cxnLst/>
              <a:rect l="l" t="t" r="r" b="b"/>
              <a:pathLst>
                <a:path w="3683000" h="2508250">
                  <a:moveTo>
                    <a:pt x="254000" y="349250"/>
                  </a:moveTo>
                  <a:cubicBezTo>
                    <a:pt x="0" y="984250"/>
                    <a:pt x="63500" y="1619250"/>
                    <a:pt x="444500" y="2254250"/>
                  </a:cubicBezTo>
                  <a:cubicBezTo>
                    <a:pt x="1460500" y="2508250"/>
                    <a:pt x="2413000" y="2476500"/>
                    <a:pt x="3302000" y="2159000"/>
                  </a:cubicBezTo>
                  <a:cubicBezTo>
                    <a:pt x="3683000" y="1524000"/>
                    <a:pt x="3619500" y="889000"/>
                    <a:pt x="3111500" y="254000"/>
                  </a:cubicBezTo>
                  <a:cubicBezTo>
                    <a:pt x="2222500" y="0"/>
                    <a:pt x="1270000" y="31750"/>
                    <a:pt x="254000" y="349250"/>
                  </a:cubicBez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rgbClr val="5B8DB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605964" y="4363402"/>
              <a:ext cx="164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8DB8"/>
                  </a:solidFill>
                  <a:latin typeface="+mn-lt"/>
                  <a:ea typeface="+mn-ea"/>
                  <a:cs typeface="+mn-cs"/>
                </a:rPr>
                <a:t>受体结合口袋（VFD 域）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2752725" y="2905125"/>
              <a:ext cx="1943100" cy="857250"/>
              <a:chOff x="2752725" y="2905125"/>
              <a:chExt cx="1943100" cy="857250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3048000" y="3143250"/>
                <a:ext cx="4762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47650">
                    <a:moveTo>
                      <a:pt x="0" y="0"/>
                    </a:moveTo>
                    <a:lnTo>
                      <a:pt x="476250" y="247650"/>
                    </a:lnTo>
                  </a:path>
                </a:pathLst>
              </a:custGeom>
              <a:noFill/>
              <a:ln w="38100">
                <a:solidFill>
                  <a:srgbClr val="B9C6CF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3524250" y="3200400"/>
                <a:ext cx="476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190500">
                    <a:moveTo>
                      <a:pt x="0" y="190500"/>
                    </a:moveTo>
                    <a:lnTo>
                      <a:pt x="476250" y="0"/>
                    </a:lnTo>
                  </a:path>
                </a:pathLst>
              </a:custGeom>
              <a:noFill/>
              <a:ln w="38100">
                <a:solidFill>
                  <a:srgbClr val="B9C6CF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4000500" y="3200400"/>
                <a:ext cx="3810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04800">
                    <a:moveTo>
                      <a:pt x="0" y="0"/>
                    </a:moveTo>
                    <a:lnTo>
                      <a:pt x="381000" y="304800"/>
                    </a:lnTo>
                  </a:path>
                </a:pathLst>
              </a:custGeom>
              <a:noFill/>
              <a:ln w="38100">
                <a:solidFill>
                  <a:srgbClr val="B9C6CF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2752725" y="2905125"/>
                <a:ext cx="323850" cy="3238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3495675" y="3286125"/>
                <a:ext cx="323850" cy="3238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3971925" y="2981325"/>
                <a:ext cx="323850" cy="3238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4371975" y="3438525"/>
                <a:ext cx="323850" cy="3238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872923" y="3027045"/>
                <a:ext cx="8345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2381250" y="2571750"/>
              <a:ext cx="533400" cy="333375"/>
            </a:xfrm>
            <a:custGeom>
              <a:avLst/>
              <a:gdLst/>
              <a:ahLst/>
              <a:cxnLst/>
              <a:rect l="l" t="t" r="r" b="b"/>
              <a:pathLst>
                <a:path w="533400" h="333375">
                  <a:moveTo>
                    <a:pt x="533400" y="3333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50000" sp="200000"/>
              </a:custDash>
            </a:ln>
          </p:spPr>
        </p:sp>
        <p:sp>
          <p:nvSpPr>
            <p:cNvPr id="20" name="Ellipse 20"/>
            <p:cNvSpPr/>
            <p:nvPr/>
          </p:nvSpPr>
          <p:spPr>
            <a:xfrm>
              <a:off x="2286000" y="24765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8975" y="2340054"/>
              <a:ext cx="52908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b="1" dirty="0">
                  <a:solidFill>
                    <a:srgbClr val="B5663A"/>
                  </a:solidFill>
                  <a:latin typeface="+mn-lt"/>
                  <a:ea typeface="+mn-ea"/>
                  <a:cs typeface="+mn-cs"/>
                </a:rPr>
                <a:t>Arg277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23606" y="2557701"/>
              <a:ext cx="5541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关键盐桥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533900" y="2952750"/>
              <a:ext cx="419100" cy="485775"/>
            </a:xfrm>
            <a:custGeom>
              <a:avLst/>
              <a:gdLst/>
              <a:ahLst/>
              <a:cxnLst/>
              <a:rect l="l" t="t" r="r" b="b"/>
              <a:pathLst>
                <a:path w="419100" h="485775">
                  <a:moveTo>
                    <a:pt x="0" y="485775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250000" sp="200000"/>
              </a:custDash>
            </a:ln>
          </p:spPr>
        </p:sp>
        <p:sp>
          <p:nvSpPr>
            <p:cNvPr id="24" name="Ellipse 24"/>
            <p:cNvSpPr/>
            <p:nvPr/>
          </p:nvSpPr>
          <p:spPr>
            <a:xfrm>
              <a:off x="4933950" y="2838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00256" y="2748201"/>
              <a:ext cx="5541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氢键网络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833247" y="5143500"/>
              <a:ext cx="4423791" cy="523589"/>
              <a:chOff x="833247" y="5143500"/>
              <a:chExt cx="4423791" cy="523589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38200" y="5143500"/>
                <a:ext cx="133350" cy="133350"/>
              </a:xfrm>
              <a:prstGeom prst="roundRect">
                <a:avLst>
                  <a:gd name="adj" fmla="val 21429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42416" y="5144452"/>
                <a:ext cx="124615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酸性残基 D（Asp）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2857500" y="5143500"/>
                <a:ext cx="133350" cy="133350"/>
              </a:xfrm>
              <a:prstGeom prst="roundRect">
                <a:avLst>
                  <a:gd name="adj" fmla="val 21429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061716" y="51444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协同残基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476750" y="5143500"/>
                <a:ext cx="133350" cy="133350"/>
              </a:xfrm>
              <a:prstGeom prst="roundRect">
                <a:avLst>
                  <a:gd name="adj" fmla="val 2142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680966" y="51444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其他残基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3247" y="5476399"/>
                <a:ext cx="36223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示意图，非真实构象；真实研究由 AutoDock 等工具生成打分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6743700" y="1447800"/>
            <a:ext cx="4838700" cy="4343400"/>
            <a:chOff x="6743700" y="1447800"/>
            <a:chExt cx="4838700" cy="4343400"/>
          </a:xfrm>
        </p:grpSpPr>
        <p:grpSp>
          <p:nvGrpSpPr>
            <p:cNvPr id="45" name="Group 45"/>
            <p:cNvGrpSpPr/>
            <p:nvPr/>
          </p:nvGrpSpPr>
          <p:grpSpPr>
            <a:xfrm>
              <a:off x="6743700" y="1447800"/>
              <a:ext cx="4838700" cy="1295400"/>
              <a:chOff x="6743700" y="1447800"/>
              <a:chExt cx="4838700" cy="12954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743700" y="1447800"/>
                <a:ext cx="4838700" cy="1295400"/>
              </a:xfrm>
              <a:prstGeom prst="roundRect">
                <a:avLst>
                  <a:gd name="adj" fmla="val 10294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6953250" y="1676400"/>
                <a:ext cx="457200" cy="4572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080248" y="1797195"/>
                <a:ext cx="209388" cy="215583"/>
                <a:chOff x="7080248" y="1797195"/>
                <a:chExt cx="209388" cy="215583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7143750" y="18669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169150" y="1797195"/>
                  <a:ext cx="120486" cy="120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486" h="120505">
                      <a:moveTo>
                        <a:pt x="0" y="31605"/>
                      </a:moveTo>
                      <a:lnTo>
                        <a:pt x="5880" y="24798"/>
                      </a:lnTo>
                      <a:cubicBezTo>
                        <a:pt x="30682" y="0"/>
                        <a:pt x="70890" y="3"/>
                        <a:pt x="95688" y="24804"/>
                      </a:cubicBezTo>
                      <a:cubicBezTo>
                        <a:pt x="120486" y="49606"/>
                        <a:pt x="120483" y="89814"/>
                        <a:pt x="95682" y="114612"/>
                      </a:cubicBezTo>
                      <a:lnTo>
                        <a:pt x="88900" y="120505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080248" y="1892300"/>
                  <a:ext cx="114302" cy="120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2" h="120478">
                      <a:moveTo>
                        <a:pt x="114302" y="88900"/>
                      </a:moveTo>
                      <a:lnTo>
                        <a:pt x="109260" y="95682"/>
                      </a:lnTo>
                      <a:cubicBezTo>
                        <a:pt x="84184" y="120478"/>
                        <a:pt x="43823" y="120478"/>
                        <a:pt x="18747" y="95682"/>
                      </a:cubicBezTo>
                      <a:cubicBezTo>
                        <a:pt x="6751" y="83820"/>
                        <a:pt x="0" y="67651"/>
                        <a:pt x="0" y="50781"/>
                      </a:cubicBezTo>
                      <a:cubicBezTo>
                        <a:pt x="0" y="33911"/>
                        <a:pt x="6751" y="17742"/>
                        <a:pt x="18747" y="5880"/>
                      </a:cubicBezTo>
                      <a:lnTo>
                        <a:pt x="25402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7537323" y="172926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对接原理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538466" y="2001202"/>
                <a:ext cx="13040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结构互补 + 能量匹配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966585" y="2278856"/>
                <a:ext cx="25745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把肽段对接到受体口袋，搜索最优结合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966585" y="2507456"/>
                <a:ext cx="250674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构象，以结合能/打分量化结合强度。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743700" y="2933700"/>
              <a:ext cx="4838700" cy="1295400"/>
              <a:chOff x="6743700" y="2933700"/>
              <a:chExt cx="4838700" cy="1295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6743700" y="2933700"/>
                <a:ext cx="4838700" cy="1295400"/>
              </a:xfrm>
              <a:prstGeom prst="roundRect">
                <a:avLst>
                  <a:gd name="adj" fmla="val 10294"/>
                </a:avLst>
              </a:prstGeom>
              <a:solidFill>
                <a:srgbClr val="FFFFFF"/>
              </a:solidFill>
              <a:ln w="14288">
                <a:solidFill>
                  <a:srgbClr val="F3D3BE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6953250" y="3162300"/>
                <a:ext cx="457200" cy="457200"/>
              </a:xfrm>
              <a:prstGeom prst="ellipse">
                <a:avLst/>
              </a:prstGeom>
              <a:solidFill>
                <a:srgbClr val="FCEBDF"/>
              </a:solidFill>
              <a:ln>
                <a:noFill/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7067550" y="3267539"/>
                <a:ext cx="238124" cy="247185"/>
                <a:chOff x="7067550" y="3267539"/>
                <a:chExt cx="238124" cy="247185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7143750" y="33528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7181850" y="350519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7067550" y="33528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7296149" y="33528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7067550" y="3403600"/>
                  <a:ext cx="63500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90170">
                      <a:moveTo>
                        <a:pt x="63500" y="90170"/>
                      </a:moveTo>
                      <a:cubicBezTo>
                        <a:pt x="28274" y="72988"/>
                        <a:pt x="4307" y="38956"/>
                        <a:pt x="0" y="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232649" y="3403600"/>
                  <a:ext cx="63500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90170">
                      <a:moveTo>
                        <a:pt x="0" y="90170"/>
                      </a:moveTo>
                      <a:cubicBezTo>
                        <a:pt x="35226" y="72988"/>
                        <a:pt x="59193" y="38956"/>
                        <a:pt x="63500" y="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108190" y="3267539"/>
                  <a:ext cx="144780" cy="34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780" h="34461">
                      <a:moveTo>
                        <a:pt x="0" y="34461"/>
                      </a:moveTo>
                      <a:cubicBezTo>
                        <a:pt x="42108" y="0"/>
                        <a:pt x="102672" y="0"/>
                        <a:pt x="144780" y="34461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7537323" y="3215164"/>
                <a:ext cx="10468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关键相互作用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538466" y="3487102"/>
                <a:ext cx="11838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氢键 / 疏水 / 盐桥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966585" y="3764756"/>
                <a:ext cx="268278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腐乳案例 DFEGDV 的 D 与 Arg277 形成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966585" y="3993356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关键盐桥，提供机制层证据。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6743700" y="4419600"/>
              <a:ext cx="4838700" cy="1371600"/>
              <a:chOff x="6743700" y="4419600"/>
              <a:chExt cx="4838700" cy="13716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6743700" y="4419600"/>
                <a:ext cx="4838700" cy="1371600"/>
              </a:xfrm>
              <a:prstGeom prst="roundRect">
                <a:avLst>
                  <a:gd name="adj" fmla="val 9722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6953250" y="4648200"/>
                <a:ext cx="457200" cy="457200"/>
              </a:xfrm>
              <a:prstGeom prst="ellipse">
                <a:avLst/>
              </a:prstGeom>
              <a:solidFill>
                <a:srgbClr val="1F5078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7067550" y="4762500"/>
                <a:ext cx="228599" cy="228599"/>
                <a:chOff x="7067550" y="4762500"/>
                <a:chExt cx="228599" cy="228599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7092950" y="4787900"/>
                  <a:ext cx="1778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778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165100" y="0"/>
                      </a:lnTo>
                      <a:cubicBezTo>
                        <a:pt x="172114" y="0"/>
                        <a:pt x="177800" y="5686"/>
                        <a:pt x="177800" y="12700"/>
                      </a:cubicBezTo>
                      <a:lnTo>
                        <a:pt x="177800" y="165100"/>
                      </a:lnTo>
                      <a:cubicBezTo>
                        <a:pt x="177800" y="172114"/>
                        <a:pt x="172114" y="177800"/>
                        <a:pt x="165100" y="177800"/>
                      </a:cubicBezTo>
                      <a:lnTo>
                        <a:pt x="12700" y="177800"/>
                      </a:lnTo>
                      <a:cubicBezTo>
                        <a:pt x="5686" y="177800"/>
                        <a:pt x="0" y="172114"/>
                        <a:pt x="0" y="1651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rgbClr val="7ED3C8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7143750" y="48387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76200" y="76200"/>
                      </a:lnTo>
                      <a:lnTo>
                        <a:pt x="0" y="762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7ED3C8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7067550" y="48514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25400">
                  <a:solidFill>
                    <a:srgbClr val="7ED3C8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7067550" y="49022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25400">
                  <a:solidFill>
                    <a:srgbClr val="7ED3C8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7156450" y="476250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25400">
                  <a:solidFill>
                    <a:srgbClr val="7ED3C8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7207250" y="476250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25400">
                  <a:solidFill>
                    <a:srgbClr val="7ED3C8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7270749" y="48514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254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7ED3C8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7270749" y="490220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254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7ED3C8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7207250" y="496569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254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7ED3C8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7156450" y="496569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254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7ED3C8"/>
                  </a:solidFill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7537323" y="4701064"/>
                <a:ext cx="8745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工具与局限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966585" y="5060156"/>
                <a:ext cx="30377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DCE8F2"/>
                    </a:solidFill>
                    <a:latin typeface="+mn-lt"/>
                    <a:ea typeface="+mn-ea"/>
                    <a:cs typeface="+mn-cs"/>
                  </a:rPr>
                  <a:t>AutoDock 经典对接；VmmScore 用 ML 优化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966585" y="5288756"/>
                <a:ext cx="295907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DCE8F2"/>
                    </a:solidFill>
                    <a:latin typeface="+mn-lt"/>
                    <a:ea typeface="+mn-ea"/>
                    <a:cs typeface="+mn-cs"/>
                  </a:rPr>
                  <a:t>打分函数加速；经典力场对接/动力学昂贵，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966585" y="5517356"/>
                <a:ext cx="18594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ED3C8"/>
                    </a:solidFill>
                    <a:latin typeface="+mn-lt"/>
                    <a:ea typeface="+mn-ea"/>
                    <a:cs typeface="+mn-cs"/>
                  </a:rPr>
                  <a:t>ML 打分正成为提效方向。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80" name="Line 80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04647" y="6543199"/>
              <a:ext cx="89165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来源：腐乳鲜味肽研究（Food Chemistry 2025，DFEGDV–Arg277 盐桥）；Mlp4Umami/VmmScore（Comput Biol Med 2024）；T1R1/T1R3 机制综述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5840716" cy="852011"/>
            <a:chOff x="598170" y="469106"/>
            <a:chExt cx="5840716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2158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模型进展、工具与应用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58407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案例：从腐乳发酵中「算」出 5 条新鲜味肽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1428750"/>
            <a:ext cx="10972800" cy="1238250"/>
            <a:chOff x="609600" y="1428750"/>
            <a:chExt cx="10972800" cy="1238250"/>
          </a:xfrm>
        </p:grpSpPr>
        <p:grpSp>
          <p:nvGrpSpPr>
            <p:cNvPr id="13" name="Group 13"/>
            <p:cNvGrpSpPr/>
            <p:nvPr/>
          </p:nvGrpSpPr>
          <p:grpSpPr>
            <a:xfrm>
              <a:off x="609600" y="1428750"/>
              <a:ext cx="2533650" cy="1238250"/>
              <a:chOff x="609600" y="1428750"/>
              <a:chExt cx="2533650" cy="1238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609600" y="1428750"/>
                <a:ext cx="2533650" cy="1238250"/>
              </a:xfrm>
              <a:prstGeom prst="roundRect">
                <a:avLst>
                  <a:gd name="adj" fmla="val 10769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838200" y="1638300"/>
                <a:ext cx="419100" cy="4191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995008" y="178498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384173" y="1672114"/>
                <a:ext cx="8745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肽组学监测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5506" y="1910001"/>
                <a:ext cx="1368074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Food Chemistry 2025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32676" y="2206704"/>
                <a:ext cx="1302324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腐乳 0–90 天发酵，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32676" y="2416254"/>
                <a:ext cx="1581122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前 60 天为呈鲜关键窗口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271044" y="2005012"/>
              <a:ext cx="144462" cy="123825"/>
              <a:chOff x="3271044" y="2005012"/>
              <a:chExt cx="144462" cy="1238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271044" y="206692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353593" y="206692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353593" y="200501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3543300" y="1428750"/>
              <a:ext cx="2533650" cy="1238250"/>
              <a:chOff x="3543300" y="1428750"/>
              <a:chExt cx="2533650" cy="1238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543300" y="1428750"/>
                <a:ext cx="2533650" cy="1238250"/>
              </a:xfrm>
              <a:prstGeom prst="roundRect">
                <a:avLst>
                  <a:gd name="adj" fmla="val 10769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3771900" y="1638300"/>
                <a:ext cx="419100" cy="419100"/>
              </a:xfrm>
              <a:prstGeom prst="ellipse">
                <a:avLst/>
              </a:prstGeom>
              <a:solidFill>
                <a:srgbClr val="E2F2F0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928708" y="178498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317873" y="1672114"/>
                <a:ext cx="10468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机器学习筛选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319206" y="1910001"/>
                <a:ext cx="962050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随机森林等模型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766376" y="2206704"/>
                <a:ext cx="1368355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筛出 637 条候选肽，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66376" y="2416254"/>
                <a:ext cx="1206946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模型准确率约 89%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204744" y="2005012"/>
              <a:ext cx="144462" cy="123825"/>
              <a:chOff x="6204744" y="2005012"/>
              <a:chExt cx="144462" cy="1238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204744" y="206692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287293" y="206692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287293" y="200501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6477000" y="1428750"/>
              <a:ext cx="2533650" cy="1238250"/>
              <a:chOff x="6477000" y="1428750"/>
              <a:chExt cx="2533650" cy="12382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477000" y="1428750"/>
                <a:ext cx="2533650" cy="1238250"/>
              </a:xfrm>
              <a:prstGeom prst="roundRect">
                <a:avLst>
                  <a:gd name="adj" fmla="val 10769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6705600" y="1638300"/>
                <a:ext cx="419100" cy="4191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862408" y="178498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51573" y="16721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分子对接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252906" y="1910001"/>
                <a:ext cx="1051839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9AA8B3"/>
                    </a:solidFill>
                    <a:latin typeface="+mn-lt"/>
                    <a:ea typeface="+mn-ea"/>
                    <a:cs typeface="+mn-cs"/>
                  </a:rPr>
                  <a:t>T1R1/T1R3 受体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700076" y="2206704"/>
                <a:ext cx="1184935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按结合能打分锁定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700076" y="2416254"/>
                <a:ext cx="1162925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 条高结合力新肽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138444" y="2005012"/>
              <a:ext cx="144462" cy="123825"/>
              <a:chOff x="9138444" y="2005012"/>
              <a:chExt cx="144462" cy="1238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138444" y="2066925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220993" y="206692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220993" y="200501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61912"/>
                    </a:lnTo>
                  </a:path>
                </a:pathLst>
              </a:custGeom>
              <a:noFill/>
              <a:ln w="20637">
                <a:solidFill>
                  <a:srgbClr val="9AA8B3"/>
                </a:solidFill>
              </a:ln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9410700" y="1428750"/>
              <a:ext cx="2171700" cy="1238250"/>
              <a:chOff x="9410700" y="1428750"/>
              <a:chExt cx="2171700" cy="12382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410700" y="1428750"/>
                <a:ext cx="2171700" cy="1238250"/>
              </a:xfrm>
              <a:prstGeom prst="roundRect">
                <a:avLst>
                  <a:gd name="adj" fmla="val 10769"/>
                </a:avLst>
              </a:prstGeom>
              <a:solidFill>
                <a:srgbClr val="FCEBDF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9639300" y="1638300"/>
                <a:ext cx="419100" cy="419100"/>
              </a:xfrm>
              <a:prstGeom prst="ellipse">
                <a:avLst/>
              </a:prstGeom>
              <a:solidFill>
                <a:srgbClr val="F5D9C6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796108" y="178498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185273" y="1672114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B5663A"/>
                    </a:solidFill>
                    <a:latin typeface="+mn-lt"/>
                    <a:ea typeface="+mn-ea"/>
                    <a:cs typeface="+mn-cs"/>
                  </a:rPr>
                  <a:t>感官验证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186606" y="1910001"/>
                <a:ext cx="982445" cy="19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10" dirty="0">
                    <a:solidFill>
                      <a:srgbClr val="C68A66"/>
                    </a:solidFill>
                    <a:latin typeface="+mn-lt"/>
                    <a:ea typeface="+mn-ea"/>
                    <a:cs typeface="+mn-cs"/>
                  </a:rPr>
                  <a:t>合成 + 人工评定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633776" y="2206704"/>
                <a:ext cx="1643416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阈值 0.22–0.38 mmol/L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633776" y="2416254"/>
                <a:ext cx="1313398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鲜度达 MSG 3–5 倍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609600" y="2857500"/>
            <a:ext cx="10972800" cy="914400"/>
            <a:chOff x="609600" y="2857500"/>
            <a:chExt cx="10972800" cy="914400"/>
          </a:xfrm>
        </p:grpSpPr>
        <p:sp>
          <p:nvSpPr>
            <p:cNvPr id="51" name="Rectangle 51"/>
            <p:cNvSpPr/>
            <p:nvPr/>
          </p:nvSpPr>
          <p:spPr>
            <a:xfrm>
              <a:off x="609600" y="2857500"/>
              <a:ext cx="3505200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E6EFF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6770" y="30527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637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860994" y="3093958"/>
              <a:ext cx="110080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ML 筛出候选肽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861566" y="3334702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30%+ 源自 11 种大豆蛋白位点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343400" y="2857500"/>
              <a:ext cx="3505200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F3D3BE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560570" y="3052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042344" y="3093958"/>
              <a:ext cx="1573403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对接锁定并验证的新肽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042916" y="3334702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预测 → 对接 → 感官三轨一致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77200" y="2857500"/>
              <a:ext cx="3505200" cy="9144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E6EFF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94370" y="305276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3–5×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28594" y="3093958"/>
              <a:ext cx="157104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相对 MSG 的鲜味强度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29166" y="3334702"/>
              <a:ext cx="1475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阈值低至 0.22 mmol/L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09600" y="3962400"/>
            <a:ext cx="6667500" cy="1714500"/>
            <a:chOff x="609600" y="3962400"/>
            <a:chExt cx="6667500" cy="1714500"/>
          </a:xfrm>
        </p:grpSpPr>
        <p:grpSp>
          <p:nvGrpSpPr>
            <p:cNvPr id="78" name="Group 78"/>
            <p:cNvGrpSpPr/>
            <p:nvPr/>
          </p:nvGrpSpPr>
          <p:grpSpPr>
            <a:xfrm>
              <a:off x="609600" y="3962400"/>
              <a:ext cx="6667500" cy="1714500"/>
              <a:chOff x="609600" y="3962400"/>
              <a:chExt cx="6667500" cy="17145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609600" y="3962400"/>
                <a:ext cx="6667500" cy="1714500"/>
              </a:xfrm>
              <a:prstGeom prst="roundRect">
                <a:avLst>
                  <a:gd name="adj" fmla="val 7778"/>
                </a:avLst>
              </a:prstGeom>
              <a:solidFill>
                <a:srgbClr val="FFFFFF"/>
              </a:solidFill>
              <a:ln w="14288">
                <a:solidFill>
                  <a:srgbClr val="E2F2F0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831723" y="4129564"/>
                <a:ext cx="188988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 条感官确证的新鲜味肽</a:t>
                </a:r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838200" y="4381500"/>
                <a:ext cx="6210300" cy="285750"/>
              </a:xfrm>
              <a:prstGeom prst="roundRect">
                <a:avLst>
                  <a:gd name="adj" fmla="val 26667"/>
                </a:avLst>
              </a:prstGeom>
              <a:solidFill>
                <a:srgbClr val="F2F7FA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061276" y="4464129"/>
                <a:ext cx="744728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验证肽序列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5328476" y="4464129"/>
                <a:ext cx="304521" cy="212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9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长度</a:t>
                </a:r>
              </a:p>
            </p:txBody>
          </p:sp>
          <p:grpSp>
            <p:nvGrpSpPr>
              <p:cNvPr id="77" name="Group 77"/>
              <p:cNvGrpSpPr/>
              <p:nvPr/>
            </p:nvGrpSpPr>
            <p:grpSpPr>
              <a:xfrm>
                <a:off x="838200" y="4789408"/>
                <a:ext cx="6210300" cy="817912"/>
                <a:chOff x="838200" y="4789408"/>
                <a:chExt cx="6210300" cy="817912"/>
              </a:xfrm>
            </p:grpSpPr>
            <p:sp>
              <p:nvSpPr>
                <p:cNvPr id="69" name="TextBox 69"/>
                <p:cNvSpPr txBox="1"/>
                <p:nvPr/>
              </p:nvSpPr>
              <p:spPr>
                <a:xfrm>
                  <a:off x="1060894" y="4789408"/>
                  <a:ext cx="583530" cy="2273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0" b="1" dirty="0">
                      <a:solidFill>
                        <a:schemeClr val="accent1"/>
                      </a:solidFill>
                      <a:latin typeface="Consolas"/>
                      <a:ea typeface="Consolas"/>
                      <a:cs typeface="Consolas"/>
                    </a:rPr>
                    <a:t>DFEGDV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5328094" y="4789408"/>
                  <a:ext cx="300706" cy="2273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 肽</a:t>
                  </a:r>
                </a:p>
              </p:txBody>
            </p:sp>
            <p:sp>
              <p:nvSpPr>
                <p:cNvPr id="71" name="Line 71"/>
                <p:cNvSpPr/>
                <p:nvPr/>
              </p:nvSpPr>
              <p:spPr>
                <a:xfrm>
                  <a:off x="838200" y="5029200"/>
                  <a:ext cx="6210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0300" h="9525">
                      <a:moveTo>
                        <a:pt x="0" y="0"/>
                      </a:moveTo>
                      <a:lnTo>
                        <a:pt x="6210300" y="0"/>
                      </a:lnTo>
                    </a:path>
                  </a:pathLst>
                </a:custGeom>
                <a:noFill/>
                <a:ln w="9525">
                  <a:solidFill>
                    <a:srgbClr val="F2F5F8"/>
                  </a:solidFill>
                </a:ln>
              </p:spPr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1060894" y="5094208"/>
                  <a:ext cx="869390" cy="2273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0" b="1" dirty="0">
                      <a:solidFill>
                        <a:schemeClr val="accent1"/>
                      </a:solidFill>
                      <a:latin typeface="Consolas"/>
                      <a:ea typeface="Consolas"/>
                      <a:cs typeface="Consolas"/>
                    </a:rPr>
                    <a:t>GRGPTVTDP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5328094" y="5094208"/>
                  <a:ext cx="300706" cy="2273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9 肽</a:t>
                  </a:r>
                </a:p>
              </p:txBody>
            </p:sp>
            <p:sp>
              <p:nvSpPr>
                <p:cNvPr id="74" name="Line 74"/>
                <p:cNvSpPr/>
                <p:nvPr/>
              </p:nvSpPr>
              <p:spPr>
                <a:xfrm>
                  <a:off x="838200" y="5314950"/>
                  <a:ext cx="62103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0300" h="9525">
                      <a:moveTo>
                        <a:pt x="0" y="0"/>
                      </a:moveTo>
                      <a:lnTo>
                        <a:pt x="6210300" y="0"/>
                      </a:lnTo>
                    </a:path>
                  </a:pathLst>
                </a:custGeom>
                <a:noFill/>
                <a:ln w="9525">
                  <a:solidFill>
                    <a:srgbClr val="F2F5F8"/>
                  </a:solidFill>
                </a:ln>
              </p:spPr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1060894" y="5379958"/>
                  <a:ext cx="869390" cy="2273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0" b="1" dirty="0">
                      <a:solidFill>
                        <a:schemeClr val="accent1"/>
                      </a:solidFill>
                      <a:latin typeface="Consolas"/>
                      <a:ea typeface="Consolas"/>
                      <a:cs typeface="Consolas"/>
                    </a:rPr>
                    <a:t>NDDRDSYNL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5328094" y="5379958"/>
                  <a:ext cx="300706" cy="2273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9 肽</a:t>
                  </a:r>
                </a:p>
              </p:txBody>
            </p:sp>
          </p:grpSp>
        </p:grpSp>
      </p:grpSp>
      <p:grpSp>
        <p:nvGrpSpPr>
          <p:cNvPr id="89" name="Group 89"/>
          <p:cNvGrpSpPr/>
          <p:nvPr/>
        </p:nvGrpSpPr>
        <p:grpSpPr>
          <a:xfrm>
            <a:off x="7543800" y="3962400"/>
            <a:ext cx="4038600" cy="1714500"/>
            <a:chOff x="7543800" y="3962400"/>
            <a:chExt cx="4038600" cy="1714500"/>
          </a:xfrm>
        </p:grpSpPr>
        <p:sp>
          <p:nvSpPr>
            <p:cNvPr id="80" name="Rectangle 80"/>
            <p:cNvSpPr/>
            <p:nvPr/>
          </p:nvSpPr>
          <p:spPr>
            <a:xfrm>
              <a:off x="7543800" y="3962400"/>
              <a:ext cx="4038600" cy="1714500"/>
            </a:xfrm>
            <a:prstGeom prst="roundRect">
              <a:avLst>
                <a:gd name="adj" fmla="val 7778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854949" y="4249071"/>
              <a:ext cx="183215" cy="188636"/>
              <a:chOff x="7854949" y="4249071"/>
              <a:chExt cx="183215" cy="188636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910513" y="431006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7ED3C8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932738" y="4249071"/>
                <a:ext cx="105426" cy="105442"/>
              </a:xfrm>
              <a:custGeom>
                <a:avLst/>
                <a:gdLst/>
                <a:ahLst/>
                <a:cxnLst/>
                <a:rect l="l" t="t" r="r" b="b"/>
                <a:pathLst>
                  <a:path w="105426" h="105442">
                    <a:moveTo>
                      <a:pt x="0" y="27655"/>
                    </a:moveTo>
                    <a:lnTo>
                      <a:pt x="5145" y="21698"/>
                    </a:lnTo>
                    <a:cubicBezTo>
                      <a:pt x="26847" y="0"/>
                      <a:pt x="62029" y="2"/>
                      <a:pt x="83727" y="21704"/>
                    </a:cubicBezTo>
                    <a:cubicBezTo>
                      <a:pt x="105426" y="43405"/>
                      <a:pt x="105423" y="78588"/>
                      <a:pt x="83722" y="100286"/>
                    </a:cubicBezTo>
                    <a:lnTo>
                      <a:pt x="77788" y="105442"/>
                    </a:lnTo>
                  </a:path>
                </a:pathLst>
              </a:custGeom>
              <a:noFill/>
              <a:ln w="22225">
                <a:solidFill>
                  <a:srgbClr val="7ED3C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854949" y="4332288"/>
                <a:ext cx="100014" cy="105419"/>
              </a:xfrm>
              <a:custGeom>
                <a:avLst/>
                <a:gdLst/>
                <a:ahLst/>
                <a:cxnLst/>
                <a:rect l="l" t="t" r="r" b="b"/>
                <a:pathLst>
                  <a:path w="100014" h="105419">
                    <a:moveTo>
                      <a:pt x="100014" y="77788"/>
                    </a:moveTo>
                    <a:lnTo>
                      <a:pt x="95603" y="83722"/>
                    </a:lnTo>
                    <a:cubicBezTo>
                      <a:pt x="73661" y="105419"/>
                      <a:pt x="38345" y="105419"/>
                      <a:pt x="16404" y="83722"/>
                    </a:cubicBezTo>
                    <a:cubicBezTo>
                      <a:pt x="5907" y="73343"/>
                      <a:pt x="0" y="59195"/>
                      <a:pt x="0" y="44433"/>
                    </a:cubicBezTo>
                    <a:cubicBezTo>
                      <a:pt x="0" y="29672"/>
                      <a:pt x="5907" y="15524"/>
                      <a:pt x="16404" y="5145"/>
                    </a:cubicBezTo>
                    <a:lnTo>
                      <a:pt x="22227" y="0"/>
                    </a:lnTo>
                  </a:path>
                </a:pathLst>
              </a:custGeom>
              <a:noFill/>
              <a:ln w="22225">
                <a:solidFill>
                  <a:srgbClr val="7ED3C8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8185023" y="42724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机制亮点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804785" y="4622006"/>
              <a:ext cx="2775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rgbClr val="DCE8F2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酸性残基 D 与受体 Arg277 形成盐桥，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957185" y="48506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CE8F2"/>
                  </a:solidFill>
                  <a:latin typeface="+mn-lt"/>
                  <a:ea typeface="+mn-ea"/>
                  <a:cs typeface="+mn-cs"/>
                </a:rPr>
                <a:t>是结合与呈鲜的关键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804785" y="5174456"/>
              <a:ext cx="2336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6949" indent="-126949">
                <a:buClr>
                  <a:srgbClr val="7ED3C8"/>
                </a:buClr>
                <a:buSzTx/>
                <a:buFontTx/>
                <a:buChar char="•"/>
              </a:pPr>
              <a:r>
                <a:rPr lang="zh-CN" sz="1120" b="1" dirty="0">
                  <a:solidFill>
                    <a:srgbClr val="7ED3C8"/>
                  </a:solidFill>
                  <a:latin typeface="+mn-lt"/>
                  <a:ea typeface="+mn-ea"/>
                  <a:cs typeface="+mn-cs"/>
                </a:rPr>
                <a:t>完整跑通「预测—验证」双轨闭环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33056" y="5796201"/>
            <a:ext cx="8076931" cy="198025"/>
            <a:chOff x="833056" y="5796201"/>
            <a:chExt cx="8076931" cy="198025"/>
          </a:xfrm>
        </p:grpSpPr>
        <p:sp>
          <p:nvSpPr>
            <p:cNvPr id="90" name="TextBox 90"/>
            <p:cNvSpPr txBox="1"/>
            <p:nvPr/>
          </p:nvSpPr>
          <p:spPr>
            <a:xfrm>
              <a:off x="833056" y="5796201"/>
              <a:ext cx="807693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注：RVPAGTTY、SDNFEY 同属对接锁定 5 肽；该研究证明计算筛选可把湿实验工作量压缩到极小，且结果被对接与感官双重证实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92" name="Line 92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04647" y="6543199"/>
              <a:ext cx="62511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来源：腐乳鲜味肽虚拟筛选研究（Food Chemistry 2025；肽序列、阈值与鲜度数据引自该研究公开报道）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170" y="469106"/>
            <a:ext cx="5172075" cy="852011"/>
            <a:chOff x="598170" y="469106"/>
            <a:chExt cx="5172075" cy="852011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469106"/>
              <a:ext cx="1303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· 挑战与展望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723900"/>
              <a:ext cx="419100" cy="4762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8170" y="881062"/>
              <a:ext cx="5172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未来：从「预测鲜味」到「设计鲜味」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0" y="1428750"/>
            <a:ext cx="4914900" cy="4000500"/>
            <a:chOff x="6667500" y="1428750"/>
            <a:chExt cx="4914900" cy="4000500"/>
          </a:xfrm>
        </p:grpSpPr>
        <p:sp>
          <p:nvSpPr>
            <p:cNvPr id="6" name="Rectangle 6"/>
            <p:cNvSpPr/>
            <p:nvPr/>
          </p:nvSpPr>
          <p:spPr>
            <a:xfrm>
              <a:off x="6667500" y="1428750"/>
              <a:ext cx="4914900" cy="4000500"/>
            </a:xfrm>
            <a:prstGeom prst="roundRect">
              <a:avLst>
                <a:gd name="adj" fmla="val 3810"/>
              </a:avLst>
            </a:prstGeom>
            <a:solidFill>
              <a:srgbClr val="FFFFFF"/>
            </a:solidFill>
            <a:ln w="14288">
              <a:solidFill>
                <a:srgbClr val="E2F2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9900" y="2142460"/>
              <a:ext cx="4610100" cy="2573079"/>
            </a:xfrm>
            <a:prstGeom prst="rect">
              <a:avLst/>
            </a:prstGeom>
          </p:spPr>
        </p:pic>
      </p:grpSp>
      <p:grpSp>
        <p:nvGrpSpPr>
          <p:cNvPr id="40" name="Group 40"/>
          <p:cNvGrpSpPr/>
          <p:nvPr/>
        </p:nvGrpSpPr>
        <p:grpSpPr>
          <a:xfrm>
            <a:off x="609600" y="1428750"/>
            <a:ext cx="5715000" cy="2857500"/>
            <a:chOff x="609600" y="1428750"/>
            <a:chExt cx="5715000" cy="2857500"/>
          </a:xfrm>
        </p:grpSpPr>
        <p:grpSp>
          <p:nvGrpSpPr>
            <p:cNvPr id="17" name="Group 17"/>
            <p:cNvGrpSpPr/>
            <p:nvPr/>
          </p:nvGrpSpPr>
          <p:grpSpPr>
            <a:xfrm>
              <a:off x="609600" y="1428750"/>
              <a:ext cx="5715000" cy="857250"/>
              <a:chOff x="609600" y="1428750"/>
              <a:chExt cx="5715000" cy="857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09600" y="1428750"/>
                <a:ext cx="571500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838200" y="1647825"/>
                <a:ext cx="419100" cy="419100"/>
              </a:xfrm>
              <a:prstGeom prst="ellipse">
                <a:avLst/>
              </a:prstGeom>
              <a:solidFill>
                <a:srgbClr val="FCEBDF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935679" y="1753671"/>
                <a:ext cx="224134" cy="192560"/>
                <a:chOff x="935679" y="1753671"/>
                <a:chExt cx="224134" cy="19256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047750" y="1824038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35679" y="1753671"/>
                  <a:ext cx="224134" cy="19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134" h="192560">
                      <a:moveTo>
                        <a:pt x="93880" y="10259"/>
                      </a:moveTo>
                      <a:lnTo>
                        <a:pt x="3802" y="160656"/>
                      </a:lnTo>
                      <a:cubicBezTo>
                        <a:pt x="23" y="167200"/>
                        <a:pt x="0" y="175257"/>
                        <a:pt x="3741" y="181823"/>
                      </a:cubicBezTo>
                      <a:cubicBezTo>
                        <a:pt x="7482" y="188388"/>
                        <a:pt x="14426" y="192476"/>
                        <a:pt x="21982" y="192560"/>
                      </a:cubicBezTo>
                      <a:lnTo>
                        <a:pt x="202160" y="192560"/>
                      </a:lnTo>
                      <a:cubicBezTo>
                        <a:pt x="209713" y="192473"/>
                        <a:pt x="216653" y="188387"/>
                        <a:pt x="220393" y="181826"/>
                      </a:cubicBezTo>
                      <a:cubicBezTo>
                        <a:pt x="224134" y="175264"/>
                        <a:pt x="224114" y="167211"/>
                        <a:pt x="220341" y="160667"/>
                      </a:cubicBezTo>
                      <a:lnTo>
                        <a:pt x="130262" y="10248"/>
                      </a:lnTo>
                      <a:cubicBezTo>
                        <a:pt x="126408" y="3886"/>
                        <a:pt x="119510" y="0"/>
                        <a:pt x="112071" y="0"/>
                      </a:cubicBezTo>
                      <a:cubicBezTo>
                        <a:pt x="104633" y="0"/>
                        <a:pt x="97734" y="3886"/>
                        <a:pt x="93880" y="10248"/>
                      </a:cubicBez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047750" y="190182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403223" y="1672114"/>
                <a:ext cx="19084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数据规模小、类别不平衡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403985" y="1955006"/>
                <a:ext cx="36300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标注肽仅数百条且评价口径不一，跨数据集泛化受限。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" y="2428875"/>
              <a:ext cx="5715000" cy="857250"/>
              <a:chOff x="609600" y="2428875"/>
              <a:chExt cx="5715000" cy="857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09600" y="2428875"/>
                <a:ext cx="571500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838200" y="2647950"/>
                <a:ext cx="419100" cy="419100"/>
              </a:xfrm>
              <a:prstGeom prst="ellipse">
                <a:avLst/>
              </a:prstGeom>
              <a:solidFill>
                <a:srgbClr val="FCEBDF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947738" y="2757488"/>
                <a:ext cx="200025" cy="200025"/>
                <a:chOff x="947738" y="2757488"/>
                <a:chExt cx="200025" cy="200025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047750" y="2868613"/>
                  <a:ext cx="7778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88900">
                      <a:moveTo>
                        <a:pt x="38894" y="0"/>
                      </a:moveTo>
                      <a:cubicBezTo>
                        <a:pt x="17413" y="0"/>
                        <a:pt x="0" y="17413"/>
                        <a:pt x="0" y="38894"/>
                      </a:cubicBezTo>
                      <a:lnTo>
                        <a:pt x="0" y="50006"/>
                      </a:lnTo>
                      <a:cubicBezTo>
                        <a:pt x="0" y="71487"/>
                        <a:pt x="17413" y="88900"/>
                        <a:pt x="38894" y="88900"/>
                      </a:cubicBezTo>
                      <a:cubicBezTo>
                        <a:pt x="60374" y="88900"/>
                        <a:pt x="77788" y="71487"/>
                        <a:pt x="77788" y="50006"/>
                      </a:cubicBezTo>
                      <a:lnTo>
                        <a:pt x="77788" y="30004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969963" y="2868613"/>
                  <a:ext cx="7778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88900">
                      <a:moveTo>
                        <a:pt x="38894" y="0"/>
                      </a:moveTo>
                      <a:cubicBezTo>
                        <a:pt x="60374" y="0"/>
                        <a:pt x="77788" y="17413"/>
                        <a:pt x="77788" y="38894"/>
                      </a:cubicBezTo>
                      <a:lnTo>
                        <a:pt x="77788" y="50006"/>
                      </a:lnTo>
                      <a:cubicBezTo>
                        <a:pt x="77788" y="71487"/>
                        <a:pt x="60374" y="88900"/>
                        <a:pt x="38894" y="88900"/>
                      </a:cubicBezTo>
                      <a:cubicBezTo>
                        <a:pt x="17413" y="88900"/>
                        <a:pt x="0" y="71487"/>
                        <a:pt x="0" y="50006"/>
                      </a:cubicBezTo>
                      <a:lnTo>
                        <a:pt x="0" y="30004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103313" y="2824163"/>
                  <a:ext cx="444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77788">
                      <a:moveTo>
                        <a:pt x="5556" y="77788"/>
                      </a:moveTo>
                      <a:cubicBezTo>
                        <a:pt x="27037" y="77788"/>
                        <a:pt x="44450" y="60374"/>
                        <a:pt x="44450" y="38894"/>
                      </a:cubicBezTo>
                      <a:cubicBezTo>
                        <a:pt x="44450" y="17413"/>
                        <a:pt x="27037" y="0"/>
                        <a:pt x="5556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047750" y="2757488"/>
                  <a:ext cx="77788" cy="70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70009">
                      <a:moveTo>
                        <a:pt x="77788" y="70009"/>
                      </a:moveTo>
                      <a:lnTo>
                        <a:pt x="77788" y="38894"/>
                      </a:lnTo>
                      <a:cubicBezTo>
                        <a:pt x="77788" y="17413"/>
                        <a:pt x="60374" y="0"/>
                        <a:pt x="38894" y="0"/>
                      </a:cubicBezTo>
                      <a:cubicBezTo>
                        <a:pt x="17413" y="0"/>
                        <a:pt x="0" y="17413"/>
                        <a:pt x="0" y="38894"/>
                      </a:cubicBez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947738" y="2824163"/>
                  <a:ext cx="444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77788">
                      <a:moveTo>
                        <a:pt x="38894" y="77788"/>
                      </a:moveTo>
                      <a:cubicBezTo>
                        <a:pt x="17413" y="77788"/>
                        <a:pt x="0" y="60374"/>
                        <a:pt x="0" y="38894"/>
                      </a:cubicBezTo>
                      <a:cubicBezTo>
                        <a:pt x="0" y="17413"/>
                        <a:pt x="17413" y="0"/>
                        <a:pt x="38894" y="0"/>
                      </a:cubicBez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969963" y="2757488"/>
                  <a:ext cx="77788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150019">
                      <a:moveTo>
                        <a:pt x="0" y="70009"/>
                      </a:moveTo>
                      <a:lnTo>
                        <a:pt x="0" y="38894"/>
                      </a:lnTo>
                      <a:cubicBezTo>
                        <a:pt x="0" y="17413"/>
                        <a:pt x="17413" y="0"/>
                        <a:pt x="38894" y="0"/>
                      </a:cubicBezTo>
                      <a:cubicBezTo>
                        <a:pt x="60374" y="0"/>
                        <a:pt x="77788" y="17413"/>
                        <a:pt x="77788" y="38894"/>
                      </a:cubicBezTo>
                      <a:lnTo>
                        <a:pt x="77788" y="150019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403223" y="2672239"/>
                <a:ext cx="10468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可解释性仍浅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403985" y="2955131"/>
                <a:ext cx="393156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注意力能定位关键残基，但机制解释仍需对接与实验补强。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09600" y="3429000"/>
              <a:ext cx="5715000" cy="857250"/>
              <a:chOff x="609600" y="3429000"/>
              <a:chExt cx="5715000" cy="8572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09600" y="3429000"/>
                <a:ext cx="5715000" cy="857250"/>
              </a:xfrm>
              <a:prstGeom prst="roundRect">
                <a:avLst>
                  <a:gd name="adj" fmla="val 15556"/>
                </a:avLst>
              </a:prstGeom>
              <a:solidFill>
                <a:srgbClr val="FFFFFF"/>
              </a:solidFill>
              <a:ln w="14288">
                <a:solidFill>
                  <a:srgbClr val="E6EFF6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838200" y="3648075"/>
                <a:ext cx="419100" cy="419100"/>
              </a:xfrm>
              <a:prstGeom prst="ellipse">
                <a:avLst/>
              </a:prstGeom>
              <a:solidFill>
                <a:srgbClr val="FCEBDF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947738" y="3768725"/>
                <a:ext cx="200025" cy="187326"/>
                <a:chOff x="947738" y="3768725"/>
                <a:chExt cx="200025" cy="187326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947738" y="3857625"/>
                  <a:ext cx="6667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8890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77788"/>
                      </a:lnTo>
                      <a:cubicBezTo>
                        <a:pt x="66675" y="83925"/>
                        <a:pt x="61700" y="88900"/>
                        <a:pt x="55563" y="88900"/>
                      </a:cubicBezTo>
                      <a:lnTo>
                        <a:pt x="11113" y="88900"/>
                      </a:lnTo>
                      <a:cubicBezTo>
                        <a:pt x="4975" y="88900"/>
                        <a:pt x="0" y="83925"/>
                        <a:pt x="0" y="777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081088" y="3813175"/>
                  <a:ext cx="6667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122238"/>
                      </a:lnTo>
                      <a:cubicBezTo>
                        <a:pt x="66675" y="128375"/>
                        <a:pt x="61700" y="133350"/>
                        <a:pt x="55563" y="133350"/>
                      </a:cubicBezTo>
                      <a:lnTo>
                        <a:pt x="11113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014413" y="3768725"/>
                  <a:ext cx="66675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77801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166688"/>
                      </a:lnTo>
                      <a:cubicBezTo>
                        <a:pt x="66675" y="172825"/>
                        <a:pt x="61700" y="177801"/>
                        <a:pt x="55563" y="177801"/>
                      </a:cubicBezTo>
                      <a:lnTo>
                        <a:pt x="11113" y="177801"/>
                      </a:lnTo>
                      <a:cubicBezTo>
                        <a:pt x="4975" y="177801"/>
                        <a:pt x="0" y="172825"/>
                        <a:pt x="0" y="1666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958850" y="3946526"/>
                  <a:ext cx="155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9525">
                      <a:moveTo>
                        <a:pt x="0" y="0"/>
                      </a:moveTo>
                      <a:lnTo>
                        <a:pt x="155575" y="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1403223" y="3672364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从分类走向定量泛化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403985" y="3955256"/>
                <a:ext cx="33284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阈值、强度、增鲜协同等定量回归问题尚待突破。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09600" y="4476750"/>
            <a:ext cx="5715000" cy="1238250"/>
            <a:chOff x="609600" y="4476750"/>
            <a:chExt cx="5715000" cy="1238250"/>
          </a:xfrm>
        </p:grpSpPr>
        <p:sp>
          <p:nvSpPr>
            <p:cNvPr id="41" name="Rectangle 41"/>
            <p:cNvSpPr/>
            <p:nvPr/>
          </p:nvSpPr>
          <p:spPr>
            <a:xfrm>
              <a:off x="609600" y="4476750"/>
              <a:ext cx="5715000" cy="1238250"/>
            </a:xfrm>
            <a:prstGeom prst="roundRect">
              <a:avLst>
                <a:gd name="adj" fmla="val 10769"/>
              </a:avLst>
            </a:prstGeom>
            <a:solidFill>
              <a:srgbClr val="E2F2F0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12019" y="4760119"/>
              <a:ext cx="214312" cy="214313"/>
              <a:chOff x="912019" y="4760119"/>
              <a:chExt cx="214312" cy="21431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12019" y="4760119"/>
                <a:ext cx="214312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7156">
                    <a:moveTo>
                      <a:pt x="0" y="107156"/>
                    </a:moveTo>
                    <a:lnTo>
                      <a:pt x="11906" y="107156"/>
                    </a:lnTo>
                    <a:moveTo>
                      <a:pt x="107156" y="0"/>
                    </a:moveTo>
                    <a:lnTo>
                      <a:pt x="107156" y="11906"/>
                    </a:lnTo>
                    <a:moveTo>
                      <a:pt x="202406" y="107156"/>
                    </a:moveTo>
                    <a:lnTo>
                      <a:pt x="214312" y="107156"/>
                    </a:lnTo>
                    <a:moveTo>
                      <a:pt x="30956" y="30956"/>
                    </a:moveTo>
                    <a:lnTo>
                      <a:pt x="39291" y="39291"/>
                    </a:lnTo>
                    <a:moveTo>
                      <a:pt x="183356" y="30956"/>
                    </a:moveTo>
                    <a:lnTo>
                      <a:pt x="175022" y="39291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54596" y="4807744"/>
                <a:ext cx="129159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29159" h="166688">
                    <a:moveTo>
                      <a:pt x="28861" y="107156"/>
                    </a:moveTo>
                    <a:cubicBezTo>
                      <a:pt x="8361" y="91782"/>
                      <a:pt x="0" y="65015"/>
                      <a:pt x="8103" y="40706"/>
                    </a:cubicBezTo>
                    <a:cubicBezTo>
                      <a:pt x="16206" y="16397"/>
                      <a:pt x="38955" y="0"/>
                      <a:pt x="64579" y="0"/>
                    </a:cubicBezTo>
                    <a:cubicBezTo>
                      <a:pt x="90203" y="0"/>
                      <a:pt x="112953" y="16397"/>
                      <a:pt x="121056" y="40706"/>
                    </a:cubicBezTo>
                    <a:cubicBezTo>
                      <a:pt x="129159" y="65015"/>
                      <a:pt x="120797" y="91782"/>
                      <a:pt x="100298" y="107156"/>
                    </a:cubicBezTo>
                    <a:cubicBezTo>
                      <a:pt x="90870" y="116489"/>
                      <a:pt x="86449" y="129752"/>
                      <a:pt x="88392" y="142875"/>
                    </a:cubicBezTo>
                    <a:cubicBezTo>
                      <a:pt x="88392" y="156026"/>
                      <a:pt x="77731" y="166688"/>
                      <a:pt x="64579" y="166688"/>
                    </a:cubicBezTo>
                    <a:cubicBezTo>
                      <a:pt x="51428" y="166688"/>
                      <a:pt x="40767" y="156026"/>
                      <a:pt x="40767" y="142875"/>
                    </a:cubicBezTo>
                    <a:cubicBezTo>
                      <a:pt x="42710" y="129752"/>
                      <a:pt x="38288" y="116489"/>
                      <a:pt x="28861" y="107156"/>
                    </a:cubicBez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91791" y="4926806"/>
                <a:ext cx="547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9525">
                    <a:moveTo>
                      <a:pt x="0" y="0"/>
                    </a:moveTo>
                    <a:lnTo>
                      <a:pt x="54769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269873" y="47963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展望方向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0585" y="5098256"/>
              <a:ext cx="4481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多任务 / 多味觉学习，AI 从头设计鲜味肽（模块替换已验证）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0585" y="5345906"/>
              <a:ext cx="4218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0904" indent="-120904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预测—对接—验证闭环自动化；服务低钠调味品与副产物高值化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667500" y="5638800"/>
            <a:ext cx="4914900" cy="476250"/>
            <a:chOff x="6667500" y="5638800"/>
            <a:chExt cx="4914900" cy="476250"/>
          </a:xfrm>
        </p:grpSpPr>
        <p:sp>
          <p:nvSpPr>
            <p:cNvPr id="50" name="Rectangle 50"/>
            <p:cNvSpPr/>
            <p:nvPr/>
          </p:nvSpPr>
          <p:spPr>
            <a:xfrm>
              <a:off x="6667500" y="5638800"/>
              <a:ext cx="4914900" cy="476250"/>
            </a:xfrm>
            <a:prstGeom prst="roundRect">
              <a:avLst>
                <a:gd name="adj" fmla="val 24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28509" y="5810012"/>
              <a:ext cx="3392881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4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筛选从月到秒 · 准确率 &gt;90% · 双轨范式已成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4647" y="6438900"/>
            <a:ext cx="10982706" cy="294989"/>
            <a:chOff x="604647" y="6438900"/>
            <a:chExt cx="10982706" cy="294989"/>
          </a:xfrm>
        </p:grpSpPr>
        <p:sp>
          <p:nvSpPr>
            <p:cNvPr id="53" name="Line 53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5DEE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4647" y="6543199"/>
              <a:ext cx="75150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来源：Food Chemistry 2025（模块替换、0.9398）；VirtuousMultiTaste（npj Sci Food 2024）；iUP-BERT（Foods 2022）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35490" y="654319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9AA8B3"/>
                  </a:solidFill>
                  <a:latin typeface="+mn-lt"/>
                  <a:ea typeface="+mn-ea"/>
                  <a:cs typeface="+mn-cs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umami_peptide_ml">
  <a:themeElements>
    <a:clrScheme name="umami_peptide_ml">
      <a:dk1>
        <a:srgbClr val="2B3A46"/>
      </a:dk1>
      <a:lt1>
        <a:srgbClr val="F7FAFA"/>
      </a:lt1>
      <a:dk2>
        <a:srgbClr val="1F497D"/>
      </a:dk2>
      <a:lt2>
        <a:srgbClr val="F7FAFA"/>
      </a:lt2>
      <a:accent1>
        <a:srgbClr val="123A5D"/>
      </a:accent1>
      <a:accent2>
        <a:srgbClr val="0E8F86"/>
      </a:accent2>
      <a:accent3>
        <a:srgbClr val="E8743B"/>
      </a:accent3>
      <a:accent4>
        <a:srgbClr val="123A5D"/>
      </a:accent4>
      <a:accent5>
        <a:srgbClr val="6B7C8A"/>
      </a:accent5>
      <a:accent6>
        <a:srgbClr val="E6EFF6"/>
      </a:accent6>
      <a:hlink>
        <a:srgbClr val="0E8F86"/>
      </a:hlink>
      <a:folHlink>
        <a:srgbClr val="E8743B"/>
      </a:folHlink>
    </a:clrScheme>
    <a:fontScheme name="umami_peptide_ml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ami_peptide_m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umami_peptide_ml">
  <a:themeElements>
    <a:clrScheme name="umami_peptide_ml">
      <a:dk1>
        <a:srgbClr val="2B3A46"/>
      </a:dk1>
      <a:lt1>
        <a:srgbClr val="F7FAFA"/>
      </a:lt1>
      <a:dk2>
        <a:srgbClr val="1F497D"/>
      </a:dk2>
      <a:lt2>
        <a:srgbClr val="F7FAFA"/>
      </a:lt2>
      <a:accent1>
        <a:srgbClr val="123A5D"/>
      </a:accent1>
      <a:accent2>
        <a:srgbClr val="0E8F86"/>
      </a:accent2>
      <a:accent3>
        <a:srgbClr val="E8743B"/>
      </a:accent3>
      <a:accent4>
        <a:srgbClr val="123A5D"/>
      </a:accent4>
      <a:accent5>
        <a:srgbClr val="6B7C8A"/>
      </a:accent5>
      <a:accent6>
        <a:srgbClr val="E6EFF6"/>
      </a:accent6>
      <a:hlink>
        <a:srgbClr val="0E8F86"/>
      </a:hlink>
      <a:folHlink>
        <a:srgbClr val="E8743B"/>
      </a:folHlink>
    </a:clrScheme>
    <a:fontScheme name="umami_peptide_ml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ami_peptide_m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2026-08-28T01:22:06Z</dcterms:created>
  <dcterms:modified xsi:type="dcterms:W3CDTF">2026-08-28T01:22:06Z</dcterms:modified>
  <cp:category/>
  <cp:contentStatus/>
</cp:coreProperties>
</file>