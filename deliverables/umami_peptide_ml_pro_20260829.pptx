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  <Relationship Id="rId22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各位老师、同学好。今天我汇报的题目是《机器学习筛选鲜味肽》。鲜味是国际公认的第五种基本味觉，鲜味肽是能被 T1R1/T1R3 受体识别的短肽，也是新型调味品开发的热点。过去鲜味肽的发现高度依赖分离纯化和人工感官评价，成本高、周期长。而现在，机器学习让我们可以先在计算机里对成千上万条肽快速打分，再把最有希望的少数候选交给湿实验。目前主流模型预测准确率已经超过 90%，单条肽打分只需毫秒。下面我将从背景、技术路线、模型进展、应用案例和展望五个部分展开。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首先看鲜味肽是什么。鲜味感知主要依靠舌面的 T1R1/T1R3 异源二聚体受体，它属于 C 类 G 蛋白偶联受体，图中示意了一条肽链结合到受体 Venus flytrap 结构域的过程，橙色标记的就是酸性氨基酸 D 天冬氨酸和 E 谷氨酸。鲜味肽通常是 2 到 8 个氨基酸的短肽，分子量小于 3000 道尔顿，序列上普遍富含 D、E，A、S、G 等残基起协同作用；2025 年发表在 Food Chemistry 的可解释深度学习工作还识别出 D、E、Q、K、R 是关键残基。鲜味肽在肉、海鲜、菌菇，以及腐乳、酱油等大豆发酵食品中含量丰富，谷氨酸与 IMP、GMP 等 5′ 核苷酸还有协同增鲜效应。它的应用价值在于低钠健康调味品、发酵风味调控和蛋白副产物高值化，部分鲜味肽的鲜味强度可以达到味精的数倍。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传统鲜味肽筛选为什么难？这一页给出了答案。传统湿实验要走五步：蛋白水解、分离纯化、LC-MS 质谱鉴定、人工合成、最后人工感官评价。一条蛋白可以酶解出成百上千条肽，而每一条都要合成、评测，单条肽验证以周计，成本高、通量极低，大量鲜味肽因此被漏掉。图右侧的定性对比显示，机器学习虚拟筛选在通量上大幅领先，在成本和耗时上则显著下降。关键的转变是「先算后验」：计算先行富集候选，把湿实验集中到最有希望的少数肽上。这就是机器学习介入鲜味肽研究的根本动因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是全局技术路线。干实验侧共五步：第一步数据收集，从味肽数据库和文献中获取已标注的鲜味肽；第二步虚拟酶解，按照蛋白酶切规则在计算机中把蛋白序列切成候选短肽库；第三步特征编码，把氨基酸序列转换成数值向量；第四步是核心——模型预测，用 SVM、随机森林或 BERT 等模型对每条肽打呈鲜概率分；第五步分子对接，模拟肽与 T1R1/T1R3 受体的结合模式。第六步进入湿实验：合成肽并做感官评价确证。大家注意底部的回注箭头——验证结果会回流为新的训练数据，形成数据飞轮，模型随研究推进持续改进。本质上，我们把「这条肽鲜不鲜」转化为一个监督学习二分类问题：f 序列映射到呈鲜概率。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具体看数据基础。正样本主要来自两个渠道：一是 BioPEP-UWM、BIOPEP 等味肽数据库，收录经实验验证的呈味肽序列；二是实验文献中经感官评价确证的肽，标签最可靠。负样本多取无鲜味或苦味肽，并严格控制类别平衡。候选库则靠虚拟酶解批量扩充：如左下示意，用 ExPASy PeptideCutter 这类工具，按胰蛋白酶、胃蛋白酶的酶切位点规则，把 UniProt 蛋白序列切成大量 2 到 8 肽。右侧是候选肽的逐级过滤：先卡长度和分子量，再用 PeptideRanker 以 0.5 概率阈值初筛生物活性，然后做毒性、致敏性、肠道稳定性等安全性过滤，最后评估吸收和半衰期等 ADMET 性质，得到高质量候选肽库。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数据规模的增长是模型进步的燃料，这张表列了三代基准数据集。最早的 UMP442 含 140 条鲜味肽、302 条非鲜味肽，iUmami-SCM 和 UMPred-FRL 都在其上评测；UMP499 扩充到 212 条正样本、287 条负样本，Umami-MRNN 使用；Umami-BERT 进一步整合出 UMP789。两张说明卡强调两点：第一，数据扩充直接支撑性能提升；第二，鲜味肽是少数类，模型若「全猜负类」也能虚高准确率，所以 iUP-BERT 等工作用 SMOTE 过采样合成少数类样本，显著提升了灵敏度。需要说明各研究划分训练测试集的方式不同，跨数据集比较要看趋势。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模型不能直接读字母序列，必须先编码。顶部展示转换过程：一条 E-G-D-S-E-R 六肽被映射成数十到数千维的数值向量。编码有两条路线。左侧是手工特征，依赖专家经验：AAC 氨基酸组成 20 维、DPC 二肽组成 400 维、PAAC/APAAC 拟氨基酸组成、CTD 组成转换分布特征，以及电荷、疏水性、pKa 等理化描述符，VirtuousUmami 还使用 Mordred 二维分子描述符。手工特征可解释但存在噪声和冗余。右侧是当前主流的深度表征：BERT/Transformer 先在海量蛋白序列上预训练，再把每个残基映射为带上下文语义的高维嵌入，两阶段微调后端到端学习，注意力权重还能定位关键残基，代表是 iUP-BERT 和 Umami-BERT。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算法本身经历三代。图中横向条带表示代表能力逐级提升：第一代传统机器学习，包括 SVM、随机森林、极端随机树、KNN、逻辑回归、偏最小二乘、GBDT，搭配手工特征，代表是 iUmami-SCM 和 UMPred-FRL；第二代深度学习，MLP、CNN、RNN/LSTM 自动学习特征，代表是 Umami-MRNN，用 MLP 加 RNN 达到 90.5% 准确率；第三代预训练大模型，BERT/Transformer 两阶段预训练加对比学习，iUP-BERT、Umami-BERT 和 2025 年的对比学习模型都属此类，准确率达到 0.94，且注意力可解释。底部是集成学习范例 UMPred-FRL：6 种算法配 7 种编码，独立测试集 ACC 0.888、MCC 0.735、灵敏度 0.786、平衡准确率 0.860，是传统路线的高峰。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模型好在哪里，不能只看一个数字。左侧甜甜圈示意五类指标要交叉考察：ACC 准确率最直观，但类别不平衡时会被多数类带偏；MCC 相关系数在 -1 到 1 之间、综合混淆矩阵，对不平衡数据最稳健；Sn 灵敏度即召回率，表示鲜味肽被找出的比例——漏筛等于漏掉一条新肽，筛选阶段尤其关键，iUP-BERT 相对前代灵敏度提升 13.6 到 25 个百分点，主要归功于 SMOTE；此外还有 BACC 平衡准确率和 auROC。底部深色条是验证协议：10 折交叉验证用于调参，独立测试集用于报告指标，分子对接提供机制证据，最后合成加感官评价确证。必须强调：比较模型要在同一独立测试集上，且指标高不等于感官呈鲜。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把代表性工作放到时间线上看脉络更清晰。2020 年 iUmami-SCM 用 SCM 评分卡，准确率 0.824，是首个专用预测器；2021 年 UMPred-FRL 集成 6 算法 7 编码，提升到 0.888；2022 年出现两个重要工作，iUP-BERT 把 BERT 嵌入与 SMOTE、SVM 结合，灵敏度大幅领先，同年 VirtuousUmami 用 Mordred 描述符做通用味觉预测并开源；2023 年 Umami-MRNN 达到 90.5%，Umami-BERT 两阶段架构在平衡集上达到 93.2%，还能用注意力做解释；2024 年 VmmScore/Mlp4Umami 把深度学习预测与分子对接打分一体化；2025 年对比学习模型准确率 0.9398，超越已有模型 2 到 9 个百分点。方法和数据双轮驱动，研究重心从「分得准」转向「可解释、可对接、可验证」。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这些模型大多提供免费工具，左边表格汇总了六个：iUmami-SCM 的 Web 服务器、UMPred-FRL 的 pmlabstack 服务器、iUP-BERT 在 aibiochem.net 的服务器、Umami-BERT 带注意力解释的服务器，以及两个开源方案——VirtuousUmami 在 GitHub 开源、支持 SMILES/FASTA/InChI 多种输入，VmmScore/Mlp4Umami 提供预测对接一体管线。配套资源还有 BIOPEP-UWM 肽库和 PeptideRanker 活性初筛。右侧深色卡是快速上手三步：第一步准备 FASTA 序列，第二步粘贴到服务器即可返回呈鲜概率和排名，第三步把高置信肽送对接和感官验证。本地部署开源工具还能对自建肽库做批量筛选，完全零成本起步。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这张柱状图汇总六个模型的准确率，纵轴从 0.80 起并标注了断裂轴，请大家注意差异被放大。iUmami-SCM 0.824，UMPred-FRL 0.888，iUP-BERT 约 0.91，Umami-MRNN 0.905，Umami-BERT 平衡集 0.932、非平衡集 95.0%，2025 年对比学习模型 0.94。橙色虚线是 90% 参考线——深度学习一代已稳定站上。右侧三个 KPI：最高准确率 94%、五年提升约 12 个百分点、MCC 最高达到 0.85。要说明的是，这些数字来自各文献各自测试集，口径不同，不能简单横向排名；但趋势非常明确：模型已足够准确，足以作为湿实验的前置过滤器。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光有分类分数还不够，分子对接提供机制层证据。左图示意肽段嵌入受体结合口袋：橙色是酸性残基 D，它与受体的 Arg277 残基形成关键盐桥——这在腐乳研究中被证实是 DFEGDV 等肽结合的核心；绿色虚线表示与口袋内其他残基的氢键网络。对接的原理是结构互补加能量匹配，搜索肽在口袋中的最优构象并以结合能打分。传统上用 AutoDock 等工具，但力场计算昂贵；VmmScore/Mlp4Umami 的思路是用机器学习优化对接打分函数来加速。对接回答的问题从「模型觉得它鲜」推进到「它为什么能结合受体」，让预测结果更可信，也为肽的改造设计指明位点。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一个完整跑通双轨范式的案例是 2025 年 Food Chemistry 的腐乳研究。流程四步：其一，肽组学追踪腐乳 0 到 90 天发酵，发现前 60 天是呈鲜关键窗口；其二，用随机森林等模型从肽库中筛出 637 条候选肽，模型准确率约 89%，其中 30% 以上来自 11 种大豆蛋白的特定位点；其三，分子对接按结合能锁定 5 条高结合力新肽；其四，合成后感官评价确证，阈值低至 0.22 到 0.38 毫摩尔每升，鲜味强度达到味精的 3 到 5 倍。表中是这五条肽：DFEGDV、GRGPTVTDP、NDDRDSYNL、RVPAGTTY、SDNFEY。机制上 D 残基与 Arg277 的盐桥是结合关键。这个案例证明：计算筛选把湿实验工作量压缩到极小，且预测、对接、感官三轨结果一致。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最后是挑战与展望。当前局限有三：数据规模小、标注仅数百条且口径不一，跨数据集泛化受限；可解释性仍浅，注意力虽能定位残基但机制解释有待补强；能力上还停留在「鲜不鲜」的分类，阈值、强度、增鲜协同等定量回归问题尚未突破。展望方向令人振奋：多任务多味觉学习、AI 从头设计鲜味肽——2025 年工作中的模块替换策略已经验证了这种设计思路；预测、对接、验证闭环走向自动化，并服务低钠调味品开发和蛋白副产物高值化。总结三句话：筛选周期从月缩短到秒，准确率站上 90%，「计算预测加实验验证」双轨范式已经成型。我们正从预测鲜味，走向设计鲜味。我的汇报到此结束，谢谢大家，欢迎提问。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umami_peptide_ml_pro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umami_peptide_ml_pro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22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1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1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5c06f4deef993cfb.png"/>
  <Relationship Id="rId3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5deb153af364ada5.png"/>
  <Relationship Id="rId3" Type="http://schemas.openxmlformats.org/officeDocument/2006/relationships/notesSlide" Target="../notesSlides/notesSlide15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2"/>
          <p:cNvGrpSpPr/>
          <p:nvPr/>
        </p:nvGrpSpPr>
        <p:grpSpPr>
          <a:xfrm>
            <a:off x="381000" y="-1333500"/>
            <a:ext cx="12763500" cy="8572500"/>
            <a:chOff x="381000" y="-1333500"/>
            <a:chExt cx="12763500" cy="8572500"/>
          </a:xfrm>
        </p:grpSpPr>
        <p:sp>
          <p:nvSpPr>
            <p:cNvPr id="2" name="Ellipse 2"/>
            <p:cNvSpPr/>
            <p:nvPr/>
          </p:nvSpPr>
          <p:spPr>
            <a:xfrm>
              <a:off x="8953500" y="-571500"/>
              <a:ext cx="3429000" cy="3429000"/>
            </a:xfrm>
            <a:prstGeom prst="ellipse">
              <a:avLst/>
            </a:prstGeom>
            <a:noFill/>
            <a:ln w="19050">
              <a:solidFill>
                <a:srgbClr val="143E60"/>
              </a:solidFill>
            </a:ln>
          </p:spPr>
        </p:sp>
        <p:sp>
          <p:nvSpPr>
            <p:cNvPr id="3" name="Ellipse 3"/>
            <p:cNvSpPr/>
            <p:nvPr/>
          </p:nvSpPr>
          <p:spPr>
            <a:xfrm>
              <a:off x="8191500" y="-1333500"/>
              <a:ext cx="4953000" cy="4953000"/>
            </a:xfrm>
            <a:prstGeom prst="ellipse">
              <a:avLst/>
            </a:prstGeom>
            <a:noFill/>
            <a:ln w="14288">
              <a:solidFill>
                <a:srgbClr val="103658"/>
              </a:solidFill>
            </a:ln>
          </p:spPr>
        </p:sp>
        <p:sp>
          <p:nvSpPr>
            <p:cNvPr id="4" name="Ellipse 4"/>
            <p:cNvSpPr/>
            <p:nvPr/>
          </p:nvSpPr>
          <p:spPr>
            <a:xfrm>
              <a:off x="381000" y="4953000"/>
              <a:ext cx="2286000" cy="2286000"/>
            </a:xfrm>
            <a:prstGeom prst="ellipse">
              <a:avLst/>
            </a:prstGeom>
            <a:noFill/>
            <a:ln w="19050">
              <a:solidFill>
                <a:srgbClr val="143E60"/>
              </a:solidFill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1685925" y="733425"/>
              <a:ext cx="5010150" cy="5391150"/>
              <a:chOff x="1685925" y="733425"/>
              <a:chExt cx="5010150" cy="5391150"/>
            </a:xfrm>
          </p:grpSpPr>
          <p:sp>
            <p:nvSpPr>
              <p:cNvPr id="5" name="Ellipse 5"/>
              <p:cNvSpPr/>
              <p:nvPr/>
            </p:nvSpPr>
            <p:spPr>
              <a:xfrm>
                <a:off x="2247900" y="1104900"/>
                <a:ext cx="76200" cy="76200"/>
              </a:xfrm>
              <a:prstGeom prst="ellipse">
                <a:avLst/>
              </a:prstGeom>
              <a:solidFill>
                <a:srgbClr val="2FB3A8">
                  <a:alpha val="70000"/>
                </a:srgbClr>
              </a:solidFill>
              <a:ln>
                <a:noFill/>
              </a:ln>
            </p:spPr>
          </p:sp>
          <p:sp>
            <p:nvSpPr>
              <p:cNvPr id="6" name="Ellipse 6"/>
              <p:cNvSpPr/>
              <p:nvPr/>
            </p:nvSpPr>
            <p:spPr>
              <a:xfrm>
                <a:off x="3114675" y="885825"/>
                <a:ext cx="57150" cy="57150"/>
              </a:xfrm>
              <a:prstGeom prst="ellipse">
                <a:avLst/>
              </a:prstGeom>
              <a:solidFill>
                <a:srgbClr val="2FB3A8">
                  <a:alpha val="70000"/>
                </a:srgbClr>
              </a:solidFill>
              <a:ln>
                <a:noFill/>
              </a:ln>
            </p:spPr>
          </p:sp>
          <p:sp>
            <p:nvSpPr>
              <p:cNvPr id="7" name="Ellipse 7"/>
              <p:cNvSpPr/>
              <p:nvPr/>
            </p:nvSpPr>
            <p:spPr>
              <a:xfrm>
                <a:off x="1685925" y="1685925"/>
                <a:ext cx="57150" cy="57150"/>
              </a:xfrm>
              <a:prstGeom prst="ellipse">
                <a:avLst/>
              </a:prstGeom>
              <a:solidFill>
                <a:srgbClr val="2FB3A8">
                  <a:alpha val="70000"/>
                </a:srgbClr>
              </a:solidFill>
              <a:ln>
                <a:noFill/>
              </a:ln>
            </p:spPr>
          </p:sp>
          <p:sp>
            <p:nvSpPr>
              <p:cNvPr id="8" name="Ellipse 8"/>
              <p:cNvSpPr/>
              <p:nvPr/>
            </p:nvSpPr>
            <p:spPr>
              <a:xfrm>
                <a:off x="6067425" y="733425"/>
                <a:ext cx="57150" cy="57150"/>
              </a:xfrm>
              <a:prstGeom prst="ellipse">
                <a:avLst/>
              </a:prstGeom>
              <a:solidFill>
                <a:srgbClr val="2FB3A8">
                  <a:alpha val="70000"/>
                </a:srgbClr>
              </a:solidFill>
              <a:ln>
                <a:noFill/>
              </a:ln>
            </p:spPr>
          </p:sp>
          <p:sp>
            <p:nvSpPr>
              <p:cNvPr id="9" name="Ellipse 9"/>
              <p:cNvSpPr/>
              <p:nvPr/>
            </p:nvSpPr>
            <p:spPr>
              <a:xfrm>
                <a:off x="5295900" y="1295400"/>
                <a:ext cx="76200" cy="76200"/>
              </a:xfrm>
              <a:prstGeom prst="ellipse">
                <a:avLst/>
              </a:prstGeom>
              <a:solidFill>
                <a:srgbClr val="2FB3A8">
                  <a:alpha val="70000"/>
                </a:srgbClr>
              </a:solidFill>
              <a:ln>
                <a:noFill/>
              </a:ln>
            </p:spPr>
          </p:sp>
          <p:sp>
            <p:nvSpPr>
              <p:cNvPr id="10" name="Ellipse 10"/>
              <p:cNvSpPr/>
              <p:nvPr/>
            </p:nvSpPr>
            <p:spPr>
              <a:xfrm>
                <a:off x="6638925" y="6067425"/>
                <a:ext cx="57150" cy="57150"/>
              </a:xfrm>
              <a:prstGeom prst="ellipse">
                <a:avLst/>
              </a:prstGeom>
              <a:solidFill>
                <a:srgbClr val="2FB3A8">
                  <a:alpha val="70000"/>
                </a:srgbClr>
              </a:solidFill>
              <a:ln>
                <a:noFill/>
              </a:ln>
            </p:spPr>
          </p:sp>
        </p:grpSp>
      </p:grpSp>
      <p:grpSp>
        <p:nvGrpSpPr>
          <p:cNvPr id="16" name="Group 16"/>
          <p:cNvGrpSpPr/>
          <p:nvPr/>
        </p:nvGrpSpPr>
        <p:grpSpPr>
          <a:xfrm>
            <a:off x="6286500" y="895350"/>
            <a:ext cx="5391150" cy="4057650"/>
            <a:chOff x="6286500" y="895350"/>
            <a:chExt cx="5391150" cy="4057650"/>
          </a:xfrm>
        </p:grpSpPr>
        <p:sp>
          <p:nvSpPr>
            <p:cNvPr id="13" name="Rectangle 13"/>
            <p:cNvSpPr/>
            <p:nvPr/>
          </p:nvSpPr>
          <p:spPr>
            <a:xfrm>
              <a:off x="6343650" y="952500"/>
              <a:ext cx="5334000" cy="4000500"/>
            </a:xfrm>
            <a:prstGeom prst="roundRect">
              <a:avLst>
                <a:gd name="adj" fmla="val 5714"/>
              </a:avLst>
            </a:prstGeom>
            <a:solidFill>
              <a:srgbClr val="072238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6286500" y="895350"/>
              <a:ext cx="5334000" cy="4000500"/>
            </a:xfrm>
            <a:prstGeom prst="roundRect">
              <a:avLst>
                <a:gd name="adj" fmla="val 5714"/>
              </a:avLst>
            </a:prstGeom>
            <a:solidFill>
              <a:srgbClr val="FFFFFF"/>
            </a:solidFill>
            <a:ln>
              <a:noFill/>
            </a:ln>
          </p:spPr>
        </p:sp>
        <p:pic>
          <p:nvPicPr>
            <p:cNvPr id="15" name="Image 1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515100" y="1534633"/>
              <a:ext cx="4876800" cy="2721935"/>
            </a:xfrm>
            <a:prstGeom prst="rect">
              <a:avLst/>
            </a:prstGeom>
          </p:spPr>
        </p:pic>
      </p:grpSp>
      <p:grpSp>
        <p:nvGrpSpPr>
          <p:cNvPr id="20" name="Group 20"/>
          <p:cNvGrpSpPr/>
          <p:nvPr/>
        </p:nvGrpSpPr>
        <p:grpSpPr>
          <a:xfrm>
            <a:off x="609600" y="1219200"/>
            <a:ext cx="3238500" cy="361950"/>
            <a:chOff x="609600" y="1219200"/>
            <a:chExt cx="3238500" cy="361950"/>
          </a:xfrm>
        </p:grpSpPr>
        <p:sp>
          <p:nvSpPr>
            <p:cNvPr id="17" name="Rectangle 17"/>
            <p:cNvSpPr/>
            <p:nvPr/>
          </p:nvSpPr>
          <p:spPr>
            <a:xfrm>
              <a:off x="609600" y="1219200"/>
              <a:ext cx="3238500" cy="3619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809625" y="1352550"/>
              <a:ext cx="95250" cy="952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022604" y="1327785"/>
              <a:ext cx="28254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食品风味化学 × 生物信息学 × 机器学习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90550" y="2050732"/>
            <a:ext cx="4558284" cy="1814513"/>
            <a:chOff x="590550" y="2050732"/>
            <a:chExt cx="4558284" cy="1814513"/>
          </a:xfrm>
        </p:grpSpPr>
        <p:sp>
          <p:nvSpPr>
            <p:cNvPr id="21" name="TextBox 21"/>
            <p:cNvSpPr txBox="1"/>
            <p:nvPr/>
          </p:nvSpPr>
          <p:spPr>
            <a:xfrm>
              <a:off x="590550" y="2050732"/>
              <a:ext cx="2542032" cy="9048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机器学习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90550" y="2812732"/>
              <a:ext cx="3168015" cy="9048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筛选</a:t>
              </a:r>
              <a:r>
                <a:rPr lang="zh-CN" sz="4650" b="1" dirty="0">
                  <a:solidFill>
                    <a:srgbClr val="2FB3A8"/>
                  </a:solidFill>
                  <a:latin typeface="+mn-lt"/>
                  <a:ea typeface="+mn-ea"/>
                  <a:cs typeface="+mn-cs"/>
                </a:rPr>
                <a:t>鲜味肽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21030" y="3571875"/>
              <a:ext cx="45278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AEBFD0"/>
                  </a:solidFill>
                  <a:latin typeface="+mn-lt"/>
                  <a:ea typeface="+mn-ea"/>
                  <a:cs typeface="+mn-cs"/>
                </a:rPr>
                <a:t>从序列到呈味：AI 驱动的鲜味肽高通量虚拟筛选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09600" y="4191000"/>
            <a:ext cx="5524500" cy="990600"/>
            <a:chOff x="609600" y="4191000"/>
            <a:chExt cx="5524500" cy="990600"/>
          </a:xfrm>
        </p:grpSpPr>
        <p:grpSp>
          <p:nvGrpSpPr>
            <p:cNvPr id="29" name="Group 29"/>
            <p:cNvGrpSpPr/>
            <p:nvPr/>
          </p:nvGrpSpPr>
          <p:grpSpPr>
            <a:xfrm>
              <a:off x="609600" y="4191000"/>
              <a:ext cx="1714500" cy="990600"/>
              <a:chOff x="609600" y="4191000"/>
              <a:chExt cx="1714500" cy="990600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609600" y="4191000"/>
                <a:ext cx="1714500" cy="990600"/>
              </a:xfrm>
              <a:prstGeom prst="roundRect">
                <a:avLst>
                  <a:gd name="adj" fmla="val 15385"/>
                </a:avLst>
              </a:prstGeom>
              <a:solidFill>
                <a:srgbClr val="123A5A"/>
              </a:solidFill>
              <a:ln>
                <a:noFill/>
              </a:ln>
            </p:spPr>
          </p:sp>
          <p:sp>
            <p:nvSpPr>
              <p:cNvPr id="26" name="Rectangle 26"/>
              <p:cNvSpPr/>
              <p:nvPr/>
            </p:nvSpPr>
            <p:spPr>
              <a:xfrm>
                <a:off x="609600" y="4191000"/>
                <a:ext cx="57150" cy="990600"/>
              </a:xfrm>
              <a:prstGeom prst="roundRect">
                <a:avLst>
                  <a:gd name="adj" fmla="val 50000"/>
                </a:avLst>
              </a:prstGeom>
              <a:solidFill>
                <a:srgbClr val="2FB3A8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826008" y="4427220"/>
                <a:ext cx="83856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2FB3A8"/>
                    </a:solidFill>
                    <a:latin typeface="+mn-lt"/>
                    <a:ea typeface="+mn-ea"/>
                    <a:cs typeface="+mn-cs"/>
                  </a:rPr>
                  <a:t>&gt;90%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32485" y="4869656"/>
                <a:ext cx="106685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AEBFD0"/>
                    </a:solidFill>
                    <a:latin typeface="+mn-lt"/>
                    <a:ea typeface="+mn-ea"/>
                    <a:cs typeface="+mn-cs"/>
                  </a:rPr>
                  <a:t>模型预测准确率</a:t>
                </a: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2514600" y="4191000"/>
              <a:ext cx="1714500" cy="990600"/>
              <a:chOff x="2514600" y="4191000"/>
              <a:chExt cx="1714500" cy="990600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2514600" y="4191000"/>
                <a:ext cx="1714500" cy="990600"/>
              </a:xfrm>
              <a:prstGeom prst="roundRect">
                <a:avLst>
                  <a:gd name="adj" fmla="val 15385"/>
                </a:avLst>
              </a:prstGeom>
              <a:solidFill>
                <a:srgbClr val="123A5A"/>
              </a:solidFill>
              <a:ln>
                <a:noFill/>
              </a:ln>
            </p:spPr>
          </p:sp>
          <p:sp>
            <p:nvSpPr>
              <p:cNvPr id="31" name="Rectangle 31"/>
              <p:cNvSpPr/>
              <p:nvPr/>
            </p:nvSpPr>
            <p:spPr>
              <a:xfrm>
                <a:off x="2514600" y="4191000"/>
                <a:ext cx="57150" cy="990600"/>
              </a:xfrm>
              <a:prstGeom prst="roundRect">
                <a:avLst>
                  <a:gd name="adj" fmla="val 50000"/>
                </a:avLst>
              </a:prstGeom>
              <a:solidFill>
                <a:srgbClr val="F2994A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2731008" y="4427220"/>
                <a:ext cx="993648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F2994A"/>
                    </a:solidFill>
                    <a:latin typeface="+mn-lt"/>
                    <a:ea typeface="+mn-ea"/>
                    <a:cs typeface="+mn-cs"/>
                  </a:rPr>
                  <a:t>毫秒级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2737485" y="4869656"/>
                <a:ext cx="106685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AEBFD0"/>
                    </a:solidFill>
                    <a:latin typeface="+mn-lt"/>
                    <a:ea typeface="+mn-ea"/>
                    <a:cs typeface="+mn-cs"/>
                  </a:rPr>
                  <a:t>单条肽打分速度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4419600" y="4191000"/>
              <a:ext cx="1714500" cy="990600"/>
              <a:chOff x="4419600" y="4191000"/>
              <a:chExt cx="1714500" cy="990600"/>
            </a:xfrm>
          </p:grpSpPr>
          <p:sp>
            <p:nvSpPr>
              <p:cNvPr id="35" name="Rectangle 35"/>
              <p:cNvSpPr/>
              <p:nvPr/>
            </p:nvSpPr>
            <p:spPr>
              <a:xfrm>
                <a:off x="4419600" y="4191000"/>
                <a:ext cx="1714500" cy="990600"/>
              </a:xfrm>
              <a:prstGeom prst="roundRect">
                <a:avLst>
                  <a:gd name="adj" fmla="val 15385"/>
                </a:avLst>
              </a:prstGeom>
              <a:solidFill>
                <a:srgbClr val="123A5A"/>
              </a:solidFill>
              <a:ln>
                <a:noFill/>
              </a:ln>
            </p:spPr>
          </p:sp>
          <p:sp>
            <p:nvSpPr>
              <p:cNvPr id="36" name="Rectangle 36"/>
              <p:cNvSpPr/>
              <p:nvPr/>
            </p:nvSpPr>
            <p:spPr>
              <a:xfrm>
                <a:off x="4419600" y="4191000"/>
                <a:ext cx="57150" cy="990600"/>
              </a:xfrm>
              <a:prstGeom prst="roundRect">
                <a:avLst>
                  <a:gd name="adj" fmla="val 50000"/>
                </a:avLst>
              </a:prstGeom>
              <a:solidFill>
                <a:srgbClr val="8FB8DE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4636008" y="4427220"/>
                <a:ext cx="670560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8FB8DE"/>
                    </a:solidFill>
                    <a:latin typeface="+mn-lt"/>
                    <a:ea typeface="+mn-ea"/>
                    <a:cs typeface="+mn-cs"/>
                  </a:rPr>
                  <a:t>万级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4642485" y="4869656"/>
                <a:ext cx="106685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AEBFD0"/>
                    </a:solidFill>
                    <a:latin typeface="+mn-lt"/>
                    <a:ea typeface="+mn-ea"/>
                    <a:cs typeface="+mn-cs"/>
                  </a:rPr>
                  <a:t>候选肽一次筛完</a:t>
                </a:r>
              </a:p>
            </p:txBody>
          </p:sp>
        </p:grpSp>
      </p:grpSp>
      <p:grpSp>
        <p:nvGrpSpPr>
          <p:cNvPr id="44" name="Group 44"/>
          <p:cNvGrpSpPr/>
          <p:nvPr/>
        </p:nvGrpSpPr>
        <p:grpSpPr>
          <a:xfrm>
            <a:off x="603504" y="6000750"/>
            <a:ext cx="5307330" cy="390906"/>
            <a:chOff x="603504" y="6000750"/>
            <a:chExt cx="5307330" cy="390906"/>
          </a:xfrm>
        </p:grpSpPr>
        <p:sp>
          <p:nvSpPr>
            <p:cNvPr id="41" name="Line 41"/>
            <p:cNvSpPr/>
            <p:nvPr/>
          </p:nvSpPr>
          <p:spPr>
            <a:xfrm>
              <a:off x="609600" y="6000750"/>
              <a:ext cx="5295900" cy="9525"/>
            </a:xfrm>
            <a:custGeom>
              <a:avLst/>
              <a:gdLst/>
              <a:ahLst/>
              <a:cxnLst/>
              <a:rect l="l" t="t" r="r" b="b"/>
              <a:pathLst>
                <a:path w="5295900" h="9525">
                  <a:moveTo>
                    <a:pt x="0" y="0"/>
                  </a:moveTo>
                  <a:lnTo>
                    <a:pt x="5295900" y="0"/>
                  </a:lnTo>
                </a:path>
              </a:pathLst>
            </a:custGeom>
            <a:noFill/>
            <a:ln w="14288">
              <a:solidFill>
                <a:srgbClr val="244A6E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03504" y="6156960"/>
              <a:ext cx="151455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AEBFD0"/>
                  </a:solidFill>
                  <a:latin typeface="+mn-lt"/>
                  <a:ea typeface="+mn-ea"/>
                  <a:cs typeface="+mn-cs"/>
                </a:rPr>
                <a:t>汇报人 / 单位 / 日期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052060" y="617315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5E7A94"/>
                  </a:solidFill>
                  <a:latin typeface="+mn-lt"/>
                  <a:ea typeface="+mn-ea"/>
                  <a:cs typeface="+mn-cs"/>
                </a:rPr>
                <a:t>学术组会汇报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8170" y="515302"/>
            <a:ext cx="4566285" cy="843915"/>
            <a:chOff x="598170" y="515302"/>
            <a:chExt cx="4566285" cy="843915"/>
          </a:xfrm>
        </p:grpSpPr>
        <p:sp>
          <p:nvSpPr>
            <p:cNvPr id="2" name="TextBox 2"/>
            <p:cNvSpPr txBox="1"/>
            <p:nvPr/>
          </p:nvSpPr>
          <p:spPr>
            <a:xfrm>
              <a:off x="604266" y="515302"/>
              <a:ext cx="13239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22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 · 背景与问题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609600" y="762000"/>
              <a:ext cx="457200" cy="47625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98170" y="919162"/>
              <a:ext cx="456628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鲜味肽：第五种味觉背后的小分子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09600" y="1485900"/>
            <a:ext cx="6781800" cy="1428750"/>
            <a:chOff x="609600" y="1485900"/>
            <a:chExt cx="6781800" cy="1428750"/>
          </a:xfrm>
        </p:grpSpPr>
        <p:sp>
          <p:nvSpPr>
            <p:cNvPr id="6" name="Rectangle 6"/>
            <p:cNvSpPr/>
            <p:nvPr/>
          </p:nvSpPr>
          <p:spPr>
            <a:xfrm>
              <a:off x="647700" y="1524000"/>
              <a:ext cx="6743700" cy="1390650"/>
            </a:xfrm>
            <a:prstGeom prst="roundRect">
              <a:avLst>
                <a:gd name="adj" fmla="val 10959"/>
              </a:avLst>
            </a:prstGeom>
            <a:solidFill>
              <a:srgbClr val="E3E9ED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485900"/>
              <a:ext cx="6743700" cy="1390650"/>
            </a:xfrm>
            <a:prstGeom prst="roundRect">
              <a:avLst>
                <a:gd name="adj" fmla="val 10959"/>
              </a:avLst>
            </a:prstGeom>
            <a:solidFill>
              <a:srgbClr val="FFFFFF"/>
            </a:solidFill>
            <a:ln w="14288">
              <a:solidFill>
                <a:srgbClr val="E3E9ED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609600" y="1485900"/>
              <a:ext cx="76200" cy="13906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07161" y="1713071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什么是鲜味肽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07923" y="2072164"/>
              <a:ext cx="51622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鲜味（umami）是国际公认的第五种基本味觉，主要由 T1R1/T1R3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07923" y="2338864"/>
              <a:ext cx="50100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异源二聚体受体感知；鲜味肽是能结合该受体、赋予食品鲜美滋味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07923" y="2605564"/>
              <a:ext cx="387915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的短肽，多为 2–8 肽，分子量通常小于 </a:t>
              </a:r>
              <a:r>
                <a:rPr lang="zh-CN" sz="12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3000 Da</a:t>
              </a: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7620000" y="1485900"/>
            <a:ext cx="4000500" cy="4267200"/>
            <a:chOff x="7620000" y="1485900"/>
            <a:chExt cx="4000500" cy="4267200"/>
          </a:xfrm>
        </p:grpSpPr>
        <p:sp>
          <p:nvSpPr>
            <p:cNvPr id="14" name="Rectangle 14"/>
            <p:cNvSpPr/>
            <p:nvPr/>
          </p:nvSpPr>
          <p:spPr>
            <a:xfrm>
              <a:off x="7658100" y="1524000"/>
              <a:ext cx="3962400" cy="4229100"/>
            </a:xfrm>
            <a:prstGeom prst="roundRect">
              <a:avLst>
                <a:gd name="adj" fmla="val 3846"/>
              </a:avLst>
            </a:prstGeom>
            <a:solidFill>
              <a:srgbClr val="E3E9ED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620000" y="1485900"/>
              <a:ext cx="3962400" cy="4229100"/>
            </a:xfrm>
            <a:prstGeom prst="roundRect">
              <a:avLst>
                <a:gd name="adj" fmla="val 3846"/>
              </a:avLst>
            </a:prstGeom>
            <a:solidFill>
              <a:srgbClr val="FFFFFF"/>
            </a:solidFill>
            <a:ln w="14288">
              <a:solidFill>
                <a:srgbClr val="DDE6EC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848600" y="1714500"/>
              <a:ext cx="1524000" cy="247650"/>
            </a:xfrm>
            <a:prstGeom prst="roundRect">
              <a:avLst>
                <a:gd name="adj" fmla="val 50000"/>
              </a:avLst>
            </a:prstGeom>
            <a:solidFill>
              <a:srgbClr val="DFF0EE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033766" y="177260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肽链结合受体示意</a:t>
              </a:r>
            </a:p>
          </p:txBody>
        </p:sp>
        <p:grpSp>
          <p:nvGrpSpPr>
            <p:cNvPr id="20" name="Group 20"/>
            <p:cNvGrpSpPr/>
            <p:nvPr/>
          </p:nvGrpSpPr>
          <p:grpSpPr>
            <a:xfrm>
              <a:off x="8172450" y="2590800"/>
              <a:ext cx="2857500" cy="2400300"/>
              <a:chOff x="8172450" y="2590800"/>
              <a:chExt cx="2857500" cy="24003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8172450" y="2590800"/>
                <a:ext cx="781050" cy="2400300"/>
              </a:xfrm>
              <a:custGeom>
                <a:avLst/>
                <a:gdLst/>
                <a:ahLst/>
                <a:cxnLst/>
                <a:rect l="l" t="t" r="r" b="b"/>
                <a:pathLst>
                  <a:path w="781050" h="2400300">
                    <a:moveTo>
                      <a:pt x="781050" y="2400300"/>
                    </a:moveTo>
                    <a:lnTo>
                      <a:pt x="781050" y="895350"/>
                    </a:lnTo>
                    <a:cubicBezTo>
                      <a:pt x="781050" y="628650"/>
                      <a:pt x="666750" y="425450"/>
                      <a:pt x="438150" y="285750"/>
                    </a:cubicBezTo>
                    <a:lnTo>
                      <a:pt x="0" y="0"/>
                    </a:lnTo>
                  </a:path>
                </a:pathLst>
              </a:custGeom>
              <a:noFill/>
              <a:ln w="104775" cap="rnd">
                <a:solidFill>
                  <a:schemeClr val="accent2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10248900" y="2590800"/>
                <a:ext cx="781050" cy="2400300"/>
              </a:xfrm>
              <a:custGeom>
                <a:avLst/>
                <a:gdLst/>
                <a:ahLst/>
                <a:cxnLst/>
                <a:rect l="l" t="t" r="r" b="b"/>
                <a:pathLst>
                  <a:path w="781050" h="2400300">
                    <a:moveTo>
                      <a:pt x="0" y="2400300"/>
                    </a:moveTo>
                    <a:lnTo>
                      <a:pt x="0" y="895350"/>
                    </a:lnTo>
                    <a:cubicBezTo>
                      <a:pt x="0" y="628650"/>
                      <a:pt x="114300" y="425450"/>
                      <a:pt x="342900" y="285750"/>
                    </a:cubicBezTo>
                    <a:lnTo>
                      <a:pt x="781050" y="0"/>
                    </a:lnTo>
                  </a:path>
                </a:pathLst>
              </a:custGeom>
              <a:noFill/>
              <a:ln w="104775" cap="rnd">
                <a:solidFill>
                  <a:schemeClr val="accent2"/>
                </a:solidFill>
              </a:ln>
            </p:spPr>
          </p:sp>
        </p:grpSp>
        <p:sp>
          <p:nvSpPr>
            <p:cNvPr id="21" name="Ellipse 21"/>
            <p:cNvSpPr/>
            <p:nvPr/>
          </p:nvSpPr>
          <p:spPr>
            <a:xfrm>
              <a:off x="8810625" y="5000625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10106025" y="5000625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360560" y="5243751"/>
              <a:ext cx="2481280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1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T1R1 / T1R3 异源二聚体（C 类 GPCR）</a:t>
              </a:r>
            </a:p>
          </p:txBody>
        </p:sp>
        <p:grpSp>
          <p:nvGrpSpPr>
            <p:cNvPr id="33" name="Group 33"/>
            <p:cNvGrpSpPr/>
            <p:nvPr/>
          </p:nvGrpSpPr>
          <p:grpSpPr>
            <a:xfrm>
              <a:off x="7677150" y="2076450"/>
              <a:ext cx="3028950" cy="1028700"/>
              <a:chOff x="7677150" y="2076450"/>
              <a:chExt cx="3028950" cy="1028700"/>
            </a:xfrm>
          </p:grpSpPr>
          <p:sp>
            <p:nvSpPr>
              <p:cNvPr id="24" name="Line 24"/>
              <p:cNvSpPr/>
              <p:nvPr/>
            </p:nvSpPr>
            <p:spPr>
              <a:xfrm>
                <a:off x="7962900" y="2324100"/>
                <a:ext cx="342900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209550">
                    <a:moveTo>
                      <a:pt x="0" y="0"/>
                    </a:moveTo>
                    <a:lnTo>
                      <a:pt x="342900" y="209550"/>
                    </a:lnTo>
                  </a:path>
                </a:pathLst>
              </a:custGeom>
              <a:noFill/>
              <a:ln w="47625">
                <a:solidFill>
                  <a:srgbClr val="C7D2DB"/>
                </a:solidFill>
              </a:ln>
            </p:spPr>
          </p:sp>
          <p:sp>
            <p:nvSpPr>
              <p:cNvPr id="25" name="Line 25"/>
              <p:cNvSpPr/>
              <p:nvPr/>
            </p:nvSpPr>
            <p:spPr>
              <a:xfrm>
                <a:off x="8629650" y="2705100"/>
                <a:ext cx="3810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171450">
                    <a:moveTo>
                      <a:pt x="0" y="0"/>
                    </a:moveTo>
                    <a:lnTo>
                      <a:pt x="381000" y="171450"/>
                    </a:lnTo>
                  </a:path>
                </a:pathLst>
              </a:custGeom>
              <a:noFill/>
              <a:ln w="47625">
                <a:solidFill>
                  <a:srgbClr val="C7D2DB"/>
                </a:solidFill>
              </a:ln>
            </p:spPr>
          </p:sp>
          <p:sp>
            <p:nvSpPr>
              <p:cNvPr id="26" name="Line 26"/>
              <p:cNvSpPr/>
              <p:nvPr/>
            </p:nvSpPr>
            <p:spPr>
              <a:xfrm>
                <a:off x="9353550" y="2857500"/>
                <a:ext cx="36195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361950" h="133350">
                    <a:moveTo>
                      <a:pt x="0" y="133350"/>
                    </a:moveTo>
                    <a:lnTo>
                      <a:pt x="361950" y="0"/>
                    </a:lnTo>
                  </a:path>
                </a:pathLst>
              </a:custGeom>
              <a:noFill/>
              <a:ln w="47625">
                <a:solidFill>
                  <a:srgbClr val="C7D2DB"/>
                </a:solidFill>
              </a:ln>
            </p:spPr>
          </p:sp>
          <p:sp>
            <p:nvSpPr>
              <p:cNvPr id="27" name="Line 27"/>
              <p:cNvSpPr/>
              <p:nvPr/>
            </p:nvSpPr>
            <p:spPr>
              <a:xfrm>
                <a:off x="10058400" y="2552700"/>
                <a:ext cx="3429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190500">
                    <a:moveTo>
                      <a:pt x="0" y="190500"/>
                    </a:moveTo>
                    <a:lnTo>
                      <a:pt x="342900" y="0"/>
                    </a:lnTo>
                  </a:path>
                </a:pathLst>
              </a:custGeom>
              <a:noFill/>
              <a:ln w="47625">
                <a:solidFill>
                  <a:srgbClr val="C7D2DB"/>
                </a:solidFill>
              </a:ln>
            </p:spPr>
          </p:sp>
          <p:sp>
            <p:nvSpPr>
              <p:cNvPr id="28" name="Ellipse 28"/>
              <p:cNvSpPr/>
              <p:nvPr/>
            </p:nvSpPr>
            <p:spPr>
              <a:xfrm>
                <a:off x="7677150" y="2076450"/>
                <a:ext cx="342900" cy="342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29" name="Ellipse 29"/>
              <p:cNvSpPr/>
              <p:nvPr/>
            </p:nvSpPr>
            <p:spPr>
              <a:xfrm>
                <a:off x="8286750" y="2438400"/>
                <a:ext cx="342900" cy="342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0" name="Ellipse 30"/>
              <p:cNvSpPr/>
              <p:nvPr/>
            </p:nvSpPr>
            <p:spPr>
              <a:xfrm>
                <a:off x="9010650" y="2762250"/>
                <a:ext cx="342900" cy="342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31" name="Ellipse 31"/>
              <p:cNvSpPr/>
              <p:nvPr/>
            </p:nvSpPr>
            <p:spPr>
              <a:xfrm>
                <a:off x="9715500" y="2628900"/>
                <a:ext cx="342900" cy="3429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2" name="Ellipse 32"/>
              <p:cNvSpPr/>
              <p:nvPr/>
            </p:nvSpPr>
            <p:spPr>
              <a:xfrm>
                <a:off x="10363200" y="2305050"/>
                <a:ext cx="342900" cy="342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34" name="Line 34"/>
            <p:cNvSpPr/>
            <p:nvPr/>
          </p:nvSpPr>
          <p:spPr>
            <a:xfrm>
              <a:off x="9010650" y="3105150"/>
              <a:ext cx="171450" cy="285750"/>
            </a:xfrm>
            <a:custGeom>
              <a:avLst/>
              <a:gdLst/>
              <a:ahLst/>
              <a:cxnLst/>
              <a:rect l="l" t="t" r="r" b="b"/>
              <a:pathLst>
                <a:path w="171450" h="285750">
                  <a:moveTo>
                    <a:pt x="171450" y="0"/>
                  </a:moveTo>
                  <a:lnTo>
                    <a:pt x="0" y="285750"/>
                  </a:lnTo>
                </a:path>
              </a:pathLst>
            </a:custGeom>
            <a:noFill/>
            <a:ln w="23812">
              <a:solidFill>
                <a:schemeClr val="accent3"/>
              </a:solidFill>
              <a:custDash>
                <a:ds d="200000" sp="160000"/>
              </a:custDash>
            </a:ln>
          </p:spPr>
        </p:sp>
        <p:sp>
          <p:nvSpPr>
            <p:cNvPr id="35" name="Line 35"/>
            <p:cNvSpPr/>
            <p:nvPr/>
          </p:nvSpPr>
          <p:spPr>
            <a:xfrm>
              <a:off x="9886950" y="2971800"/>
              <a:ext cx="304800" cy="381000"/>
            </a:xfrm>
            <a:custGeom>
              <a:avLst/>
              <a:gdLst/>
              <a:ahLst/>
              <a:cxnLst/>
              <a:rect l="l" t="t" r="r" b="b"/>
              <a:pathLst>
                <a:path w="304800" h="381000">
                  <a:moveTo>
                    <a:pt x="0" y="0"/>
                  </a:moveTo>
                  <a:lnTo>
                    <a:pt x="304800" y="381000"/>
                  </a:lnTo>
                </a:path>
              </a:pathLst>
            </a:custGeom>
            <a:noFill/>
            <a:ln w="23812">
              <a:solidFill>
                <a:schemeClr val="accent3"/>
              </a:solidFill>
              <a:custDash>
                <a:ds d="200000" sp="160000"/>
              </a:custDash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992678" y="3476149"/>
              <a:ext cx="12170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氢键 / 盐桥相互作用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7848600" y="3848100"/>
              <a:ext cx="3505200" cy="9525"/>
            </a:xfrm>
            <a:custGeom>
              <a:avLst/>
              <a:gdLst/>
              <a:ahLst/>
              <a:cxnLst/>
              <a:rect l="l" t="t" r="r" b="b"/>
              <a:pathLst>
                <a:path w="3505200" h="9525">
                  <a:moveTo>
                    <a:pt x="0" y="0"/>
                  </a:moveTo>
                  <a:lnTo>
                    <a:pt x="3505200" y="0"/>
                  </a:lnTo>
                </a:path>
              </a:pathLst>
            </a:custGeom>
            <a:noFill/>
            <a:ln w="14288">
              <a:solidFill>
                <a:srgbClr val="EEF2F5"/>
              </a:solidFill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7915275" y="4086225"/>
              <a:ext cx="2098777" cy="825436"/>
              <a:chOff x="7915275" y="4086225"/>
              <a:chExt cx="2098777" cy="825436"/>
            </a:xfrm>
          </p:grpSpPr>
          <p:sp>
            <p:nvSpPr>
              <p:cNvPr id="38" name="Ellipse 38"/>
              <p:cNvSpPr/>
              <p:nvPr/>
            </p:nvSpPr>
            <p:spPr>
              <a:xfrm>
                <a:off x="7915275" y="4086225"/>
                <a:ext cx="133350" cy="13335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8129016" y="4096702"/>
                <a:ext cx="188503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酸性残基 D / E（关键呈鲜）</a:t>
                </a:r>
              </a:p>
            </p:txBody>
          </p:sp>
          <p:sp>
            <p:nvSpPr>
              <p:cNvPr id="40" name="Ellipse 40"/>
              <p:cNvSpPr/>
              <p:nvPr/>
            </p:nvSpPr>
            <p:spPr>
              <a:xfrm>
                <a:off x="7915275" y="4391025"/>
                <a:ext cx="133350" cy="1333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8129016" y="4401502"/>
                <a:ext cx="100012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其他氨基酸残基</a:t>
                </a:r>
              </a:p>
            </p:txBody>
          </p:sp>
          <p:sp>
            <p:nvSpPr>
              <p:cNvPr id="42" name="Ellipse 42"/>
              <p:cNvSpPr/>
              <p:nvPr/>
            </p:nvSpPr>
            <p:spPr>
              <a:xfrm>
                <a:off x="7915275" y="4695825"/>
                <a:ext cx="133350" cy="1333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8129016" y="4706302"/>
                <a:ext cx="124282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A / S / G 协同残基</a:t>
                </a:r>
              </a:p>
            </p:txBody>
          </p:sp>
        </p:grpSp>
        <p:sp>
          <p:nvSpPr>
            <p:cNvPr id="45" name="TextBox 45"/>
            <p:cNvSpPr txBox="1"/>
            <p:nvPr/>
          </p:nvSpPr>
          <p:spPr>
            <a:xfrm>
              <a:off x="7843647" y="5190649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A3B2BF"/>
                  </a:solidFill>
                  <a:latin typeface="+mn-lt"/>
                  <a:ea typeface="+mn-ea"/>
                  <a:cs typeface="+mn-cs"/>
                </a:rPr>
                <a:t>示意图，非真实构象</a:t>
              </a:r>
            </a:p>
          </p:txBody>
        </p:sp>
      </p:grpSp>
      <p:grpSp>
        <p:nvGrpSpPr>
          <p:cNvPr id="97" name="Group 97"/>
          <p:cNvGrpSpPr/>
          <p:nvPr/>
        </p:nvGrpSpPr>
        <p:grpSpPr>
          <a:xfrm>
            <a:off x="609600" y="3067050"/>
            <a:ext cx="6781800" cy="2686050"/>
            <a:chOff x="609600" y="3067050"/>
            <a:chExt cx="6781800" cy="2686050"/>
          </a:xfrm>
        </p:grpSpPr>
        <p:grpSp>
          <p:nvGrpSpPr>
            <p:cNvPr id="65" name="Group 65"/>
            <p:cNvGrpSpPr/>
            <p:nvPr/>
          </p:nvGrpSpPr>
          <p:grpSpPr>
            <a:xfrm>
              <a:off x="609600" y="3067050"/>
              <a:ext cx="2560982" cy="2686050"/>
              <a:chOff x="609600" y="3067050"/>
              <a:chExt cx="2560982" cy="2686050"/>
            </a:xfrm>
          </p:grpSpPr>
          <p:sp>
            <p:nvSpPr>
              <p:cNvPr id="47" name="Rectangle 47"/>
              <p:cNvSpPr/>
              <p:nvPr/>
            </p:nvSpPr>
            <p:spPr>
              <a:xfrm>
                <a:off x="647700" y="3105150"/>
                <a:ext cx="2133600" cy="2647950"/>
              </a:xfrm>
              <a:prstGeom prst="roundRect">
                <a:avLst>
                  <a:gd name="adj" fmla="val 7143"/>
                </a:avLst>
              </a:prstGeom>
              <a:solidFill>
                <a:srgbClr val="E3E9ED"/>
              </a:solidFill>
              <a:ln>
                <a:noFill/>
              </a:ln>
            </p:spPr>
          </p:sp>
          <p:sp>
            <p:nvSpPr>
              <p:cNvPr id="48" name="Rectangle 48"/>
              <p:cNvSpPr/>
              <p:nvPr/>
            </p:nvSpPr>
            <p:spPr>
              <a:xfrm>
                <a:off x="609600" y="3067050"/>
                <a:ext cx="2133600" cy="2647950"/>
              </a:xfrm>
              <a:prstGeom prst="roundRect">
                <a:avLst>
                  <a:gd name="adj" fmla="val 7143"/>
                </a:avLst>
              </a:prstGeom>
              <a:solidFill>
                <a:srgbClr val="FFFFFF"/>
              </a:solidFill>
              <a:ln w="14288">
                <a:solidFill>
                  <a:srgbClr val="E3E9ED"/>
                </a:solidFill>
              </a:ln>
            </p:spPr>
          </p:sp>
          <p:sp>
            <p:nvSpPr>
              <p:cNvPr id="49" name="Ellipse 49"/>
              <p:cNvSpPr/>
              <p:nvPr/>
            </p:nvSpPr>
            <p:spPr>
              <a:xfrm>
                <a:off x="809625" y="3305175"/>
                <a:ext cx="476250" cy="476250"/>
              </a:xfrm>
              <a:prstGeom prst="ellipse">
                <a:avLst/>
              </a:prstGeom>
              <a:solidFill>
                <a:srgbClr val="DFF0EE"/>
              </a:solidFill>
              <a:ln>
                <a:noFill/>
              </a:ln>
            </p:spPr>
          </p:sp>
          <p:grpSp>
            <p:nvGrpSpPr>
              <p:cNvPr id="57" name="Group 57"/>
              <p:cNvGrpSpPr/>
              <p:nvPr/>
            </p:nvGrpSpPr>
            <p:grpSpPr>
              <a:xfrm>
                <a:off x="926306" y="3412229"/>
                <a:ext cx="252413" cy="262040"/>
                <a:chOff x="926306" y="3412229"/>
                <a:chExt cx="252413" cy="262040"/>
              </a:xfrm>
            </p:grpSpPr>
            <p:sp>
              <p:nvSpPr>
                <p:cNvPr id="50" name="Freeform 50"/>
                <p:cNvSpPr/>
                <p:nvPr/>
              </p:nvSpPr>
              <p:spPr>
                <a:xfrm>
                  <a:off x="1007269" y="3502819"/>
                  <a:ext cx="80963" cy="809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963" h="80963">
                      <a:moveTo>
                        <a:pt x="0" y="40481"/>
                      </a:moveTo>
                      <a:cubicBezTo>
                        <a:pt x="0" y="62839"/>
                        <a:pt x="18124" y="80963"/>
                        <a:pt x="40481" y="80963"/>
                      </a:cubicBezTo>
                      <a:cubicBezTo>
                        <a:pt x="62839" y="80963"/>
                        <a:pt x="80963" y="62839"/>
                        <a:pt x="80963" y="40481"/>
                      </a:cubicBezTo>
                      <a:cubicBezTo>
                        <a:pt x="80963" y="18124"/>
                        <a:pt x="62839" y="0"/>
                        <a:pt x="40481" y="0"/>
                      </a:cubicBezTo>
                      <a:cubicBezTo>
                        <a:pt x="18124" y="0"/>
                        <a:pt x="0" y="18124"/>
                        <a:pt x="0" y="40481"/>
                      </a:cubicBezTo>
                    </a:path>
                  </a:pathLst>
                </a:custGeom>
                <a:noFill/>
                <a:ln w="26988">
                  <a:solidFill>
                    <a:schemeClr val="accent2"/>
                  </a:solidFill>
                </a:ln>
              </p:spPr>
            </p:sp>
            <p:sp>
              <p:nvSpPr>
                <p:cNvPr id="51" name="Freeform 51"/>
                <p:cNvSpPr/>
                <p:nvPr/>
              </p:nvSpPr>
              <p:spPr>
                <a:xfrm>
                  <a:off x="1047750" y="3664744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35"/>
                      </a:lnTo>
                    </a:path>
                  </a:pathLst>
                </a:custGeom>
                <a:noFill/>
                <a:ln w="26988">
                  <a:solidFill>
                    <a:schemeClr val="accent2"/>
                  </a:solidFill>
                </a:ln>
              </p:spPr>
            </p:sp>
            <p:sp>
              <p:nvSpPr>
                <p:cNvPr id="52" name="Freeform 52"/>
                <p:cNvSpPr/>
                <p:nvPr/>
              </p:nvSpPr>
              <p:spPr>
                <a:xfrm>
                  <a:off x="926306" y="3502819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35"/>
                      </a:lnTo>
                    </a:path>
                  </a:pathLst>
                </a:custGeom>
                <a:noFill/>
                <a:ln w="26988">
                  <a:solidFill>
                    <a:schemeClr val="accent2"/>
                  </a:solidFill>
                </a:ln>
              </p:spPr>
            </p:sp>
            <p:sp>
              <p:nvSpPr>
                <p:cNvPr id="53" name="Freeform 53"/>
                <p:cNvSpPr/>
                <p:nvPr/>
              </p:nvSpPr>
              <p:spPr>
                <a:xfrm>
                  <a:off x="1169194" y="3502819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35"/>
                      </a:lnTo>
                    </a:path>
                  </a:pathLst>
                </a:custGeom>
                <a:noFill/>
                <a:ln w="26988">
                  <a:solidFill>
                    <a:schemeClr val="accent2"/>
                  </a:solidFill>
                </a:ln>
              </p:spPr>
            </p:sp>
            <p:sp>
              <p:nvSpPr>
                <p:cNvPr id="54" name="Freeform 54"/>
                <p:cNvSpPr/>
                <p:nvPr/>
              </p:nvSpPr>
              <p:spPr>
                <a:xfrm>
                  <a:off x="926306" y="3556794"/>
                  <a:ext cx="67469" cy="958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469" h="95806">
                      <a:moveTo>
                        <a:pt x="67469" y="95806"/>
                      </a:moveTo>
                      <a:cubicBezTo>
                        <a:pt x="30041" y="77550"/>
                        <a:pt x="4576" y="41391"/>
                        <a:pt x="0" y="0"/>
                      </a:cubicBezTo>
                    </a:path>
                  </a:pathLst>
                </a:custGeom>
                <a:noFill/>
                <a:ln w="26988">
                  <a:solidFill>
                    <a:schemeClr val="accent2"/>
                  </a:solidFill>
                </a:ln>
              </p:spPr>
            </p:sp>
            <p:sp>
              <p:nvSpPr>
                <p:cNvPr id="55" name="Freeform 55"/>
                <p:cNvSpPr/>
                <p:nvPr/>
              </p:nvSpPr>
              <p:spPr>
                <a:xfrm>
                  <a:off x="1101726" y="3556794"/>
                  <a:ext cx="67469" cy="958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469" h="95806">
                      <a:moveTo>
                        <a:pt x="0" y="95806"/>
                      </a:moveTo>
                      <a:cubicBezTo>
                        <a:pt x="37428" y="77550"/>
                        <a:pt x="62892" y="41391"/>
                        <a:pt x="67469" y="0"/>
                      </a:cubicBezTo>
                    </a:path>
                  </a:pathLst>
                </a:custGeom>
                <a:noFill/>
                <a:ln w="26988">
                  <a:solidFill>
                    <a:schemeClr val="accent2"/>
                  </a:solidFill>
                </a:ln>
              </p:spPr>
            </p:sp>
            <p:sp>
              <p:nvSpPr>
                <p:cNvPr id="56" name="Freeform 56"/>
                <p:cNvSpPr/>
                <p:nvPr/>
              </p:nvSpPr>
              <p:spPr>
                <a:xfrm>
                  <a:off x="969486" y="3412229"/>
                  <a:ext cx="153829" cy="366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829" h="36615">
                      <a:moveTo>
                        <a:pt x="0" y="36615"/>
                      </a:moveTo>
                      <a:cubicBezTo>
                        <a:pt x="44740" y="0"/>
                        <a:pt x="109089" y="0"/>
                        <a:pt x="153829" y="36615"/>
                      </a:cubicBezTo>
                    </a:path>
                  </a:pathLst>
                </a:custGeom>
                <a:noFill/>
                <a:ln w="26988">
                  <a:solidFill>
                    <a:schemeClr val="accent2"/>
                  </a:solidFill>
                </a:ln>
              </p:spPr>
            </p:sp>
          </p:grpSp>
          <p:sp>
            <p:nvSpPr>
              <p:cNvPr id="58" name="TextBox 58"/>
              <p:cNvSpPr txBox="1"/>
              <p:nvPr/>
            </p:nvSpPr>
            <p:spPr>
              <a:xfrm>
                <a:off x="831342" y="3950018"/>
                <a:ext cx="92240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序列有规律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832294" y="4275058"/>
                <a:ext cx="1417244" cy="2273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6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普遍富含酸性氨基酸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832294" y="4503658"/>
                <a:ext cx="2338288" cy="2273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6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D（天冬氨酸）、E（谷氨酸）；</a:t>
                </a: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832294" y="4732258"/>
                <a:ext cx="1818543" cy="2273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6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A、S、G 等可协同呈鲜。</a:t>
                </a:r>
              </a:p>
            </p:txBody>
          </p:sp>
          <p:sp>
            <p:nvSpPr>
              <p:cNvPr id="62" name="Line 62"/>
              <p:cNvSpPr/>
              <p:nvPr/>
            </p:nvSpPr>
            <p:spPr>
              <a:xfrm>
                <a:off x="838200" y="5067300"/>
                <a:ext cx="1676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76400" h="9525">
                    <a:moveTo>
                      <a:pt x="0" y="0"/>
                    </a:moveTo>
                    <a:lnTo>
                      <a:pt x="1676400" y="0"/>
                    </a:lnTo>
                  </a:path>
                </a:pathLst>
              </a:custGeom>
              <a:noFill/>
              <a:ln w="14288">
                <a:solidFill>
                  <a:srgbClr val="EEF2F5"/>
                </a:solidFill>
              </a:ln>
            </p:spPr>
          </p:sp>
          <p:sp>
            <p:nvSpPr>
              <p:cNvPr id="63" name="TextBox 63"/>
              <p:cNvSpPr txBox="1"/>
              <p:nvPr/>
            </p:nvSpPr>
            <p:spPr>
              <a:xfrm>
                <a:off x="832866" y="5201602"/>
                <a:ext cx="149485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2025 年可解释深度学习</a:t>
                </a: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832866" y="5411152"/>
                <a:ext cx="191490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识别 D/E/Q/K/R 为关键残基</a:t>
                </a:r>
              </a:p>
            </p:txBody>
          </p:sp>
        </p:grpSp>
        <p:grpSp>
          <p:nvGrpSpPr>
            <p:cNvPr id="81" name="Group 81"/>
            <p:cNvGrpSpPr/>
            <p:nvPr/>
          </p:nvGrpSpPr>
          <p:grpSpPr>
            <a:xfrm>
              <a:off x="2914650" y="3067050"/>
              <a:ext cx="2466746" cy="2686050"/>
              <a:chOff x="2914650" y="3067050"/>
              <a:chExt cx="2466746" cy="2686050"/>
            </a:xfrm>
          </p:grpSpPr>
          <p:sp>
            <p:nvSpPr>
              <p:cNvPr id="66" name="Rectangle 66"/>
              <p:cNvSpPr/>
              <p:nvPr/>
            </p:nvSpPr>
            <p:spPr>
              <a:xfrm>
                <a:off x="2952750" y="3105150"/>
                <a:ext cx="2133600" cy="2647950"/>
              </a:xfrm>
              <a:prstGeom prst="roundRect">
                <a:avLst>
                  <a:gd name="adj" fmla="val 7143"/>
                </a:avLst>
              </a:prstGeom>
              <a:solidFill>
                <a:srgbClr val="E3E9ED"/>
              </a:solidFill>
              <a:ln>
                <a:noFill/>
              </a:ln>
            </p:spPr>
          </p:sp>
          <p:sp>
            <p:nvSpPr>
              <p:cNvPr id="67" name="Rectangle 67"/>
              <p:cNvSpPr/>
              <p:nvPr/>
            </p:nvSpPr>
            <p:spPr>
              <a:xfrm>
                <a:off x="2914650" y="3067050"/>
                <a:ext cx="2133600" cy="2647950"/>
              </a:xfrm>
              <a:prstGeom prst="roundRect">
                <a:avLst>
                  <a:gd name="adj" fmla="val 7143"/>
                </a:avLst>
              </a:prstGeom>
              <a:solidFill>
                <a:srgbClr val="FFFFFF"/>
              </a:solidFill>
              <a:ln w="14288">
                <a:solidFill>
                  <a:srgbClr val="E3E9ED"/>
                </a:solidFill>
              </a:ln>
            </p:spPr>
          </p:sp>
          <p:sp>
            <p:nvSpPr>
              <p:cNvPr id="68" name="Ellipse 68"/>
              <p:cNvSpPr/>
              <p:nvPr/>
            </p:nvSpPr>
            <p:spPr>
              <a:xfrm>
                <a:off x="3114675" y="3305175"/>
                <a:ext cx="476250" cy="476250"/>
              </a:xfrm>
              <a:prstGeom prst="ellipse">
                <a:avLst/>
              </a:prstGeom>
              <a:solidFill>
                <a:srgbClr val="FBE9DD"/>
              </a:solidFill>
              <a:ln>
                <a:noFill/>
              </a:ln>
            </p:spPr>
          </p:sp>
          <p:grpSp>
            <p:nvGrpSpPr>
              <p:cNvPr id="73" name="Group 73"/>
              <p:cNvGrpSpPr/>
              <p:nvPr/>
            </p:nvGrpSpPr>
            <p:grpSpPr>
              <a:xfrm>
                <a:off x="3231356" y="3435350"/>
                <a:ext cx="242888" cy="229395"/>
                <a:chOff x="3231356" y="3435350"/>
                <a:chExt cx="242888" cy="229395"/>
              </a:xfrm>
            </p:grpSpPr>
            <p:sp>
              <p:nvSpPr>
                <p:cNvPr id="69" name="Freeform 69"/>
                <p:cNvSpPr/>
                <p:nvPr/>
              </p:nvSpPr>
              <p:spPr>
                <a:xfrm>
                  <a:off x="3231356" y="3529807"/>
                  <a:ext cx="242888" cy="1349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2888" h="134938">
                      <a:moveTo>
                        <a:pt x="13494" y="0"/>
                      </a:moveTo>
                      <a:lnTo>
                        <a:pt x="229394" y="0"/>
                      </a:lnTo>
                      <a:cubicBezTo>
                        <a:pt x="236847" y="0"/>
                        <a:pt x="242888" y="6041"/>
                        <a:pt x="242888" y="13494"/>
                      </a:cubicBezTo>
                      <a:lnTo>
                        <a:pt x="242888" y="20241"/>
                      </a:lnTo>
                      <a:cubicBezTo>
                        <a:pt x="242888" y="40481"/>
                        <a:pt x="208924" y="95442"/>
                        <a:pt x="188913" y="107950"/>
                      </a:cubicBezTo>
                      <a:lnTo>
                        <a:pt x="188913" y="121444"/>
                      </a:lnTo>
                      <a:cubicBezTo>
                        <a:pt x="188913" y="128896"/>
                        <a:pt x="182872" y="134938"/>
                        <a:pt x="175419" y="134938"/>
                      </a:cubicBezTo>
                      <a:lnTo>
                        <a:pt x="67469" y="134938"/>
                      </a:lnTo>
                      <a:cubicBezTo>
                        <a:pt x="60016" y="134938"/>
                        <a:pt x="53975" y="128896"/>
                        <a:pt x="53975" y="121444"/>
                      </a:cubicBezTo>
                      <a:lnTo>
                        <a:pt x="53975" y="107950"/>
                      </a:lnTo>
                      <a:cubicBezTo>
                        <a:pt x="31211" y="93728"/>
                        <a:pt x="0" y="40481"/>
                        <a:pt x="0" y="20241"/>
                      </a:cubicBezTo>
                      <a:lnTo>
                        <a:pt x="0" y="13494"/>
                      </a:lnTo>
                      <a:cubicBezTo>
                        <a:pt x="0" y="6041"/>
                        <a:pt x="6041" y="0"/>
                        <a:pt x="13494" y="0"/>
                      </a:cubicBezTo>
                    </a:path>
                  </a:pathLst>
                </a:custGeom>
                <a:noFill/>
                <a:ln w="26988">
                  <a:solidFill>
                    <a:schemeClr val="accent3"/>
                  </a:solidFill>
                </a:ln>
              </p:spPr>
            </p:sp>
            <p:sp>
              <p:nvSpPr>
                <p:cNvPr id="70" name="Freeform 70"/>
                <p:cNvSpPr/>
                <p:nvPr/>
              </p:nvSpPr>
              <p:spPr>
                <a:xfrm>
                  <a:off x="3339083" y="3435350"/>
                  <a:ext cx="13717" cy="53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17" h="53975">
                      <a:moveTo>
                        <a:pt x="13717" y="0"/>
                      </a:moveTo>
                      <a:cubicBezTo>
                        <a:pt x="5047" y="6223"/>
                        <a:pt x="0" y="16318"/>
                        <a:pt x="224" y="26988"/>
                      </a:cubicBezTo>
                      <a:cubicBezTo>
                        <a:pt x="0" y="37657"/>
                        <a:pt x="5047" y="47752"/>
                        <a:pt x="13717" y="53975"/>
                      </a:cubicBezTo>
                    </a:path>
                  </a:pathLst>
                </a:custGeom>
                <a:noFill/>
                <a:ln w="26988">
                  <a:solidFill>
                    <a:schemeClr val="accent3"/>
                  </a:solidFill>
                </a:ln>
              </p:spPr>
            </p:sp>
            <p:sp>
              <p:nvSpPr>
                <p:cNvPr id="71" name="Freeform 71"/>
                <p:cNvSpPr/>
                <p:nvPr/>
              </p:nvSpPr>
              <p:spPr>
                <a:xfrm>
                  <a:off x="3393058" y="3435350"/>
                  <a:ext cx="13717" cy="53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17" h="53975">
                      <a:moveTo>
                        <a:pt x="13717" y="0"/>
                      </a:moveTo>
                      <a:cubicBezTo>
                        <a:pt x="5047" y="6223"/>
                        <a:pt x="0" y="16318"/>
                        <a:pt x="224" y="26988"/>
                      </a:cubicBezTo>
                      <a:cubicBezTo>
                        <a:pt x="0" y="37657"/>
                        <a:pt x="5047" y="47752"/>
                        <a:pt x="13717" y="53975"/>
                      </a:cubicBezTo>
                    </a:path>
                  </a:pathLst>
                </a:custGeom>
                <a:noFill/>
                <a:ln w="26988">
                  <a:solidFill>
                    <a:schemeClr val="accent3"/>
                  </a:solidFill>
                </a:ln>
              </p:spPr>
            </p:sp>
            <p:sp>
              <p:nvSpPr>
                <p:cNvPr id="72" name="Freeform 72"/>
                <p:cNvSpPr/>
                <p:nvPr/>
              </p:nvSpPr>
              <p:spPr>
                <a:xfrm>
                  <a:off x="3285108" y="3435350"/>
                  <a:ext cx="13717" cy="53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17" h="53975">
                      <a:moveTo>
                        <a:pt x="13717" y="0"/>
                      </a:moveTo>
                      <a:cubicBezTo>
                        <a:pt x="5047" y="6223"/>
                        <a:pt x="0" y="16318"/>
                        <a:pt x="224" y="26988"/>
                      </a:cubicBezTo>
                      <a:cubicBezTo>
                        <a:pt x="0" y="37657"/>
                        <a:pt x="5047" y="47752"/>
                        <a:pt x="13717" y="53975"/>
                      </a:cubicBezTo>
                    </a:path>
                  </a:pathLst>
                </a:custGeom>
                <a:noFill/>
                <a:ln w="26988">
                  <a:solidFill>
                    <a:schemeClr val="accent3"/>
                  </a:solidFill>
                </a:ln>
              </p:spPr>
            </p:sp>
          </p:grpSp>
          <p:sp>
            <p:nvSpPr>
              <p:cNvPr id="74" name="TextBox 74"/>
              <p:cNvSpPr txBox="1"/>
              <p:nvPr/>
            </p:nvSpPr>
            <p:spPr>
              <a:xfrm>
                <a:off x="3136392" y="3950018"/>
                <a:ext cx="92240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来源很广泛</a:t>
                </a:r>
              </a:p>
            </p:txBody>
          </p:sp>
          <p:sp>
            <p:nvSpPr>
              <p:cNvPr id="75" name="TextBox 75"/>
              <p:cNvSpPr txBox="1"/>
              <p:nvPr/>
            </p:nvSpPr>
            <p:spPr>
              <a:xfrm>
                <a:off x="3137344" y="4275058"/>
                <a:ext cx="1573403" cy="2273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6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肉、海鲜、菌菇等蛋白</a:t>
                </a:r>
              </a:p>
            </p:txBody>
          </p:sp>
          <p:sp>
            <p:nvSpPr>
              <p:cNvPr id="76" name="TextBox 76"/>
              <p:cNvSpPr txBox="1"/>
              <p:nvPr/>
            </p:nvSpPr>
            <p:spPr>
              <a:xfrm>
                <a:off x="3137344" y="4503658"/>
                <a:ext cx="1573403" cy="2273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6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水解物；大豆发酵食品</a:t>
                </a:r>
              </a:p>
            </p:txBody>
          </p:sp>
          <p:sp>
            <p:nvSpPr>
              <p:cNvPr id="77" name="TextBox 77"/>
              <p:cNvSpPr txBox="1"/>
              <p:nvPr/>
            </p:nvSpPr>
            <p:spPr>
              <a:xfrm>
                <a:off x="3137344" y="4732258"/>
                <a:ext cx="1885721" cy="2273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6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（腐乳、酱油）中尤为丰富</a:t>
                </a:r>
              </a:p>
            </p:txBody>
          </p:sp>
          <p:sp>
            <p:nvSpPr>
              <p:cNvPr id="78" name="Line 78"/>
              <p:cNvSpPr/>
              <p:nvPr/>
            </p:nvSpPr>
            <p:spPr>
              <a:xfrm>
                <a:off x="3143250" y="5067300"/>
                <a:ext cx="1676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76400" h="9525">
                    <a:moveTo>
                      <a:pt x="0" y="0"/>
                    </a:moveTo>
                    <a:lnTo>
                      <a:pt x="1676400" y="0"/>
                    </a:lnTo>
                  </a:path>
                </a:pathLst>
              </a:custGeom>
              <a:noFill/>
              <a:ln w="14288">
                <a:solidFill>
                  <a:srgbClr val="EEF2F5"/>
                </a:solidFill>
              </a:ln>
            </p:spPr>
          </p:sp>
          <p:sp>
            <p:nvSpPr>
              <p:cNvPr id="79" name="TextBox 79"/>
              <p:cNvSpPr txBox="1"/>
              <p:nvPr/>
            </p:nvSpPr>
            <p:spPr>
              <a:xfrm>
                <a:off x="3137916" y="5201602"/>
                <a:ext cx="224348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谷氨酸与 5′-核苷酸（IMP/GMP）</a:t>
                </a:r>
              </a:p>
            </p:txBody>
          </p:sp>
          <p:sp>
            <p:nvSpPr>
              <p:cNvPr id="80" name="TextBox 80"/>
              <p:cNvSpPr txBox="1"/>
              <p:nvPr/>
            </p:nvSpPr>
            <p:spPr>
              <a:xfrm>
                <a:off x="3137916" y="5411152"/>
                <a:ext cx="100012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有协同增鲜效应</a:t>
                </a:r>
              </a:p>
            </p:txBody>
          </p:sp>
        </p:grpSp>
        <p:grpSp>
          <p:nvGrpSpPr>
            <p:cNvPr id="96" name="Group 96"/>
            <p:cNvGrpSpPr/>
            <p:nvPr/>
          </p:nvGrpSpPr>
          <p:grpSpPr>
            <a:xfrm>
              <a:off x="5219700" y="3067050"/>
              <a:ext cx="2171700" cy="2686050"/>
              <a:chOff x="5219700" y="3067050"/>
              <a:chExt cx="2171700" cy="2686050"/>
            </a:xfrm>
          </p:grpSpPr>
          <p:sp>
            <p:nvSpPr>
              <p:cNvPr id="82" name="Rectangle 82"/>
              <p:cNvSpPr/>
              <p:nvPr/>
            </p:nvSpPr>
            <p:spPr>
              <a:xfrm>
                <a:off x="5257800" y="3105150"/>
                <a:ext cx="2133600" cy="2647950"/>
              </a:xfrm>
              <a:prstGeom prst="roundRect">
                <a:avLst>
                  <a:gd name="adj" fmla="val 7143"/>
                </a:avLst>
              </a:prstGeom>
              <a:solidFill>
                <a:srgbClr val="E3E9ED"/>
              </a:solidFill>
              <a:ln>
                <a:noFill/>
              </a:ln>
            </p:spPr>
          </p:sp>
          <p:sp>
            <p:nvSpPr>
              <p:cNvPr id="83" name="Rectangle 83"/>
              <p:cNvSpPr/>
              <p:nvPr/>
            </p:nvSpPr>
            <p:spPr>
              <a:xfrm>
                <a:off x="5219700" y="3067050"/>
                <a:ext cx="2133600" cy="2647950"/>
              </a:xfrm>
              <a:prstGeom prst="roundRect">
                <a:avLst>
                  <a:gd name="adj" fmla="val 7143"/>
                </a:avLst>
              </a:prstGeom>
              <a:solidFill>
                <a:srgbClr val="FFFFFF"/>
              </a:solidFill>
              <a:ln w="14288">
                <a:solidFill>
                  <a:srgbClr val="E3E9ED"/>
                </a:solidFill>
              </a:ln>
            </p:spPr>
          </p:sp>
          <p:sp>
            <p:nvSpPr>
              <p:cNvPr id="84" name="Ellipse 84"/>
              <p:cNvSpPr/>
              <p:nvPr/>
            </p:nvSpPr>
            <p:spPr>
              <a:xfrm>
                <a:off x="5419725" y="3305175"/>
                <a:ext cx="476250" cy="47625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</p:sp>
          <p:grpSp>
            <p:nvGrpSpPr>
              <p:cNvPr id="88" name="Group 88"/>
              <p:cNvGrpSpPr/>
              <p:nvPr/>
            </p:nvGrpSpPr>
            <p:grpSpPr>
              <a:xfrm>
                <a:off x="5575568" y="3421856"/>
                <a:ext cx="164565" cy="242888"/>
                <a:chOff x="5575568" y="3421856"/>
                <a:chExt cx="164565" cy="242888"/>
              </a:xfrm>
            </p:grpSpPr>
            <p:sp>
              <p:nvSpPr>
                <p:cNvPr id="85" name="Freeform 85"/>
                <p:cNvSpPr/>
                <p:nvPr/>
              </p:nvSpPr>
              <p:spPr>
                <a:xfrm>
                  <a:off x="5617369" y="3421856"/>
                  <a:ext cx="80963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963" h="9525">
                      <a:moveTo>
                        <a:pt x="0" y="0"/>
                      </a:moveTo>
                      <a:lnTo>
                        <a:pt x="80963" y="0"/>
                      </a:lnTo>
                    </a:path>
                  </a:pathLst>
                </a:custGeom>
                <a:noFill/>
                <a:ln w="26988">
                  <a:solidFill>
                    <a:schemeClr val="accent1"/>
                  </a:solidFill>
                </a:ln>
              </p:spPr>
            </p:sp>
            <p:sp>
              <p:nvSpPr>
                <p:cNvPr id="86" name="Freeform 86"/>
                <p:cNvSpPr/>
                <p:nvPr/>
              </p:nvSpPr>
              <p:spPr>
                <a:xfrm>
                  <a:off x="5630863" y="3502819"/>
                  <a:ext cx="5397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975" h="9525">
                      <a:moveTo>
                        <a:pt x="0" y="0"/>
                      </a:moveTo>
                      <a:lnTo>
                        <a:pt x="53975" y="0"/>
                      </a:lnTo>
                    </a:path>
                  </a:pathLst>
                </a:custGeom>
                <a:noFill/>
                <a:ln w="26988">
                  <a:solidFill>
                    <a:schemeClr val="accent1"/>
                  </a:solidFill>
                </a:ln>
              </p:spPr>
            </p:sp>
            <p:sp>
              <p:nvSpPr>
                <p:cNvPr id="87" name="Freeform 87"/>
                <p:cNvSpPr/>
                <p:nvPr/>
              </p:nvSpPr>
              <p:spPr>
                <a:xfrm>
                  <a:off x="5575568" y="3421856"/>
                  <a:ext cx="164565" cy="2428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4565" h="242888">
                      <a:moveTo>
                        <a:pt x="55295" y="0"/>
                      </a:moveTo>
                      <a:lnTo>
                        <a:pt x="55295" y="80963"/>
                      </a:lnTo>
                      <a:lnTo>
                        <a:pt x="1320" y="229394"/>
                      </a:lnTo>
                      <a:cubicBezTo>
                        <a:pt x="0" y="232050"/>
                        <a:pt x="4" y="235171"/>
                        <a:pt x="1330" y="237823"/>
                      </a:cubicBezTo>
                      <a:cubicBezTo>
                        <a:pt x="2656" y="240475"/>
                        <a:pt x="5151" y="242351"/>
                        <a:pt x="8067" y="242888"/>
                      </a:cubicBezTo>
                      <a:lnTo>
                        <a:pt x="156498" y="242888"/>
                      </a:lnTo>
                      <a:cubicBezTo>
                        <a:pt x="159415" y="242351"/>
                        <a:pt x="161909" y="240475"/>
                        <a:pt x="163235" y="237823"/>
                      </a:cubicBezTo>
                      <a:cubicBezTo>
                        <a:pt x="164562" y="235171"/>
                        <a:pt x="164565" y="232050"/>
                        <a:pt x="163245" y="229394"/>
                      </a:cubicBezTo>
                      <a:lnTo>
                        <a:pt x="109270" y="80963"/>
                      </a:lnTo>
                      <a:lnTo>
                        <a:pt x="109270" y="0"/>
                      </a:lnTo>
                    </a:path>
                  </a:pathLst>
                </a:custGeom>
                <a:noFill/>
                <a:ln w="26988">
                  <a:solidFill>
                    <a:schemeClr val="accent1"/>
                  </a:solidFill>
                </a:ln>
              </p:spPr>
            </p:sp>
          </p:grpSp>
          <p:sp>
            <p:nvSpPr>
              <p:cNvPr id="89" name="TextBox 89"/>
              <p:cNvSpPr txBox="1"/>
              <p:nvPr/>
            </p:nvSpPr>
            <p:spPr>
              <a:xfrm>
                <a:off x="5441442" y="3950018"/>
                <a:ext cx="92240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应用价值高</a:t>
                </a:r>
              </a:p>
            </p:txBody>
          </p:sp>
          <p:sp>
            <p:nvSpPr>
              <p:cNvPr id="90" name="TextBox 90"/>
              <p:cNvSpPr txBox="1"/>
              <p:nvPr/>
            </p:nvSpPr>
            <p:spPr>
              <a:xfrm>
                <a:off x="5442394" y="4275058"/>
                <a:ext cx="1573403" cy="2273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6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开发低钠健康调味品、</a:t>
                </a:r>
              </a:p>
            </p:txBody>
          </p:sp>
          <p:sp>
            <p:nvSpPr>
              <p:cNvPr id="91" name="TextBox 91"/>
              <p:cNvSpPr txBox="1"/>
              <p:nvPr/>
            </p:nvSpPr>
            <p:spPr>
              <a:xfrm>
                <a:off x="5442394" y="4503658"/>
                <a:ext cx="1417244" cy="2273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6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发酵食品风味调控、</a:t>
                </a:r>
              </a:p>
            </p:txBody>
          </p:sp>
          <p:sp>
            <p:nvSpPr>
              <p:cNvPr id="92" name="TextBox 92"/>
              <p:cNvSpPr txBox="1"/>
              <p:nvPr/>
            </p:nvSpPr>
            <p:spPr>
              <a:xfrm>
                <a:off x="5442394" y="4732258"/>
                <a:ext cx="1573403" cy="2273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6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蛋白副产物高值化利用</a:t>
                </a:r>
              </a:p>
            </p:txBody>
          </p:sp>
          <p:sp>
            <p:nvSpPr>
              <p:cNvPr id="93" name="Line 93"/>
              <p:cNvSpPr/>
              <p:nvPr/>
            </p:nvSpPr>
            <p:spPr>
              <a:xfrm>
                <a:off x="5448300" y="5067300"/>
                <a:ext cx="1676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76400" h="9525">
                    <a:moveTo>
                      <a:pt x="0" y="0"/>
                    </a:moveTo>
                    <a:lnTo>
                      <a:pt x="1676400" y="0"/>
                    </a:lnTo>
                  </a:path>
                </a:pathLst>
              </a:custGeom>
              <a:noFill/>
              <a:ln w="14288">
                <a:solidFill>
                  <a:srgbClr val="EEF2F5"/>
                </a:solidFill>
              </a:ln>
            </p:spPr>
          </p:sp>
          <p:sp>
            <p:nvSpPr>
              <p:cNvPr id="94" name="TextBox 94"/>
              <p:cNvSpPr txBox="1"/>
              <p:nvPr/>
            </p:nvSpPr>
            <p:spPr>
              <a:xfrm>
                <a:off x="5442966" y="5201602"/>
                <a:ext cx="128282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部分鲜味肽鲜味强度</a:t>
                </a:r>
              </a:p>
            </p:txBody>
          </p:sp>
          <p:sp>
            <p:nvSpPr>
              <p:cNvPr id="95" name="TextBox 95"/>
              <p:cNvSpPr txBox="1"/>
              <p:nvPr/>
            </p:nvSpPr>
            <p:spPr>
              <a:xfrm>
                <a:off x="5442966" y="5411152"/>
                <a:ext cx="163113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可达味精（MSG）的数倍</a:t>
                </a:r>
              </a:p>
            </p:txBody>
          </p:sp>
        </p:grpSp>
      </p:grpSp>
      <p:grpSp>
        <p:nvGrpSpPr>
          <p:cNvPr id="101" name="Group 101"/>
          <p:cNvGrpSpPr/>
          <p:nvPr/>
        </p:nvGrpSpPr>
        <p:grpSpPr>
          <a:xfrm>
            <a:off x="604647" y="6438900"/>
            <a:ext cx="10982706" cy="294989"/>
            <a:chOff x="604647" y="6438900"/>
            <a:chExt cx="10982706" cy="294989"/>
          </a:xfrm>
        </p:grpSpPr>
        <p:sp>
          <p:nvSpPr>
            <p:cNvPr id="98" name="Line 98"/>
            <p:cNvSpPr/>
            <p:nvPr/>
          </p:nvSpPr>
          <p:spPr>
            <a:xfrm>
              <a:off x="609600" y="6438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4288">
              <a:solidFill>
                <a:srgbClr val="DDE4EA"/>
              </a:solidFill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604647" y="6543199"/>
              <a:ext cx="592230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A3B2BF"/>
                  </a:solidFill>
                  <a:latin typeface="+mn-lt"/>
                  <a:ea typeface="+mn-ea"/>
                  <a:cs typeface="+mn-cs"/>
                </a:rPr>
                <a:t>来源：Characterization and evaluation of umami taste 综述；JBC 2013；Food Chemistry 2025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11135490" y="6543199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A3B2BF"/>
                  </a:solidFill>
                  <a:latin typeface="+mn-lt"/>
                  <a:ea typeface="+mn-ea"/>
                  <a:cs typeface="+mn-cs"/>
                </a:rPr>
                <a:t>02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8170" y="515302"/>
            <a:ext cx="5172075" cy="843915"/>
            <a:chOff x="598170" y="515302"/>
            <a:chExt cx="5172075" cy="843915"/>
          </a:xfrm>
        </p:grpSpPr>
        <p:sp>
          <p:nvSpPr>
            <p:cNvPr id="2" name="TextBox 2"/>
            <p:cNvSpPr txBox="1"/>
            <p:nvPr/>
          </p:nvSpPr>
          <p:spPr>
            <a:xfrm>
              <a:off x="604266" y="515302"/>
              <a:ext cx="13239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22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 · 背景与问题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609600" y="762000"/>
              <a:ext cx="457200" cy="47625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98170" y="919162"/>
              <a:ext cx="517207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传统筛选：在肽的海洋里「大海捞针」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09600" y="1485900"/>
            <a:ext cx="7086600" cy="1428750"/>
            <a:chOff x="609600" y="1485900"/>
            <a:chExt cx="7086600" cy="1428750"/>
          </a:xfrm>
        </p:grpSpPr>
        <p:sp>
          <p:nvSpPr>
            <p:cNvPr id="6" name="Rectangle 6"/>
            <p:cNvSpPr/>
            <p:nvPr/>
          </p:nvSpPr>
          <p:spPr>
            <a:xfrm>
              <a:off x="647700" y="1524000"/>
              <a:ext cx="7048500" cy="1390650"/>
            </a:xfrm>
            <a:prstGeom prst="roundRect">
              <a:avLst>
                <a:gd name="adj" fmla="val 10959"/>
              </a:avLst>
            </a:prstGeom>
            <a:solidFill>
              <a:srgbClr val="E3E9ED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485900"/>
              <a:ext cx="7048500" cy="1390650"/>
            </a:xfrm>
            <a:prstGeom prst="roundRect">
              <a:avLst>
                <a:gd name="adj" fmla="val 10959"/>
              </a:avLst>
            </a:prstGeom>
            <a:solidFill>
              <a:srgbClr val="FFFFFF"/>
            </a:solidFill>
            <a:ln w="14288">
              <a:solidFill>
                <a:srgbClr val="E3E9ED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664018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传统湿实验路径：逐肽分离、逐肽验证</a:t>
              </a:r>
            </a:p>
          </p:txBody>
        </p:sp>
        <p:grpSp>
          <p:nvGrpSpPr>
            <p:cNvPr id="40" name="Group 40"/>
            <p:cNvGrpSpPr/>
            <p:nvPr/>
          </p:nvGrpSpPr>
          <p:grpSpPr>
            <a:xfrm>
              <a:off x="838200" y="2000250"/>
              <a:ext cx="6591300" cy="495300"/>
              <a:chOff x="838200" y="2000250"/>
              <a:chExt cx="6591300" cy="495300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838200" y="2000250"/>
                <a:ext cx="1028700" cy="495300"/>
              </a:xfrm>
              <a:prstGeom prst="roundRect">
                <a:avLst>
                  <a:gd name="adj" fmla="val 19231"/>
                </a:avLst>
              </a:pr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1053554" y="2092404"/>
                <a:ext cx="597992" cy="2126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9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蛋白水解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047462" y="2295049"/>
                <a:ext cx="610177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酶解/发酵</a:t>
                </a:r>
              </a:p>
            </p:txBody>
          </p:sp>
          <p:grpSp>
            <p:nvGrpSpPr>
              <p:cNvPr id="15" name="Group 15"/>
              <p:cNvGrpSpPr/>
              <p:nvPr/>
            </p:nvGrpSpPr>
            <p:grpSpPr>
              <a:xfrm>
                <a:off x="1939131" y="2185988"/>
                <a:ext cx="122238" cy="104775"/>
                <a:chOff x="1939131" y="2185988"/>
                <a:chExt cx="122238" cy="104775"/>
              </a:xfrm>
            </p:grpSpPr>
            <p:sp>
              <p:nvSpPr>
                <p:cNvPr id="12" name="Freeform 12"/>
                <p:cNvSpPr/>
                <p:nvPr/>
              </p:nvSpPr>
              <p:spPr>
                <a:xfrm>
                  <a:off x="1939131" y="2238375"/>
                  <a:ext cx="122238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238" h="9525">
                      <a:moveTo>
                        <a:pt x="0" y="0"/>
                      </a:moveTo>
                      <a:lnTo>
                        <a:pt x="122238" y="0"/>
                      </a:lnTo>
                    </a:path>
                  </a:pathLst>
                </a:custGeom>
                <a:noFill/>
                <a:ln w="17463">
                  <a:solidFill>
                    <a:srgbClr val="9AA8B3"/>
                  </a:solidFill>
                </a:ln>
              </p:spPr>
            </p:sp>
            <p:sp>
              <p:nvSpPr>
                <p:cNvPr id="13" name="Freeform 13"/>
                <p:cNvSpPr/>
                <p:nvPr/>
              </p:nvSpPr>
              <p:spPr>
                <a:xfrm>
                  <a:off x="2008981" y="2238375"/>
                  <a:ext cx="52388" cy="523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88" h="52388">
                      <a:moveTo>
                        <a:pt x="0" y="52388"/>
                      </a:moveTo>
                      <a:lnTo>
                        <a:pt x="52388" y="0"/>
                      </a:lnTo>
                    </a:path>
                  </a:pathLst>
                </a:custGeom>
                <a:noFill/>
                <a:ln w="17463">
                  <a:solidFill>
                    <a:srgbClr val="9AA8B3"/>
                  </a:solidFill>
                </a:ln>
              </p:spPr>
            </p:sp>
            <p:sp>
              <p:nvSpPr>
                <p:cNvPr id="14" name="Freeform 14"/>
                <p:cNvSpPr/>
                <p:nvPr/>
              </p:nvSpPr>
              <p:spPr>
                <a:xfrm>
                  <a:off x="2008981" y="2185988"/>
                  <a:ext cx="52388" cy="523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88" h="52388">
                      <a:moveTo>
                        <a:pt x="0" y="0"/>
                      </a:moveTo>
                      <a:lnTo>
                        <a:pt x="52388" y="52388"/>
                      </a:lnTo>
                    </a:path>
                  </a:pathLst>
                </a:custGeom>
                <a:noFill/>
                <a:ln w="17463">
                  <a:solidFill>
                    <a:srgbClr val="9AA8B3"/>
                  </a:solidFill>
                </a:ln>
              </p:spPr>
            </p:sp>
          </p:grpSp>
          <p:sp>
            <p:nvSpPr>
              <p:cNvPr id="16" name="Rectangle 16"/>
              <p:cNvSpPr/>
              <p:nvPr/>
            </p:nvSpPr>
            <p:spPr>
              <a:xfrm>
                <a:off x="2152650" y="2000250"/>
                <a:ext cx="1028700" cy="495300"/>
              </a:xfrm>
              <a:prstGeom prst="roundRect">
                <a:avLst>
                  <a:gd name="adj" fmla="val 19231"/>
                </a:avLst>
              </a:pr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2368004" y="2092404"/>
                <a:ext cx="597992" cy="2126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9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分离纯化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2361912" y="2295049"/>
                <a:ext cx="610177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色谱/超滤</a:t>
                </a:r>
              </a:p>
            </p:txBody>
          </p:sp>
          <p:grpSp>
            <p:nvGrpSpPr>
              <p:cNvPr id="22" name="Group 22"/>
              <p:cNvGrpSpPr/>
              <p:nvPr/>
            </p:nvGrpSpPr>
            <p:grpSpPr>
              <a:xfrm>
                <a:off x="3253581" y="2185988"/>
                <a:ext cx="122238" cy="104775"/>
                <a:chOff x="3253581" y="2185988"/>
                <a:chExt cx="122238" cy="104775"/>
              </a:xfrm>
            </p:grpSpPr>
            <p:sp>
              <p:nvSpPr>
                <p:cNvPr id="19" name="Freeform 19"/>
                <p:cNvSpPr/>
                <p:nvPr/>
              </p:nvSpPr>
              <p:spPr>
                <a:xfrm>
                  <a:off x="3253581" y="2238375"/>
                  <a:ext cx="122238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238" h="9525">
                      <a:moveTo>
                        <a:pt x="0" y="0"/>
                      </a:moveTo>
                      <a:lnTo>
                        <a:pt x="122238" y="0"/>
                      </a:lnTo>
                    </a:path>
                  </a:pathLst>
                </a:custGeom>
                <a:noFill/>
                <a:ln w="17463">
                  <a:solidFill>
                    <a:srgbClr val="9AA8B3"/>
                  </a:solidFill>
                </a:ln>
              </p:spPr>
            </p:sp>
            <p:sp>
              <p:nvSpPr>
                <p:cNvPr id="20" name="Freeform 20"/>
                <p:cNvSpPr/>
                <p:nvPr/>
              </p:nvSpPr>
              <p:spPr>
                <a:xfrm>
                  <a:off x="3323431" y="2238375"/>
                  <a:ext cx="52388" cy="523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88" h="52388">
                      <a:moveTo>
                        <a:pt x="0" y="52388"/>
                      </a:moveTo>
                      <a:lnTo>
                        <a:pt x="52388" y="0"/>
                      </a:lnTo>
                    </a:path>
                  </a:pathLst>
                </a:custGeom>
                <a:noFill/>
                <a:ln w="17463">
                  <a:solidFill>
                    <a:srgbClr val="9AA8B3"/>
                  </a:solidFill>
                </a:ln>
              </p:spPr>
            </p:sp>
            <p:sp>
              <p:nvSpPr>
                <p:cNvPr id="21" name="Freeform 21"/>
                <p:cNvSpPr/>
                <p:nvPr/>
              </p:nvSpPr>
              <p:spPr>
                <a:xfrm>
                  <a:off x="3323431" y="2185988"/>
                  <a:ext cx="52388" cy="523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88" h="52388">
                      <a:moveTo>
                        <a:pt x="0" y="0"/>
                      </a:moveTo>
                      <a:lnTo>
                        <a:pt x="52388" y="52388"/>
                      </a:lnTo>
                    </a:path>
                  </a:pathLst>
                </a:custGeom>
                <a:noFill/>
                <a:ln w="17463">
                  <a:solidFill>
                    <a:srgbClr val="9AA8B3"/>
                  </a:solidFill>
                </a:ln>
              </p:spPr>
            </p:sp>
          </p:grpSp>
          <p:sp>
            <p:nvSpPr>
              <p:cNvPr id="23" name="Rectangle 23"/>
              <p:cNvSpPr/>
              <p:nvPr/>
            </p:nvSpPr>
            <p:spPr>
              <a:xfrm>
                <a:off x="3467100" y="2000250"/>
                <a:ext cx="1028700" cy="495300"/>
              </a:xfrm>
              <a:prstGeom prst="roundRect">
                <a:avLst>
                  <a:gd name="adj" fmla="val 19231"/>
                </a:avLst>
              </a:pr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3682454" y="2092404"/>
                <a:ext cx="597992" cy="2126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9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质谱鉴定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3641949" y="2295049"/>
                <a:ext cx="679003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LC-MS/MS</a:t>
                </a:r>
              </a:p>
            </p:txBody>
          </p:sp>
          <p:grpSp>
            <p:nvGrpSpPr>
              <p:cNvPr id="29" name="Group 29"/>
              <p:cNvGrpSpPr/>
              <p:nvPr/>
            </p:nvGrpSpPr>
            <p:grpSpPr>
              <a:xfrm>
                <a:off x="4568031" y="2185988"/>
                <a:ext cx="122238" cy="104775"/>
                <a:chOff x="4568031" y="2185988"/>
                <a:chExt cx="122238" cy="104775"/>
              </a:xfrm>
            </p:grpSpPr>
            <p:sp>
              <p:nvSpPr>
                <p:cNvPr id="26" name="Freeform 26"/>
                <p:cNvSpPr/>
                <p:nvPr/>
              </p:nvSpPr>
              <p:spPr>
                <a:xfrm>
                  <a:off x="4568031" y="2238375"/>
                  <a:ext cx="122238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238" h="9525">
                      <a:moveTo>
                        <a:pt x="0" y="0"/>
                      </a:moveTo>
                      <a:lnTo>
                        <a:pt x="122238" y="0"/>
                      </a:lnTo>
                    </a:path>
                  </a:pathLst>
                </a:custGeom>
                <a:noFill/>
                <a:ln w="17463">
                  <a:solidFill>
                    <a:srgbClr val="9AA8B3"/>
                  </a:solidFill>
                </a:ln>
              </p:spPr>
            </p:sp>
            <p:sp>
              <p:nvSpPr>
                <p:cNvPr id="27" name="Freeform 27"/>
                <p:cNvSpPr/>
                <p:nvPr/>
              </p:nvSpPr>
              <p:spPr>
                <a:xfrm>
                  <a:off x="4637881" y="2238375"/>
                  <a:ext cx="52388" cy="523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88" h="52388">
                      <a:moveTo>
                        <a:pt x="0" y="52388"/>
                      </a:moveTo>
                      <a:lnTo>
                        <a:pt x="52388" y="0"/>
                      </a:lnTo>
                    </a:path>
                  </a:pathLst>
                </a:custGeom>
                <a:noFill/>
                <a:ln w="17463">
                  <a:solidFill>
                    <a:srgbClr val="9AA8B3"/>
                  </a:solidFill>
                </a:ln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4637881" y="2185988"/>
                  <a:ext cx="52388" cy="523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88" h="52388">
                      <a:moveTo>
                        <a:pt x="0" y="0"/>
                      </a:moveTo>
                      <a:lnTo>
                        <a:pt x="52388" y="52388"/>
                      </a:lnTo>
                    </a:path>
                  </a:pathLst>
                </a:custGeom>
                <a:noFill/>
                <a:ln w="17463">
                  <a:solidFill>
                    <a:srgbClr val="9AA8B3"/>
                  </a:solidFill>
                </a:ln>
              </p:spPr>
            </p:sp>
          </p:grpSp>
          <p:sp>
            <p:nvSpPr>
              <p:cNvPr id="30" name="Rectangle 30"/>
              <p:cNvSpPr/>
              <p:nvPr/>
            </p:nvSpPr>
            <p:spPr>
              <a:xfrm>
                <a:off x="4781550" y="2000250"/>
                <a:ext cx="1028700" cy="495300"/>
              </a:xfrm>
              <a:prstGeom prst="roundRect">
                <a:avLst>
                  <a:gd name="adj" fmla="val 19231"/>
                </a:avLst>
              </a:pr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4996904" y="2092404"/>
                <a:ext cx="597992" cy="2126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9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人工合成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5027092" y="2295049"/>
                <a:ext cx="53761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固相合成</a:t>
                </a:r>
              </a:p>
            </p:txBody>
          </p:sp>
          <p:grpSp>
            <p:nvGrpSpPr>
              <p:cNvPr id="36" name="Group 36"/>
              <p:cNvGrpSpPr/>
              <p:nvPr/>
            </p:nvGrpSpPr>
            <p:grpSpPr>
              <a:xfrm>
                <a:off x="5882481" y="2185988"/>
                <a:ext cx="122238" cy="104775"/>
                <a:chOff x="5882481" y="2185988"/>
                <a:chExt cx="122238" cy="104775"/>
              </a:xfrm>
            </p:grpSpPr>
            <p:sp>
              <p:nvSpPr>
                <p:cNvPr id="33" name="Freeform 33"/>
                <p:cNvSpPr/>
                <p:nvPr/>
              </p:nvSpPr>
              <p:spPr>
                <a:xfrm>
                  <a:off x="5882481" y="2238375"/>
                  <a:ext cx="122238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238" h="9525">
                      <a:moveTo>
                        <a:pt x="0" y="0"/>
                      </a:moveTo>
                      <a:lnTo>
                        <a:pt x="122238" y="0"/>
                      </a:lnTo>
                    </a:path>
                  </a:pathLst>
                </a:custGeom>
                <a:noFill/>
                <a:ln w="17463">
                  <a:solidFill>
                    <a:schemeClr val="accent3"/>
                  </a:solidFill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5952331" y="2238375"/>
                  <a:ext cx="52388" cy="523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88" h="52388">
                      <a:moveTo>
                        <a:pt x="0" y="52388"/>
                      </a:moveTo>
                      <a:lnTo>
                        <a:pt x="52388" y="0"/>
                      </a:lnTo>
                    </a:path>
                  </a:pathLst>
                </a:custGeom>
                <a:noFill/>
                <a:ln w="17463">
                  <a:solidFill>
                    <a:schemeClr val="accent3"/>
                  </a:solidFill>
                </a:ln>
              </p:spPr>
            </p:sp>
            <p:sp>
              <p:nvSpPr>
                <p:cNvPr id="35" name="Freeform 35"/>
                <p:cNvSpPr/>
                <p:nvPr/>
              </p:nvSpPr>
              <p:spPr>
                <a:xfrm>
                  <a:off x="5952331" y="2185988"/>
                  <a:ext cx="52388" cy="523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88" h="52388">
                      <a:moveTo>
                        <a:pt x="0" y="0"/>
                      </a:moveTo>
                      <a:lnTo>
                        <a:pt x="52388" y="52388"/>
                      </a:lnTo>
                    </a:path>
                  </a:pathLst>
                </a:custGeom>
                <a:noFill/>
                <a:ln w="17463">
                  <a:solidFill>
                    <a:schemeClr val="accent3"/>
                  </a:solidFill>
                </a:ln>
              </p:spPr>
            </p:sp>
          </p:grpSp>
          <p:sp>
            <p:nvSpPr>
              <p:cNvPr id="37" name="Rectangle 37"/>
              <p:cNvSpPr/>
              <p:nvPr/>
            </p:nvSpPr>
            <p:spPr>
              <a:xfrm>
                <a:off x="6096000" y="2000250"/>
                <a:ext cx="1333500" cy="495300"/>
              </a:xfrm>
              <a:prstGeom prst="roundRect">
                <a:avLst>
                  <a:gd name="adj" fmla="val 19231"/>
                </a:avLst>
              </a:prstGeom>
              <a:solidFill>
                <a:srgbClr val="FBE9DD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6463754" y="2092404"/>
                <a:ext cx="597992" cy="2126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90" b="1" dirty="0">
                    <a:solidFill>
                      <a:srgbClr val="B5663A"/>
                    </a:solidFill>
                    <a:latin typeface="+mn-lt"/>
                    <a:ea typeface="+mn-ea"/>
                    <a:cs typeface="+mn-cs"/>
                  </a:rPr>
                  <a:t>感官评价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6325734" y="2295049"/>
                <a:ext cx="874032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C68A66"/>
                    </a:solidFill>
                    <a:latin typeface="+mn-lt"/>
                    <a:ea typeface="+mn-ea"/>
                    <a:cs typeface="+mn-cs"/>
                  </a:rPr>
                  <a:t>滋味稀释/阈值</a:t>
                </a:r>
              </a:p>
            </p:txBody>
          </p:sp>
        </p:grpSp>
        <p:sp>
          <p:nvSpPr>
            <p:cNvPr id="41" name="TextBox 41"/>
            <p:cNvSpPr txBox="1"/>
            <p:nvPr/>
          </p:nvSpPr>
          <p:spPr>
            <a:xfrm>
              <a:off x="833056" y="2652951"/>
              <a:ext cx="3776551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一个蛋白可酶解出成百上千条肽 —— 周期以「月」计，通量极低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609600" y="3067050"/>
            <a:ext cx="7086600" cy="2438400"/>
            <a:chOff x="609600" y="3067050"/>
            <a:chExt cx="7086600" cy="2438400"/>
          </a:xfrm>
        </p:grpSpPr>
        <p:grpSp>
          <p:nvGrpSpPr>
            <p:cNvPr id="54" name="Group 54"/>
            <p:cNvGrpSpPr/>
            <p:nvPr/>
          </p:nvGrpSpPr>
          <p:grpSpPr>
            <a:xfrm>
              <a:off x="609600" y="3067050"/>
              <a:ext cx="2247900" cy="2438400"/>
              <a:chOff x="609600" y="3067050"/>
              <a:chExt cx="2247900" cy="2438400"/>
            </a:xfrm>
          </p:grpSpPr>
          <p:sp>
            <p:nvSpPr>
              <p:cNvPr id="43" name="Rectangle 43"/>
              <p:cNvSpPr/>
              <p:nvPr/>
            </p:nvSpPr>
            <p:spPr>
              <a:xfrm>
                <a:off x="647700" y="3105150"/>
                <a:ext cx="2209800" cy="2400300"/>
              </a:xfrm>
              <a:prstGeom prst="roundRect">
                <a:avLst>
                  <a:gd name="adj" fmla="val 6897"/>
                </a:avLst>
              </a:prstGeom>
              <a:solidFill>
                <a:srgbClr val="E3E9ED"/>
              </a:solidFill>
              <a:ln>
                <a:noFill/>
              </a:ln>
            </p:spPr>
          </p:sp>
          <p:sp>
            <p:nvSpPr>
              <p:cNvPr id="44" name="Rectangle 44"/>
              <p:cNvSpPr/>
              <p:nvPr/>
            </p:nvSpPr>
            <p:spPr>
              <a:xfrm>
                <a:off x="609600" y="3067050"/>
                <a:ext cx="2209800" cy="2400300"/>
              </a:xfrm>
              <a:prstGeom prst="roundRect">
                <a:avLst>
                  <a:gd name="adj" fmla="val 6897"/>
                </a:avLst>
              </a:prstGeom>
              <a:solidFill>
                <a:srgbClr val="FFFFFF"/>
              </a:solidFill>
              <a:ln w="14288">
                <a:solidFill>
                  <a:srgbClr val="E3E9ED"/>
                </a:solidFill>
              </a:ln>
            </p:spPr>
          </p:sp>
          <p:sp>
            <p:nvSpPr>
              <p:cNvPr id="45" name="Ellipse 45"/>
              <p:cNvSpPr/>
              <p:nvPr/>
            </p:nvSpPr>
            <p:spPr>
              <a:xfrm>
                <a:off x="819150" y="3295650"/>
                <a:ext cx="495300" cy="495300"/>
              </a:xfrm>
              <a:prstGeom prst="ellipse">
                <a:avLst/>
              </a:prstGeom>
              <a:solidFill>
                <a:srgbClr val="FBE9DD"/>
              </a:solidFill>
              <a:ln>
                <a:noFill/>
              </a:ln>
            </p:spPr>
          </p:sp>
          <p:grpSp>
            <p:nvGrpSpPr>
              <p:cNvPr id="48" name="Group 48"/>
              <p:cNvGrpSpPr/>
              <p:nvPr/>
            </p:nvGrpSpPr>
            <p:grpSpPr>
              <a:xfrm>
                <a:off x="938212" y="3414712"/>
                <a:ext cx="257175" cy="257175"/>
                <a:chOff x="938212" y="3414712"/>
                <a:chExt cx="257175" cy="257175"/>
              </a:xfrm>
            </p:grpSpPr>
            <p:sp>
              <p:nvSpPr>
                <p:cNvPr id="46" name="Freeform 46"/>
                <p:cNvSpPr/>
                <p:nvPr/>
              </p:nvSpPr>
              <p:spPr>
                <a:xfrm>
                  <a:off x="938212" y="3414712"/>
                  <a:ext cx="257175" cy="257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175" h="257175">
                      <a:moveTo>
                        <a:pt x="0" y="128588"/>
                      </a:moveTo>
                      <a:cubicBezTo>
                        <a:pt x="0" y="199604"/>
                        <a:pt x="57571" y="257175"/>
                        <a:pt x="128588" y="257175"/>
                      </a:cubicBezTo>
                      <a:cubicBezTo>
                        <a:pt x="199604" y="257175"/>
                        <a:pt x="257175" y="199604"/>
                        <a:pt x="257175" y="128588"/>
                      </a:cubicBezTo>
                      <a:cubicBezTo>
                        <a:pt x="257175" y="57571"/>
                        <a:pt x="199604" y="0"/>
                        <a:pt x="128588" y="0"/>
                      </a:cubicBezTo>
                      <a:cubicBezTo>
                        <a:pt x="57571" y="0"/>
                        <a:pt x="0" y="57571"/>
                        <a:pt x="0" y="128588"/>
                      </a:cubicBezTo>
                    </a:path>
                  </a:pathLst>
                </a:custGeom>
                <a:noFill/>
                <a:ln w="28575">
                  <a:solidFill>
                    <a:schemeClr val="accent3"/>
                  </a:solidFill>
                </a:ln>
              </p:spPr>
            </p:sp>
            <p:sp>
              <p:nvSpPr>
                <p:cNvPr id="47" name="Freeform 47"/>
                <p:cNvSpPr/>
                <p:nvPr/>
              </p:nvSpPr>
              <p:spPr>
                <a:xfrm>
                  <a:off x="1066800" y="3471862"/>
                  <a:ext cx="42862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862" h="114300">
                      <a:moveTo>
                        <a:pt x="0" y="0"/>
                      </a:moveTo>
                      <a:lnTo>
                        <a:pt x="0" y="71438"/>
                      </a:lnTo>
                      <a:lnTo>
                        <a:pt x="42862" y="114300"/>
                      </a:lnTo>
                    </a:path>
                  </a:pathLst>
                </a:custGeom>
                <a:noFill/>
                <a:ln w="28575">
                  <a:solidFill>
                    <a:schemeClr val="accent3"/>
                  </a:solidFill>
                </a:ln>
              </p:spPr>
            </p:sp>
          </p:grpSp>
          <p:sp>
            <p:nvSpPr>
              <p:cNvPr id="49" name="TextBox 49"/>
              <p:cNvSpPr txBox="1"/>
              <p:nvPr/>
            </p:nvSpPr>
            <p:spPr>
              <a:xfrm>
                <a:off x="830961" y="3922871"/>
                <a:ext cx="39679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耗时</a:t>
                </a:r>
              </a:p>
            </p:txBody>
          </p:sp>
          <p:sp>
            <p:nvSpPr>
              <p:cNvPr id="50" name="Line 50"/>
              <p:cNvSpPr/>
              <p:nvPr/>
            </p:nvSpPr>
            <p:spPr>
              <a:xfrm>
                <a:off x="838200" y="4210050"/>
                <a:ext cx="1752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52600" h="9525">
                    <a:moveTo>
                      <a:pt x="0" y="0"/>
                    </a:moveTo>
                    <a:lnTo>
                      <a:pt x="1752600" y="0"/>
                    </a:lnTo>
                  </a:path>
                </a:pathLst>
              </a:custGeom>
              <a:noFill/>
              <a:ln w="14288">
                <a:solidFill>
                  <a:srgbClr val="EEF2F5"/>
                </a:solidFill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832294" y="4408408"/>
                <a:ext cx="1417244" cy="2273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6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分离纯化与人工感官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832294" y="4637008"/>
                <a:ext cx="1573403" cy="2273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6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评价步骤多、周期长，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832294" y="4865608"/>
                <a:ext cx="1261085" cy="2273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6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单条肽验证以周计</a:t>
                </a:r>
              </a:p>
            </p:txBody>
          </p:sp>
        </p:grpSp>
        <p:grpSp>
          <p:nvGrpSpPr>
            <p:cNvPr id="67" name="Group 67"/>
            <p:cNvGrpSpPr/>
            <p:nvPr/>
          </p:nvGrpSpPr>
          <p:grpSpPr>
            <a:xfrm>
              <a:off x="3028950" y="3067050"/>
              <a:ext cx="2247900" cy="2438400"/>
              <a:chOff x="3028950" y="3067050"/>
              <a:chExt cx="2247900" cy="2438400"/>
            </a:xfrm>
          </p:grpSpPr>
          <p:sp>
            <p:nvSpPr>
              <p:cNvPr id="55" name="Rectangle 55"/>
              <p:cNvSpPr/>
              <p:nvPr/>
            </p:nvSpPr>
            <p:spPr>
              <a:xfrm>
                <a:off x="3067050" y="3105150"/>
                <a:ext cx="2209800" cy="2400300"/>
              </a:xfrm>
              <a:prstGeom prst="roundRect">
                <a:avLst>
                  <a:gd name="adj" fmla="val 6897"/>
                </a:avLst>
              </a:prstGeom>
              <a:solidFill>
                <a:srgbClr val="E3E9ED"/>
              </a:solidFill>
              <a:ln>
                <a:noFill/>
              </a:ln>
            </p:spPr>
          </p:sp>
          <p:sp>
            <p:nvSpPr>
              <p:cNvPr id="56" name="Rectangle 56"/>
              <p:cNvSpPr/>
              <p:nvPr/>
            </p:nvSpPr>
            <p:spPr>
              <a:xfrm>
                <a:off x="3028950" y="3067050"/>
                <a:ext cx="2209800" cy="2400300"/>
              </a:xfrm>
              <a:prstGeom prst="roundRect">
                <a:avLst>
                  <a:gd name="adj" fmla="val 6897"/>
                </a:avLst>
              </a:prstGeom>
              <a:solidFill>
                <a:srgbClr val="FFFFFF"/>
              </a:solidFill>
              <a:ln w="14288">
                <a:solidFill>
                  <a:srgbClr val="E3E9ED"/>
                </a:solidFill>
              </a:ln>
            </p:spPr>
          </p:sp>
          <p:sp>
            <p:nvSpPr>
              <p:cNvPr id="57" name="Ellipse 57"/>
              <p:cNvSpPr/>
              <p:nvPr/>
            </p:nvSpPr>
            <p:spPr>
              <a:xfrm>
                <a:off x="3238500" y="3295650"/>
                <a:ext cx="495300" cy="495300"/>
              </a:xfrm>
              <a:prstGeom prst="ellipse">
                <a:avLst/>
              </a:prstGeom>
              <a:solidFill>
                <a:srgbClr val="FBE9DD"/>
              </a:solidFill>
              <a:ln>
                <a:noFill/>
              </a:ln>
            </p:spPr>
          </p:sp>
          <p:grpSp>
            <p:nvGrpSpPr>
              <p:cNvPr id="61" name="Group 61"/>
              <p:cNvGrpSpPr/>
              <p:nvPr/>
            </p:nvGrpSpPr>
            <p:grpSpPr>
              <a:xfrm>
                <a:off x="3357562" y="3414712"/>
                <a:ext cx="257175" cy="257175"/>
                <a:chOff x="3357562" y="3414712"/>
                <a:chExt cx="257175" cy="257175"/>
              </a:xfrm>
            </p:grpSpPr>
            <p:sp>
              <p:nvSpPr>
                <p:cNvPr id="58" name="Freeform 58"/>
                <p:cNvSpPr/>
                <p:nvPr/>
              </p:nvSpPr>
              <p:spPr>
                <a:xfrm>
                  <a:off x="3357562" y="3414712"/>
                  <a:ext cx="257175" cy="257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175" h="257175">
                      <a:moveTo>
                        <a:pt x="0" y="128588"/>
                      </a:moveTo>
                      <a:cubicBezTo>
                        <a:pt x="0" y="199604"/>
                        <a:pt x="57571" y="257175"/>
                        <a:pt x="128588" y="257175"/>
                      </a:cubicBezTo>
                      <a:cubicBezTo>
                        <a:pt x="199604" y="257175"/>
                        <a:pt x="257175" y="199604"/>
                        <a:pt x="257175" y="128588"/>
                      </a:cubicBezTo>
                      <a:cubicBezTo>
                        <a:pt x="257175" y="57571"/>
                        <a:pt x="199604" y="0"/>
                        <a:pt x="128588" y="0"/>
                      </a:cubicBezTo>
                      <a:cubicBezTo>
                        <a:pt x="57571" y="0"/>
                        <a:pt x="0" y="57571"/>
                        <a:pt x="0" y="128588"/>
                      </a:cubicBezTo>
                    </a:path>
                  </a:pathLst>
                </a:custGeom>
                <a:noFill/>
                <a:ln w="28575">
                  <a:solidFill>
                    <a:schemeClr val="accent3"/>
                  </a:solidFill>
                </a:ln>
              </p:spPr>
            </p:sp>
            <p:sp>
              <p:nvSpPr>
                <p:cNvPr id="59" name="Freeform 59"/>
                <p:cNvSpPr/>
                <p:nvPr/>
              </p:nvSpPr>
              <p:spPr>
                <a:xfrm>
                  <a:off x="3443288" y="3485795"/>
                  <a:ext cx="85725" cy="115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25" h="115011">
                      <a:moveTo>
                        <a:pt x="82867" y="14643"/>
                      </a:moveTo>
                      <a:cubicBezTo>
                        <a:pt x="77594" y="5494"/>
                        <a:pt x="67704" y="0"/>
                        <a:pt x="57150" y="355"/>
                      </a:cubicBezTo>
                      <a:lnTo>
                        <a:pt x="28575" y="355"/>
                      </a:lnTo>
                      <a:cubicBezTo>
                        <a:pt x="12793" y="355"/>
                        <a:pt x="0" y="13149"/>
                        <a:pt x="0" y="28930"/>
                      </a:cubicBezTo>
                      <a:cubicBezTo>
                        <a:pt x="0" y="44712"/>
                        <a:pt x="12793" y="57505"/>
                        <a:pt x="28575" y="57505"/>
                      </a:cubicBezTo>
                      <a:lnTo>
                        <a:pt x="57150" y="57505"/>
                      </a:lnTo>
                      <a:cubicBezTo>
                        <a:pt x="72932" y="57505"/>
                        <a:pt x="85725" y="70299"/>
                        <a:pt x="85725" y="86080"/>
                      </a:cubicBezTo>
                      <a:cubicBezTo>
                        <a:pt x="85725" y="101862"/>
                        <a:pt x="72932" y="114655"/>
                        <a:pt x="57150" y="114655"/>
                      </a:cubicBezTo>
                      <a:lnTo>
                        <a:pt x="28575" y="114655"/>
                      </a:lnTo>
                      <a:cubicBezTo>
                        <a:pt x="18021" y="115011"/>
                        <a:pt x="8131" y="109516"/>
                        <a:pt x="2858" y="100368"/>
                      </a:cubicBezTo>
                    </a:path>
                  </a:pathLst>
                </a:custGeom>
                <a:noFill/>
                <a:ln w="28575">
                  <a:solidFill>
                    <a:schemeClr val="accent3"/>
                  </a:solidFill>
                </a:ln>
              </p:spPr>
            </p:sp>
            <p:sp>
              <p:nvSpPr>
                <p:cNvPr id="60" name="Freeform 60"/>
                <p:cNvSpPr/>
                <p:nvPr/>
              </p:nvSpPr>
              <p:spPr>
                <a:xfrm>
                  <a:off x="3486150" y="3471862"/>
                  <a:ext cx="9525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42875">
                      <a:moveTo>
                        <a:pt x="0" y="0"/>
                      </a:moveTo>
                      <a:lnTo>
                        <a:pt x="0" y="142875"/>
                      </a:lnTo>
                    </a:path>
                  </a:pathLst>
                </a:custGeom>
                <a:noFill/>
                <a:ln w="28575">
                  <a:solidFill>
                    <a:schemeClr val="accent3"/>
                  </a:solidFill>
                </a:ln>
              </p:spPr>
            </p:sp>
          </p:grpSp>
          <p:sp>
            <p:nvSpPr>
              <p:cNvPr id="62" name="TextBox 62"/>
              <p:cNvSpPr txBox="1"/>
              <p:nvPr/>
            </p:nvSpPr>
            <p:spPr>
              <a:xfrm>
                <a:off x="3250311" y="3922871"/>
                <a:ext cx="39679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昂贵</a:t>
                </a:r>
              </a:p>
            </p:txBody>
          </p:sp>
          <p:sp>
            <p:nvSpPr>
              <p:cNvPr id="63" name="Line 63"/>
              <p:cNvSpPr/>
              <p:nvPr/>
            </p:nvSpPr>
            <p:spPr>
              <a:xfrm>
                <a:off x="3257550" y="4210050"/>
                <a:ext cx="1752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52600" h="9525">
                    <a:moveTo>
                      <a:pt x="0" y="0"/>
                    </a:moveTo>
                    <a:lnTo>
                      <a:pt x="1752600" y="0"/>
                    </a:lnTo>
                  </a:path>
                </a:pathLst>
              </a:custGeom>
              <a:noFill/>
              <a:ln w="14288">
                <a:solidFill>
                  <a:srgbClr val="EEF2F5"/>
                </a:solidFill>
              </a:ln>
            </p:spPr>
          </p:sp>
          <p:sp>
            <p:nvSpPr>
              <p:cNvPr id="64" name="TextBox 64"/>
              <p:cNvSpPr txBox="1"/>
              <p:nvPr/>
            </p:nvSpPr>
            <p:spPr>
              <a:xfrm>
                <a:off x="3251644" y="4408408"/>
                <a:ext cx="1417244" cy="2273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6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肽合成、质谱机时与</a:t>
                </a: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3251644" y="4637008"/>
                <a:ext cx="1261085" cy="2273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6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评价人力成本高，</a:t>
                </a:r>
              </a:p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3251644" y="4865608"/>
                <a:ext cx="1104925" cy="2273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6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难以大规模铺开</a:t>
                </a:r>
              </a:p>
            </p:txBody>
          </p:sp>
        </p:grpSp>
        <p:grpSp>
          <p:nvGrpSpPr>
            <p:cNvPr id="77" name="Group 77"/>
            <p:cNvGrpSpPr/>
            <p:nvPr/>
          </p:nvGrpSpPr>
          <p:grpSpPr>
            <a:xfrm>
              <a:off x="5448300" y="3067050"/>
              <a:ext cx="2247900" cy="2438400"/>
              <a:chOff x="5448300" y="3067050"/>
              <a:chExt cx="2247900" cy="2438400"/>
            </a:xfrm>
          </p:grpSpPr>
          <p:sp>
            <p:nvSpPr>
              <p:cNvPr id="68" name="Rectangle 68"/>
              <p:cNvSpPr/>
              <p:nvPr/>
            </p:nvSpPr>
            <p:spPr>
              <a:xfrm>
                <a:off x="5486400" y="3105150"/>
                <a:ext cx="2209800" cy="2400300"/>
              </a:xfrm>
              <a:prstGeom prst="roundRect">
                <a:avLst>
                  <a:gd name="adj" fmla="val 6897"/>
                </a:avLst>
              </a:prstGeom>
              <a:solidFill>
                <a:srgbClr val="E3E9ED"/>
              </a:solidFill>
              <a:ln>
                <a:noFill/>
              </a:ln>
            </p:spPr>
          </p:sp>
          <p:sp>
            <p:nvSpPr>
              <p:cNvPr id="69" name="Rectangle 69"/>
              <p:cNvSpPr/>
              <p:nvPr/>
            </p:nvSpPr>
            <p:spPr>
              <a:xfrm>
                <a:off x="5448300" y="3067050"/>
                <a:ext cx="2209800" cy="2400300"/>
              </a:xfrm>
              <a:prstGeom prst="roundRect">
                <a:avLst>
                  <a:gd name="adj" fmla="val 6897"/>
                </a:avLst>
              </a:prstGeom>
              <a:solidFill>
                <a:srgbClr val="FFFFFF"/>
              </a:solidFill>
              <a:ln w="14288">
                <a:solidFill>
                  <a:srgbClr val="E3E9ED"/>
                </a:solidFill>
              </a:ln>
            </p:spPr>
          </p:sp>
          <p:sp>
            <p:nvSpPr>
              <p:cNvPr id="70" name="Ellipse 70"/>
              <p:cNvSpPr/>
              <p:nvPr/>
            </p:nvSpPr>
            <p:spPr>
              <a:xfrm>
                <a:off x="5657850" y="3295650"/>
                <a:ext cx="495300" cy="495300"/>
              </a:xfrm>
              <a:prstGeom prst="ellipse">
                <a:avLst/>
              </a:prstGeom>
              <a:solidFill>
                <a:srgbClr val="FBE9DD"/>
              </a:solidFill>
              <a:ln>
                <a:noFill/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5791200" y="3429000"/>
                <a:ext cx="228600" cy="242888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42888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31032"/>
                    </a:lnTo>
                    <a:cubicBezTo>
                      <a:pt x="228598" y="38610"/>
                      <a:pt x="225587" y="45877"/>
                      <a:pt x="220228" y="51235"/>
                    </a:cubicBezTo>
                    <a:lnTo>
                      <a:pt x="157162" y="114300"/>
                    </a:lnTo>
                    <a:lnTo>
                      <a:pt x="157162" y="214312"/>
                    </a:lnTo>
                    <a:lnTo>
                      <a:pt x="71438" y="242888"/>
                    </a:lnTo>
                    <a:lnTo>
                      <a:pt x="71438" y="121444"/>
                    </a:lnTo>
                    <a:lnTo>
                      <a:pt x="7429" y="51035"/>
                    </a:lnTo>
                    <a:cubicBezTo>
                      <a:pt x="2650" y="45776"/>
                      <a:pt x="1" y="38925"/>
                      <a:pt x="0" y="31818"/>
                    </a:cubicBezTo>
                    <a:lnTo>
                      <a:pt x="0" y="0"/>
                    </a:lnTo>
                  </a:path>
                </a:pathLst>
              </a:custGeom>
              <a:noFill/>
              <a:ln w="28575">
                <a:solidFill>
                  <a:schemeClr val="accent3"/>
                </a:solidFill>
              </a:ln>
            </p:spPr>
          </p:sp>
          <p:sp>
            <p:nvSpPr>
              <p:cNvPr id="72" name="TextBox 72"/>
              <p:cNvSpPr txBox="1"/>
              <p:nvPr/>
            </p:nvSpPr>
            <p:spPr>
              <a:xfrm>
                <a:off x="5669661" y="3922871"/>
                <a:ext cx="58795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低通量</a:t>
                </a:r>
              </a:p>
            </p:txBody>
          </p:sp>
          <p:sp>
            <p:nvSpPr>
              <p:cNvPr id="73" name="Line 73"/>
              <p:cNvSpPr/>
              <p:nvPr/>
            </p:nvSpPr>
            <p:spPr>
              <a:xfrm>
                <a:off x="5676900" y="4210050"/>
                <a:ext cx="1752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52600" h="9525">
                    <a:moveTo>
                      <a:pt x="0" y="0"/>
                    </a:moveTo>
                    <a:lnTo>
                      <a:pt x="1752600" y="0"/>
                    </a:lnTo>
                  </a:path>
                </a:pathLst>
              </a:custGeom>
              <a:noFill/>
              <a:ln w="14288">
                <a:solidFill>
                  <a:srgbClr val="EEF2F5"/>
                </a:solidFill>
              </a:ln>
            </p:spPr>
          </p:sp>
          <p:sp>
            <p:nvSpPr>
              <p:cNvPr id="74" name="TextBox 74"/>
              <p:cNvSpPr txBox="1"/>
              <p:nvPr/>
            </p:nvSpPr>
            <p:spPr>
              <a:xfrm>
                <a:off x="5670994" y="4408408"/>
                <a:ext cx="1261085" cy="2273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6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万级候选肽中只能</a:t>
                </a:r>
              </a:p>
            </p:txBody>
          </p:sp>
          <p:sp>
            <p:nvSpPr>
              <p:cNvPr id="75" name="TextBox 75"/>
              <p:cNvSpPr txBox="1"/>
              <p:nvPr/>
            </p:nvSpPr>
            <p:spPr>
              <a:xfrm>
                <a:off x="5670994" y="4637008"/>
                <a:ext cx="1261085" cy="2273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6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验证极小一部分，</a:t>
                </a:r>
              </a:p>
            </p:txBody>
          </p:sp>
          <p:sp>
            <p:nvSpPr>
              <p:cNvPr id="76" name="TextBox 76"/>
              <p:cNvSpPr txBox="1"/>
              <p:nvPr/>
            </p:nvSpPr>
            <p:spPr>
              <a:xfrm>
                <a:off x="5670994" y="4865608"/>
                <a:ext cx="1261085" cy="2273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6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大量鲜味肽被漏掉</a:t>
                </a:r>
              </a:p>
            </p:txBody>
          </p:sp>
        </p:grpSp>
      </p:grpSp>
      <p:grpSp>
        <p:nvGrpSpPr>
          <p:cNvPr id="105" name="Group 105"/>
          <p:cNvGrpSpPr/>
          <p:nvPr/>
        </p:nvGrpSpPr>
        <p:grpSpPr>
          <a:xfrm>
            <a:off x="7962900" y="1485900"/>
            <a:ext cx="3657600" cy="4019550"/>
            <a:chOff x="7962900" y="1485900"/>
            <a:chExt cx="3657600" cy="4019550"/>
          </a:xfrm>
        </p:grpSpPr>
        <p:grpSp>
          <p:nvGrpSpPr>
            <p:cNvPr id="104" name="Group 104"/>
            <p:cNvGrpSpPr/>
            <p:nvPr/>
          </p:nvGrpSpPr>
          <p:grpSpPr>
            <a:xfrm>
              <a:off x="7962900" y="1485900"/>
              <a:ext cx="3657600" cy="4019550"/>
              <a:chOff x="7962900" y="1485900"/>
              <a:chExt cx="3657600" cy="4019550"/>
            </a:xfrm>
          </p:grpSpPr>
          <p:sp>
            <p:nvSpPr>
              <p:cNvPr id="79" name="Rectangle 79"/>
              <p:cNvSpPr/>
              <p:nvPr/>
            </p:nvSpPr>
            <p:spPr>
              <a:xfrm>
                <a:off x="8001000" y="1524000"/>
                <a:ext cx="3619500" cy="3981450"/>
              </a:xfrm>
              <a:prstGeom prst="roundRect">
                <a:avLst>
                  <a:gd name="adj" fmla="val 4211"/>
                </a:avLst>
              </a:prstGeom>
              <a:solidFill>
                <a:srgbClr val="E3E9ED"/>
              </a:solidFill>
              <a:ln>
                <a:noFill/>
              </a:ln>
            </p:spPr>
          </p:sp>
          <p:sp>
            <p:nvSpPr>
              <p:cNvPr id="80" name="Rectangle 80"/>
              <p:cNvSpPr/>
              <p:nvPr/>
            </p:nvSpPr>
            <p:spPr>
              <a:xfrm>
                <a:off x="7962900" y="1485900"/>
                <a:ext cx="3619500" cy="3981450"/>
              </a:xfrm>
              <a:prstGeom prst="roundRect">
                <a:avLst>
                  <a:gd name="adj" fmla="val 4211"/>
                </a:avLst>
              </a:prstGeom>
              <a:solidFill>
                <a:srgbClr val="FFFFFF"/>
              </a:solidFill>
              <a:ln w="14288">
                <a:solidFill>
                  <a:srgbClr val="DDE6EC"/>
                </a:solidFill>
              </a:ln>
            </p:spPr>
          </p:sp>
          <p:sp>
            <p:nvSpPr>
              <p:cNvPr id="81" name="TextBox 81"/>
              <p:cNvSpPr txBox="1"/>
              <p:nvPr/>
            </p:nvSpPr>
            <p:spPr>
              <a:xfrm>
                <a:off x="8185023" y="1691164"/>
                <a:ext cx="156377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范式对比：先算后验</a:t>
                </a:r>
              </a:p>
            </p:txBody>
          </p:sp>
          <p:grpSp>
            <p:nvGrpSpPr>
              <p:cNvPr id="97" name="Group 97"/>
              <p:cNvGrpSpPr/>
              <p:nvPr/>
            </p:nvGrpSpPr>
            <p:grpSpPr>
              <a:xfrm>
                <a:off x="8892819" y="2171700"/>
                <a:ext cx="2022069" cy="1787461"/>
                <a:chOff x="8892819" y="2171700"/>
                <a:chExt cx="2022069" cy="1787461"/>
              </a:xfrm>
            </p:grpSpPr>
            <p:sp>
              <p:nvSpPr>
                <p:cNvPr id="82" name="TextBox 82"/>
                <p:cNvSpPr txBox="1"/>
                <p:nvPr/>
              </p:nvSpPr>
              <p:spPr>
                <a:xfrm>
                  <a:off x="10338816" y="2229802"/>
                  <a:ext cx="576072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筛选通量</a:t>
                  </a:r>
                </a:p>
              </p:txBody>
            </p:sp>
            <p:sp>
              <p:nvSpPr>
                <p:cNvPr id="83" name="Rectangle 83"/>
                <p:cNvSpPr/>
                <p:nvPr/>
              </p:nvSpPr>
              <p:spPr>
                <a:xfrm>
                  <a:off x="9144000" y="2171700"/>
                  <a:ext cx="228600" cy="190500"/>
                </a:xfrm>
                <a:prstGeom prst="roundRect">
                  <a:avLst>
                    <a:gd name="adj" fmla="val 20000"/>
                  </a:avLst>
                </a:prstGeom>
                <a:solidFill>
                  <a:srgbClr val="B7C3CD"/>
                </a:solidFill>
                <a:ln>
                  <a:noFill/>
                </a:ln>
              </p:spPr>
            </p:sp>
            <p:sp>
              <p:nvSpPr>
                <p:cNvPr id="84" name="Rectangle 84"/>
                <p:cNvSpPr/>
                <p:nvPr/>
              </p:nvSpPr>
              <p:spPr>
                <a:xfrm>
                  <a:off x="9410700" y="2171700"/>
                  <a:ext cx="876300" cy="190500"/>
                </a:xfrm>
                <a:prstGeom prst="roundRect">
                  <a:avLst>
                    <a:gd name="adj" fmla="val 20000"/>
                  </a:avLst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85" name="TextBox 85"/>
                <p:cNvSpPr txBox="1"/>
                <p:nvPr/>
              </p:nvSpPr>
              <p:spPr>
                <a:xfrm>
                  <a:off x="8892819" y="2209324"/>
                  <a:ext cx="141834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98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低</a:t>
                  </a:r>
                </a:p>
              </p:txBody>
            </p:sp>
            <p:sp>
              <p:nvSpPr>
                <p:cNvPr id="86" name="TextBox 86"/>
                <p:cNvSpPr txBox="1"/>
                <p:nvPr/>
              </p:nvSpPr>
              <p:spPr>
                <a:xfrm>
                  <a:off x="10339197" y="2209324"/>
                  <a:ext cx="141834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80" b="1" dirty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rPr>
                    <a:t>高</a:t>
                  </a:r>
                </a:p>
              </p:txBody>
            </p:sp>
            <p:sp>
              <p:nvSpPr>
                <p:cNvPr id="87" name="TextBox 87"/>
                <p:cNvSpPr txBox="1"/>
                <p:nvPr/>
              </p:nvSpPr>
              <p:spPr>
                <a:xfrm>
                  <a:off x="10338816" y="2991802"/>
                  <a:ext cx="576072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单肽成本</a:t>
                  </a:r>
                </a:p>
              </p:txBody>
            </p:sp>
            <p:sp>
              <p:nvSpPr>
                <p:cNvPr id="88" name="Rectangle 88"/>
                <p:cNvSpPr/>
                <p:nvPr/>
              </p:nvSpPr>
              <p:spPr>
                <a:xfrm>
                  <a:off x="9144000" y="2933700"/>
                  <a:ext cx="876300" cy="190500"/>
                </a:xfrm>
                <a:prstGeom prst="roundRect">
                  <a:avLst>
                    <a:gd name="adj" fmla="val 20000"/>
                  </a:avLst>
                </a:prstGeom>
                <a:solidFill>
                  <a:srgbClr val="B7C3CD"/>
                </a:solidFill>
                <a:ln>
                  <a:noFill/>
                </a:ln>
              </p:spPr>
            </p:sp>
            <p:sp>
              <p:nvSpPr>
                <p:cNvPr id="89" name="Rectangle 89"/>
                <p:cNvSpPr/>
                <p:nvPr/>
              </p:nvSpPr>
              <p:spPr>
                <a:xfrm>
                  <a:off x="9410700" y="2933700"/>
                  <a:ext cx="152400" cy="190500"/>
                </a:xfrm>
                <a:prstGeom prst="roundRect">
                  <a:avLst>
                    <a:gd name="adj" fmla="val 25000"/>
                  </a:avLst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90" name="TextBox 90"/>
                <p:cNvSpPr txBox="1"/>
                <p:nvPr/>
              </p:nvSpPr>
              <p:spPr>
                <a:xfrm>
                  <a:off x="10072497" y="2971324"/>
                  <a:ext cx="141834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8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高</a:t>
                  </a:r>
                </a:p>
              </p:txBody>
            </p:sp>
            <p:sp>
              <p:nvSpPr>
                <p:cNvPr id="91" name="TextBox 91"/>
                <p:cNvSpPr txBox="1"/>
                <p:nvPr/>
              </p:nvSpPr>
              <p:spPr>
                <a:xfrm>
                  <a:off x="9615297" y="2971324"/>
                  <a:ext cx="141834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80" b="1" dirty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rPr>
                    <a:t>低</a:t>
                  </a:r>
                </a:p>
              </p:txBody>
            </p:sp>
            <p:sp>
              <p:nvSpPr>
                <p:cNvPr id="92" name="TextBox 92"/>
                <p:cNvSpPr txBox="1"/>
                <p:nvPr/>
              </p:nvSpPr>
              <p:spPr>
                <a:xfrm>
                  <a:off x="10338816" y="3753802"/>
                  <a:ext cx="576072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单肽耗时</a:t>
                  </a:r>
                </a:p>
              </p:txBody>
            </p:sp>
            <p:sp>
              <p:nvSpPr>
                <p:cNvPr id="93" name="Rectangle 93"/>
                <p:cNvSpPr/>
                <p:nvPr/>
              </p:nvSpPr>
              <p:spPr>
                <a:xfrm>
                  <a:off x="9144000" y="3695700"/>
                  <a:ext cx="914400" cy="190500"/>
                </a:xfrm>
                <a:prstGeom prst="roundRect">
                  <a:avLst>
                    <a:gd name="adj" fmla="val 20000"/>
                  </a:avLst>
                </a:prstGeom>
                <a:solidFill>
                  <a:srgbClr val="B7C3CD"/>
                </a:solidFill>
                <a:ln>
                  <a:noFill/>
                </a:ln>
              </p:spPr>
            </p:sp>
            <p:sp>
              <p:nvSpPr>
                <p:cNvPr id="94" name="Rectangle 94"/>
                <p:cNvSpPr/>
                <p:nvPr/>
              </p:nvSpPr>
              <p:spPr>
                <a:xfrm>
                  <a:off x="9410700" y="3695700"/>
                  <a:ext cx="114300" cy="190500"/>
                </a:xfrm>
                <a:prstGeom prst="roundRect">
                  <a:avLst>
                    <a:gd name="adj" fmla="val 33333"/>
                  </a:avLst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95" name="TextBox 95"/>
                <p:cNvSpPr txBox="1"/>
                <p:nvPr/>
              </p:nvSpPr>
              <p:spPr>
                <a:xfrm>
                  <a:off x="10110597" y="3733324"/>
                  <a:ext cx="141834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8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长</a:t>
                  </a:r>
                </a:p>
              </p:txBody>
            </p:sp>
            <p:sp>
              <p:nvSpPr>
                <p:cNvPr id="96" name="TextBox 96"/>
                <p:cNvSpPr txBox="1"/>
                <p:nvPr/>
              </p:nvSpPr>
              <p:spPr>
                <a:xfrm>
                  <a:off x="9577197" y="3733324"/>
                  <a:ext cx="141834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80" b="1" dirty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rPr>
                    <a:t>短</a:t>
                  </a:r>
                </a:p>
              </p:txBody>
            </p:sp>
          </p:grpSp>
          <p:grpSp>
            <p:nvGrpSpPr>
              <p:cNvPr id="102" name="Group 102"/>
              <p:cNvGrpSpPr/>
              <p:nvPr/>
            </p:nvGrpSpPr>
            <p:grpSpPr>
              <a:xfrm>
                <a:off x="8343900" y="4914900"/>
                <a:ext cx="2295552" cy="203026"/>
                <a:chOff x="8343900" y="4914900"/>
                <a:chExt cx="2295552" cy="203026"/>
              </a:xfrm>
            </p:grpSpPr>
            <p:sp>
              <p:nvSpPr>
                <p:cNvPr id="98" name="Rectangle 98"/>
                <p:cNvSpPr/>
                <p:nvPr/>
              </p:nvSpPr>
              <p:spPr>
                <a:xfrm>
                  <a:off x="8343900" y="4914900"/>
                  <a:ext cx="133350" cy="133350"/>
                </a:xfrm>
                <a:prstGeom prst="roundRect">
                  <a:avLst>
                    <a:gd name="adj" fmla="val 21429"/>
                  </a:avLst>
                </a:prstGeom>
                <a:solidFill>
                  <a:srgbClr val="B7C3CD"/>
                </a:solidFill>
                <a:ln>
                  <a:noFill/>
                </a:ln>
              </p:spPr>
            </p:sp>
            <p:sp>
              <p:nvSpPr>
                <p:cNvPr id="99" name="TextBox 99"/>
                <p:cNvSpPr txBox="1"/>
                <p:nvPr/>
              </p:nvSpPr>
              <p:spPr>
                <a:xfrm>
                  <a:off x="8548306" y="4919901"/>
                  <a:ext cx="690118" cy="1980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1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传统湿实验</a:t>
                  </a:r>
                </a:p>
              </p:txBody>
            </p:sp>
            <p:sp>
              <p:nvSpPr>
                <p:cNvPr id="100" name="Rectangle 100"/>
                <p:cNvSpPr/>
                <p:nvPr/>
              </p:nvSpPr>
              <p:spPr>
                <a:xfrm>
                  <a:off x="9620250" y="4914900"/>
                  <a:ext cx="133350" cy="133350"/>
                </a:xfrm>
                <a:prstGeom prst="roundRect">
                  <a:avLst>
                    <a:gd name="adj" fmla="val 21429"/>
                  </a:avLst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101" name="TextBox 101"/>
                <p:cNvSpPr txBox="1"/>
                <p:nvPr/>
              </p:nvSpPr>
              <p:spPr>
                <a:xfrm>
                  <a:off x="9824656" y="4919901"/>
                  <a:ext cx="814796" cy="1980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1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ML 虚拟筛选</a:t>
                  </a:r>
                </a:p>
              </p:txBody>
            </p:sp>
          </p:grpSp>
          <p:sp>
            <p:nvSpPr>
              <p:cNvPr id="103" name="TextBox 103"/>
              <p:cNvSpPr txBox="1"/>
              <p:nvPr/>
            </p:nvSpPr>
            <p:spPr>
              <a:xfrm>
                <a:off x="8186547" y="5190649"/>
                <a:ext cx="1593037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A3B2BF"/>
                    </a:solidFill>
                    <a:latin typeface="+mn-lt"/>
                    <a:ea typeface="+mn-ea"/>
                    <a:cs typeface="+mn-cs"/>
                  </a:rPr>
                  <a:t>定性示意，不代表绝对数值</a:t>
                </a:r>
              </a:p>
            </p:txBody>
          </p:sp>
        </p:grpSp>
      </p:grpSp>
      <p:grpSp>
        <p:nvGrpSpPr>
          <p:cNvPr id="113" name="Group 113"/>
          <p:cNvGrpSpPr/>
          <p:nvPr/>
        </p:nvGrpSpPr>
        <p:grpSpPr>
          <a:xfrm>
            <a:off x="609600" y="5619750"/>
            <a:ext cx="10972800" cy="533400"/>
            <a:chOff x="609600" y="5619750"/>
            <a:chExt cx="10972800" cy="533400"/>
          </a:xfrm>
        </p:grpSpPr>
        <p:sp>
          <p:nvSpPr>
            <p:cNvPr id="106" name="Rectangle 106"/>
            <p:cNvSpPr/>
            <p:nvPr/>
          </p:nvSpPr>
          <p:spPr>
            <a:xfrm>
              <a:off x="609600" y="5619750"/>
              <a:ext cx="10972800" cy="5334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7" name="Rectangle 107"/>
            <p:cNvSpPr/>
            <p:nvPr/>
          </p:nvSpPr>
          <p:spPr>
            <a:xfrm>
              <a:off x="609600" y="5619750"/>
              <a:ext cx="57150" cy="5334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grpSp>
          <p:nvGrpSpPr>
            <p:cNvPr id="111" name="Group 111"/>
            <p:cNvGrpSpPr/>
            <p:nvPr/>
          </p:nvGrpSpPr>
          <p:grpSpPr>
            <a:xfrm>
              <a:off x="947738" y="5786438"/>
              <a:ext cx="200026" cy="200025"/>
              <a:chOff x="947738" y="5786438"/>
              <a:chExt cx="200026" cy="200025"/>
            </a:xfrm>
          </p:grpSpPr>
          <p:sp>
            <p:nvSpPr>
              <p:cNvPr id="108" name="Freeform 108"/>
              <p:cNvSpPr/>
              <p:nvPr/>
            </p:nvSpPr>
            <p:spPr>
              <a:xfrm>
                <a:off x="947738" y="578643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2FB3A8"/>
                </a:solidFill>
              </a:ln>
            </p:spPr>
          </p:sp>
          <p:sp>
            <p:nvSpPr>
              <p:cNvPr id="109" name="Freeform 109"/>
              <p:cNvSpPr/>
              <p:nvPr/>
            </p:nvSpPr>
            <p:spPr>
              <a:xfrm>
                <a:off x="987476" y="583088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2FB3A8"/>
                </a:solidFill>
              </a:ln>
            </p:spPr>
          </p:sp>
          <p:sp>
            <p:nvSpPr>
              <p:cNvPr id="110" name="Freeform 110"/>
              <p:cNvSpPr/>
              <p:nvPr/>
            </p:nvSpPr>
            <p:spPr>
              <a:xfrm>
                <a:off x="1022192" y="594201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2FB3A8"/>
                </a:solidFill>
              </a:ln>
            </p:spPr>
          </p:sp>
        </p:grpSp>
        <p:sp>
          <p:nvSpPr>
            <p:cNvPr id="112" name="TextBox 112"/>
            <p:cNvSpPr txBox="1"/>
            <p:nvPr/>
          </p:nvSpPr>
          <p:spPr>
            <a:xfrm>
              <a:off x="1326642" y="5807392"/>
              <a:ext cx="63354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出路：机器学习让「先算后验」成为可能 —— 计算先行富集候选，实验集中验证</a:t>
              </a:r>
            </a:p>
          </p:txBody>
        </p:sp>
      </p:grpSp>
      <p:grpSp>
        <p:nvGrpSpPr>
          <p:cNvPr id="117" name="Group 117"/>
          <p:cNvGrpSpPr/>
          <p:nvPr/>
        </p:nvGrpSpPr>
        <p:grpSpPr>
          <a:xfrm>
            <a:off x="604647" y="6438900"/>
            <a:ext cx="10982706" cy="294989"/>
            <a:chOff x="604647" y="6438900"/>
            <a:chExt cx="10982706" cy="294989"/>
          </a:xfrm>
        </p:grpSpPr>
        <p:sp>
          <p:nvSpPr>
            <p:cNvPr id="114" name="Line 114"/>
            <p:cNvSpPr/>
            <p:nvPr/>
          </p:nvSpPr>
          <p:spPr>
            <a:xfrm>
              <a:off x="609600" y="6438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4288">
              <a:solidFill>
                <a:srgbClr val="DDE4EA"/>
              </a:solidFill>
            </a:ln>
          </p:spPr>
        </p:sp>
        <p:sp>
          <p:nvSpPr>
            <p:cNvPr id="115" name="TextBox 115"/>
            <p:cNvSpPr txBox="1"/>
            <p:nvPr/>
          </p:nvSpPr>
          <p:spPr>
            <a:xfrm>
              <a:off x="604647" y="6543199"/>
              <a:ext cx="428921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A3B2BF"/>
                  </a:solidFill>
                  <a:latin typeface="+mn-lt"/>
                  <a:ea typeface="+mn-ea"/>
                  <a:cs typeface="+mn-cs"/>
                </a:rPr>
                <a:t>来源：iUP-BERT（Foods 2022）；食品呈味肽计算机辅助分析研究进展</a:t>
              </a:r>
            </a:p>
          </p:txBody>
        </p:sp>
        <p:sp>
          <p:nvSpPr>
            <p:cNvPr id="116" name="TextBox 116"/>
            <p:cNvSpPr txBox="1"/>
            <p:nvPr/>
          </p:nvSpPr>
          <p:spPr>
            <a:xfrm>
              <a:off x="11135490" y="6543199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A3B2BF"/>
                  </a:solidFill>
                  <a:latin typeface="+mn-lt"/>
                  <a:ea typeface="+mn-ea"/>
                  <a:cs typeface="+mn-cs"/>
                </a:rPr>
                <a:t>03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8170" y="515302"/>
            <a:ext cx="4629136" cy="843915"/>
            <a:chOff x="598170" y="515302"/>
            <a:chExt cx="4629136" cy="843915"/>
          </a:xfrm>
        </p:grpSpPr>
        <p:sp>
          <p:nvSpPr>
            <p:cNvPr id="2" name="TextBox 2"/>
            <p:cNvSpPr txBox="1"/>
            <p:nvPr/>
          </p:nvSpPr>
          <p:spPr>
            <a:xfrm>
              <a:off x="604266" y="515302"/>
              <a:ext cx="14956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22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 · 机器学习路线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609600" y="762000"/>
              <a:ext cx="457200" cy="47625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98170" y="919162"/>
              <a:ext cx="462913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完整流水线：「预测 — 验证」双轨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09600" y="1638300"/>
            <a:ext cx="800100" cy="2419350"/>
            <a:chOff x="609600" y="1638300"/>
            <a:chExt cx="800100" cy="2419350"/>
          </a:xfrm>
        </p:grpSpPr>
        <p:sp>
          <p:nvSpPr>
            <p:cNvPr id="6" name="Rectangle 6"/>
            <p:cNvSpPr/>
            <p:nvPr/>
          </p:nvSpPr>
          <p:spPr>
            <a:xfrm>
              <a:off x="609600" y="1638300"/>
              <a:ext cx="800100" cy="142875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61238" y="211836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干实验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10205" y="2405301"/>
              <a:ext cx="798891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10" dirty="0">
                  <a:solidFill>
                    <a:srgbClr val="8FB8DE"/>
                  </a:solidFill>
                  <a:latin typeface="+mn-lt"/>
                  <a:ea typeface="+mn-ea"/>
                  <a:cs typeface="+mn-cs"/>
                </a:rPr>
                <a:t>计算侧 · ①–⑤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952500" y="2762250"/>
              <a:ext cx="114300" cy="114300"/>
            </a:xfrm>
            <a:prstGeom prst="ellipse">
              <a:avLst/>
            </a:prstGeom>
            <a:solidFill>
              <a:srgbClr val="2FB3A8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609600" y="3257550"/>
              <a:ext cx="800100" cy="800100"/>
            </a:xfrm>
            <a:prstGeom prst="roundRect">
              <a:avLst>
                <a:gd name="adj" fmla="val 16667"/>
              </a:avLst>
            </a:prstGeom>
            <a:solidFill>
              <a:srgbClr val="FBE9DD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61238" y="348996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B5663A"/>
                  </a:solidFill>
                  <a:latin typeface="+mn-lt"/>
                  <a:ea typeface="+mn-ea"/>
                  <a:cs typeface="+mn-cs"/>
                </a:rPr>
                <a:t>湿实验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67116" y="3757851"/>
              <a:ext cx="85068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10" dirty="0">
                  <a:solidFill>
                    <a:srgbClr val="C68A66"/>
                  </a:solidFill>
                  <a:latin typeface="+mn-lt"/>
                  <a:ea typeface="+mn-ea"/>
                  <a:cs typeface="+mn-cs"/>
                </a:rPr>
                <a:t>⑥</a:t>
              </a:r>
            </a:p>
          </p:txBody>
        </p:sp>
      </p:grpSp>
      <p:grpSp>
        <p:nvGrpSpPr>
          <p:cNvPr id="105" name="Group 105"/>
          <p:cNvGrpSpPr/>
          <p:nvPr/>
        </p:nvGrpSpPr>
        <p:grpSpPr>
          <a:xfrm>
            <a:off x="1638300" y="1638300"/>
            <a:ext cx="8782050" cy="2400300"/>
            <a:chOff x="1638300" y="1638300"/>
            <a:chExt cx="8782050" cy="2400300"/>
          </a:xfrm>
        </p:grpSpPr>
        <p:grpSp>
          <p:nvGrpSpPr>
            <p:cNvPr id="24" name="Group 24"/>
            <p:cNvGrpSpPr/>
            <p:nvPr/>
          </p:nvGrpSpPr>
          <p:grpSpPr>
            <a:xfrm>
              <a:off x="1638300" y="1638300"/>
              <a:ext cx="1543050" cy="1390650"/>
              <a:chOff x="1638300" y="1638300"/>
              <a:chExt cx="1543050" cy="1390650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1676400" y="1676400"/>
                <a:ext cx="1504950" cy="1352550"/>
              </a:xfrm>
              <a:prstGeom prst="roundRect">
                <a:avLst>
                  <a:gd name="adj" fmla="val 11268"/>
                </a:avLst>
              </a:prstGeom>
              <a:solidFill>
                <a:srgbClr val="E3E9ED"/>
              </a:solidFill>
              <a:ln>
                <a:noFill/>
              </a:ln>
            </p:spPr>
          </p:sp>
          <p:sp>
            <p:nvSpPr>
              <p:cNvPr id="15" name="Rectangle 15"/>
              <p:cNvSpPr/>
              <p:nvPr/>
            </p:nvSpPr>
            <p:spPr>
              <a:xfrm>
                <a:off x="1638300" y="1638300"/>
                <a:ext cx="1504950" cy="1352550"/>
              </a:xfrm>
              <a:prstGeom prst="roundRect">
                <a:avLst>
                  <a:gd name="adj" fmla="val 11268"/>
                </a:avLst>
              </a:prstGeom>
              <a:solidFill>
                <a:srgbClr val="FFFFFF"/>
              </a:solidFill>
              <a:ln w="14288">
                <a:solidFill>
                  <a:srgbClr val="E3E9ED"/>
                </a:solidFill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1804797" y="1818799"/>
                <a:ext cx="600828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b="1" spc="75" dirty="0">
                    <a:solidFill>
                      <a:srgbClr val="9AA8B3"/>
                    </a:solidFill>
                    <a:latin typeface="+mn-lt"/>
                    <a:ea typeface="+mn-ea"/>
                    <a:cs typeface="+mn-cs"/>
                  </a:rPr>
                  <a:t>STEP 01</a:t>
                </a:r>
              </a:p>
            </p:txBody>
          </p:sp>
          <p:sp>
            <p:nvSpPr>
              <p:cNvPr id="17" name="Ellipse 17"/>
              <p:cNvSpPr/>
              <p:nvPr/>
            </p:nvSpPr>
            <p:spPr>
              <a:xfrm>
                <a:off x="1724025" y="2085975"/>
                <a:ext cx="400050" cy="40005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</p:sp>
          <p:grpSp>
            <p:nvGrpSpPr>
              <p:cNvPr id="21" name="Group 21"/>
              <p:cNvGrpSpPr/>
              <p:nvPr/>
            </p:nvGrpSpPr>
            <p:grpSpPr>
              <a:xfrm>
                <a:off x="1828800" y="2178844"/>
                <a:ext cx="190500" cy="214312"/>
                <a:chOff x="1828800" y="2178844"/>
                <a:chExt cx="190500" cy="214312"/>
              </a:xfrm>
            </p:grpSpPr>
            <p:sp>
              <p:nvSpPr>
                <p:cNvPr id="18" name="Freeform 18"/>
                <p:cNvSpPr/>
                <p:nvPr/>
              </p:nvSpPr>
              <p:spPr>
                <a:xfrm>
                  <a:off x="1828800" y="2178844"/>
                  <a:ext cx="190500" cy="71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" h="71438">
                      <a:moveTo>
                        <a:pt x="0" y="35719"/>
                      </a:moveTo>
                      <a:cubicBezTo>
                        <a:pt x="0" y="55446"/>
                        <a:pt x="42645" y="71438"/>
                        <a:pt x="95250" y="71438"/>
                      </a:cubicBezTo>
                      <a:cubicBezTo>
                        <a:pt x="147855" y="71438"/>
                        <a:pt x="190500" y="55446"/>
                        <a:pt x="190500" y="35719"/>
                      </a:cubicBezTo>
                      <a:cubicBezTo>
                        <a:pt x="190500" y="15992"/>
                        <a:pt x="147855" y="0"/>
                        <a:pt x="95250" y="0"/>
                      </a:cubicBezTo>
                      <a:cubicBezTo>
                        <a:pt x="42645" y="0"/>
                        <a:pt x="0" y="15992"/>
                        <a:pt x="0" y="35719"/>
                      </a:cubicBezTo>
                    </a:path>
                  </a:pathLst>
                </a:custGeom>
                <a:noFill/>
                <a:ln w="23812">
                  <a:solidFill>
                    <a:schemeClr val="accent1"/>
                  </a:solidFill>
                </a:ln>
              </p:spPr>
            </p:sp>
            <p:sp>
              <p:nvSpPr>
                <p:cNvPr id="19" name="Freeform 19"/>
                <p:cNvSpPr/>
                <p:nvPr/>
              </p:nvSpPr>
              <p:spPr>
                <a:xfrm>
                  <a:off x="1828800" y="2214562"/>
                  <a:ext cx="190500" cy="1071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" h="107156">
                      <a:moveTo>
                        <a:pt x="0" y="0"/>
                      </a:moveTo>
                      <a:lnTo>
                        <a:pt x="0" y="71438"/>
                      </a:lnTo>
                      <a:cubicBezTo>
                        <a:pt x="0" y="91164"/>
                        <a:pt x="42645" y="107156"/>
                        <a:pt x="95250" y="107156"/>
                      </a:cubicBezTo>
                      <a:cubicBezTo>
                        <a:pt x="147855" y="107156"/>
                        <a:pt x="190500" y="91164"/>
                        <a:pt x="190500" y="71438"/>
                      </a:cubicBezTo>
                      <a:lnTo>
                        <a:pt x="190500" y="0"/>
                      </a:lnTo>
                    </a:path>
                  </a:pathLst>
                </a:custGeom>
                <a:noFill/>
                <a:ln w="23812">
                  <a:solidFill>
                    <a:schemeClr val="accent1"/>
                  </a:solidFill>
                </a:ln>
              </p:spPr>
            </p:sp>
            <p:sp>
              <p:nvSpPr>
                <p:cNvPr id="20" name="Freeform 20"/>
                <p:cNvSpPr/>
                <p:nvPr/>
              </p:nvSpPr>
              <p:spPr>
                <a:xfrm>
                  <a:off x="1828800" y="2286000"/>
                  <a:ext cx="190500" cy="1071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" h="107156">
                      <a:moveTo>
                        <a:pt x="0" y="0"/>
                      </a:moveTo>
                      <a:lnTo>
                        <a:pt x="0" y="71438"/>
                      </a:lnTo>
                      <a:cubicBezTo>
                        <a:pt x="0" y="91164"/>
                        <a:pt x="42645" y="107156"/>
                        <a:pt x="95250" y="107156"/>
                      </a:cubicBezTo>
                      <a:cubicBezTo>
                        <a:pt x="147855" y="107156"/>
                        <a:pt x="190500" y="91164"/>
                        <a:pt x="190500" y="71438"/>
                      </a:cubicBezTo>
                      <a:lnTo>
                        <a:pt x="190500" y="0"/>
                      </a:lnTo>
                    </a:path>
                  </a:pathLst>
                </a:custGeom>
                <a:noFill/>
                <a:ln w="23812">
                  <a:solidFill>
                    <a:schemeClr val="accent1"/>
                  </a:solidFill>
                </a:ln>
              </p:spPr>
            </p:sp>
          </p:grpSp>
          <p:sp>
            <p:nvSpPr>
              <p:cNvPr id="22" name="TextBox 22"/>
              <p:cNvSpPr txBox="1"/>
              <p:nvPr/>
            </p:nvSpPr>
            <p:spPr>
              <a:xfrm>
                <a:off x="1803273" y="2548414"/>
                <a:ext cx="702208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数据收集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804606" y="2786301"/>
                <a:ext cx="846479" cy="19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1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数据库 + 文献</a:t>
                </a: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3228975" y="2266950"/>
              <a:ext cx="133350" cy="114300"/>
              <a:chOff x="3228975" y="2266950"/>
              <a:chExt cx="133350" cy="1143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3228975" y="2324100"/>
                <a:ext cx="1333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9525">
                    <a:moveTo>
                      <a:pt x="0" y="0"/>
                    </a:moveTo>
                    <a:lnTo>
                      <a:pt x="133350" y="0"/>
                    </a:lnTo>
                  </a:path>
                </a:pathLst>
              </a:custGeom>
              <a:noFill/>
              <a:ln w="19050">
                <a:solidFill>
                  <a:srgbClr val="9AA8B3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3305175" y="2324100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57150"/>
                    </a:moveTo>
                    <a:lnTo>
                      <a:pt x="57150" y="0"/>
                    </a:lnTo>
                  </a:path>
                </a:pathLst>
              </a:custGeom>
              <a:noFill/>
              <a:ln w="19050">
                <a:solidFill>
                  <a:srgbClr val="9AA8B3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3305175" y="2266950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0"/>
                    </a:moveTo>
                    <a:lnTo>
                      <a:pt x="57150" y="57150"/>
                    </a:lnTo>
                  </a:path>
                </a:pathLst>
              </a:custGeom>
              <a:noFill/>
              <a:ln w="19050">
                <a:solidFill>
                  <a:srgbClr val="9AA8B3"/>
                </a:solidFill>
              </a:ln>
            </p:spPr>
          </p:sp>
        </p:grpSp>
        <p:grpSp>
          <p:nvGrpSpPr>
            <p:cNvPr id="40" name="Group 40"/>
            <p:cNvGrpSpPr/>
            <p:nvPr/>
          </p:nvGrpSpPr>
          <p:grpSpPr>
            <a:xfrm>
              <a:off x="3448050" y="1638300"/>
              <a:ext cx="1543050" cy="1390650"/>
              <a:chOff x="3448050" y="1638300"/>
              <a:chExt cx="1543050" cy="1390650"/>
            </a:xfrm>
          </p:grpSpPr>
          <p:sp>
            <p:nvSpPr>
              <p:cNvPr id="29" name="Rectangle 29"/>
              <p:cNvSpPr/>
              <p:nvPr/>
            </p:nvSpPr>
            <p:spPr>
              <a:xfrm>
                <a:off x="3486150" y="1676400"/>
                <a:ext cx="1504950" cy="1352550"/>
              </a:xfrm>
              <a:prstGeom prst="roundRect">
                <a:avLst>
                  <a:gd name="adj" fmla="val 11268"/>
                </a:avLst>
              </a:prstGeom>
              <a:solidFill>
                <a:srgbClr val="E3E9ED"/>
              </a:solidFill>
              <a:ln>
                <a:noFill/>
              </a:ln>
            </p:spPr>
          </p:sp>
          <p:sp>
            <p:nvSpPr>
              <p:cNvPr id="30" name="Rectangle 30"/>
              <p:cNvSpPr/>
              <p:nvPr/>
            </p:nvSpPr>
            <p:spPr>
              <a:xfrm>
                <a:off x="3448050" y="1638300"/>
                <a:ext cx="1504950" cy="1352550"/>
              </a:xfrm>
              <a:prstGeom prst="roundRect">
                <a:avLst>
                  <a:gd name="adj" fmla="val 11268"/>
                </a:avLst>
              </a:prstGeom>
              <a:solidFill>
                <a:srgbClr val="FFFFFF"/>
              </a:solidFill>
              <a:ln w="14288">
                <a:solidFill>
                  <a:srgbClr val="E3E9ED"/>
                </a:solidFill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3614547" y="1818799"/>
                <a:ext cx="600828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b="1" spc="75" dirty="0">
                    <a:solidFill>
                      <a:srgbClr val="9AA8B3"/>
                    </a:solidFill>
                    <a:latin typeface="+mn-lt"/>
                    <a:ea typeface="+mn-ea"/>
                    <a:cs typeface="+mn-cs"/>
                  </a:rPr>
                  <a:t>STEP 02</a:t>
                </a:r>
              </a:p>
            </p:txBody>
          </p:sp>
          <p:sp>
            <p:nvSpPr>
              <p:cNvPr id="32" name="Ellipse 32"/>
              <p:cNvSpPr/>
              <p:nvPr/>
            </p:nvSpPr>
            <p:spPr>
              <a:xfrm>
                <a:off x="3533775" y="2085975"/>
                <a:ext cx="400050" cy="40005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</p:sp>
          <p:grpSp>
            <p:nvGrpSpPr>
              <p:cNvPr id="37" name="Group 37"/>
              <p:cNvGrpSpPr/>
              <p:nvPr/>
            </p:nvGrpSpPr>
            <p:grpSpPr>
              <a:xfrm>
                <a:off x="3623326" y="2178844"/>
                <a:ext cx="220120" cy="217647"/>
                <a:chOff x="3623326" y="2178844"/>
                <a:chExt cx="220120" cy="217647"/>
              </a:xfrm>
            </p:grpSpPr>
            <p:sp>
              <p:nvSpPr>
                <p:cNvPr id="33" name="Freeform 33"/>
                <p:cNvSpPr/>
                <p:nvPr/>
              </p:nvSpPr>
              <p:spPr>
                <a:xfrm>
                  <a:off x="3623326" y="2190750"/>
                  <a:ext cx="205724" cy="2057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5724" h="205741">
                      <a:moveTo>
                        <a:pt x="205724" y="48101"/>
                      </a:moveTo>
                      <a:lnTo>
                        <a:pt x="61396" y="192453"/>
                      </a:lnTo>
                      <a:cubicBezTo>
                        <a:pt x="48113" y="205739"/>
                        <a:pt x="26575" y="205741"/>
                        <a:pt x="13289" y="192459"/>
                      </a:cubicBezTo>
                      <a:cubicBezTo>
                        <a:pt x="3" y="179176"/>
                        <a:pt x="0" y="157637"/>
                        <a:pt x="13283" y="144351"/>
                      </a:cubicBezTo>
                      <a:lnTo>
                        <a:pt x="157610" y="0"/>
                      </a:lnTo>
                    </a:path>
                  </a:pathLst>
                </a:custGeom>
                <a:noFill/>
                <a:ln w="23812">
                  <a:solidFill>
                    <a:schemeClr val="accent1"/>
                  </a:solidFill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3674269" y="2297906"/>
                  <a:ext cx="952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9525">
                      <a:moveTo>
                        <a:pt x="0" y="0"/>
                      </a:moveTo>
                      <a:lnTo>
                        <a:pt x="95250" y="0"/>
                      </a:lnTo>
                    </a:path>
                  </a:pathLst>
                </a:custGeom>
                <a:noFill/>
                <a:ln w="23812">
                  <a:solidFill>
                    <a:schemeClr val="accent1"/>
                  </a:solidFill>
                </a:ln>
              </p:spPr>
            </p:sp>
            <p:sp>
              <p:nvSpPr>
                <p:cNvPr id="35" name="Freeform 35"/>
                <p:cNvSpPr/>
                <p:nvPr/>
              </p:nvSpPr>
              <p:spPr>
                <a:xfrm>
                  <a:off x="3790841" y="2321719"/>
                  <a:ext cx="52605" cy="608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605" h="60822">
                      <a:moveTo>
                        <a:pt x="26302" y="0"/>
                      </a:moveTo>
                      <a:lnTo>
                        <a:pt x="44162" y="19050"/>
                      </a:lnTo>
                      <a:cubicBezTo>
                        <a:pt x="52605" y="28623"/>
                        <a:pt x="51997" y="43151"/>
                        <a:pt x="42785" y="51986"/>
                      </a:cubicBezTo>
                      <a:cubicBezTo>
                        <a:pt x="33573" y="60822"/>
                        <a:pt x="19032" y="60822"/>
                        <a:pt x="9820" y="51986"/>
                      </a:cubicBezTo>
                      <a:cubicBezTo>
                        <a:pt x="607" y="43151"/>
                        <a:pt x="0" y="28623"/>
                        <a:pt x="8443" y="19050"/>
                      </a:cubicBezTo>
                      <a:lnTo>
                        <a:pt x="26302" y="0"/>
                      </a:lnTo>
                    </a:path>
                  </a:pathLst>
                </a:custGeom>
                <a:noFill/>
                <a:ln w="23812">
                  <a:solidFill>
                    <a:schemeClr val="accent1"/>
                  </a:solidFill>
                </a:ln>
              </p:spPr>
            </p:sp>
            <p:sp>
              <p:nvSpPr>
                <p:cNvPr id="36" name="Freeform 36"/>
                <p:cNvSpPr/>
                <p:nvPr/>
              </p:nvSpPr>
              <p:spPr>
                <a:xfrm>
                  <a:off x="3769519" y="2178844"/>
                  <a:ext cx="71438" cy="71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438" h="71438">
                      <a:moveTo>
                        <a:pt x="0" y="0"/>
                      </a:moveTo>
                      <a:lnTo>
                        <a:pt x="71438" y="71438"/>
                      </a:lnTo>
                    </a:path>
                  </a:pathLst>
                </a:custGeom>
                <a:noFill/>
                <a:ln w="23812">
                  <a:solidFill>
                    <a:schemeClr val="accent1"/>
                  </a:solidFill>
                </a:ln>
              </p:spPr>
            </p:sp>
          </p:grpSp>
          <p:sp>
            <p:nvSpPr>
              <p:cNvPr id="38" name="TextBox 38"/>
              <p:cNvSpPr txBox="1"/>
              <p:nvPr/>
            </p:nvSpPr>
            <p:spPr>
              <a:xfrm>
                <a:off x="3613023" y="2548414"/>
                <a:ext cx="702208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虚拟酶解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3614356" y="2786301"/>
                <a:ext cx="962050" cy="19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1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批量生成候选库</a:t>
                </a:r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>
              <a:off x="5038725" y="2266950"/>
              <a:ext cx="133350" cy="114300"/>
              <a:chOff x="5038725" y="2266950"/>
              <a:chExt cx="133350" cy="11430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5038725" y="2324100"/>
                <a:ext cx="1333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9525">
                    <a:moveTo>
                      <a:pt x="0" y="0"/>
                    </a:moveTo>
                    <a:lnTo>
                      <a:pt x="133350" y="0"/>
                    </a:lnTo>
                  </a:path>
                </a:pathLst>
              </a:custGeom>
              <a:noFill/>
              <a:ln w="19050">
                <a:solidFill>
                  <a:srgbClr val="9AA8B3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5114925" y="2324100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57150"/>
                    </a:moveTo>
                    <a:lnTo>
                      <a:pt x="57150" y="0"/>
                    </a:lnTo>
                  </a:path>
                </a:pathLst>
              </a:custGeom>
              <a:noFill/>
              <a:ln w="19050">
                <a:solidFill>
                  <a:srgbClr val="9AA8B3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5114925" y="2266950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0"/>
                    </a:moveTo>
                    <a:lnTo>
                      <a:pt x="57150" y="57150"/>
                    </a:lnTo>
                  </a:path>
                </a:pathLst>
              </a:custGeom>
              <a:noFill/>
              <a:ln w="19050">
                <a:solidFill>
                  <a:srgbClr val="9AA8B3"/>
                </a:solidFill>
              </a:ln>
            </p:spPr>
          </p:sp>
        </p:grpSp>
        <p:grpSp>
          <p:nvGrpSpPr>
            <p:cNvPr id="61" name="Group 61"/>
            <p:cNvGrpSpPr/>
            <p:nvPr/>
          </p:nvGrpSpPr>
          <p:grpSpPr>
            <a:xfrm>
              <a:off x="5257800" y="1638300"/>
              <a:ext cx="1543050" cy="1390650"/>
              <a:chOff x="5257800" y="1638300"/>
              <a:chExt cx="1543050" cy="1390650"/>
            </a:xfrm>
          </p:grpSpPr>
          <p:sp>
            <p:nvSpPr>
              <p:cNvPr id="45" name="Rectangle 45"/>
              <p:cNvSpPr/>
              <p:nvPr/>
            </p:nvSpPr>
            <p:spPr>
              <a:xfrm>
                <a:off x="5295900" y="1676400"/>
                <a:ext cx="1504950" cy="1352550"/>
              </a:xfrm>
              <a:prstGeom prst="roundRect">
                <a:avLst>
                  <a:gd name="adj" fmla="val 11268"/>
                </a:avLst>
              </a:prstGeom>
              <a:solidFill>
                <a:srgbClr val="E3E9ED"/>
              </a:solidFill>
              <a:ln>
                <a:noFill/>
              </a:ln>
            </p:spPr>
          </p:sp>
          <p:sp>
            <p:nvSpPr>
              <p:cNvPr id="46" name="Rectangle 46"/>
              <p:cNvSpPr/>
              <p:nvPr/>
            </p:nvSpPr>
            <p:spPr>
              <a:xfrm>
                <a:off x="5257800" y="1638300"/>
                <a:ext cx="1504950" cy="1352550"/>
              </a:xfrm>
              <a:prstGeom prst="roundRect">
                <a:avLst>
                  <a:gd name="adj" fmla="val 11268"/>
                </a:avLst>
              </a:prstGeom>
              <a:solidFill>
                <a:srgbClr val="FFFFFF"/>
              </a:solidFill>
              <a:ln w="14288">
                <a:solidFill>
                  <a:srgbClr val="E3E9ED"/>
                </a:solidFill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5424297" y="1818799"/>
                <a:ext cx="600828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b="1" spc="75" dirty="0">
                    <a:solidFill>
                      <a:srgbClr val="9AA8B3"/>
                    </a:solidFill>
                    <a:latin typeface="+mn-lt"/>
                    <a:ea typeface="+mn-ea"/>
                    <a:cs typeface="+mn-cs"/>
                  </a:rPr>
                  <a:t>STEP 03</a:t>
                </a:r>
              </a:p>
            </p:txBody>
          </p:sp>
          <p:sp>
            <p:nvSpPr>
              <p:cNvPr id="48" name="Ellipse 48"/>
              <p:cNvSpPr/>
              <p:nvPr/>
            </p:nvSpPr>
            <p:spPr>
              <a:xfrm>
                <a:off x="5343525" y="2085975"/>
                <a:ext cx="400050" cy="40005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</p:sp>
          <p:grpSp>
            <p:nvGrpSpPr>
              <p:cNvPr id="58" name="Group 58"/>
              <p:cNvGrpSpPr/>
              <p:nvPr/>
            </p:nvGrpSpPr>
            <p:grpSpPr>
              <a:xfrm>
                <a:off x="5424488" y="2166938"/>
                <a:ext cx="226218" cy="238125"/>
                <a:chOff x="5424488" y="2166938"/>
                <a:chExt cx="226218" cy="238125"/>
              </a:xfrm>
            </p:grpSpPr>
            <p:sp>
              <p:nvSpPr>
                <p:cNvPr id="49" name="Freeform 49"/>
                <p:cNvSpPr/>
                <p:nvPr/>
              </p:nvSpPr>
              <p:spPr>
                <a:xfrm>
                  <a:off x="5424488" y="2357438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47625">
                      <a:moveTo>
                        <a:pt x="47625" y="23812"/>
                      </a:moveTo>
                      <a:cubicBezTo>
                        <a:pt x="47625" y="10661"/>
                        <a:pt x="36964" y="0"/>
                        <a:pt x="23812" y="0"/>
                      </a:cubicBezTo>
                      <a:cubicBezTo>
                        <a:pt x="10661" y="0"/>
                        <a:pt x="0" y="10661"/>
                        <a:pt x="0" y="23812"/>
                      </a:cubicBezTo>
                      <a:cubicBezTo>
                        <a:pt x="0" y="36964"/>
                        <a:pt x="10661" y="47625"/>
                        <a:pt x="23812" y="47625"/>
                      </a:cubicBezTo>
                      <a:cubicBezTo>
                        <a:pt x="36964" y="47625"/>
                        <a:pt x="47625" y="36964"/>
                        <a:pt x="47625" y="23812"/>
                      </a:cubicBezTo>
                    </a:path>
                  </a:pathLst>
                </a:custGeom>
                <a:noFill/>
                <a:ln w="23812">
                  <a:solidFill>
                    <a:schemeClr val="accent1"/>
                  </a:solidFill>
                </a:ln>
              </p:spPr>
            </p:sp>
            <p:sp>
              <p:nvSpPr>
                <p:cNvPr id="50" name="Freeform 50"/>
                <p:cNvSpPr/>
                <p:nvPr/>
              </p:nvSpPr>
              <p:spPr>
                <a:xfrm>
                  <a:off x="5543550" y="2166938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47625">
                      <a:moveTo>
                        <a:pt x="47625" y="23812"/>
                      </a:moveTo>
                      <a:cubicBezTo>
                        <a:pt x="47625" y="10661"/>
                        <a:pt x="36964" y="0"/>
                        <a:pt x="23812" y="0"/>
                      </a:cubicBezTo>
                      <a:cubicBezTo>
                        <a:pt x="10661" y="0"/>
                        <a:pt x="0" y="10661"/>
                        <a:pt x="0" y="23812"/>
                      </a:cubicBezTo>
                      <a:cubicBezTo>
                        <a:pt x="0" y="36964"/>
                        <a:pt x="10661" y="47625"/>
                        <a:pt x="23812" y="47625"/>
                      </a:cubicBezTo>
                      <a:cubicBezTo>
                        <a:pt x="36964" y="47625"/>
                        <a:pt x="47625" y="36964"/>
                        <a:pt x="47625" y="23812"/>
                      </a:cubicBezTo>
                    </a:path>
                  </a:pathLst>
                </a:custGeom>
                <a:noFill/>
                <a:ln w="23812">
                  <a:solidFill>
                    <a:schemeClr val="accent1"/>
                  </a:solidFill>
                </a:ln>
              </p:spPr>
            </p:sp>
            <p:sp>
              <p:nvSpPr>
                <p:cNvPr id="51" name="Freeform 51"/>
                <p:cNvSpPr/>
                <p:nvPr/>
              </p:nvSpPr>
              <p:spPr>
                <a:xfrm>
                  <a:off x="5543550" y="2357438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47625">
                      <a:moveTo>
                        <a:pt x="47625" y="23812"/>
                      </a:moveTo>
                      <a:cubicBezTo>
                        <a:pt x="47625" y="10661"/>
                        <a:pt x="36964" y="0"/>
                        <a:pt x="23812" y="0"/>
                      </a:cubicBezTo>
                      <a:cubicBezTo>
                        <a:pt x="10661" y="0"/>
                        <a:pt x="0" y="10661"/>
                        <a:pt x="0" y="23812"/>
                      </a:cubicBezTo>
                      <a:cubicBezTo>
                        <a:pt x="0" y="36964"/>
                        <a:pt x="10661" y="47625"/>
                        <a:pt x="23812" y="47625"/>
                      </a:cubicBezTo>
                      <a:cubicBezTo>
                        <a:pt x="36964" y="47625"/>
                        <a:pt x="47625" y="36964"/>
                        <a:pt x="47625" y="23812"/>
                      </a:cubicBezTo>
                    </a:path>
                  </a:pathLst>
                </a:custGeom>
                <a:noFill/>
                <a:ln w="23812">
                  <a:solidFill>
                    <a:schemeClr val="accent1"/>
                  </a:solidFill>
                </a:ln>
              </p:spPr>
            </p:sp>
            <p:sp>
              <p:nvSpPr>
                <p:cNvPr id="52" name="Freeform 52"/>
                <p:cNvSpPr/>
                <p:nvPr/>
              </p:nvSpPr>
              <p:spPr>
                <a:xfrm>
                  <a:off x="5484019" y="2262188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47625">
                      <a:moveTo>
                        <a:pt x="47625" y="23812"/>
                      </a:moveTo>
                      <a:cubicBezTo>
                        <a:pt x="47625" y="10661"/>
                        <a:pt x="36964" y="0"/>
                        <a:pt x="23812" y="0"/>
                      </a:cubicBezTo>
                      <a:cubicBezTo>
                        <a:pt x="10661" y="0"/>
                        <a:pt x="0" y="10661"/>
                        <a:pt x="0" y="23812"/>
                      </a:cubicBezTo>
                      <a:cubicBezTo>
                        <a:pt x="0" y="36964"/>
                        <a:pt x="10661" y="47625"/>
                        <a:pt x="23812" y="47625"/>
                      </a:cubicBezTo>
                      <a:cubicBezTo>
                        <a:pt x="36964" y="47625"/>
                        <a:pt x="47625" y="36964"/>
                        <a:pt x="47625" y="23812"/>
                      </a:cubicBezTo>
                    </a:path>
                  </a:pathLst>
                </a:custGeom>
                <a:noFill/>
                <a:ln w="23812">
                  <a:solidFill>
                    <a:schemeClr val="accent1"/>
                  </a:solidFill>
                </a:ln>
              </p:spPr>
            </p:sp>
            <p:sp>
              <p:nvSpPr>
                <p:cNvPr id="53" name="Freeform 53"/>
                <p:cNvSpPr/>
                <p:nvPr/>
              </p:nvSpPr>
              <p:spPr>
                <a:xfrm>
                  <a:off x="5603081" y="2262188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47625">
                      <a:moveTo>
                        <a:pt x="47625" y="23812"/>
                      </a:moveTo>
                      <a:cubicBezTo>
                        <a:pt x="47625" y="10661"/>
                        <a:pt x="36964" y="0"/>
                        <a:pt x="23812" y="0"/>
                      </a:cubicBezTo>
                      <a:cubicBezTo>
                        <a:pt x="10661" y="0"/>
                        <a:pt x="0" y="10661"/>
                        <a:pt x="0" y="23812"/>
                      </a:cubicBezTo>
                      <a:cubicBezTo>
                        <a:pt x="0" y="36964"/>
                        <a:pt x="10661" y="47625"/>
                        <a:pt x="23812" y="47625"/>
                      </a:cubicBezTo>
                      <a:cubicBezTo>
                        <a:pt x="36964" y="47625"/>
                        <a:pt x="47625" y="36964"/>
                        <a:pt x="47625" y="23812"/>
                      </a:cubicBezTo>
                    </a:path>
                  </a:pathLst>
                </a:custGeom>
                <a:noFill/>
                <a:ln w="23812">
                  <a:solidFill>
                    <a:schemeClr val="accent1"/>
                  </a:solidFill>
                </a:ln>
              </p:spPr>
            </p:sp>
            <p:sp>
              <p:nvSpPr>
                <p:cNvPr id="54" name="Freeform 54"/>
                <p:cNvSpPr/>
                <p:nvPr/>
              </p:nvSpPr>
              <p:spPr>
                <a:xfrm>
                  <a:off x="5460897" y="2306241"/>
                  <a:ext cx="34290" cy="548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290" h="54840">
                      <a:moveTo>
                        <a:pt x="0" y="54840"/>
                      </a:moveTo>
                      <a:lnTo>
                        <a:pt x="34290" y="0"/>
                      </a:lnTo>
                    </a:path>
                  </a:pathLst>
                </a:custGeom>
                <a:noFill/>
                <a:ln w="23812">
                  <a:solidFill>
                    <a:schemeClr val="accent1"/>
                  </a:solidFill>
                </a:ln>
              </p:spPr>
            </p:sp>
            <p:sp>
              <p:nvSpPr>
                <p:cNvPr id="55" name="Freeform 55"/>
                <p:cNvSpPr/>
                <p:nvPr/>
              </p:nvSpPr>
              <p:spPr>
                <a:xfrm>
                  <a:off x="5520464" y="2210979"/>
                  <a:ext cx="34254" cy="548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254" h="54816">
                      <a:moveTo>
                        <a:pt x="0" y="54816"/>
                      </a:moveTo>
                      <a:lnTo>
                        <a:pt x="34254" y="0"/>
                      </a:lnTo>
                    </a:path>
                  </a:pathLst>
                </a:custGeom>
                <a:noFill/>
                <a:ln w="23812">
                  <a:solidFill>
                    <a:schemeClr val="accent1"/>
                  </a:solidFill>
                </a:ln>
              </p:spPr>
            </p:sp>
            <p:sp>
              <p:nvSpPr>
                <p:cNvPr id="56" name="Freeform 56"/>
                <p:cNvSpPr/>
                <p:nvPr/>
              </p:nvSpPr>
              <p:spPr>
                <a:xfrm>
                  <a:off x="5520511" y="2306300"/>
                  <a:ext cx="34242" cy="547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242" h="54769">
                      <a:moveTo>
                        <a:pt x="0" y="0"/>
                      </a:moveTo>
                      <a:lnTo>
                        <a:pt x="34242" y="54769"/>
                      </a:lnTo>
                    </a:path>
                  </a:pathLst>
                </a:custGeom>
                <a:noFill/>
                <a:ln w="23812">
                  <a:solidFill>
                    <a:schemeClr val="accent1"/>
                  </a:solidFill>
                </a:ln>
              </p:spPr>
            </p:sp>
            <p:sp>
              <p:nvSpPr>
                <p:cNvPr id="57" name="Freeform 57"/>
                <p:cNvSpPr/>
                <p:nvPr/>
              </p:nvSpPr>
              <p:spPr>
                <a:xfrm>
                  <a:off x="5580019" y="2210991"/>
                  <a:ext cx="34302" cy="548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302" h="54888">
                      <a:moveTo>
                        <a:pt x="0" y="0"/>
                      </a:moveTo>
                      <a:lnTo>
                        <a:pt x="34302" y="54888"/>
                      </a:lnTo>
                    </a:path>
                  </a:pathLst>
                </a:custGeom>
                <a:noFill/>
                <a:ln w="23812">
                  <a:solidFill>
                    <a:schemeClr val="accent1"/>
                  </a:solidFill>
                </a:ln>
              </p:spPr>
            </p:sp>
          </p:grpSp>
          <p:sp>
            <p:nvSpPr>
              <p:cNvPr id="59" name="TextBox 59"/>
              <p:cNvSpPr txBox="1"/>
              <p:nvPr/>
            </p:nvSpPr>
            <p:spPr>
              <a:xfrm>
                <a:off x="5422773" y="2548414"/>
                <a:ext cx="702208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特征编码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5424106" y="2786301"/>
                <a:ext cx="690118" cy="19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1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序列转向量</a:t>
                </a:r>
              </a:p>
            </p:txBody>
          </p:sp>
        </p:grpSp>
        <p:grpSp>
          <p:nvGrpSpPr>
            <p:cNvPr id="65" name="Group 65"/>
            <p:cNvGrpSpPr/>
            <p:nvPr/>
          </p:nvGrpSpPr>
          <p:grpSpPr>
            <a:xfrm>
              <a:off x="6848475" y="2266950"/>
              <a:ext cx="133350" cy="114300"/>
              <a:chOff x="6848475" y="2266950"/>
              <a:chExt cx="133350" cy="114300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6848475" y="2324100"/>
                <a:ext cx="1333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9525">
                    <a:moveTo>
                      <a:pt x="0" y="0"/>
                    </a:moveTo>
                    <a:lnTo>
                      <a:pt x="133350" y="0"/>
                    </a:lnTo>
                  </a:path>
                </a:pathLst>
              </a:custGeom>
              <a:noFill/>
              <a:ln w="19050">
                <a:solidFill>
                  <a:srgbClr val="9AA8B3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6924675" y="2324100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57150"/>
                    </a:moveTo>
                    <a:lnTo>
                      <a:pt x="57150" y="0"/>
                    </a:lnTo>
                  </a:path>
                </a:pathLst>
              </a:custGeom>
              <a:noFill/>
              <a:ln w="19050">
                <a:solidFill>
                  <a:srgbClr val="9AA8B3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6924675" y="2266950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0"/>
                    </a:moveTo>
                    <a:lnTo>
                      <a:pt x="57150" y="57150"/>
                    </a:lnTo>
                  </a:path>
                </a:pathLst>
              </a:custGeom>
              <a:noFill/>
              <a:ln w="19050">
                <a:solidFill>
                  <a:srgbClr val="9AA8B3"/>
                </a:solidFill>
              </a:ln>
            </p:spPr>
          </p:sp>
        </p:grpSp>
        <p:grpSp>
          <p:nvGrpSpPr>
            <p:cNvPr id="79" name="Group 79"/>
            <p:cNvGrpSpPr/>
            <p:nvPr/>
          </p:nvGrpSpPr>
          <p:grpSpPr>
            <a:xfrm>
              <a:off x="7067550" y="1638300"/>
              <a:ext cx="1504950" cy="1390650"/>
              <a:chOff x="7067550" y="1638300"/>
              <a:chExt cx="1504950" cy="1390650"/>
            </a:xfrm>
          </p:grpSpPr>
          <p:sp>
            <p:nvSpPr>
              <p:cNvPr id="66" name="Rectangle 66"/>
              <p:cNvSpPr/>
              <p:nvPr/>
            </p:nvSpPr>
            <p:spPr>
              <a:xfrm>
                <a:off x="7067550" y="1638300"/>
                <a:ext cx="1504950" cy="1390650"/>
              </a:xfrm>
              <a:prstGeom prst="roundRect">
                <a:avLst>
                  <a:gd name="adj" fmla="val 10959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67" name="Rectangle 67"/>
              <p:cNvSpPr/>
              <p:nvPr/>
            </p:nvSpPr>
            <p:spPr>
              <a:xfrm>
                <a:off x="7067550" y="1638300"/>
                <a:ext cx="1504950" cy="57150"/>
              </a:xfrm>
              <a:prstGeom prst="roundRect">
                <a:avLst>
                  <a:gd name="adj" fmla="val 50000"/>
                </a:avLst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68" name="TextBox 68"/>
              <p:cNvSpPr txBox="1"/>
              <p:nvPr/>
            </p:nvSpPr>
            <p:spPr>
              <a:xfrm>
                <a:off x="7234047" y="1818799"/>
                <a:ext cx="1101278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b="1" spc="75" dirty="0">
                    <a:solidFill>
                      <a:srgbClr val="F2994A"/>
                    </a:solidFill>
                    <a:latin typeface="+mn-lt"/>
                    <a:ea typeface="+mn-ea"/>
                    <a:cs typeface="+mn-cs"/>
                  </a:rPr>
                  <a:t>STEP 04 · 核心</a:t>
                </a:r>
              </a:p>
            </p:txBody>
          </p:sp>
          <p:sp>
            <p:nvSpPr>
              <p:cNvPr id="69" name="Ellipse 69"/>
              <p:cNvSpPr/>
              <p:nvPr/>
            </p:nvSpPr>
            <p:spPr>
              <a:xfrm>
                <a:off x="7153275" y="2085975"/>
                <a:ext cx="400050" cy="400050"/>
              </a:xfrm>
              <a:prstGeom prst="ellipse">
                <a:avLst/>
              </a:prstGeom>
              <a:solidFill>
                <a:srgbClr val="123A5A"/>
              </a:solidFill>
              <a:ln>
                <a:noFill/>
              </a:ln>
            </p:spPr>
          </p:sp>
          <p:grpSp>
            <p:nvGrpSpPr>
              <p:cNvPr id="76" name="Group 76"/>
              <p:cNvGrpSpPr/>
              <p:nvPr/>
            </p:nvGrpSpPr>
            <p:grpSpPr>
              <a:xfrm>
                <a:off x="7246144" y="2178844"/>
                <a:ext cx="214312" cy="214312"/>
                <a:chOff x="7246144" y="2178844"/>
                <a:chExt cx="214312" cy="214312"/>
              </a:xfrm>
            </p:grpSpPr>
            <p:sp>
              <p:nvSpPr>
                <p:cNvPr id="70" name="Freeform 70"/>
                <p:cNvSpPr/>
                <p:nvPr/>
              </p:nvSpPr>
              <p:spPr>
                <a:xfrm>
                  <a:off x="7353300" y="2297906"/>
                  <a:ext cx="83344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344" h="95250">
                      <a:moveTo>
                        <a:pt x="41672" y="0"/>
                      </a:moveTo>
                      <a:cubicBezTo>
                        <a:pt x="18657" y="0"/>
                        <a:pt x="0" y="18657"/>
                        <a:pt x="0" y="41672"/>
                      </a:cubicBezTo>
                      <a:lnTo>
                        <a:pt x="0" y="53578"/>
                      </a:lnTo>
                      <a:cubicBezTo>
                        <a:pt x="0" y="76593"/>
                        <a:pt x="18657" y="95250"/>
                        <a:pt x="41672" y="95250"/>
                      </a:cubicBezTo>
                      <a:cubicBezTo>
                        <a:pt x="64687" y="95250"/>
                        <a:pt x="83344" y="76593"/>
                        <a:pt x="83344" y="53578"/>
                      </a:cubicBezTo>
                      <a:lnTo>
                        <a:pt x="83344" y="32147"/>
                      </a:lnTo>
                    </a:path>
                  </a:pathLst>
                </a:custGeom>
                <a:noFill/>
                <a:ln w="23812">
                  <a:solidFill>
                    <a:srgbClr val="2FB3A8"/>
                  </a:solidFill>
                </a:ln>
              </p:spPr>
            </p:sp>
            <p:sp>
              <p:nvSpPr>
                <p:cNvPr id="71" name="Freeform 71"/>
                <p:cNvSpPr/>
                <p:nvPr/>
              </p:nvSpPr>
              <p:spPr>
                <a:xfrm>
                  <a:off x="7269956" y="2297906"/>
                  <a:ext cx="83344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344" h="95250">
                      <a:moveTo>
                        <a:pt x="41672" y="0"/>
                      </a:moveTo>
                      <a:cubicBezTo>
                        <a:pt x="64687" y="0"/>
                        <a:pt x="83344" y="18657"/>
                        <a:pt x="83344" y="41672"/>
                      </a:cubicBezTo>
                      <a:lnTo>
                        <a:pt x="83344" y="53578"/>
                      </a:lnTo>
                      <a:cubicBezTo>
                        <a:pt x="83344" y="76593"/>
                        <a:pt x="64687" y="95250"/>
                        <a:pt x="41672" y="95250"/>
                      </a:cubicBezTo>
                      <a:cubicBezTo>
                        <a:pt x="18657" y="95250"/>
                        <a:pt x="0" y="76593"/>
                        <a:pt x="0" y="53578"/>
                      </a:cubicBezTo>
                      <a:lnTo>
                        <a:pt x="0" y="32147"/>
                      </a:lnTo>
                    </a:path>
                  </a:pathLst>
                </a:custGeom>
                <a:noFill/>
                <a:ln w="23812">
                  <a:solidFill>
                    <a:srgbClr val="2FB3A8"/>
                  </a:solidFill>
                </a:ln>
              </p:spPr>
            </p:sp>
            <p:sp>
              <p:nvSpPr>
                <p:cNvPr id="72" name="Freeform 72"/>
                <p:cNvSpPr/>
                <p:nvPr/>
              </p:nvSpPr>
              <p:spPr>
                <a:xfrm>
                  <a:off x="7412831" y="2250281"/>
                  <a:ext cx="47625" cy="833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83344">
                      <a:moveTo>
                        <a:pt x="5953" y="83344"/>
                      </a:moveTo>
                      <a:cubicBezTo>
                        <a:pt x="28968" y="83344"/>
                        <a:pt x="47625" y="64687"/>
                        <a:pt x="47625" y="41672"/>
                      </a:cubicBezTo>
                      <a:cubicBezTo>
                        <a:pt x="47625" y="18657"/>
                        <a:pt x="28968" y="0"/>
                        <a:pt x="5953" y="0"/>
                      </a:cubicBezTo>
                      <a:lnTo>
                        <a:pt x="0" y="0"/>
                      </a:lnTo>
                    </a:path>
                  </a:pathLst>
                </a:custGeom>
                <a:noFill/>
                <a:ln w="23812">
                  <a:solidFill>
                    <a:srgbClr val="2FB3A8"/>
                  </a:solidFill>
                </a:ln>
              </p:spPr>
            </p:sp>
            <p:sp>
              <p:nvSpPr>
                <p:cNvPr id="73" name="Freeform 73"/>
                <p:cNvSpPr/>
                <p:nvPr/>
              </p:nvSpPr>
              <p:spPr>
                <a:xfrm>
                  <a:off x="7353300" y="2178844"/>
                  <a:ext cx="83344" cy="750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344" h="75009">
                      <a:moveTo>
                        <a:pt x="83344" y="75009"/>
                      </a:moveTo>
                      <a:lnTo>
                        <a:pt x="83344" y="41672"/>
                      </a:lnTo>
                      <a:cubicBezTo>
                        <a:pt x="83344" y="18657"/>
                        <a:pt x="64687" y="0"/>
                        <a:pt x="41672" y="0"/>
                      </a:cubicBezTo>
                      <a:cubicBezTo>
                        <a:pt x="18657" y="0"/>
                        <a:pt x="0" y="18657"/>
                        <a:pt x="0" y="41672"/>
                      </a:cubicBezTo>
                    </a:path>
                  </a:pathLst>
                </a:custGeom>
                <a:noFill/>
                <a:ln w="23812">
                  <a:solidFill>
                    <a:srgbClr val="2FB3A8"/>
                  </a:solidFill>
                </a:ln>
              </p:spPr>
            </p:sp>
            <p:sp>
              <p:nvSpPr>
                <p:cNvPr id="74" name="Freeform 74"/>
                <p:cNvSpPr/>
                <p:nvPr/>
              </p:nvSpPr>
              <p:spPr>
                <a:xfrm>
                  <a:off x="7246144" y="2250281"/>
                  <a:ext cx="47625" cy="833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83344">
                      <a:moveTo>
                        <a:pt x="41672" y="83344"/>
                      </a:moveTo>
                      <a:cubicBezTo>
                        <a:pt x="18657" y="83344"/>
                        <a:pt x="0" y="64687"/>
                        <a:pt x="0" y="41672"/>
                      </a:cubicBezTo>
                      <a:cubicBezTo>
                        <a:pt x="0" y="18657"/>
                        <a:pt x="18657" y="0"/>
                        <a:pt x="41672" y="0"/>
                      </a:cubicBezTo>
                      <a:lnTo>
                        <a:pt x="47625" y="0"/>
                      </a:lnTo>
                    </a:path>
                  </a:pathLst>
                </a:custGeom>
                <a:noFill/>
                <a:ln w="23812">
                  <a:solidFill>
                    <a:srgbClr val="2FB3A8"/>
                  </a:solidFill>
                </a:ln>
              </p:spPr>
            </p:sp>
            <p:sp>
              <p:nvSpPr>
                <p:cNvPr id="75" name="Freeform 75"/>
                <p:cNvSpPr/>
                <p:nvPr/>
              </p:nvSpPr>
              <p:spPr>
                <a:xfrm>
                  <a:off x="7269956" y="2178844"/>
                  <a:ext cx="83344" cy="1607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344" h="160734">
                      <a:moveTo>
                        <a:pt x="0" y="75009"/>
                      </a:moveTo>
                      <a:lnTo>
                        <a:pt x="0" y="41672"/>
                      </a:lnTo>
                      <a:cubicBezTo>
                        <a:pt x="0" y="18657"/>
                        <a:pt x="18657" y="0"/>
                        <a:pt x="41672" y="0"/>
                      </a:cubicBezTo>
                      <a:cubicBezTo>
                        <a:pt x="64687" y="0"/>
                        <a:pt x="83344" y="18657"/>
                        <a:pt x="83344" y="41672"/>
                      </a:cubicBezTo>
                      <a:lnTo>
                        <a:pt x="83344" y="160734"/>
                      </a:lnTo>
                    </a:path>
                  </a:pathLst>
                </a:custGeom>
                <a:noFill/>
                <a:ln w="23812">
                  <a:solidFill>
                    <a:srgbClr val="2FB3A8"/>
                  </a:solidFill>
                </a:ln>
              </p:spPr>
            </p:sp>
          </p:grpSp>
          <p:sp>
            <p:nvSpPr>
              <p:cNvPr id="77" name="TextBox 77"/>
              <p:cNvSpPr txBox="1"/>
              <p:nvPr/>
            </p:nvSpPr>
            <p:spPr>
              <a:xfrm>
                <a:off x="7232523" y="2548414"/>
                <a:ext cx="702208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模型预测</a:t>
                </a:r>
              </a:p>
            </p:txBody>
          </p:sp>
          <p:sp>
            <p:nvSpPr>
              <p:cNvPr id="78" name="TextBox 78"/>
              <p:cNvSpPr txBox="1"/>
              <p:nvPr/>
            </p:nvSpPr>
            <p:spPr>
              <a:xfrm>
                <a:off x="7233856" y="2786301"/>
                <a:ext cx="1238601" cy="19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10" dirty="0">
                    <a:solidFill>
                      <a:srgbClr val="AEBFD0"/>
                    </a:solidFill>
                    <a:latin typeface="+mn-lt"/>
                    <a:ea typeface="+mn-ea"/>
                    <a:cs typeface="+mn-cs"/>
                  </a:rPr>
                  <a:t>SVM/RF/BERT 打分</a:t>
                </a:r>
              </a:p>
            </p:txBody>
          </p:sp>
        </p:grpSp>
        <p:grpSp>
          <p:nvGrpSpPr>
            <p:cNvPr id="83" name="Group 83"/>
            <p:cNvGrpSpPr/>
            <p:nvPr/>
          </p:nvGrpSpPr>
          <p:grpSpPr>
            <a:xfrm>
              <a:off x="8658225" y="2266950"/>
              <a:ext cx="133350" cy="114300"/>
              <a:chOff x="8658225" y="2266950"/>
              <a:chExt cx="133350" cy="114300"/>
            </a:xfrm>
          </p:grpSpPr>
          <p:sp>
            <p:nvSpPr>
              <p:cNvPr id="80" name="Freeform 80"/>
              <p:cNvSpPr/>
              <p:nvPr/>
            </p:nvSpPr>
            <p:spPr>
              <a:xfrm>
                <a:off x="8658225" y="2324100"/>
                <a:ext cx="1333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9525">
                    <a:moveTo>
                      <a:pt x="0" y="0"/>
                    </a:moveTo>
                    <a:lnTo>
                      <a:pt x="133350" y="0"/>
                    </a:lnTo>
                  </a:path>
                </a:pathLst>
              </a:custGeom>
              <a:noFill/>
              <a:ln w="19050">
                <a:solidFill>
                  <a:srgbClr val="9AA8B3"/>
                </a:solidFill>
              </a:ln>
            </p:spPr>
          </p:sp>
          <p:sp>
            <p:nvSpPr>
              <p:cNvPr id="81" name="Freeform 81"/>
              <p:cNvSpPr/>
              <p:nvPr/>
            </p:nvSpPr>
            <p:spPr>
              <a:xfrm>
                <a:off x="8734425" y="2324100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57150"/>
                    </a:moveTo>
                    <a:lnTo>
                      <a:pt x="57150" y="0"/>
                    </a:lnTo>
                  </a:path>
                </a:pathLst>
              </a:custGeom>
              <a:noFill/>
              <a:ln w="19050">
                <a:solidFill>
                  <a:srgbClr val="9AA8B3"/>
                </a:solidFill>
              </a:ln>
            </p:spPr>
          </p:sp>
          <p:sp>
            <p:nvSpPr>
              <p:cNvPr id="82" name="Freeform 82"/>
              <p:cNvSpPr/>
              <p:nvPr/>
            </p:nvSpPr>
            <p:spPr>
              <a:xfrm>
                <a:off x="8734425" y="2266950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0"/>
                    </a:moveTo>
                    <a:lnTo>
                      <a:pt x="57150" y="57150"/>
                    </a:lnTo>
                  </a:path>
                </a:pathLst>
              </a:custGeom>
              <a:noFill/>
              <a:ln w="19050">
                <a:solidFill>
                  <a:srgbClr val="9AA8B3"/>
                </a:solidFill>
              </a:ln>
            </p:spPr>
          </p:sp>
        </p:grpSp>
        <p:grpSp>
          <p:nvGrpSpPr>
            <p:cNvPr id="95" name="Group 95"/>
            <p:cNvGrpSpPr/>
            <p:nvPr/>
          </p:nvGrpSpPr>
          <p:grpSpPr>
            <a:xfrm>
              <a:off x="8877300" y="1638300"/>
              <a:ext cx="1543050" cy="1390650"/>
              <a:chOff x="8877300" y="1638300"/>
              <a:chExt cx="1543050" cy="1390650"/>
            </a:xfrm>
          </p:grpSpPr>
          <p:sp>
            <p:nvSpPr>
              <p:cNvPr id="84" name="Rectangle 84"/>
              <p:cNvSpPr/>
              <p:nvPr/>
            </p:nvSpPr>
            <p:spPr>
              <a:xfrm>
                <a:off x="8915400" y="1676400"/>
                <a:ext cx="1504950" cy="1352550"/>
              </a:xfrm>
              <a:prstGeom prst="roundRect">
                <a:avLst>
                  <a:gd name="adj" fmla="val 11268"/>
                </a:avLst>
              </a:prstGeom>
              <a:solidFill>
                <a:srgbClr val="E3E9ED"/>
              </a:solidFill>
              <a:ln>
                <a:noFill/>
              </a:ln>
            </p:spPr>
          </p:sp>
          <p:sp>
            <p:nvSpPr>
              <p:cNvPr id="85" name="Rectangle 85"/>
              <p:cNvSpPr/>
              <p:nvPr/>
            </p:nvSpPr>
            <p:spPr>
              <a:xfrm>
                <a:off x="8877300" y="1638300"/>
                <a:ext cx="1504950" cy="1352550"/>
              </a:xfrm>
              <a:prstGeom prst="roundRect">
                <a:avLst>
                  <a:gd name="adj" fmla="val 11268"/>
                </a:avLst>
              </a:prstGeom>
              <a:solidFill>
                <a:srgbClr val="FFFFFF"/>
              </a:solidFill>
              <a:ln w="14288">
                <a:solidFill>
                  <a:srgbClr val="CFE4E1"/>
                </a:solidFill>
              </a:ln>
            </p:spPr>
          </p:sp>
          <p:sp>
            <p:nvSpPr>
              <p:cNvPr id="86" name="Rectangle 86"/>
              <p:cNvSpPr/>
              <p:nvPr/>
            </p:nvSpPr>
            <p:spPr>
              <a:xfrm>
                <a:off x="8877300" y="1638300"/>
                <a:ext cx="1504950" cy="57150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87" name="TextBox 87"/>
              <p:cNvSpPr txBox="1"/>
              <p:nvPr/>
            </p:nvSpPr>
            <p:spPr>
              <a:xfrm>
                <a:off x="9043797" y="1818799"/>
                <a:ext cx="600828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b="1" spc="75" dirty="0">
                    <a:solidFill>
                      <a:srgbClr val="9AA8B3"/>
                    </a:solidFill>
                    <a:latin typeface="+mn-lt"/>
                    <a:ea typeface="+mn-ea"/>
                    <a:cs typeface="+mn-cs"/>
                  </a:rPr>
                  <a:t>STEP 05</a:t>
                </a:r>
              </a:p>
            </p:txBody>
          </p:sp>
          <p:sp>
            <p:nvSpPr>
              <p:cNvPr id="88" name="Ellipse 88"/>
              <p:cNvSpPr/>
              <p:nvPr/>
            </p:nvSpPr>
            <p:spPr>
              <a:xfrm>
                <a:off x="8963025" y="2085975"/>
                <a:ext cx="400050" cy="400050"/>
              </a:xfrm>
              <a:prstGeom prst="ellipse">
                <a:avLst/>
              </a:prstGeom>
              <a:solidFill>
                <a:srgbClr val="DFF0EE"/>
              </a:solidFill>
              <a:ln>
                <a:noFill/>
              </a:ln>
            </p:spPr>
          </p:sp>
          <p:grpSp>
            <p:nvGrpSpPr>
              <p:cNvPr id="92" name="Group 92"/>
              <p:cNvGrpSpPr/>
              <p:nvPr/>
            </p:nvGrpSpPr>
            <p:grpSpPr>
              <a:xfrm>
                <a:off x="9067798" y="2184933"/>
                <a:ext cx="196302" cy="202110"/>
                <a:chOff x="9067798" y="2184933"/>
                <a:chExt cx="196302" cy="202110"/>
              </a:xfrm>
            </p:grpSpPr>
            <p:sp>
              <p:nvSpPr>
                <p:cNvPr id="89" name="Freeform 89"/>
                <p:cNvSpPr/>
                <p:nvPr/>
              </p:nvSpPr>
              <p:spPr>
                <a:xfrm>
                  <a:off x="9127331" y="2250281"/>
                  <a:ext cx="71438" cy="71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438" h="71438">
                      <a:moveTo>
                        <a:pt x="0" y="71438"/>
                      </a:moveTo>
                      <a:lnTo>
                        <a:pt x="71438" y="0"/>
                      </a:lnTo>
                    </a:path>
                  </a:pathLst>
                </a:custGeom>
                <a:noFill/>
                <a:ln w="23812">
                  <a:solidFill>
                    <a:schemeClr val="accent2"/>
                  </a:solidFill>
                </a:ln>
              </p:spPr>
            </p:sp>
            <p:sp>
              <p:nvSpPr>
                <p:cNvPr id="90" name="Freeform 90"/>
                <p:cNvSpPr/>
                <p:nvPr/>
              </p:nvSpPr>
              <p:spPr>
                <a:xfrm>
                  <a:off x="9151144" y="2184933"/>
                  <a:ext cx="112956" cy="1129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956" h="112974">
                      <a:moveTo>
                        <a:pt x="0" y="29630"/>
                      </a:moveTo>
                      <a:lnTo>
                        <a:pt x="5513" y="23248"/>
                      </a:lnTo>
                      <a:cubicBezTo>
                        <a:pt x="28764" y="0"/>
                        <a:pt x="66459" y="3"/>
                        <a:pt x="89708" y="23254"/>
                      </a:cubicBezTo>
                      <a:cubicBezTo>
                        <a:pt x="112956" y="46506"/>
                        <a:pt x="112953" y="84201"/>
                        <a:pt x="89702" y="107449"/>
                      </a:cubicBezTo>
                      <a:lnTo>
                        <a:pt x="83344" y="112974"/>
                      </a:lnTo>
                    </a:path>
                  </a:pathLst>
                </a:custGeom>
                <a:noFill/>
                <a:ln w="23812">
                  <a:solidFill>
                    <a:schemeClr val="accent2"/>
                  </a:solidFill>
                </a:ln>
              </p:spPr>
            </p:sp>
            <p:sp>
              <p:nvSpPr>
                <p:cNvPr id="91" name="Freeform 91"/>
                <p:cNvSpPr/>
                <p:nvPr/>
              </p:nvSpPr>
              <p:spPr>
                <a:xfrm>
                  <a:off x="9067798" y="2274094"/>
                  <a:ext cx="107158" cy="1129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58" h="112949">
                      <a:moveTo>
                        <a:pt x="107158" y="83344"/>
                      </a:moveTo>
                      <a:lnTo>
                        <a:pt x="102431" y="89702"/>
                      </a:lnTo>
                      <a:cubicBezTo>
                        <a:pt x="78922" y="112949"/>
                        <a:pt x="41084" y="112949"/>
                        <a:pt x="17575" y="89702"/>
                      </a:cubicBezTo>
                      <a:cubicBezTo>
                        <a:pt x="6329" y="78581"/>
                        <a:pt x="0" y="63423"/>
                        <a:pt x="0" y="47607"/>
                      </a:cubicBezTo>
                      <a:cubicBezTo>
                        <a:pt x="0" y="31791"/>
                        <a:pt x="6329" y="16633"/>
                        <a:pt x="17575" y="5513"/>
                      </a:cubicBezTo>
                      <a:lnTo>
                        <a:pt x="23814" y="0"/>
                      </a:lnTo>
                    </a:path>
                  </a:pathLst>
                </a:custGeom>
                <a:noFill/>
                <a:ln w="23812">
                  <a:solidFill>
                    <a:schemeClr val="accent2"/>
                  </a:solidFill>
                </a:ln>
              </p:spPr>
            </p:sp>
          </p:grpSp>
          <p:sp>
            <p:nvSpPr>
              <p:cNvPr id="93" name="TextBox 93"/>
              <p:cNvSpPr txBox="1"/>
              <p:nvPr/>
            </p:nvSpPr>
            <p:spPr>
              <a:xfrm>
                <a:off x="9042273" y="2548414"/>
                <a:ext cx="702208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分子对接</a:t>
                </a:r>
              </a:p>
            </p:txBody>
          </p:sp>
          <p:sp>
            <p:nvSpPr>
              <p:cNvPr id="94" name="TextBox 94"/>
              <p:cNvSpPr txBox="1"/>
              <p:nvPr/>
            </p:nvSpPr>
            <p:spPr>
              <a:xfrm>
                <a:off x="9043606" y="2786301"/>
                <a:ext cx="826084" cy="19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1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结合模式验证</a:t>
                </a:r>
              </a:p>
            </p:txBody>
          </p:sp>
        </p:grpSp>
        <p:grpSp>
          <p:nvGrpSpPr>
            <p:cNvPr id="104" name="Group 104"/>
            <p:cNvGrpSpPr/>
            <p:nvPr/>
          </p:nvGrpSpPr>
          <p:grpSpPr>
            <a:xfrm>
              <a:off x="1676400" y="3238500"/>
              <a:ext cx="8724900" cy="800100"/>
              <a:chOff x="1676400" y="3238500"/>
              <a:chExt cx="8724900" cy="800100"/>
            </a:xfrm>
          </p:grpSpPr>
          <p:sp>
            <p:nvSpPr>
              <p:cNvPr id="96" name="Rectangle 96"/>
              <p:cNvSpPr/>
              <p:nvPr/>
            </p:nvSpPr>
            <p:spPr>
              <a:xfrm>
                <a:off x="1714500" y="3276600"/>
                <a:ext cx="8686800" cy="762000"/>
              </a:xfrm>
              <a:prstGeom prst="roundRect">
                <a:avLst>
                  <a:gd name="adj" fmla="val 20000"/>
                </a:avLst>
              </a:prstGeom>
              <a:solidFill>
                <a:srgbClr val="F0DECF"/>
              </a:solidFill>
              <a:ln>
                <a:noFill/>
              </a:ln>
            </p:spPr>
          </p:sp>
          <p:sp>
            <p:nvSpPr>
              <p:cNvPr id="97" name="Rectangle 97"/>
              <p:cNvSpPr/>
              <p:nvPr/>
            </p:nvSpPr>
            <p:spPr>
              <a:xfrm>
                <a:off x="1676400" y="3238500"/>
                <a:ext cx="8686800" cy="762000"/>
              </a:xfrm>
              <a:prstGeom prst="roundRect">
                <a:avLst>
                  <a:gd name="adj" fmla="val 20000"/>
                </a:avLst>
              </a:prstGeom>
              <a:solidFill>
                <a:srgbClr val="FBE9DD"/>
              </a:solidFill>
              <a:ln w="14288">
                <a:solidFill>
                  <a:srgbClr val="F0DECF"/>
                </a:solidFill>
              </a:ln>
            </p:spPr>
          </p:sp>
          <p:sp>
            <p:nvSpPr>
              <p:cNvPr id="98" name="TextBox 98"/>
              <p:cNvSpPr txBox="1"/>
              <p:nvPr/>
            </p:nvSpPr>
            <p:spPr>
              <a:xfrm>
                <a:off x="1937766" y="3468052"/>
                <a:ext cx="133163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spc="75" dirty="0">
                    <a:solidFill>
                      <a:srgbClr val="B5663A"/>
                    </a:solidFill>
                    <a:latin typeface="+mn-lt"/>
                    <a:ea typeface="+mn-ea"/>
                    <a:cs typeface="+mn-cs"/>
                  </a:rPr>
                  <a:t>STEP 06 · 湿实验</a:t>
                </a:r>
              </a:p>
            </p:txBody>
          </p:sp>
          <p:grpSp>
            <p:nvGrpSpPr>
              <p:cNvPr id="102" name="Group 102"/>
              <p:cNvGrpSpPr/>
              <p:nvPr/>
            </p:nvGrpSpPr>
            <p:grpSpPr>
              <a:xfrm>
                <a:off x="4270643" y="3488531"/>
                <a:ext cx="164565" cy="242888"/>
                <a:chOff x="4270643" y="3488531"/>
                <a:chExt cx="164565" cy="242888"/>
              </a:xfrm>
            </p:grpSpPr>
            <p:sp>
              <p:nvSpPr>
                <p:cNvPr id="99" name="Freeform 99"/>
                <p:cNvSpPr/>
                <p:nvPr/>
              </p:nvSpPr>
              <p:spPr>
                <a:xfrm>
                  <a:off x="4312444" y="3488531"/>
                  <a:ext cx="80963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963" h="9525">
                      <a:moveTo>
                        <a:pt x="0" y="0"/>
                      </a:moveTo>
                      <a:lnTo>
                        <a:pt x="80963" y="0"/>
                      </a:lnTo>
                    </a:path>
                  </a:pathLst>
                </a:custGeom>
                <a:noFill/>
                <a:ln w="26988">
                  <a:solidFill>
                    <a:srgbClr val="B5663A"/>
                  </a:solidFill>
                </a:ln>
              </p:spPr>
            </p:sp>
            <p:sp>
              <p:nvSpPr>
                <p:cNvPr id="100" name="Freeform 100"/>
                <p:cNvSpPr/>
                <p:nvPr/>
              </p:nvSpPr>
              <p:spPr>
                <a:xfrm>
                  <a:off x="4325938" y="3569494"/>
                  <a:ext cx="5397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975" h="9525">
                      <a:moveTo>
                        <a:pt x="0" y="0"/>
                      </a:moveTo>
                      <a:lnTo>
                        <a:pt x="53975" y="0"/>
                      </a:lnTo>
                    </a:path>
                  </a:pathLst>
                </a:custGeom>
                <a:noFill/>
                <a:ln w="26988">
                  <a:solidFill>
                    <a:srgbClr val="B5663A"/>
                  </a:solidFill>
                </a:ln>
              </p:spPr>
            </p:sp>
            <p:sp>
              <p:nvSpPr>
                <p:cNvPr id="101" name="Freeform 101"/>
                <p:cNvSpPr/>
                <p:nvPr/>
              </p:nvSpPr>
              <p:spPr>
                <a:xfrm>
                  <a:off x="4270643" y="3488531"/>
                  <a:ext cx="164565" cy="2428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4565" h="242888">
                      <a:moveTo>
                        <a:pt x="55295" y="0"/>
                      </a:moveTo>
                      <a:lnTo>
                        <a:pt x="55295" y="80963"/>
                      </a:lnTo>
                      <a:lnTo>
                        <a:pt x="1320" y="229394"/>
                      </a:lnTo>
                      <a:cubicBezTo>
                        <a:pt x="0" y="232050"/>
                        <a:pt x="4" y="235171"/>
                        <a:pt x="1330" y="237823"/>
                      </a:cubicBezTo>
                      <a:cubicBezTo>
                        <a:pt x="2656" y="240475"/>
                        <a:pt x="5151" y="242351"/>
                        <a:pt x="8067" y="242888"/>
                      </a:cubicBezTo>
                      <a:lnTo>
                        <a:pt x="156498" y="242888"/>
                      </a:lnTo>
                      <a:cubicBezTo>
                        <a:pt x="159415" y="242351"/>
                        <a:pt x="161909" y="240475"/>
                        <a:pt x="163235" y="237823"/>
                      </a:cubicBezTo>
                      <a:cubicBezTo>
                        <a:pt x="164562" y="235171"/>
                        <a:pt x="164565" y="232050"/>
                        <a:pt x="163245" y="229394"/>
                      </a:cubicBezTo>
                      <a:lnTo>
                        <a:pt x="109270" y="80963"/>
                      </a:lnTo>
                      <a:lnTo>
                        <a:pt x="109270" y="0"/>
                      </a:lnTo>
                    </a:path>
                  </a:pathLst>
                </a:custGeom>
                <a:noFill/>
                <a:ln w="26988">
                  <a:solidFill>
                    <a:srgbClr val="B5663A"/>
                  </a:solidFill>
                </a:ln>
              </p:spPr>
            </p:sp>
          </p:grpSp>
          <p:sp>
            <p:nvSpPr>
              <p:cNvPr id="103" name="TextBox 103"/>
              <p:cNvSpPr txBox="1"/>
              <p:nvPr/>
            </p:nvSpPr>
            <p:spPr>
              <a:xfrm>
                <a:off x="4679442" y="3569018"/>
                <a:ext cx="350442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B5663A"/>
                    </a:solidFill>
                    <a:latin typeface="+mn-lt"/>
                    <a:ea typeface="+mn-ea"/>
                    <a:cs typeface="+mn-cs"/>
                  </a:rPr>
                  <a:t>实验验证：人工合成肽 + 感官评价确证呈鲜</a:t>
                </a:r>
              </a:p>
            </p:txBody>
          </p:sp>
        </p:grpSp>
      </p:grpSp>
      <p:grpSp>
        <p:nvGrpSpPr>
          <p:cNvPr id="113" name="Group 113"/>
          <p:cNvGrpSpPr/>
          <p:nvPr/>
        </p:nvGrpSpPr>
        <p:grpSpPr>
          <a:xfrm>
            <a:off x="2333625" y="3067050"/>
            <a:ext cx="8296275" cy="1413034"/>
            <a:chOff x="2333625" y="3067050"/>
            <a:chExt cx="8296275" cy="1413034"/>
          </a:xfrm>
        </p:grpSpPr>
        <p:sp>
          <p:nvSpPr>
            <p:cNvPr id="106" name="Freeform 106"/>
            <p:cNvSpPr/>
            <p:nvPr/>
          </p:nvSpPr>
          <p:spPr>
            <a:xfrm>
              <a:off x="2400300" y="3067050"/>
              <a:ext cx="8229600" cy="1276350"/>
            </a:xfrm>
            <a:custGeom>
              <a:avLst/>
              <a:gdLst/>
              <a:ahLst/>
              <a:cxnLst/>
              <a:rect l="l" t="t" r="r" b="b"/>
              <a:pathLst>
                <a:path w="8229600" h="1276350">
                  <a:moveTo>
                    <a:pt x="8229600" y="1123950"/>
                  </a:moveTo>
                  <a:lnTo>
                    <a:pt x="8229600" y="1276350"/>
                  </a:lnTo>
                  <a:lnTo>
                    <a:pt x="0" y="1276350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  <a:custDash>
                <a:ds d="350000" sp="250000"/>
              </a:custDash>
            </a:ln>
          </p:spPr>
        </p:sp>
        <p:sp>
          <p:nvSpPr>
            <p:cNvPr id="107" name="Freeform 107"/>
            <p:cNvSpPr/>
            <p:nvPr/>
          </p:nvSpPr>
          <p:spPr>
            <a:xfrm>
              <a:off x="2333625" y="3067050"/>
              <a:ext cx="133350" cy="133350"/>
            </a:xfrm>
            <a:custGeom>
              <a:avLst/>
              <a:gdLst/>
              <a:ahLst/>
              <a:cxnLst/>
              <a:rect l="l" t="t" r="r" b="b"/>
              <a:pathLst>
                <a:path w="133350" h="133350">
                  <a:moveTo>
                    <a:pt x="66675" y="0"/>
                  </a:moveTo>
                  <a:lnTo>
                    <a:pt x="0" y="133350"/>
                  </a:lnTo>
                  <a:lnTo>
                    <a:pt x="133350" y="13335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108" name="Rectangle 108"/>
            <p:cNvSpPr/>
            <p:nvPr/>
          </p:nvSpPr>
          <p:spPr>
            <a:xfrm>
              <a:off x="3429000" y="4171950"/>
              <a:ext cx="4000500" cy="304800"/>
            </a:xfrm>
            <a:prstGeom prst="roundRect">
              <a:avLst>
                <a:gd name="adj" fmla="val 50000"/>
              </a:avLst>
            </a:prstGeom>
            <a:solidFill>
              <a:srgbClr val="DFF0EE"/>
            </a:solidFill>
            <a:ln>
              <a:noFill/>
            </a:ln>
          </p:spPr>
        </p:sp>
        <p:grpSp>
          <p:nvGrpSpPr>
            <p:cNvPr id="111" name="Group 111"/>
            <p:cNvGrpSpPr/>
            <p:nvPr/>
          </p:nvGrpSpPr>
          <p:grpSpPr>
            <a:xfrm>
              <a:off x="3654425" y="4241606"/>
              <a:ext cx="139700" cy="146438"/>
              <a:chOff x="3654425" y="4241606"/>
              <a:chExt cx="139700" cy="146438"/>
            </a:xfrm>
          </p:grpSpPr>
          <p:sp>
            <p:nvSpPr>
              <p:cNvPr id="109" name="Freeform 109"/>
              <p:cNvSpPr/>
              <p:nvPr/>
            </p:nvSpPr>
            <p:spPr>
              <a:xfrm>
                <a:off x="3654425" y="4241606"/>
                <a:ext cx="139700" cy="64488"/>
              </a:xfrm>
              <a:custGeom>
                <a:avLst/>
                <a:gdLst/>
                <a:ahLst/>
                <a:cxnLst/>
                <a:rect l="l" t="t" r="r" b="b"/>
                <a:pathLst>
                  <a:path w="139700" h="64488">
                    <a:moveTo>
                      <a:pt x="139700" y="64488"/>
                    </a:moveTo>
                    <a:cubicBezTo>
                      <a:pt x="135311" y="32903"/>
                      <a:pt x="110327" y="8162"/>
                      <a:pt x="78701" y="4081"/>
                    </a:cubicBezTo>
                    <a:cubicBezTo>
                      <a:pt x="47074" y="0"/>
                      <a:pt x="16629" y="17589"/>
                      <a:pt x="4366" y="47025"/>
                    </a:cubicBezTo>
                    <a:moveTo>
                      <a:pt x="0" y="12100"/>
                    </a:moveTo>
                    <a:lnTo>
                      <a:pt x="0" y="47025"/>
                    </a:lnTo>
                    <a:lnTo>
                      <a:pt x="34925" y="47025"/>
                    </a:lnTo>
                  </a:path>
                </a:pathLst>
              </a:custGeom>
              <a:noFill/>
              <a:ln w="17463">
                <a:solidFill>
                  <a:schemeClr val="accent2"/>
                </a:solidFill>
              </a:ln>
            </p:spPr>
          </p:sp>
          <p:sp>
            <p:nvSpPr>
              <p:cNvPr id="110" name="Freeform 110"/>
              <p:cNvSpPr/>
              <p:nvPr/>
            </p:nvSpPr>
            <p:spPr>
              <a:xfrm>
                <a:off x="3654425" y="4323556"/>
                <a:ext cx="139700" cy="64488"/>
              </a:xfrm>
              <a:custGeom>
                <a:avLst/>
                <a:gdLst/>
                <a:ahLst/>
                <a:cxnLst/>
                <a:rect l="l" t="t" r="r" b="b"/>
                <a:pathLst>
                  <a:path w="139700" h="64488">
                    <a:moveTo>
                      <a:pt x="0" y="0"/>
                    </a:moveTo>
                    <a:cubicBezTo>
                      <a:pt x="4389" y="31585"/>
                      <a:pt x="29373" y="56326"/>
                      <a:pt x="60999" y="60407"/>
                    </a:cubicBezTo>
                    <a:cubicBezTo>
                      <a:pt x="92626" y="64488"/>
                      <a:pt x="123071" y="46899"/>
                      <a:pt x="135334" y="17463"/>
                    </a:cubicBezTo>
                    <a:moveTo>
                      <a:pt x="139700" y="52388"/>
                    </a:moveTo>
                    <a:lnTo>
                      <a:pt x="139700" y="17463"/>
                    </a:lnTo>
                    <a:lnTo>
                      <a:pt x="104775" y="17463"/>
                    </a:lnTo>
                  </a:path>
                </a:pathLst>
              </a:custGeom>
              <a:noFill/>
              <a:ln w="17463">
                <a:solidFill>
                  <a:schemeClr val="accent2"/>
                </a:solidFill>
              </a:ln>
            </p:spPr>
          </p:sp>
        </p:grpSp>
        <p:sp>
          <p:nvSpPr>
            <p:cNvPr id="112" name="TextBox 112"/>
            <p:cNvSpPr txBox="1"/>
            <p:nvPr/>
          </p:nvSpPr>
          <p:spPr>
            <a:xfrm>
              <a:off x="3918585" y="4260056"/>
              <a:ext cx="30269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验证结果回流训练集，数据飞轮持续提升模型</a:t>
              </a:r>
            </a:p>
          </p:txBody>
        </p:sp>
      </p:grpSp>
      <p:grpSp>
        <p:nvGrpSpPr>
          <p:cNvPr id="124" name="Group 124"/>
          <p:cNvGrpSpPr/>
          <p:nvPr/>
        </p:nvGrpSpPr>
        <p:grpSpPr>
          <a:xfrm>
            <a:off x="609600" y="4762500"/>
            <a:ext cx="11010900" cy="1143000"/>
            <a:chOff x="609600" y="4762500"/>
            <a:chExt cx="11010900" cy="1143000"/>
          </a:xfrm>
        </p:grpSpPr>
        <p:sp>
          <p:nvSpPr>
            <p:cNvPr id="114" name="Rectangle 114"/>
            <p:cNvSpPr/>
            <p:nvPr/>
          </p:nvSpPr>
          <p:spPr>
            <a:xfrm>
              <a:off x="647700" y="4800600"/>
              <a:ext cx="10972800" cy="1104900"/>
            </a:xfrm>
            <a:prstGeom prst="roundRect">
              <a:avLst>
                <a:gd name="adj" fmla="val 13793"/>
              </a:avLst>
            </a:prstGeom>
            <a:solidFill>
              <a:srgbClr val="E3E9ED"/>
            </a:solidFill>
            <a:ln>
              <a:noFill/>
            </a:ln>
          </p:spPr>
        </p:sp>
        <p:sp>
          <p:nvSpPr>
            <p:cNvPr id="115" name="Rectangle 115"/>
            <p:cNvSpPr/>
            <p:nvPr/>
          </p:nvSpPr>
          <p:spPr>
            <a:xfrm>
              <a:off x="609600" y="4762500"/>
              <a:ext cx="10972800" cy="1104900"/>
            </a:xfrm>
            <a:prstGeom prst="roundRect">
              <a:avLst>
                <a:gd name="adj" fmla="val 13793"/>
              </a:avLst>
            </a:prstGeom>
            <a:solidFill>
              <a:srgbClr val="FFFFFF"/>
            </a:solidFill>
            <a:ln w="14288">
              <a:solidFill>
                <a:srgbClr val="DDE6EC"/>
              </a:solidFill>
            </a:ln>
          </p:spPr>
        </p:sp>
        <p:sp>
          <p:nvSpPr>
            <p:cNvPr id="116" name="Ellipse 116"/>
            <p:cNvSpPr/>
            <p:nvPr/>
          </p:nvSpPr>
          <p:spPr>
            <a:xfrm>
              <a:off x="876300" y="4914900"/>
              <a:ext cx="381000" cy="381000"/>
            </a:xfrm>
            <a:prstGeom prst="ellipse">
              <a:avLst/>
            </a:prstGeom>
            <a:solidFill>
              <a:srgbClr val="DFF0EE"/>
            </a:solidFill>
            <a:ln>
              <a:noFill/>
            </a:ln>
          </p:spPr>
        </p:sp>
        <p:grpSp>
          <p:nvGrpSpPr>
            <p:cNvPr id="120" name="Group 120"/>
            <p:cNvGrpSpPr/>
            <p:nvPr/>
          </p:nvGrpSpPr>
          <p:grpSpPr>
            <a:xfrm>
              <a:off x="966788" y="5005388"/>
              <a:ext cx="200026" cy="200025"/>
              <a:chOff x="966788" y="5005388"/>
              <a:chExt cx="200026" cy="200025"/>
            </a:xfrm>
          </p:grpSpPr>
          <p:sp>
            <p:nvSpPr>
              <p:cNvPr id="117" name="Freeform 117"/>
              <p:cNvSpPr/>
              <p:nvPr/>
            </p:nvSpPr>
            <p:spPr>
              <a:xfrm>
                <a:off x="966788" y="50053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118" name="Freeform 118"/>
              <p:cNvSpPr/>
              <p:nvPr/>
            </p:nvSpPr>
            <p:spPr>
              <a:xfrm>
                <a:off x="1006526" y="50498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119" name="Freeform 119"/>
              <p:cNvSpPr/>
              <p:nvPr/>
            </p:nvSpPr>
            <p:spPr>
              <a:xfrm>
                <a:off x="1041242" y="51609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</p:grpSp>
        <p:sp>
          <p:nvSpPr>
            <p:cNvPr id="121" name="TextBox 121"/>
            <p:cNvSpPr txBox="1"/>
            <p:nvPr/>
          </p:nvSpPr>
          <p:spPr>
            <a:xfrm>
              <a:off x="1403223" y="4948714"/>
              <a:ext cx="46654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核心思想：把「这条肽是否呈鲜」转化为监督学习二分类问题</a:t>
              </a:r>
            </a:p>
          </p:txBody>
        </p:sp>
        <p:sp>
          <p:nvSpPr>
            <p:cNvPr id="122" name="TextBox 122"/>
            <p:cNvSpPr txBox="1"/>
            <p:nvPr/>
          </p:nvSpPr>
          <p:spPr>
            <a:xfrm>
              <a:off x="1403223" y="5272564"/>
              <a:ext cx="207037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>f(氨基酸序列) → 呈鲜概率</a:t>
              </a:r>
            </a:p>
          </p:txBody>
        </p:sp>
        <p:sp>
          <p:nvSpPr>
            <p:cNvPr id="123" name="TextBox 123"/>
            <p:cNvSpPr txBox="1"/>
            <p:nvPr/>
          </p:nvSpPr>
          <p:spPr>
            <a:xfrm>
              <a:off x="1403985" y="5555456"/>
              <a:ext cx="54619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从万级候选中富集高置信肽，再交给对接与感官确证；「预测 — 验证」双轨并行。</a:t>
              </a:r>
            </a:p>
          </p:txBody>
        </p:sp>
      </p:grpSp>
      <p:grpSp>
        <p:nvGrpSpPr>
          <p:cNvPr id="128" name="Group 128"/>
          <p:cNvGrpSpPr/>
          <p:nvPr/>
        </p:nvGrpSpPr>
        <p:grpSpPr>
          <a:xfrm>
            <a:off x="604647" y="6438900"/>
            <a:ext cx="10982706" cy="294989"/>
            <a:chOff x="604647" y="6438900"/>
            <a:chExt cx="10982706" cy="294989"/>
          </a:xfrm>
        </p:grpSpPr>
        <p:sp>
          <p:nvSpPr>
            <p:cNvPr id="125" name="Line 125"/>
            <p:cNvSpPr/>
            <p:nvPr/>
          </p:nvSpPr>
          <p:spPr>
            <a:xfrm>
              <a:off x="609600" y="6438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4288">
              <a:solidFill>
                <a:srgbClr val="DDE4EA"/>
              </a:solidFill>
            </a:ln>
          </p:spPr>
        </p:sp>
        <p:sp>
          <p:nvSpPr>
            <p:cNvPr id="126" name="TextBox 126"/>
            <p:cNvSpPr txBox="1"/>
            <p:nvPr/>
          </p:nvSpPr>
          <p:spPr>
            <a:xfrm>
              <a:off x="604647" y="6543199"/>
              <a:ext cx="71393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A3B2BF"/>
                  </a:solidFill>
                  <a:latin typeface="+mn-lt"/>
                  <a:ea typeface="+mn-ea"/>
                  <a:cs typeface="+mn-cs"/>
                </a:rPr>
                <a:t>来源：iUP-BERT（Foods 2022）；iUmami-SCM（2020）；食品工业科技 2023；Mlp4Umami（Comput Biol Med 2024）</a:t>
              </a:r>
            </a:p>
          </p:txBody>
        </p:sp>
        <p:sp>
          <p:nvSpPr>
            <p:cNvPr id="127" name="TextBox 127"/>
            <p:cNvSpPr txBox="1"/>
            <p:nvPr/>
          </p:nvSpPr>
          <p:spPr>
            <a:xfrm>
              <a:off x="11135490" y="6543199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A3B2BF"/>
                  </a:solidFill>
                  <a:latin typeface="+mn-lt"/>
                  <a:ea typeface="+mn-ea"/>
                  <a:cs typeface="+mn-cs"/>
                </a:rPr>
                <a:t>04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8170" y="515302"/>
            <a:ext cx="3354705" cy="843915"/>
            <a:chOff x="598170" y="515302"/>
            <a:chExt cx="3354705" cy="843915"/>
          </a:xfrm>
        </p:grpSpPr>
        <p:sp>
          <p:nvSpPr>
            <p:cNvPr id="2" name="TextBox 2"/>
            <p:cNvSpPr txBox="1"/>
            <p:nvPr/>
          </p:nvSpPr>
          <p:spPr>
            <a:xfrm>
              <a:off x="604266" y="515302"/>
              <a:ext cx="299936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22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 · 机器学习路线 · STEP 01–02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609600" y="762000"/>
              <a:ext cx="457200" cy="47625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98170" y="919162"/>
              <a:ext cx="335470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数据层：候选肽从哪里来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609600" y="1524000"/>
            <a:ext cx="5943600" cy="4133850"/>
            <a:chOff x="609600" y="1524000"/>
            <a:chExt cx="5943600" cy="4133850"/>
          </a:xfrm>
        </p:grpSpPr>
        <p:grpSp>
          <p:nvGrpSpPr>
            <p:cNvPr id="18" name="Group 18"/>
            <p:cNvGrpSpPr/>
            <p:nvPr/>
          </p:nvGrpSpPr>
          <p:grpSpPr>
            <a:xfrm>
              <a:off x="609600" y="1524000"/>
              <a:ext cx="2895600" cy="1905000"/>
              <a:chOff x="609600" y="1524000"/>
              <a:chExt cx="2895600" cy="1905000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647700" y="1562100"/>
                <a:ext cx="2857500" cy="1866900"/>
              </a:xfrm>
              <a:prstGeom prst="roundRect">
                <a:avLst>
                  <a:gd name="adj" fmla="val 8163"/>
                </a:avLst>
              </a:prstGeom>
              <a:solidFill>
                <a:srgbClr val="E3E9ED"/>
              </a:solidFill>
              <a:ln>
                <a:noFill/>
              </a:ln>
            </p:spPr>
          </p:sp>
          <p:sp>
            <p:nvSpPr>
              <p:cNvPr id="7" name="Rectangle 7"/>
              <p:cNvSpPr/>
              <p:nvPr/>
            </p:nvSpPr>
            <p:spPr>
              <a:xfrm>
                <a:off x="609600" y="1524000"/>
                <a:ext cx="2857500" cy="1866900"/>
              </a:xfrm>
              <a:prstGeom prst="roundRect">
                <a:avLst>
                  <a:gd name="adj" fmla="val 8163"/>
                </a:avLst>
              </a:prstGeom>
              <a:solidFill>
                <a:srgbClr val="FFFFFF"/>
              </a:solidFill>
              <a:ln w="14288">
                <a:solidFill>
                  <a:srgbClr val="E3E9ED"/>
                </a:solidFill>
              </a:ln>
            </p:spPr>
          </p:sp>
          <p:sp>
            <p:nvSpPr>
              <p:cNvPr id="8" name="Ellipse 8"/>
              <p:cNvSpPr/>
              <p:nvPr/>
            </p:nvSpPr>
            <p:spPr>
              <a:xfrm>
                <a:off x="828675" y="1743075"/>
                <a:ext cx="476250" cy="47625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</p:sp>
          <p:grpSp>
            <p:nvGrpSpPr>
              <p:cNvPr id="12" name="Group 12"/>
              <p:cNvGrpSpPr/>
              <p:nvPr/>
            </p:nvGrpSpPr>
            <p:grpSpPr>
              <a:xfrm>
                <a:off x="952500" y="1852612"/>
                <a:ext cx="228600" cy="257176"/>
                <a:chOff x="952500" y="1852612"/>
                <a:chExt cx="228600" cy="257176"/>
              </a:xfrm>
            </p:grpSpPr>
            <p:sp>
              <p:nvSpPr>
                <p:cNvPr id="9" name="Freeform 9"/>
                <p:cNvSpPr/>
                <p:nvPr/>
              </p:nvSpPr>
              <p:spPr>
                <a:xfrm>
                  <a:off x="952500" y="1852612"/>
                  <a:ext cx="228600" cy="8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00" h="85725">
                      <a:moveTo>
                        <a:pt x="0" y="42862"/>
                      </a:moveTo>
                      <a:cubicBezTo>
                        <a:pt x="0" y="66535"/>
                        <a:pt x="51174" y="85725"/>
                        <a:pt x="114300" y="85725"/>
                      </a:cubicBezTo>
                      <a:cubicBezTo>
                        <a:pt x="177426" y="85725"/>
                        <a:pt x="228600" y="66535"/>
                        <a:pt x="228600" y="42862"/>
                      </a:cubicBezTo>
                      <a:cubicBezTo>
                        <a:pt x="228600" y="19190"/>
                        <a:pt x="177426" y="0"/>
                        <a:pt x="114300" y="0"/>
                      </a:cubicBezTo>
                      <a:cubicBezTo>
                        <a:pt x="51174" y="0"/>
                        <a:pt x="0" y="19190"/>
                        <a:pt x="0" y="42862"/>
                      </a:cubicBez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10" name="Freeform 10"/>
                <p:cNvSpPr/>
                <p:nvPr/>
              </p:nvSpPr>
              <p:spPr>
                <a:xfrm>
                  <a:off x="952500" y="1895475"/>
                  <a:ext cx="228600" cy="1285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00" h="128588">
                      <a:moveTo>
                        <a:pt x="0" y="0"/>
                      </a:moveTo>
                      <a:lnTo>
                        <a:pt x="0" y="85725"/>
                      </a:lnTo>
                      <a:cubicBezTo>
                        <a:pt x="0" y="109397"/>
                        <a:pt x="51174" y="128588"/>
                        <a:pt x="114300" y="128588"/>
                      </a:cubicBezTo>
                      <a:cubicBezTo>
                        <a:pt x="177426" y="128588"/>
                        <a:pt x="228600" y="109397"/>
                        <a:pt x="228600" y="85725"/>
                      </a:cubicBezTo>
                      <a:lnTo>
                        <a:pt x="228600" y="0"/>
                      </a:ln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11" name="Freeform 11"/>
                <p:cNvSpPr/>
                <p:nvPr/>
              </p:nvSpPr>
              <p:spPr>
                <a:xfrm>
                  <a:off x="952500" y="1981200"/>
                  <a:ext cx="228600" cy="1285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00" h="128588">
                      <a:moveTo>
                        <a:pt x="0" y="0"/>
                      </a:moveTo>
                      <a:lnTo>
                        <a:pt x="0" y="85725"/>
                      </a:lnTo>
                      <a:cubicBezTo>
                        <a:pt x="0" y="109397"/>
                        <a:pt x="51174" y="128588"/>
                        <a:pt x="114300" y="128588"/>
                      </a:cubicBezTo>
                      <a:cubicBezTo>
                        <a:pt x="177426" y="128588"/>
                        <a:pt x="228600" y="109397"/>
                        <a:pt x="228600" y="85725"/>
                      </a:cubicBezTo>
                      <a:lnTo>
                        <a:pt x="228600" y="0"/>
                      </a:ln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</p:grpSp>
          <p:sp>
            <p:nvSpPr>
              <p:cNvPr id="13" name="TextBox 13"/>
              <p:cNvSpPr txBox="1"/>
              <p:nvPr/>
            </p:nvSpPr>
            <p:spPr>
              <a:xfrm>
                <a:off x="1440942" y="1797368"/>
                <a:ext cx="92240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味肽数据库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442466" y="2058352"/>
                <a:ext cx="85877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AA8B3"/>
                    </a:solidFill>
                    <a:latin typeface="+mn-lt"/>
                    <a:ea typeface="+mn-ea"/>
                    <a:cs typeface="+mn-cs"/>
                  </a:rPr>
                  <a:t>正样本主来源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832294" y="2446258"/>
                <a:ext cx="2174233" cy="2273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6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BioPEP-UWM、BIOPEP 等收录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832294" y="2693908"/>
                <a:ext cx="1885721" cy="2273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6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经实验验证的呈味肽序列；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832294" y="2941558"/>
                <a:ext cx="2217078" cy="2273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6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PeptideRanker 概率 &gt;0.5 初筛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3657600" y="1524000"/>
              <a:ext cx="2895600" cy="1905000"/>
              <a:chOff x="3657600" y="1524000"/>
              <a:chExt cx="2895600" cy="190500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3695700" y="1562100"/>
                <a:ext cx="2857500" cy="1866900"/>
              </a:xfrm>
              <a:prstGeom prst="roundRect">
                <a:avLst>
                  <a:gd name="adj" fmla="val 8163"/>
                </a:avLst>
              </a:prstGeom>
              <a:solidFill>
                <a:srgbClr val="E3E9ED"/>
              </a:solidFill>
              <a:ln>
                <a:noFill/>
              </a:ln>
            </p:spPr>
          </p:sp>
          <p:sp>
            <p:nvSpPr>
              <p:cNvPr id="20" name="Rectangle 20"/>
              <p:cNvSpPr/>
              <p:nvPr/>
            </p:nvSpPr>
            <p:spPr>
              <a:xfrm>
                <a:off x="3657600" y="1524000"/>
                <a:ext cx="2857500" cy="1866900"/>
              </a:xfrm>
              <a:prstGeom prst="roundRect">
                <a:avLst>
                  <a:gd name="adj" fmla="val 8163"/>
                </a:avLst>
              </a:prstGeom>
              <a:solidFill>
                <a:srgbClr val="FFFFFF"/>
              </a:solidFill>
              <a:ln w="14288">
                <a:solidFill>
                  <a:srgbClr val="E3E9ED"/>
                </a:solidFill>
              </a:ln>
            </p:spPr>
          </p:sp>
          <p:sp>
            <p:nvSpPr>
              <p:cNvPr id="21" name="Ellipse 21"/>
              <p:cNvSpPr/>
              <p:nvPr/>
            </p:nvSpPr>
            <p:spPr>
              <a:xfrm>
                <a:off x="3876675" y="1743075"/>
                <a:ext cx="476250" cy="47625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</p:sp>
          <p:grpSp>
            <p:nvGrpSpPr>
              <p:cNvPr id="27" name="Group 27"/>
              <p:cNvGrpSpPr/>
              <p:nvPr/>
            </p:nvGrpSpPr>
            <p:grpSpPr>
              <a:xfrm>
                <a:off x="4014788" y="1852612"/>
                <a:ext cx="200025" cy="257175"/>
                <a:chOff x="4014788" y="1852612"/>
                <a:chExt cx="200025" cy="257175"/>
              </a:xfrm>
            </p:grpSpPr>
            <p:sp>
              <p:nvSpPr>
                <p:cNvPr id="22" name="Freeform 22"/>
                <p:cNvSpPr/>
                <p:nvPr/>
              </p:nvSpPr>
              <p:spPr>
                <a:xfrm>
                  <a:off x="4143375" y="1852612"/>
                  <a:ext cx="71438" cy="71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438" h="71438">
                      <a:moveTo>
                        <a:pt x="0" y="0"/>
                      </a:moveTo>
                      <a:lnTo>
                        <a:pt x="0" y="57150"/>
                      </a:lnTo>
                      <a:cubicBezTo>
                        <a:pt x="0" y="65041"/>
                        <a:pt x="6397" y="71438"/>
                        <a:pt x="14288" y="71438"/>
                      </a:cubicBezTo>
                      <a:lnTo>
                        <a:pt x="71438" y="71438"/>
                      </a:ln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23" name="Freeform 23"/>
                <p:cNvSpPr/>
                <p:nvPr/>
              </p:nvSpPr>
              <p:spPr>
                <a:xfrm>
                  <a:off x="4014788" y="1852612"/>
                  <a:ext cx="200025" cy="257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257175">
                      <a:moveTo>
                        <a:pt x="171450" y="257175"/>
                      </a:moveTo>
                      <a:lnTo>
                        <a:pt x="28575" y="257175"/>
                      </a:lnTo>
                      <a:cubicBezTo>
                        <a:pt x="12793" y="257175"/>
                        <a:pt x="0" y="244382"/>
                        <a:pt x="0" y="228600"/>
                      </a:cubicBezTo>
                      <a:lnTo>
                        <a:pt x="0" y="28575"/>
                      </a:lnTo>
                      <a:cubicBezTo>
                        <a:pt x="0" y="12793"/>
                        <a:pt x="12793" y="0"/>
                        <a:pt x="28575" y="0"/>
                      </a:cubicBezTo>
                      <a:lnTo>
                        <a:pt x="128588" y="0"/>
                      </a:lnTo>
                      <a:lnTo>
                        <a:pt x="200025" y="71438"/>
                      </a:lnTo>
                      <a:lnTo>
                        <a:pt x="200025" y="228600"/>
                      </a:lnTo>
                      <a:cubicBezTo>
                        <a:pt x="200025" y="244382"/>
                        <a:pt x="187232" y="257175"/>
                        <a:pt x="171450" y="257175"/>
                      </a:cubicBez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4071938" y="1938338"/>
                  <a:ext cx="14288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8" h="9525">
                      <a:moveTo>
                        <a:pt x="0" y="0"/>
                      </a:moveTo>
                      <a:lnTo>
                        <a:pt x="14288" y="0"/>
                      </a:ln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4071938" y="1995488"/>
                  <a:ext cx="857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25" h="9525">
                      <a:moveTo>
                        <a:pt x="0" y="0"/>
                      </a:moveTo>
                      <a:lnTo>
                        <a:pt x="85725" y="0"/>
                      </a:ln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4071938" y="2052638"/>
                  <a:ext cx="857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25" h="9525">
                      <a:moveTo>
                        <a:pt x="0" y="0"/>
                      </a:moveTo>
                      <a:lnTo>
                        <a:pt x="85725" y="0"/>
                      </a:ln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</p:grpSp>
          <p:sp>
            <p:nvSpPr>
              <p:cNvPr id="28" name="TextBox 28"/>
              <p:cNvSpPr txBox="1"/>
              <p:nvPr/>
            </p:nvSpPr>
            <p:spPr>
              <a:xfrm>
                <a:off x="4488942" y="1797368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实验文献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4490466" y="2058352"/>
                <a:ext cx="71742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AA8B3"/>
                    </a:solidFill>
                    <a:latin typeface="+mn-lt"/>
                    <a:ea typeface="+mn-ea"/>
                    <a:cs typeface="+mn-cs"/>
                  </a:rPr>
                  <a:t>最可靠标签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3880294" y="2446258"/>
                <a:ext cx="1729562" cy="2273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6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感官评价确证的鲜味肽；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3880294" y="2693908"/>
                <a:ext cx="1971609" cy="2273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6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负样本多取无鲜味/苦味肽，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3880294" y="2941558"/>
                <a:ext cx="1417244" cy="2273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6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并严格控制类别平衡</a:t>
                </a: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609600" y="3581400"/>
              <a:ext cx="5943600" cy="2076450"/>
              <a:chOff x="609600" y="3581400"/>
              <a:chExt cx="5943600" cy="2076450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647700" y="3619500"/>
                <a:ext cx="5905500" cy="2038350"/>
              </a:xfrm>
              <a:prstGeom prst="roundRect">
                <a:avLst>
                  <a:gd name="adj" fmla="val 7477"/>
                </a:avLst>
              </a:prstGeom>
              <a:solidFill>
                <a:srgbClr val="E3E9ED"/>
              </a:solidFill>
              <a:ln>
                <a:noFill/>
              </a:ln>
            </p:spPr>
          </p:sp>
          <p:sp>
            <p:nvSpPr>
              <p:cNvPr id="35" name="Rectangle 35"/>
              <p:cNvSpPr/>
              <p:nvPr/>
            </p:nvSpPr>
            <p:spPr>
              <a:xfrm>
                <a:off x="609600" y="3581400"/>
                <a:ext cx="5905500" cy="2038350"/>
              </a:xfrm>
              <a:prstGeom prst="roundRect">
                <a:avLst>
                  <a:gd name="adj" fmla="val 7477"/>
                </a:avLst>
              </a:prstGeom>
              <a:solidFill>
                <a:srgbClr val="FFFFFF"/>
              </a:solidFill>
              <a:ln w="14288">
                <a:solidFill>
                  <a:srgbClr val="CFE4E1"/>
                </a:solidFill>
              </a:ln>
            </p:spPr>
          </p:sp>
          <p:sp>
            <p:nvSpPr>
              <p:cNvPr id="36" name="Ellipse 36"/>
              <p:cNvSpPr/>
              <p:nvPr/>
            </p:nvSpPr>
            <p:spPr>
              <a:xfrm>
                <a:off x="828675" y="3800475"/>
                <a:ext cx="476250" cy="476250"/>
              </a:xfrm>
              <a:prstGeom prst="ellipse">
                <a:avLst/>
              </a:prstGeom>
              <a:solidFill>
                <a:srgbClr val="DFF0EE"/>
              </a:solidFill>
              <a:ln>
                <a:noFill/>
              </a:ln>
            </p:spPr>
          </p:sp>
          <p:grpSp>
            <p:nvGrpSpPr>
              <p:cNvPr id="41" name="Group 41"/>
              <p:cNvGrpSpPr/>
              <p:nvPr/>
            </p:nvGrpSpPr>
            <p:grpSpPr>
              <a:xfrm>
                <a:off x="934232" y="3910012"/>
                <a:ext cx="264143" cy="261178"/>
                <a:chOff x="934232" y="3910012"/>
                <a:chExt cx="264143" cy="261178"/>
              </a:xfrm>
            </p:grpSpPr>
            <p:sp>
              <p:nvSpPr>
                <p:cNvPr id="37" name="Freeform 37"/>
                <p:cNvSpPr/>
                <p:nvPr/>
              </p:nvSpPr>
              <p:spPr>
                <a:xfrm>
                  <a:off x="934232" y="3924300"/>
                  <a:ext cx="246868" cy="2468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6868" h="246890">
                      <a:moveTo>
                        <a:pt x="246868" y="57722"/>
                      </a:moveTo>
                      <a:lnTo>
                        <a:pt x="73675" y="230943"/>
                      </a:lnTo>
                      <a:cubicBezTo>
                        <a:pt x="57736" y="246886"/>
                        <a:pt x="31890" y="246890"/>
                        <a:pt x="15946" y="230950"/>
                      </a:cubicBezTo>
                      <a:cubicBezTo>
                        <a:pt x="3" y="215011"/>
                        <a:pt x="0" y="189165"/>
                        <a:pt x="15939" y="173222"/>
                      </a:cubicBezTo>
                      <a:lnTo>
                        <a:pt x="189132" y="0"/>
                      </a:lnTo>
                    </a:path>
                  </a:pathLst>
                </a:custGeom>
                <a:noFill/>
                <a:ln w="28575">
                  <a:solidFill>
                    <a:schemeClr val="accent2"/>
                  </a:solidFill>
                </a:ln>
              </p:spPr>
            </p:sp>
            <p:sp>
              <p:nvSpPr>
                <p:cNvPr id="38" name="Freeform 38"/>
                <p:cNvSpPr/>
                <p:nvPr/>
              </p:nvSpPr>
              <p:spPr>
                <a:xfrm>
                  <a:off x="995362" y="4052888"/>
                  <a:ext cx="1143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9525">
                      <a:moveTo>
                        <a:pt x="0" y="0"/>
                      </a:moveTo>
                      <a:lnTo>
                        <a:pt x="114300" y="0"/>
                      </a:lnTo>
                    </a:path>
                  </a:pathLst>
                </a:custGeom>
                <a:noFill/>
                <a:ln w="28575">
                  <a:solidFill>
                    <a:schemeClr val="accent2"/>
                  </a:solidFill>
                </a:ln>
              </p:spPr>
            </p:sp>
            <p:sp>
              <p:nvSpPr>
                <p:cNvPr id="39" name="Freeform 39"/>
                <p:cNvSpPr/>
                <p:nvPr/>
              </p:nvSpPr>
              <p:spPr>
                <a:xfrm>
                  <a:off x="1135250" y="4081462"/>
                  <a:ext cx="63125" cy="729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125" h="72986">
                      <a:moveTo>
                        <a:pt x="31563" y="0"/>
                      </a:moveTo>
                      <a:lnTo>
                        <a:pt x="52994" y="22860"/>
                      </a:lnTo>
                      <a:cubicBezTo>
                        <a:pt x="63125" y="34348"/>
                        <a:pt x="62397" y="51781"/>
                        <a:pt x="51342" y="62384"/>
                      </a:cubicBezTo>
                      <a:cubicBezTo>
                        <a:pt x="40287" y="72986"/>
                        <a:pt x="22838" y="72986"/>
                        <a:pt x="11784" y="62384"/>
                      </a:cubicBezTo>
                      <a:cubicBezTo>
                        <a:pt x="729" y="51781"/>
                        <a:pt x="0" y="34348"/>
                        <a:pt x="10131" y="22860"/>
                      </a:cubicBezTo>
                      <a:lnTo>
                        <a:pt x="31563" y="0"/>
                      </a:lnTo>
                    </a:path>
                  </a:pathLst>
                </a:custGeom>
                <a:noFill/>
                <a:ln w="28575">
                  <a:solidFill>
                    <a:schemeClr val="accent2"/>
                  </a:solidFill>
                </a:ln>
              </p:spPr>
            </p:sp>
            <p:sp>
              <p:nvSpPr>
                <p:cNvPr id="40" name="Freeform 40"/>
                <p:cNvSpPr/>
                <p:nvPr/>
              </p:nvSpPr>
              <p:spPr>
                <a:xfrm>
                  <a:off x="1109662" y="3910012"/>
                  <a:ext cx="85725" cy="8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25" h="85725">
                      <a:moveTo>
                        <a:pt x="0" y="0"/>
                      </a:moveTo>
                      <a:lnTo>
                        <a:pt x="85725" y="85725"/>
                      </a:lnTo>
                    </a:path>
                  </a:pathLst>
                </a:custGeom>
                <a:noFill/>
                <a:ln w="28575">
                  <a:solidFill>
                    <a:schemeClr val="accent2"/>
                  </a:solidFill>
                </a:ln>
              </p:spPr>
            </p:sp>
          </p:grpSp>
          <p:sp>
            <p:nvSpPr>
              <p:cNvPr id="42" name="TextBox 42"/>
              <p:cNvSpPr txBox="1"/>
              <p:nvPr/>
            </p:nvSpPr>
            <p:spPr>
              <a:xfrm>
                <a:off x="1440942" y="3854768"/>
                <a:ext cx="273977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虚拟酶解：蛋白「切」出候选肽库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1442466" y="4115752"/>
                <a:ext cx="156552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AA8B3"/>
                    </a:solidFill>
                    <a:latin typeface="+mn-lt"/>
                    <a:ea typeface="+mn-ea"/>
                    <a:cs typeface="+mn-cs"/>
                  </a:rPr>
                  <a:t>按蛋白酶切规则批量造库</a:t>
                </a:r>
              </a:p>
            </p:txBody>
          </p:sp>
          <p:sp>
            <p:nvSpPr>
              <p:cNvPr id="44" name="Line 44"/>
              <p:cNvSpPr/>
              <p:nvPr/>
            </p:nvSpPr>
            <p:spPr>
              <a:xfrm>
                <a:off x="1143000" y="4762500"/>
                <a:ext cx="5143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43500" h="9525">
                    <a:moveTo>
                      <a:pt x="0" y="0"/>
                    </a:moveTo>
                    <a:lnTo>
                      <a:pt x="5143500" y="0"/>
                    </a:lnTo>
                  </a:path>
                </a:pathLst>
              </a:custGeom>
              <a:noFill/>
              <a:ln w="66675" cap="rnd">
                <a:solidFill>
                  <a:srgbClr val="C7D2DB"/>
                </a:solidFill>
              </a:ln>
            </p:spPr>
          </p:sp>
          <p:grpSp>
            <p:nvGrpSpPr>
              <p:cNvPr id="48" name="Group 48"/>
              <p:cNvGrpSpPr/>
              <p:nvPr/>
            </p:nvGrpSpPr>
            <p:grpSpPr>
              <a:xfrm>
                <a:off x="2286000" y="4629150"/>
                <a:ext cx="2867025" cy="266700"/>
                <a:chOff x="2286000" y="4629150"/>
                <a:chExt cx="2867025" cy="266700"/>
              </a:xfrm>
            </p:grpSpPr>
            <p:sp>
              <p:nvSpPr>
                <p:cNvPr id="45" name="Line 45"/>
                <p:cNvSpPr/>
                <p:nvPr/>
              </p:nvSpPr>
              <p:spPr>
                <a:xfrm>
                  <a:off x="2286000" y="4629150"/>
                  <a:ext cx="9525" cy="26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66700">
                      <a:moveTo>
                        <a:pt x="0" y="0"/>
                      </a:moveTo>
                      <a:lnTo>
                        <a:pt x="0" y="266700"/>
                      </a:lnTo>
                    </a:path>
                  </a:pathLst>
                </a:custGeom>
                <a:noFill/>
                <a:ln w="28575">
                  <a:solidFill>
                    <a:schemeClr val="accent3"/>
                  </a:solidFill>
                </a:ln>
              </p:spPr>
            </p:sp>
            <p:sp>
              <p:nvSpPr>
                <p:cNvPr id="46" name="Line 46"/>
                <p:cNvSpPr/>
                <p:nvPr/>
              </p:nvSpPr>
              <p:spPr>
                <a:xfrm>
                  <a:off x="3619500" y="4629150"/>
                  <a:ext cx="9525" cy="26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66700">
                      <a:moveTo>
                        <a:pt x="0" y="0"/>
                      </a:moveTo>
                      <a:lnTo>
                        <a:pt x="0" y="266700"/>
                      </a:lnTo>
                    </a:path>
                  </a:pathLst>
                </a:custGeom>
                <a:noFill/>
                <a:ln w="28575">
                  <a:solidFill>
                    <a:schemeClr val="accent3"/>
                  </a:solidFill>
                </a:ln>
              </p:spPr>
            </p:sp>
            <p:sp>
              <p:nvSpPr>
                <p:cNvPr id="47" name="Line 47"/>
                <p:cNvSpPr/>
                <p:nvPr/>
              </p:nvSpPr>
              <p:spPr>
                <a:xfrm>
                  <a:off x="5143500" y="4629150"/>
                  <a:ext cx="9525" cy="26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66700">
                      <a:moveTo>
                        <a:pt x="0" y="0"/>
                      </a:moveTo>
                      <a:lnTo>
                        <a:pt x="0" y="266700"/>
                      </a:lnTo>
                    </a:path>
                  </a:pathLst>
                </a:custGeom>
                <a:noFill/>
                <a:ln w="28575">
                  <a:solidFill>
                    <a:schemeClr val="accent3"/>
                  </a:solidFill>
                </a:ln>
              </p:spPr>
            </p:sp>
          </p:grpSp>
          <p:sp>
            <p:nvSpPr>
              <p:cNvPr id="49" name="TextBox 49"/>
              <p:cNvSpPr txBox="1"/>
              <p:nvPr/>
            </p:nvSpPr>
            <p:spPr>
              <a:xfrm>
                <a:off x="1116118" y="5000149"/>
                <a:ext cx="233976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▼ 酶切位点（ExPASy PeptideCutter）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2128216" y="5311854"/>
                <a:ext cx="3173067" cy="2126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9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UniProt 蛋白序列 → 2–8 肽候选库（&lt;3000 Da）</a:t>
                </a:r>
              </a:p>
            </p:txBody>
          </p:sp>
        </p:grpSp>
      </p:grpSp>
      <p:grpSp>
        <p:nvGrpSpPr>
          <p:cNvPr id="85" name="Group 85"/>
          <p:cNvGrpSpPr/>
          <p:nvPr/>
        </p:nvGrpSpPr>
        <p:grpSpPr>
          <a:xfrm>
            <a:off x="6819900" y="1524000"/>
            <a:ext cx="4800600" cy="4133850"/>
            <a:chOff x="6819900" y="1524000"/>
            <a:chExt cx="4800600" cy="4133850"/>
          </a:xfrm>
        </p:grpSpPr>
        <p:sp>
          <p:nvSpPr>
            <p:cNvPr id="53" name="Rectangle 53"/>
            <p:cNvSpPr/>
            <p:nvPr/>
          </p:nvSpPr>
          <p:spPr>
            <a:xfrm>
              <a:off x="6858000" y="1562100"/>
              <a:ext cx="4762500" cy="4095750"/>
            </a:xfrm>
            <a:prstGeom prst="roundRect">
              <a:avLst>
                <a:gd name="adj" fmla="val 3721"/>
              </a:avLst>
            </a:prstGeom>
            <a:solidFill>
              <a:srgbClr val="E3E9ED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6819900" y="1524000"/>
              <a:ext cx="4762500" cy="4095750"/>
            </a:xfrm>
            <a:prstGeom prst="roundRect">
              <a:avLst>
                <a:gd name="adj" fmla="val 3721"/>
              </a:avLst>
            </a:prstGeom>
            <a:solidFill>
              <a:srgbClr val="FFFFFF"/>
            </a:solidFill>
            <a:ln w="14288">
              <a:solidFill>
                <a:srgbClr val="E3E9ED"/>
              </a:solidFill>
            </a:ln>
          </p:spPr>
        </p:sp>
        <p:sp>
          <p:nvSpPr>
            <p:cNvPr id="55" name="Ellipse 55"/>
            <p:cNvSpPr/>
            <p:nvPr/>
          </p:nvSpPr>
          <p:spPr>
            <a:xfrm>
              <a:off x="7058025" y="1762125"/>
              <a:ext cx="438150" cy="438150"/>
            </a:xfrm>
            <a:prstGeom prst="ellipse">
              <a:avLst/>
            </a:prstGeom>
            <a:solidFill>
              <a:srgbClr val="DFF0EE"/>
            </a:solidFill>
            <a:ln>
              <a:noFill/>
            </a:ln>
          </p:spPr>
        </p:sp>
        <p:sp>
          <p:nvSpPr>
            <p:cNvPr id="56" name="Freeform 56"/>
            <p:cNvSpPr/>
            <p:nvPr/>
          </p:nvSpPr>
          <p:spPr>
            <a:xfrm>
              <a:off x="7169150" y="1873250"/>
              <a:ext cx="215901" cy="229394"/>
            </a:xfrm>
            <a:custGeom>
              <a:avLst/>
              <a:gdLst/>
              <a:ahLst/>
              <a:cxnLst/>
              <a:rect l="l" t="t" r="r" b="b"/>
              <a:pathLst>
                <a:path w="215901" h="229394">
                  <a:moveTo>
                    <a:pt x="0" y="0"/>
                  </a:moveTo>
                  <a:lnTo>
                    <a:pt x="215901" y="0"/>
                  </a:lnTo>
                  <a:lnTo>
                    <a:pt x="215901" y="29308"/>
                  </a:lnTo>
                  <a:cubicBezTo>
                    <a:pt x="215899" y="36465"/>
                    <a:pt x="213055" y="43329"/>
                    <a:pt x="207993" y="48389"/>
                  </a:cubicBezTo>
                  <a:lnTo>
                    <a:pt x="148432" y="107950"/>
                  </a:lnTo>
                  <a:lnTo>
                    <a:pt x="148432" y="202407"/>
                  </a:lnTo>
                  <a:lnTo>
                    <a:pt x="67469" y="229394"/>
                  </a:lnTo>
                  <a:lnTo>
                    <a:pt x="67469" y="114697"/>
                  </a:lnTo>
                  <a:lnTo>
                    <a:pt x="7017" y="48200"/>
                  </a:lnTo>
                  <a:cubicBezTo>
                    <a:pt x="2502" y="43233"/>
                    <a:pt x="1" y="36762"/>
                    <a:pt x="0" y="30051"/>
                  </a:cubicBezTo>
                  <a:lnTo>
                    <a:pt x="0" y="0"/>
                  </a:lnTo>
                </a:path>
              </a:pathLst>
            </a:custGeom>
            <a:noFill/>
            <a:ln w="26988">
              <a:solidFill>
                <a:schemeClr val="accent2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632192" y="189261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候选肽的逐级过滤</a:t>
              </a:r>
            </a:p>
          </p:txBody>
        </p:sp>
        <p:grpSp>
          <p:nvGrpSpPr>
            <p:cNvPr id="78" name="Group 78"/>
            <p:cNvGrpSpPr/>
            <p:nvPr/>
          </p:nvGrpSpPr>
          <p:grpSpPr>
            <a:xfrm>
              <a:off x="7124700" y="2324100"/>
              <a:ext cx="4152900" cy="2324100"/>
              <a:chOff x="7124700" y="2324100"/>
              <a:chExt cx="4152900" cy="2324100"/>
            </a:xfrm>
          </p:grpSpPr>
          <p:sp>
            <p:nvSpPr>
              <p:cNvPr id="58" name="Rectangle 58"/>
              <p:cNvSpPr/>
              <p:nvPr/>
            </p:nvSpPr>
            <p:spPr>
              <a:xfrm>
                <a:off x="7124700" y="2324100"/>
                <a:ext cx="4152900" cy="495300"/>
              </a:xfrm>
              <a:prstGeom prst="roundRect">
                <a:avLst>
                  <a:gd name="adj" fmla="val 23077"/>
                </a:avLst>
              </a:prstGeom>
              <a:solidFill>
                <a:srgbClr val="F7FAFB"/>
              </a:solidFill>
              <a:ln>
                <a:noFill/>
              </a:ln>
            </p:spPr>
          </p:sp>
          <p:sp>
            <p:nvSpPr>
              <p:cNvPr id="59" name="Ellipse 59"/>
              <p:cNvSpPr/>
              <p:nvPr/>
            </p:nvSpPr>
            <p:spPr>
              <a:xfrm>
                <a:off x="7277100" y="2438400"/>
                <a:ext cx="266700" cy="26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60" name="TextBox 60"/>
              <p:cNvSpPr txBox="1"/>
              <p:nvPr/>
            </p:nvSpPr>
            <p:spPr>
              <a:xfrm>
                <a:off x="7367403" y="2514124"/>
                <a:ext cx="8609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7652194" y="2389108"/>
                <a:ext cx="948766" cy="2273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6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长度与分子量</a:t>
                </a: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7652956" y="2605326"/>
                <a:ext cx="2540926" cy="19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1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2–8 肽、&lt;3000 Da，匹配已知鲜味肽范围</a:t>
                </a:r>
              </a:p>
            </p:txBody>
          </p:sp>
          <p:sp>
            <p:nvSpPr>
              <p:cNvPr id="63" name="Rectangle 63"/>
              <p:cNvSpPr/>
              <p:nvPr/>
            </p:nvSpPr>
            <p:spPr>
              <a:xfrm>
                <a:off x="7124700" y="2933700"/>
                <a:ext cx="4152900" cy="495300"/>
              </a:xfrm>
              <a:prstGeom prst="roundRect">
                <a:avLst>
                  <a:gd name="adj" fmla="val 23077"/>
                </a:avLst>
              </a:prstGeom>
              <a:solidFill>
                <a:srgbClr val="F7FAFB"/>
              </a:solidFill>
              <a:ln>
                <a:noFill/>
              </a:ln>
            </p:spPr>
          </p:sp>
          <p:sp>
            <p:nvSpPr>
              <p:cNvPr id="64" name="Ellipse 64"/>
              <p:cNvSpPr/>
              <p:nvPr/>
            </p:nvSpPr>
            <p:spPr>
              <a:xfrm>
                <a:off x="7277100" y="3048000"/>
                <a:ext cx="266700" cy="26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65" name="TextBox 65"/>
              <p:cNvSpPr txBox="1"/>
              <p:nvPr/>
            </p:nvSpPr>
            <p:spPr>
              <a:xfrm>
                <a:off x="7367403" y="3123724"/>
                <a:ext cx="8609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7652194" y="2998708"/>
                <a:ext cx="1517693" cy="2273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6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PeptideRanker 初筛</a:t>
                </a:r>
              </a:p>
            </p:txBody>
          </p:sp>
          <p:sp>
            <p:nvSpPr>
              <p:cNvPr id="67" name="TextBox 67"/>
              <p:cNvSpPr txBox="1"/>
              <p:nvPr/>
            </p:nvSpPr>
            <p:spPr>
              <a:xfrm>
                <a:off x="7652956" y="3214926"/>
                <a:ext cx="2253729" cy="19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1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生物活性概率 &gt;0.5，过滤无活性片段</a:t>
                </a:r>
              </a:p>
            </p:txBody>
          </p:sp>
          <p:sp>
            <p:nvSpPr>
              <p:cNvPr id="68" name="Rectangle 68"/>
              <p:cNvSpPr/>
              <p:nvPr/>
            </p:nvSpPr>
            <p:spPr>
              <a:xfrm>
                <a:off x="7124700" y="3543300"/>
                <a:ext cx="4152900" cy="495300"/>
              </a:xfrm>
              <a:prstGeom prst="roundRect">
                <a:avLst>
                  <a:gd name="adj" fmla="val 23077"/>
                </a:avLst>
              </a:prstGeom>
              <a:solidFill>
                <a:srgbClr val="F7FAFB"/>
              </a:solidFill>
              <a:ln>
                <a:noFill/>
              </a:ln>
            </p:spPr>
          </p:sp>
          <p:sp>
            <p:nvSpPr>
              <p:cNvPr id="69" name="Ellipse 69"/>
              <p:cNvSpPr/>
              <p:nvPr/>
            </p:nvSpPr>
            <p:spPr>
              <a:xfrm>
                <a:off x="7277100" y="3657600"/>
                <a:ext cx="266700" cy="26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70" name="TextBox 70"/>
              <p:cNvSpPr txBox="1"/>
              <p:nvPr/>
            </p:nvSpPr>
            <p:spPr>
              <a:xfrm>
                <a:off x="7367403" y="3733324"/>
                <a:ext cx="8609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7652194" y="3608308"/>
                <a:ext cx="792607" cy="2273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6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安全性过滤</a:t>
                </a:r>
              </a:p>
            </p:txBody>
          </p:sp>
          <p:sp>
            <p:nvSpPr>
              <p:cNvPr id="72" name="TextBox 72"/>
              <p:cNvSpPr txBox="1"/>
              <p:nvPr/>
            </p:nvSpPr>
            <p:spPr>
              <a:xfrm>
                <a:off x="7652956" y="3824526"/>
                <a:ext cx="1913814" cy="19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1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毒性、致敏性、肠道稳定性筛查</a:t>
                </a:r>
              </a:p>
            </p:txBody>
          </p:sp>
          <p:sp>
            <p:nvSpPr>
              <p:cNvPr id="73" name="Rectangle 73"/>
              <p:cNvSpPr/>
              <p:nvPr/>
            </p:nvSpPr>
            <p:spPr>
              <a:xfrm>
                <a:off x="7124700" y="4152900"/>
                <a:ext cx="4152900" cy="495300"/>
              </a:xfrm>
              <a:prstGeom prst="roundRect">
                <a:avLst>
                  <a:gd name="adj" fmla="val 23077"/>
                </a:avLst>
              </a:prstGeom>
              <a:solidFill>
                <a:srgbClr val="F7FAFB"/>
              </a:solidFill>
              <a:ln>
                <a:noFill/>
              </a:ln>
            </p:spPr>
          </p:sp>
          <p:sp>
            <p:nvSpPr>
              <p:cNvPr id="74" name="Ellipse 74"/>
              <p:cNvSpPr/>
              <p:nvPr/>
            </p:nvSpPr>
            <p:spPr>
              <a:xfrm>
                <a:off x="7277100" y="4267200"/>
                <a:ext cx="266700" cy="26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75" name="TextBox 75"/>
              <p:cNvSpPr txBox="1"/>
              <p:nvPr/>
            </p:nvSpPr>
            <p:spPr>
              <a:xfrm>
                <a:off x="7367403" y="4342924"/>
                <a:ext cx="8609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4</a:t>
                </a:r>
              </a:p>
            </p:txBody>
          </p:sp>
          <p:sp>
            <p:nvSpPr>
              <p:cNvPr id="76" name="TextBox 76"/>
              <p:cNvSpPr txBox="1"/>
              <p:nvPr/>
            </p:nvSpPr>
            <p:spPr>
              <a:xfrm>
                <a:off x="7652194" y="4217908"/>
                <a:ext cx="948766" cy="2273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6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吸收与半衰期</a:t>
                </a:r>
              </a:p>
            </p:txBody>
          </p:sp>
          <p:sp>
            <p:nvSpPr>
              <p:cNvPr id="77" name="TextBox 77"/>
              <p:cNvSpPr txBox="1"/>
              <p:nvPr/>
            </p:nvSpPr>
            <p:spPr>
              <a:xfrm>
                <a:off x="7652956" y="4434126"/>
                <a:ext cx="1913814" cy="19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1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口服利用度、ADMET 性质评估</a:t>
                </a:r>
              </a:p>
            </p:txBody>
          </p:sp>
        </p:grpSp>
        <p:grpSp>
          <p:nvGrpSpPr>
            <p:cNvPr id="82" name="Group 82"/>
            <p:cNvGrpSpPr/>
            <p:nvPr/>
          </p:nvGrpSpPr>
          <p:grpSpPr>
            <a:xfrm>
              <a:off x="9028113" y="4810125"/>
              <a:ext cx="155575" cy="133350"/>
              <a:chOff x="9028113" y="4810125"/>
              <a:chExt cx="155575" cy="133350"/>
            </a:xfrm>
          </p:grpSpPr>
          <p:sp>
            <p:nvSpPr>
              <p:cNvPr id="79" name="Freeform 79"/>
              <p:cNvSpPr/>
              <p:nvPr/>
            </p:nvSpPr>
            <p:spPr>
              <a:xfrm>
                <a:off x="9028113" y="4876800"/>
                <a:ext cx="1555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9525">
                    <a:moveTo>
                      <a:pt x="0" y="0"/>
                    </a:moveTo>
                    <a:lnTo>
                      <a:pt x="155575" y="0"/>
                    </a:lnTo>
                  </a:path>
                </a:pathLst>
              </a:custGeom>
              <a:noFill/>
              <a:ln w="22225">
                <a:solidFill>
                  <a:schemeClr val="accent3"/>
                </a:solidFill>
              </a:ln>
            </p:spPr>
          </p:sp>
          <p:sp>
            <p:nvSpPr>
              <p:cNvPr id="80" name="Freeform 80"/>
              <p:cNvSpPr/>
              <p:nvPr/>
            </p:nvSpPr>
            <p:spPr>
              <a:xfrm>
                <a:off x="9117013" y="4876800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0" y="66675"/>
                    </a:move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chemeClr val="accent3"/>
                </a:solidFill>
              </a:ln>
            </p:spPr>
          </p:sp>
          <p:sp>
            <p:nvSpPr>
              <p:cNvPr id="81" name="Freeform 81"/>
              <p:cNvSpPr/>
              <p:nvPr/>
            </p:nvSpPr>
            <p:spPr>
              <a:xfrm>
                <a:off x="9117013" y="4810125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0" y="0"/>
                    </a:moveTo>
                    <a:lnTo>
                      <a:pt x="66675" y="66675"/>
                    </a:lnTo>
                  </a:path>
                </a:pathLst>
              </a:custGeom>
              <a:noFill/>
              <a:ln w="22225">
                <a:solidFill>
                  <a:schemeClr val="accent3"/>
                </a:solidFill>
              </a:ln>
            </p:spPr>
          </p:sp>
        </p:grpSp>
        <p:sp>
          <p:nvSpPr>
            <p:cNvPr id="83" name="Rectangle 83"/>
            <p:cNvSpPr/>
            <p:nvPr/>
          </p:nvSpPr>
          <p:spPr>
            <a:xfrm>
              <a:off x="7124700" y="5105400"/>
              <a:ext cx="4152900" cy="400050"/>
            </a:xfrm>
            <a:prstGeom prst="roundRect">
              <a:avLst>
                <a:gd name="adj" fmla="val 2857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7851690" y="5237083"/>
              <a:ext cx="2698920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6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高质量候选肽库 → 进入特征编码与模型</a:t>
              </a:r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604647" y="6438900"/>
            <a:ext cx="10982706" cy="294989"/>
            <a:chOff x="604647" y="6438900"/>
            <a:chExt cx="10982706" cy="294989"/>
          </a:xfrm>
        </p:grpSpPr>
        <p:sp>
          <p:nvSpPr>
            <p:cNvPr id="86" name="Line 86"/>
            <p:cNvSpPr/>
            <p:nvPr/>
          </p:nvSpPr>
          <p:spPr>
            <a:xfrm>
              <a:off x="609600" y="6438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4288">
              <a:solidFill>
                <a:srgbClr val="DDE4EA"/>
              </a:solidFill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604647" y="6543199"/>
              <a:ext cx="675452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A3B2BF"/>
                  </a:solidFill>
                  <a:latin typeface="+mn-lt"/>
                  <a:ea typeface="+mn-ea"/>
                  <a:cs typeface="+mn-cs"/>
                </a:rPr>
                <a:t>来源：BioPEP-UWM；PeptideRanker；ExPASy PeptideCutter；iUP-BERT（Foods 2022）；食品工业科技 2023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11135490" y="6543199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A3B2BF"/>
                  </a:solidFill>
                  <a:latin typeface="+mn-lt"/>
                  <a:ea typeface="+mn-ea"/>
                  <a:cs typeface="+mn-cs"/>
                </a:rPr>
                <a:t>05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8170" y="515302"/>
            <a:ext cx="5237912" cy="843915"/>
            <a:chOff x="598170" y="515302"/>
            <a:chExt cx="5237912" cy="843915"/>
          </a:xfrm>
        </p:grpSpPr>
        <p:sp>
          <p:nvSpPr>
            <p:cNvPr id="2" name="TextBox 2"/>
            <p:cNvSpPr txBox="1"/>
            <p:nvPr/>
          </p:nvSpPr>
          <p:spPr>
            <a:xfrm>
              <a:off x="604266" y="515302"/>
              <a:ext cx="24437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22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 · 机器学习路线 · 数据基础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609600" y="762000"/>
              <a:ext cx="457200" cy="47625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98170" y="919162"/>
              <a:ext cx="523791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基准数据集：从 UMP442 到 UMP789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09600" y="1524000"/>
            <a:ext cx="11010900" cy="2895600"/>
            <a:chOff x="609600" y="1524000"/>
            <a:chExt cx="11010900" cy="2895600"/>
          </a:xfrm>
        </p:grpSpPr>
        <p:grpSp>
          <p:nvGrpSpPr>
            <p:cNvPr id="34" name="Group 34"/>
            <p:cNvGrpSpPr/>
            <p:nvPr/>
          </p:nvGrpSpPr>
          <p:grpSpPr>
            <a:xfrm>
              <a:off x="609600" y="1524000"/>
              <a:ext cx="11010900" cy="2895600"/>
              <a:chOff x="609600" y="1524000"/>
              <a:chExt cx="11010900" cy="2895600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647700" y="1562100"/>
                <a:ext cx="10972800" cy="2857500"/>
              </a:xfrm>
              <a:prstGeom prst="roundRect">
                <a:avLst>
                  <a:gd name="adj" fmla="val 5333"/>
                </a:avLst>
              </a:prstGeom>
              <a:solidFill>
                <a:srgbClr val="E3E9ED"/>
              </a:solidFill>
              <a:ln>
                <a:noFill/>
              </a:ln>
            </p:spPr>
          </p:sp>
          <p:sp>
            <p:nvSpPr>
              <p:cNvPr id="7" name="Rectangle 7"/>
              <p:cNvSpPr/>
              <p:nvPr/>
            </p:nvSpPr>
            <p:spPr>
              <a:xfrm>
                <a:off x="609600" y="1524000"/>
                <a:ext cx="10972800" cy="2857500"/>
              </a:xfrm>
              <a:prstGeom prst="roundRect">
                <a:avLst>
                  <a:gd name="adj" fmla="val 5333"/>
                </a:avLst>
              </a:prstGeom>
              <a:solidFill>
                <a:srgbClr val="FFFFFF"/>
              </a:solidFill>
              <a:ln w="14288">
                <a:solidFill>
                  <a:srgbClr val="DDE6EC"/>
                </a:solidFill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831342" y="1740218"/>
                <a:ext cx="164934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三代基准数据集对照</a:t>
                </a:r>
              </a:p>
            </p:txBody>
          </p:sp>
          <p:sp>
            <p:nvSpPr>
              <p:cNvPr id="9" name="Rectangle 9"/>
              <p:cNvSpPr/>
              <p:nvPr/>
            </p:nvSpPr>
            <p:spPr>
              <a:xfrm>
                <a:off x="838200" y="2057400"/>
                <a:ext cx="10515600" cy="381000"/>
              </a:xfrm>
              <a:prstGeom prst="roundRect">
                <a:avLst>
                  <a:gd name="adj" fmla="val 25000"/>
                </a:avLst>
              </a:prstGeom>
              <a:solidFill>
                <a:srgbClr val="F0F5F9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1061085" y="2183606"/>
                <a:ext cx="463753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b="1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数据集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3423285" y="2183606"/>
                <a:ext cx="121762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b="1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鲜味肽（正样本）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6185535" y="2183606"/>
                <a:ext cx="136840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b="1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非鲜味肽（负样本）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8947785" y="2183606"/>
                <a:ext cx="61452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b="1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使用模型</a:t>
                </a:r>
              </a:p>
            </p:txBody>
          </p:sp>
          <p:sp>
            <p:nvSpPr>
              <p:cNvPr id="14" name="Line 14"/>
              <p:cNvSpPr/>
              <p:nvPr/>
            </p:nvSpPr>
            <p:spPr>
              <a:xfrm>
                <a:off x="838200" y="2438400"/>
                <a:ext cx="10515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515600" h="9525">
                    <a:moveTo>
                      <a:pt x="0" y="0"/>
                    </a:moveTo>
                    <a:lnTo>
                      <a:pt x="10515600" y="0"/>
                    </a:lnTo>
                  </a:path>
                </a:pathLst>
              </a:custGeom>
              <a:noFill/>
              <a:ln w="14288">
                <a:solidFill>
                  <a:srgbClr val="EEF2F5"/>
                </a:solidFill>
              </a:ln>
            </p:spPr>
          </p:sp>
          <p:grpSp>
            <p:nvGrpSpPr>
              <p:cNvPr id="32" name="Group 32"/>
              <p:cNvGrpSpPr/>
              <p:nvPr/>
            </p:nvGrpSpPr>
            <p:grpSpPr>
              <a:xfrm>
                <a:off x="838200" y="2747010"/>
                <a:ext cx="10515600" cy="1415796"/>
                <a:chOff x="838200" y="2747010"/>
                <a:chExt cx="10515600" cy="1415796"/>
              </a:xfrm>
            </p:grpSpPr>
            <p:sp>
              <p:nvSpPr>
                <p:cNvPr id="15" name="Ellipse 15"/>
                <p:cNvSpPr/>
                <p:nvPr/>
              </p:nvSpPr>
              <p:spPr>
                <a:xfrm>
                  <a:off x="904875" y="2771775"/>
                  <a:ext cx="95250" cy="95250"/>
                </a:xfrm>
                <a:prstGeom prst="ellipse">
                  <a:avLst/>
                </a:prstGeom>
                <a:solidFill>
                  <a:srgbClr val="4F86B2"/>
                </a:solidFill>
                <a:ln>
                  <a:noFill/>
                </a:ln>
              </p:spPr>
            </p:sp>
            <p:sp>
              <p:nvSpPr>
                <p:cNvPr id="16" name="TextBox 16"/>
                <p:cNvSpPr txBox="1"/>
                <p:nvPr/>
              </p:nvSpPr>
              <p:spPr>
                <a:xfrm>
                  <a:off x="1098804" y="2747010"/>
                  <a:ext cx="639470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rPr>
                    <a:t>UMP442</a:t>
                  </a:r>
                </a:p>
              </p:txBody>
            </p:sp>
            <p:sp>
              <p:nvSpPr>
                <p:cNvPr id="17" name="TextBox 17"/>
                <p:cNvSpPr txBox="1"/>
                <p:nvPr/>
              </p:nvSpPr>
              <p:spPr>
                <a:xfrm>
                  <a:off x="3422904" y="2747010"/>
                  <a:ext cx="278740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140</a:t>
                  </a:r>
                </a:p>
              </p:txBody>
            </p:sp>
            <p:sp>
              <p:nvSpPr>
                <p:cNvPr id="18" name="TextBox 18"/>
                <p:cNvSpPr txBox="1"/>
                <p:nvPr/>
              </p:nvSpPr>
              <p:spPr>
                <a:xfrm>
                  <a:off x="6185154" y="2747010"/>
                  <a:ext cx="278740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302</a:t>
                  </a:r>
                </a:p>
              </p:txBody>
            </p:sp>
            <p:sp>
              <p:nvSpPr>
                <p:cNvPr id="19" name="TextBox 19"/>
                <p:cNvSpPr txBox="1"/>
                <p:nvPr/>
              </p:nvSpPr>
              <p:spPr>
                <a:xfrm>
                  <a:off x="8947404" y="2747010"/>
                  <a:ext cx="2061667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iUmami-SCM、UMPred-FRL</a:t>
                  </a:r>
                </a:p>
              </p:txBody>
            </p:sp>
            <p:sp>
              <p:nvSpPr>
                <p:cNvPr id="20" name="Line 20"/>
                <p:cNvSpPr/>
                <p:nvPr/>
              </p:nvSpPr>
              <p:spPr>
                <a:xfrm>
                  <a:off x="838200" y="3067050"/>
                  <a:ext cx="105156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5600" h="9525">
                      <a:moveTo>
                        <a:pt x="0" y="0"/>
                      </a:moveTo>
                      <a:lnTo>
                        <a:pt x="10515600" y="0"/>
                      </a:lnTo>
                    </a:path>
                  </a:pathLst>
                </a:custGeom>
                <a:noFill/>
                <a:ln w="14288">
                  <a:solidFill>
                    <a:srgbClr val="F2F5F8"/>
                  </a:solidFill>
                </a:ln>
              </p:spPr>
            </p:sp>
            <p:sp>
              <p:nvSpPr>
                <p:cNvPr id="21" name="Ellipse 21"/>
                <p:cNvSpPr/>
                <p:nvPr/>
              </p:nvSpPr>
              <p:spPr>
                <a:xfrm>
                  <a:off x="904875" y="3362325"/>
                  <a:ext cx="95250" cy="95250"/>
                </a:xfrm>
                <a:prstGeom prst="ellipse">
                  <a:avLst/>
                </a:prstGeom>
                <a:solidFill>
                  <a:srgbClr val="4F86B2"/>
                </a:solidFill>
                <a:ln>
                  <a:noFill/>
                </a:ln>
              </p:spPr>
            </p:sp>
            <p:sp>
              <p:nvSpPr>
                <p:cNvPr id="22" name="TextBox 22"/>
                <p:cNvSpPr txBox="1"/>
                <p:nvPr/>
              </p:nvSpPr>
              <p:spPr>
                <a:xfrm>
                  <a:off x="1098804" y="3337560"/>
                  <a:ext cx="639470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rPr>
                    <a:t>UMP499</a:t>
                  </a:r>
                </a:p>
              </p:txBody>
            </p:sp>
            <p:sp>
              <p:nvSpPr>
                <p:cNvPr id="23" name="TextBox 23"/>
                <p:cNvSpPr txBox="1"/>
                <p:nvPr/>
              </p:nvSpPr>
              <p:spPr>
                <a:xfrm>
                  <a:off x="3422904" y="3337560"/>
                  <a:ext cx="278740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212</a:t>
                  </a:r>
                </a:p>
              </p:txBody>
            </p:sp>
            <p:sp>
              <p:nvSpPr>
                <p:cNvPr id="24" name="TextBox 24"/>
                <p:cNvSpPr txBox="1"/>
                <p:nvPr/>
              </p:nvSpPr>
              <p:spPr>
                <a:xfrm>
                  <a:off x="6185154" y="3337560"/>
                  <a:ext cx="278740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287</a:t>
                  </a:r>
                </a:p>
              </p:txBody>
            </p:sp>
            <p:sp>
              <p:nvSpPr>
                <p:cNvPr id="25" name="TextBox 25"/>
                <p:cNvSpPr txBox="1"/>
                <p:nvPr/>
              </p:nvSpPr>
              <p:spPr>
                <a:xfrm>
                  <a:off x="8947404" y="3337560"/>
                  <a:ext cx="986942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Umami-MRNN</a:t>
                  </a:r>
                </a:p>
              </p:txBody>
            </p:sp>
            <p:sp>
              <p:nvSpPr>
                <p:cNvPr id="26" name="Line 26"/>
                <p:cNvSpPr/>
                <p:nvPr/>
              </p:nvSpPr>
              <p:spPr>
                <a:xfrm>
                  <a:off x="838200" y="3657600"/>
                  <a:ext cx="105156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5600" h="9525">
                      <a:moveTo>
                        <a:pt x="0" y="0"/>
                      </a:moveTo>
                      <a:lnTo>
                        <a:pt x="10515600" y="0"/>
                      </a:lnTo>
                    </a:path>
                  </a:pathLst>
                </a:custGeom>
                <a:noFill/>
                <a:ln w="14288">
                  <a:solidFill>
                    <a:srgbClr val="F2F5F8"/>
                  </a:solidFill>
                </a:ln>
              </p:spPr>
            </p:sp>
            <p:sp>
              <p:nvSpPr>
                <p:cNvPr id="27" name="Ellipse 27"/>
                <p:cNvSpPr/>
                <p:nvPr/>
              </p:nvSpPr>
              <p:spPr>
                <a:xfrm>
                  <a:off x="904875" y="3952875"/>
                  <a:ext cx="95250" cy="9525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28" name="TextBox 28"/>
                <p:cNvSpPr txBox="1"/>
                <p:nvPr/>
              </p:nvSpPr>
              <p:spPr>
                <a:xfrm>
                  <a:off x="1098804" y="3928110"/>
                  <a:ext cx="639470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b="1" dirty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rPr>
                    <a:t>UMP789</a:t>
                  </a:r>
                </a:p>
              </p:txBody>
            </p:sp>
            <p:sp>
              <p:nvSpPr>
                <p:cNvPr id="29" name="TextBox 29"/>
                <p:cNvSpPr txBox="1"/>
                <p:nvPr/>
              </p:nvSpPr>
              <p:spPr>
                <a:xfrm>
                  <a:off x="3422904" y="3928110"/>
                  <a:ext cx="924916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789（扩展）</a:t>
                  </a:r>
                </a:p>
              </p:txBody>
            </p:sp>
            <p:sp>
              <p:nvSpPr>
                <p:cNvPr id="30" name="TextBox 30"/>
                <p:cNvSpPr txBox="1"/>
                <p:nvPr/>
              </p:nvSpPr>
              <p:spPr>
                <a:xfrm>
                  <a:off x="6185154" y="3928110"/>
                  <a:ext cx="819912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含多源整合</a:t>
                  </a:r>
                </a:p>
              </p:txBody>
            </p:sp>
            <p:sp>
              <p:nvSpPr>
                <p:cNvPr id="31" name="TextBox 31"/>
                <p:cNvSpPr txBox="1"/>
                <p:nvPr/>
              </p:nvSpPr>
              <p:spPr>
                <a:xfrm>
                  <a:off x="8947404" y="3928110"/>
                  <a:ext cx="953618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Umami-BERT</a:t>
                  </a:r>
                </a:p>
              </p:txBody>
            </p:sp>
          </p:grpSp>
          <p:sp>
            <p:nvSpPr>
              <p:cNvPr id="33" name="TextBox 33"/>
              <p:cNvSpPr txBox="1"/>
              <p:nvPr/>
            </p:nvSpPr>
            <p:spPr>
              <a:xfrm>
                <a:off x="833056" y="4138851"/>
                <a:ext cx="5915427" cy="19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10" dirty="0">
                    <a:solidFill>
                      <a:srgbClr val="A3B2BF"/>
                    </a:solidFill>
                    <a:latin typeface="+mn-lt"/>
                    <a:ea typeface="+mn-ea"/>
                    <a:cs typeface="+mn-cs"/>
                  </a:rPr>
                  <a:t>注：UMP789 为 Umami-BERT 对 UMP499 的扩展整合数据集；各研究划分训练/测试集方式不同</a:t>
                </a:r>
              </a:p>
            </p:txBody>
          </p:sp>
        </p:grpSp>
      </p:grpSp>
      <p:grpSp>
        <p:nvGrpSpPr>
          <p:cNvPr id="57" name="Group 57"/>
          <p:cNvGrpSpPr/>
          <p:nvPr/>
        </p:nvGrpSpPr>
        <p:grpSpPr>
          <a:xfrm>
            <a:off x="609600" y="4610100"/>
            <a:ext cx="11010900" cy="1333500"/>
            <a:chOff x="609600" y="4610100"/>
            <a:chExt cx="11010900" cy="1333500"/>
          </a:xfrm>
        </p:grpSpPr>
        <p:grpSp>
          <p:nvGrpSpPr>
            <p:cNvPr id="46" name="Group 46"/>
            <p:cNvGrpSpPr/>
            <p:nvPr/>
          </p:nvGrpSpPr>
          <p:grpSpPr>
            <a:xfrm>
              <a:off x="609600" y="4610100"/>
              <a:ext cx="5429250" cy="1333500"/>
              <a:chOff x="609600" y="4610100"/>
              <a:chExt cx="5429250" cy="1333500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647700" y="4648200"/>
                <a:ext cx="5391150" cy="1295400"/>
              </a:xfrm>
              <a:prstGeom prst="roundRect">
                <a:avLst>
                  <a:gd name="adj" fmla="val 11765"/>
                </a:avLst>
              </a:prstGeom>
              <a:solidFill>
                <a:srgbClr val="E3E9ED"/>
              </a:solidFill>
              <a:ln>
                <a:noFill/>
              </a:ln>
            </p:spPr>
          </p:sp>
          <p:sp>
            <p:nvSpPr>
              <p:cNvPr id="37" name="Rectangle 37"/>
              <p:cNvSpPr/>
              <p:nvPr/>
            </p:nvSpPr>
            <p:spPr>
              <a:xfrm>
                <a:off x="609600" y="4610100"/>
                <a:ext cx="5391150" cy="1295400"/>
              </a:xfrm>
              <a:prstGeom prst="roundRect">
                <a:avLst>
                  <a:gd name="adj" fmla="val 11765"/>
                </a:avLst>
              </a:prstGeom>
              <a:solidFill>
                <a:srgbClr val="FFFFFF"/>
              </a:solidFill>
              <a:ln w="14288">
                <a:solidFill>
                  <a:srgbClr val="E3E9ED"/>
                </a:solidFill>
              </a:ln>
            </p:spPr>
          </p:sp>
          <p:sp>
            <p:nvSpPr>
              <p:cNvPr id="38" name="Ellipse 38"/>
              <p:cNvSpPr/>
              <p:nvPr/>
            </p:nvSpPr>
            <p:spPr>
              <a:xfrm>
                <a:off x="828675" y="4829175"/>
                <a:ext cx="476250" cy="476250"/>
              </a:xfrm>
              <a:prstGeom prst="ellipse">
                <a:avLst/>
              </a:prstGeom>
              <a:solidFill>
                <a:srgbClr val="DFF0EE"/>
              </a:solidFill>
              <a:ln>
                <a:noFill/>
              </a:ln>
            </p:spPr>
          </p:sp>
          <p:grpSp>
            <p:nvGrpSpPr>
              <p:cNvPr id="42" name="Group 42"/>
              <p:cNvGrpSpPr/>
              <p:nvPr/>
            </p:nvGrpSpPr>
            <p:grpSpPr>
              <a:xfrm>
                <a:off x="952500" y="4938712"/>
                <a:ext cx="228600" cy="257176"/>
                <a:chOff x="952500" y="4938712"/>
                <a:chExt cx="228600" cy="257176"/>
              </a:xfrm>
            </p:grpSpPr>
            <p:sp>
              <p:nvSpPr>
                <p:cNvPr id="39" name="Freeform 39"/>
                <p:cNvSpPr/>
                <p:nvPr/>
              </p:nvSpPr>
              <p:spPr>
                <a:xfrm>
                  <a:off x="952500" y="4938712"/>
                  <a:ext cx="228600" cy="8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00" h="85725">
                      <a:moveTo>
                        <a:pt x="0" y="42862"/>
                      </a:moveTo>
                      <a:cubicBezTo>
                        <a:pt x="0" y="66535"/>
                        <a:pt x="51174" y="85725"/>
                        <a:pt x="114300" y="85725"/>
                      </a:cubicBezTo>
                      <a:cubicBezTo>
                        <a:pt x="177426" y="85725"/>
                        <a:pt x="228600" y="66535"/>
                        <a:pt x="228600" y="42862"/>
                      </a:cubicBezTo>
                      <a:cubicBezTo>
                        <a:pt x="228600" y="19190"/>
                        <a:pt x="177426" y="0"/>
                        <a:pt x="114300" y="0"/>
                      </a:cubicBezTo>
                      <a:cubicBezTo>
                        <a:pt x="51174" y="0"/>
                        <a:pt x="0" y="19190"/>
                        <a:pt x="0" y="42862"/>
                      </a:cubicBezTo>
                    </a:path>
                  </a:pathLst>
                </a:custGeom>
                <a:noFill/>
                <a:ln w="28575">
                  <a:solidFill>
                    <a:schemeClr val="accent2"/>
                  </a:solidFill>
                </a:ln>
              </p:spPr>
            </p:sp>
            <p:sp>
              <p:nvSpPr>
                <p:cNvPr id="40" name="Freeform 40"/>
                <p:cNvSpPr/>
                <p:nvPr/>
              </p:nvSpPr>
              <p:spPr>
                <a:xfrm>
                  <a:off x="952500" y="4981575"/>
                  <a:ext cx="228600" cy="1285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00" h="128588">
                      <a:moveTo>
                        <a:pt x="0" y="0"/>
                      </a:moveTo>
                      <a:lnTo>
                        <a:pt x="0" y="85725"/>
                      </a:lnTo>
                      <a:cubicBezTo>
                        <a:pt x="0" y="109397"/>
                        <a:pt x="51174" y="128588"/>
                        <a:pt x="114300" y="128588"/>
                      </a:cubicBezTo>
                      <a:cubicBezTo>
                        <a:pt x="177426" y="128588"/>
                        <a:pt x="228600" y="109397"/>
                        <a:pt x="228600" y="85725"/>
                      </a:cubicBezTo>
                      <a:lnTo>
                        <a:pt x="228600" y="0"/>
                      </a:lnTo>
                    </a:path>
                  </a:pathLst>
                </a:custGeom>
                <a:noFill/>
                <a:ln w="28575">
                  <a:solidFill>
                    <a:schemeClr val="accent2"/>
                  </a:solidFill>
                </a:ln>
              </p:spPr>
            </p:sp>
            <p:sp>
              <p:nvSpPr>
                <p:cNvPr id="41" name="Freeform 41"/>
                <p:cNvSpPr/>
                <p:nvPr/>
              </p:nvSpPr>
              <p:spPr>
                <a:xfrm>
                  <a:off x="952500" y="5067300"/>
                  <a:ext cx="228600" cy="1285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00" h="128588">
                      <a:moveTo>
                        <a:pt x="0" y="0"/>
                      </a:moveTo>
                      <a:lnTo>
                        <a:pt x="0" y="85725"/>
                      </a:lnTo>
                      <a:cubicBezTo>
                        <a:pt x="0" y="109397"/>
                        <a:pt x="51174" y="128588"/>
                        <a:pt x="114300" y="128588"/>
                      </a:cubicBezTo>
                      <a:cubicBezTo>
                        <a:pt x="177426" y="128588"/>
                        <a:pt x="228600" y="109397"/>
                        <a:pt x="228600" y="85725"/>
                      </a:cubicBezTo>
                      <a:lnTo>
                        <a:pt x="228600" y="0"/>
                      </a:lnTo>
                    </a:path>
                  </a:pathLst>
                </a:custGeom>
                <a:noFill/>
                <a:ln w="28575">
                  <a:solidFill>
                    <a:schemeClr val="accent2"/>
                  </a:solidFill>
                </a:ln>
              </p:spPr>
            </p:sp>
          </p:grpSp>
          <p:sp>
            <p:nvSpPr>
              <p:cNvPr id="43" name="TextBox 43"/>
              <p:cNvSpPr txBox="1"/>
              <p:nvPr/>
            </p:nvSpPr>
            <p:spPr>
              <a:xfrm>
                <a:off x="1441323" y="4891564"/>
                <a:ext cx="2080717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数据扩充是性能提升的燃料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1442085" y="5193506"/>
                <a:ext cx="351693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正样本从 140 条增至数百条，多数据库交叉去冗余；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1442085" y="5441156"/>
                <a:ext cx="347924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数据规模与标注质量直接决定模型能学到多少规律。</a:t>
                </a:r>
              </a:p>
            </p:txBody>
          </p:sp>
        </p:grpSp>
        <p:grpSp>
          <p:nvGrpSpPr>
            <p:cNvPr id="56" name="Group 56"/>
            <p:cNvGrpSpPr/>
            <p:nvPr/>
          </p:nvGrpSpPr>
          <p:grpSpPr>
            <a:xfrm>
              <a:off x="6191250" y="4610100"/>
              <a:ext cx="5429250" cy="1333500"/>
              <a:chOff x="6191250" y="4610100"/>
              <a:chExt cx="5429250" cy="1333500"/>
            </a:xfrm>
          </p:grpSpPr>
          <p:sp>
            <p:nvSpPr>
              <p:cNvPr id="47" name="Rectangle 47"/>
              <p:cNvSpPr/>
              <p:nvPr/>
            </p:nvSpPr>
            <p:spPr>
              <a:xfrm>
                <a:off x="6229350" y="4648200"/>
                <a:ext cx="5391150" cy="1295400"/>
              </a:xfrm>
              <a:prstGeom prst="roundRect">
                <a:avLst>
                  <a:gd name="adj" fmla="val 11765"/>
                </a:avLst>
              </a:prstGeom>
              <a:solidFill>
                <a:srgbClr val="F0DECF"/>
              </a:solidFill>
              <a:ln>
                <a:noFill/>
              </a:ln>
            </p:spPr>
          </p:sp>
          <p:sp>
            <p:nvSpPr>
              <p:cNvPr id="48" name="Rectangle 48"/>
              <p:cNvSpPr/>
              <p:nvPr/>
            </p:nvSpPr>
            <p:spPr>
              <a:xfrm>
                <a:off x="6191250" y="4610100"/>
                <a:ext cx="5391150" cy="1295400"/>
              </a:xfrm>
              <a:prstGeom prst="roundRect">
                <a:avLst>
                  <a:gd name="adj" fmla="val 11765"/>
                </a:avLst>
              </a:prstGeom>
              <a:solidFill>
                <a:srgbClr val="FBE9DD"/>
              </a:solidFill>
              <a:ln w="14288">
                <a:solidFill>
                  <a:srgbClr val="F0DECF"/>
                </a:solidFill>
              </a:ln>
            </p:spPr>
          </p:sp>
          <p:sp>
            <p:nvSpPr>
              <p:cNvPr id="49" name="Ellipse 49"/>
              <p:cNvSpPr/>
              <p:nvPr/>
            </p:nvSpPr>
            <p:spPr>
              <a:xfrm>
                <a:off x="6410325" y="4829175"/>
                <a:ext cx="476250" cy="476250"/>
              </a:xfrm>
              <a:prstGeom prst="ellipse">
                <a:avLst/>
              </a:prstGeom>
              <a:solidFill>
                <a:srgbClr val="F5D9C6"/>
              </a:solidFill>
              <a:ln>
                <a:noFill/>
              </a:ln>
            </p:spPr>
          </p:sp>
          <p:grpSp>
            <p:nvGrpSpPr>
              <p:cNvPr id="52" name="Group 52"/>
              <p:cNvGrpSpPr/>
              <p:nvPr/>
            </p:nvGrpSpPr>
            <p:grpSpPr>
              <a:xfrm>
                <a:off x="6534150" y="4947487"/>
                <a:ext cx="228600" cy="239626"/>
                <a:chOff x="6534150" y="4947487"/>
                <a:chExt cx="228600" cy="239626"/>
              </a:xfrm>
            </p:grpSpPr>
            <p:sp>
              <p:nvSpPr>
                <p:cNvPr id="50" name="Freeform 50"/>
                <p:cNvSpPr/>
                <p:nvPr/>
              </p:nvSpPr>
              <p:spPr>
                <a:xfrm>
                  <a:off x="6534150" y="4947487"/>
                  <a:ext cx="228600" cy="105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00" h="105525">
                      <a:moveTo>
                        <a:pt x="228600" y="105525"/>
                      </a:moveTo>
                      <a:cubicBezTo>
                        <a:pt x="221417" y="53841"/>
                        <a:pt x="180535" y="13355"/>
                        <a:pt x="128783" y="6678"/>
                      </a:cubicBezTo>
                      <a:cubicBezTo>
                        <a:pt x="77031" y="0"/>
                        <a:pt x="27211" y="28782"/>
                        <a:pt x="7144" y="76950"/>
                      </a:cubicBezTo>
                      <a:moveTo>
                        <a:pt x="0" y="19800"/>
                      </a:moveTo>
                      <a:lnTo>
                        <a:pt x="0" y="76950"/>
                      </a:lnTo>
                      <a:lnTo>
                        <a:pt x="57150" y="76950"/>
                      </a:lnTo>
                    </a:path>
                  </a:pathLst>
                </a:custGeom>
                <a:noFill/>
                <a:ln w="28575">
                  <a:solidFill>
                    <a:schemeClr val="accent3"/>
                  </a:solidFill>
                </a:ln>
              </p:spPr>
            </p:sp>
            <p:sp>
              <p:nvSpPr>
                <p:cNvPr id="51" name="Freeform 51"/>
                <p:cNvSpPr/>
                <p:nvPr/>
              </p:nvSpPr>
              <p:spPr>
                <a:xfrm>
                  <a:off x="6534150" y="5081588"/>
                  <a:ext cx="228600" cy="105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00" h="105525">
                      <a:moveTo>
                        <a:pt x="0" y="0"/>
                      </a:moveTo>
                      <a:cubicBezTo>
                        <a:pt x="7183" y="51684"/>
                        <a:pt x="48065" y="92170"/>
                        <a:pt x="99817" y="98847"/>
                      </a:cubicBezTo>
                      <a:cubicBezTo>
                        <a:pt x="151569" y="105525"/>
                        <a:pt x="201389" y="76743"/>
                        <a:pt x="221456" y="28575"/>
                      </a:cubicBezTo>
                      <a:moveTo>
                        <a:pt x="228600" y="85725"/>
                      </a:moveTo>
                      <a:lnTo>
                        <a:pt x="228600" y="28575"/>
                      </a:lnTo>
                      <a:lnTo>
                        <a:pt x="171450" y="28575"/>
                      </a:lnTo>
                    </a:path>
                  </a:pathLst>
                </a:custGeom>
                <a:noFill/>
                <a:ln w="28575">
                  <a:solidFill>
                    <a:schemeClr val="accent3"/>
                  </a:solidFill>
                </a:ln>
              </p:spPr>
            </p:sp>
          </p:grpSp>
          <p:sp>
            <p:nvSpPr>
              <p:cNvPr id="53" name="TextBox 53"/>
              <p:cNvSpPr txBox="1"/>
              <p:nvPr/>
            </p:nvSpPr>
            <p:spPr>
              <a:xfrm>
                <a:off x="7022973" y="4891564"/>
                <a:ext cx="1946963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b="1" dirty="0">
                    <a:solidFill>
                      <a:srgbClr val="B5663A"/>
                    </a:solidFill>
                    <a:latin typeface="+mn-lt"/>
                    <a:ea typeface="+mn-ea"/>
                    <a:cs typeface="+mn-cs"/>
                  </a:rPr>
                  <a:t>SMOTE 过采样平衡类别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7023735" y="5193506"/>
                <a:ext cx="334894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鲜味肽占比低，模型易「全猜负类」刷高 ACC；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7023735" y="5441156"/>
                <a:ext cx="384949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iUP-BERT 用 SMOTE 合成少数类样本显著提升灵敏度。</a:t>
                </a:r>
              </a:p>
            </p:txBody>
          </p:sp>
        </p:grpSp>
      </p:grpSp>
      <p:grpSp>
        <p:nvGrpSpPr>
          <p:cNvPr id="61" name="Group 61"/>
          <p:cNvGrpSpPr/>
          <p:nvPr/>
        </p:nvGrpSpPr>
        <p:grpSpPr>
          <a:xfrm>
            <a:off x="604647" y="6438900"/>
            <a:ext cx="10982706" cy="294989"/>
            <a:chOff x="604647" y="6438900"/>
            <a:chExt cx="10982706" cy="294989"/>
          </a:xfrm>
        </p:grpSpPr>
        <p:sp>
          <p:nvSpPr>
            <p:cNvPr id="58" name="Line 58"/>
            <p:cNvSpPr/>
            <p:nvPr/>
          </p:nvSpPr>
          <p:spPr>
            <a:xfrm>
              <a:off x="609600" y="6438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4288">
              <a:solidFill>
                <a:srgbClr val="DDE4EA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04647" y="6543199"/>
              <a:ext cx="853002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A3B2BF"/>
                  </a:solidFill>
                  <a:latin typeface="+mn-lt"/>
                  <a:ea typeface="+mn-ea"/>
                  <a:cs typeface="+mn-cs"/>
                </a:rPr>
                <a:t>来源：iUmami-SCM（2020，UMP442）；Umami-MRNN（2023，UMP499）；Umami-BERT（FRI 2023，UMP789）；iUP-BERT（Foods 2022）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135490" y="6543199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A3B2BF"/>
                  </a:solidFill>
                  <a:latin typeface="+mn-lt"/>
                  <a:ea typeface="+mn-ea"/>
                  <a:cs typeface="+mn-cs"/>
                </a:rPr>
                <a:t>06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8170" y="515302"/>
            <a:ext cx="4869180" cy="843915"/>
            <a:chOff x="598170" y="515302"/>
            <a:chExt cx="4869180" cy="843915"/>
          </a:xfrm>
        </p:grpSpPr>
        <p:sp>
          <p:nvSpPr>
            <p:cNvPr id="2" name="TextBox 2"/>
            <p:cNvSpPr txBox="1"/>
            <p:nvPr/>
          </p:nvSpPr>
          <p:spPr>
            <a:xfrm>
              <a:off x="604266" y="515302"/>
              <a:ext cx="26445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22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 · 机器学习路线 · STEP 03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609600" y="762000"/>
              <a:ext cx="457200" cy="47625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98170" y="919162"/>
              <a:ext cx="486918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特征工程：从氨基酸序列到数值向量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09600" y="1524000"/>
            <a:ext cx="11010900" cy="1638300"/>
            <a:chOff x="609600" y="1524000"/>
            <a:chExt cx="11010900" cy="1638300"/>
          </a:xfrm>
        </p:grpSpPr>
        <p:sp>
          <p:nvSpPr>
            <p:cNvPr id="6" name="Rectangle 6"/>
            <p:cNvSpPr/>
            <p:nvPr/>
          </p:nvSpPr>
          <p:spPr>
            <a:xfrm>
              <a:off x="647700" y="1562100"/>
              <a:ext cx="10972800" cy="1600200"/>
            </a:xfrm>
            <a:prstGeom prst="roundRect">
              <a:avLst>
                <a:gd name="adj" fmla="val 9524"/>
              </a:avLst>
            </a:prstGeom>
            <a:solidFill>
              <a:srgbClr val="E3E9ED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524000"/>
              <a:ext cx="10972800" cy="1600200"/>
            </a:xfrm>
            <a:prstGeom prst="roundRect">
              <a:avLst>
                <a:gd name="adj" fmla="val 9524"/>
              </a:avLst>
            </a:prstGeom>
            <a:solidFill>
              <a:srgbClr val="FFFFFF"/>
            </a:solidFill>
            <a:ln w="14288">
              <a:solidFill>
                <a:srgbClr val="DDE6EC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723" y="1729264"/>
              <a:ext cx="12549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序列 → 数字向量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33856" y="2205990"/>
              <a:ext cx="24512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E − G − D − S − E − R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37476" y="2606754"/>
              <a:ext cx="2388169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90" dirty="0">
                  <a:solidFill>
                    <a:srgbClr val="9AA8B3"/>
                  </a:solidFill>
                  <a:latin typeface="+mn-lt"/>
                  <a:ea typeface="+mn-ea"/>
                  <a:cs typeface="+mn-cs"/>
                </a:rPr>
                <a:t>六肽（Glu-Gly-Asp-Ser-Glu-Arg）</a:t>
              </a:r>
            </a:p>
          </p:txBody>
        </p:sp>
        <p:grpSp>
          <p:nvGrpSpPr>
            <p:cNvPr id="14" name="Group 14"/>
            <p:cNvGrpSpPr/>
            <p:nvPr/>
          </p:nvGrpSpPr>
          <p:grpSpPr>
            <a:xfrm>
              <a:off x="4240212" y="2238375"/>
              <a:ext cx="244475" cy="209550"/>
              <a:chOff x="4240212" y="2238375"/>
              <a:chExt cx="244475" cy="20955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4240212" y="2343150"/>
                <a:ext cx="2444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44475" h="9525">
                    <a:moveTo>
                      <a:pt x="0" y="0"/>
                    </a:moveTo>
                    <a:lnTo>
                      <a:pt x="244475" y="0"/>
                    </a:lnTo>
                  </a:path>
                </a:pathLst>
              </a:custGeom>
              <a:noFill/>
              <a:ln w="34925">
                <a:solidFill>
                  <a:schemeClr val="accent3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4379912" y="2343150"/>
                <a:ext cx="104775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104775">
                    <a:moveTo>
                      <a:pt x="0" y="104775"/>
                    </a:moveTo>
                    <a:lnTo>
                      <a:pt x="104775" y="0"/>
                    </a:lnTo>
                  </a:path>
                </a:pathLst>
              </a:custGeom>
              <a:noFill/>
              <a:ln w="34925">
                <a:solidFill>
                  <a:schemeClr val="accent3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4379912" y="2238375"/>
                <a:ext cx="104775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104775">
                    <a:moveTo>
                      <a:pt x="0" y="0"/>
                    </a:moveTo>
                    <a:lnTo>
                      <a:pt x="104775" y="104775"/>
                    </a:lnTo>
                  </a:path>
                </a:pathLst>
              </a:custGeom>
              <a:noFill/>
              <a:ln w="34925">
                <a:solidFill>
                  <a:schemeClr val="accent3"/>
                </a:solidFill>
              </a:ln>
            </p:spPr>
          </p:sp>
        </p:grpSp>
        <p:grpSp>
          <p:nvGrpSpPr>
            <p:cNvPr id="18" name="Group 18"/>
            <p:cNvGrpSpPr/>
            <p:nvPr/>
          </p:nvGrpSpPr>
          <p:grpSpPr>
            <a:xfrm>
              <a:off x="5042344" y="2008108"/>
              <a:ext cx="1698330" cy="836962"/>
              <a:chOff x="5042344" y="2008108"/>
              <a:chExt cx="1698330" cy="836962"/>
            </a:xfrm>
          </p:grpSpPr>
          <p:sp>
            <p:nvSpPr>
              <p:cNvPr id="15" name="TextBox 15"/>
              <p:cNvSpPr txBox="1"/>
              <p:nvPr/>
            </p:nvSpPr>
            <p:spPr>
              <a:xfrm>
                <a:off x="5042344" y="2008108"/>
                <a:ext cx="1698330" cy="2273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6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[0.31, 0.08, 0.15, …]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5042344" y="2312908"/>
                <a:ext cx="1698330" cy="2273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6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[0.62, 0.44, 0.71, …]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5042344" y="2617708"/>
                <a:ext cx="1698330" cy="2273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6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[0.05, 0.90, 0.22, …]</a:t>
                </a:r>
              </a:p>
            </p:txBody>
          </p:sp>
        </p:grpSp>
        <p:sp>
          <p:nvSpPr>
            <p:cNvPr id="19" name="Rectangle 19"/>
            <p:cNvSpPr/>
            <p:nvPr/>
          </p:nvSpPr>
          <p:spPr>
            <a:xfrm>
              <a:off x="8382000" y="2000250"/>
              <a:ext cx="2857500" cy="819150"/>
            </a:xfrm>
            <a:prstGeom prst="roundRect">
              <a:avLst>
                <a:gd name="adj" fmla="val 13953"/>
              </a:avLst>
            </a:prstGeom>
            <a:solidFill>
              <a:srgbClr val="F0F5F9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604694" y="2217658"/>
              <a:ext cx="1885721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编码向量（数十至数千维）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604694" y="2503408"/>
              <a:ext cx="2041881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描述组成、顺序、理化与语义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33056" y="2900601"/>
              <a:ext cx="2049780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dirty="0">
                  <a:solidFill>
                    <a:srgbClr val="A3B2BF"/>
                  </a:solidFill>
                  <a:latin typeface="+mn-lt"/>
                  <a:ea typeface="+mn-ea"/>
                  <a:cs typeface="+mn-cs"/>
                </a:rPr>
                <a:t>向量为示意，不对应真实编码数值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09600" y="3352800"/>
            <a:ext cx="5429250" cy="2552700"/>
            <a:chOff x="609600" y="3352800"/>
            <a:chExt cx="5429250" cy="2552700"/>
          </a:xfrm>
        </p:grpSpPr>
        <p:sp>
          <p:nvSpPr>
            <p:cNvPr id="24" name="Rectangle 24"/>
            <p:cNvSpPr/>
            <p:nvPr/>
          </p:nvSpPr>
          <p:spPr>
            <a:xfrm>
              <a:off x="647700" y="3390900"/>
              <a:ext cx="5391150" cy="2514600"/>
            </a:xfrm>
            <a:prstGeom prst="roundRect">
              <a:avLst>
                <a:gd name="adj" fmla="val 6061"/>
              </a:avLst>
            </a:prstGeom>
            <a:solidFill>
              <a:srgbClr val="E3E9ED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09600" y="3352800"/>
              <a:ext cx="5391150" cy="2514600"/>
            </a:xfrm>
            <a:prstGeom prst="roundRect">
              <a:avLst>
                <a:gd name="adj" fmla="val 6061"/>
              </a:avLst>
            </a:prstGeom>
            <a:solidFill>
              <a:srgbClr val="FFFFFF"/>
            </a:solidFill>
            <a:ln w="14288">
              <a:solidFill>
                <a:srgbClr val="E3E9ED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828675" y="3571875"/>
              <a:ext cx="476250" cy="47625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923925" y="3667125"/>
              <a:ext cx="271463" cy="285750"/>
              <a:chOff x="923925" y="3667125"/>
              <a:chExt cx="271463" cy="28575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923925" y="3895725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57150" y="28575"/>
                    </a:move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  <a:cubicBezTo>
                      <a:pt x="0" y="44357"/>
                      <a:pt x="12793" y="57150"/>
                      <a:pt x="28575" y="57150"/>
                    </a:cubicBezTo>
                    <a:cubicBezTo>
                      <a:pt x="44357" y="57150"/>
                      <a:pt x="57150" y="44357"/>
                      <a:pt x="57150" y="28575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1066800" y="3667125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57150" y="28575"/>
                    </a:move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  <a:cubicBezTo>
                      <a:pt x="0" y="44357"/>
                      <a:pt x="12793" y="57150"/>
                      <a:pt x="28575" y="57150"/>
                    </a:cubicBezTo>
                    <a:cubicBezTo>
                      <a:pt x="44357" y="57150"/>
                      <a:pt x="57150" y="44357"/>
                      <a:pt x="57150" y="28575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1066800" y="3895725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57150" y="28575"/>
                    </a:move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  <a:cubicBezTo>
                      <a:pt x="0" y="44357"/>
                      <a:pt x="12793" y="57150"/>
                      <a:pt x="28575" y="57150"/>
                    </a:cubicBezTo>
                    <a:cubicBezTo>
                      <a:pt x="44357" y="57150"/>
                      <a:pt x="57150" y="44357"/>
                      <a:pt x="57150" y="28575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995362" y="3781425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57150" y="28575"/>
                    </a:move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  <a:cubicBezTo>
                      <a:pt x="0" y="44357"/>
                      <a:pt x="12793" y="57150"/>
                      <a:pt x="28575" y="57150"/>
                    </a:cubicBezTo>
                    <a:cubicBezTo>
                      <a:pt x="44357" y="57150"/>
                      <a:pt x="57150" y="44357"/>
                      <a:pt x="57150" y="28575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1138238" y="3781425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57150" y="28575"/>
                    </a:move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  <a:cubicBezTo>
                      <a:pt x="0" y="44357"/>
                      <a:pt x="12793" y="57150"/>
                      <a:pt x="28575" y="57150"/>
                    </a:cubicBezTo>
                    <a:cubicBezTo>
                      <a:pt x="44357" y="57150"/>
                      <a:pt x="57150" y="44357"/>
                      <a:pt x="57150" y="28575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967616" y="3834289"/>
                <a:ext cx="41148" cy="65808"/>
              </a:xfrm>
              <a:custGeom>
                <a:avLst/>
                <a:gdLst/>
                <a:ahLst/>
                <a:cxnLst/>
                <a:rect l="l" t="t" r="r" b="b"/>
                <a:pathLst>
                  <a:path w="41148" h="65808">
                    <a:moveTo>
                      <a:pt x="0" y="65808"/>
                    </a:moveTo>
                    <a:lnTo>
                      <a:pt x="41148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1039097" y="3719974"/>
                <a:ext cx="41105" cy="65780"/>
              </a:xfrm>
              <a:custGeom>
                <a:avLst/>
                <a:gdLst/>
                <a:ahLst/>
                <a:cxnLst/>
                <a:rect l="l" t="t" r="r" b="b"/>
                <a:pathLst>
                  <a:path w="41105" h="65780">
                    <a:moveTo>
                      <a:pt x="0" y="65780"/>
                    </a:moveTo>
                    <a:lnTo>
                      <a:pt x="41105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1039154" y="3834360"/>
                <a:ext cx="41091" cy="65722"/>
              </a:xfrm>
              <a:custGeom>
                <a:avLst/>
                <a:gdLst/>
                <a:ahLst/>
                <a:cxnLst/>
                <a:rect l="l" t="t" r="r" b="b"/>
                <a:pathLst>
                  <a:path w="41091" h="65722">
                    <a:moveTo>
                      <a:pt x="0" y="0"/>
                    </a:moveTo>
                    <a:lnTo>
                      <a:pt x="41091" y="65722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1110563" y="3719989"/>
                <a:ext cx="41162" cy="65865"/>
              </a:xfrm>
              <a:custGeom>
                <a:avLst/>
                <a:gdLst/>
                <a:ahLst/>
                <a:cxnLst/>
                <a:rect l="l" t="t" r="r" b="b"/>
                <a:pathLst>
                  <a:path w="41162" h="65865">
                    <a:moveTo>
                      <a:pt x="0" y="0"/>
                    </a:moveTo>
                    <a:lnTo>
                      <a:pt x="41162" y="65865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1440942" y="3626168"/>
              <a:ext cx="23170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手工特征（传统 ML 路线）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442466" y="3887152"/>
              <a:ext cx="25549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AA8B3"/>
                  </a:solidFill>
                  <a:latin typeface="+mn-lt"/>
                  <a:ea typeface="+mn-ea"/>
                  <a:cs typeface="+mn-cs"/>
                </a:rPr>
                <a:t>依赖专家经验设计，可解释但有噪声冗余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32294" y="4236958"/>
              <a:ext cx="3263753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5222" indent="-12522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6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AAC 氨基酸组成（20 维）、DPC（400 维）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2294" y="4522708"/>
              <a:ext cx="2999755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5222" indent="-12522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6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PAAC / APAAC 拟氨基酸组成、CTD 特征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32294" y="4808458"/>
              <a:ext cx="3104352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5222" indent="-12522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6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理化描述符：电荷、疏水性、pKa、分子量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32294" y="5094208"/>
              <a:ext cx="3262322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5222" indent="-12522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6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Mordred 2D 分子描述符（VirtuousUmami）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838200" y="5410200"/>
              <a:ext cx="4933950" cy="304800"/>
            </a:xfrm>
            <a:prstGeom prst="roundRect">
              <a:avLst>
                <a:gd name="adj" fmla="val 31250"/>
              </a:avLst>
            </a:prstGeom>
            <a:solidFill>
              <a:srgbClr val="F0F5F9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985266" y="5506402"/>
              <a:ext cx="35316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代表：iUmami-SCM、UMPred-FRL（6 算法 × 7 编码）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6191250" y="3352800"/>
            <a:ext cx="5391150" cy="2514600"/>
            <a:chOff x="6191250" y="3352800"/>
            <a:chExt cx="5391150" cy="2514600"/>
          </a:xfrm>
        </p:grpSpPr>
        <p:sp>
          <p:nvSpPr>
            <p:cNvPr id="46" name="Rectangle 46"/>
            <p:cNvSpPr/>
            <p:nvPr/>
          </p:nvSpPr>
          <p:spPr>
            <a:xfrm>
              <a:off x="6191250" y="3352800"/>
              <a:ext cx="5391150" cy="2514600"/>
            </a:xfrm>
            <a:prstGeom prst="roundRect">
              <a:avLst>
                <a:gd name="adj" fmla="val 606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7" name="Ellipse 47"/>
            <p:cNvSpPr/>
            <p:nvPr/>
          </p:nvSpPr>
          <p:spPr>
            <a:xfrm>
              <a:off x="6410325" y="3571875"/>
              <a:ext cx="476250" cy="476250"/>
            </a:xfrm>
            <a:prstGeom prst="ellipse">
              <a:avLst/>
            </a:prstGeom>
            <a:solidFill>
              <a:srgbClr val="123A5A"/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6519862" y="3681412"/>
              <a:ext cx="257176" cy="257176"/>
              <a:chOff x="6519862" y="3681412"/>
              <a:chExt cx="257176" cy="257176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6648450" y="3824288"/>
                <a:ext cx="100012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114300">
                    <a:moveTo>
                      <a:pt x="50006" y="0"/>
                    </a:moveTo>
                    <a:cubicBezTo>
                      <a:pt x="22389" y="0"/>
                      <a:pt x="0" y="22389"/>
                      <a:pt x="0" y="50006"/>
                    </a:cubicBezTo>
                    <a:lnTo>
                      <a:pt x="0" y="64294"/>
                    </a:lnTo>
                    <a:cubicBezTo>
                      <a:pt x="0" y="91911"/>
                      <a:pt x="22389" y="114300"/>
                      <a:pt x="50006" y="114300"/>
                    </a:cubicBezTo>
                    <a:cubicBezTo>
                      <a:pt x="77624" y="114300"/>
                      <a:pt x="100012" y="91911"/>
                      <a:pt x="100012" y="64294"/>
                    </a:cubicBezTo>
                    <a:lnTo>
                      <a:pt x="100012" y="38576"/>
                    </a:lnTo>
                  </a:path>
                </a:pathLst>
              </a:custGeom>
              <a:noFill/>
              <a:ln w="28575">
                <a:solidFill>
                  <a:srgbClr val="2FB3A8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6548438" y="3824288"/>
                <a:ext cx="100012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114300">
                    <a:moveTo>
                      <a:pt x="50006" y="0"/>
                    </a:moveTo>
                    <a:cubicBezTo>
                      <a:pt x="77624" y="0"/>
                      <a:pt x="100012" y="22389"/>
                      <a:pt x="100012" y="50006"/>
                    </a:cubicBezTo>
                    <a:lnTo>
                      <a:pt x="100012" y="64294"/>
                    </a:lnTo>
                    <a:cubicBezTo>
                      <a:pt x="100012" y="91911"/>
                      <a:pt x="77624" y="114300"/>
                      <a:pt x="50006" y="114300"/>
                    </a:cubicBezTo>
                    <a:cubicBezTo>
                      <a:pt x="22389" y="114300"/>
                      <a:pt x="0" y="91911"/>
                      <a:pt x="0" y="64294"/>
                    </a:cubicBezTo>
                    <a:lnTo>
                      <a:pt x="0" y="38576"/>
                    </a:lnTo>
                  </a:path>
                </a:pathLst>
              </a:custGeom>
              <a:noFill/>
              <a:ln w="28575">
                <a:solidFill>
                  <a:srgbClr val="2FB3A8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6719888" y="3767138"/>
                <a:ext cx="57150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100012">
                    <a:moveTo>
                      <a:pt x="7144" y="100012"/>
                    </a:moveTo>
                    <a:cubicBezTo>
                      <a:pt x="34761" y="100012"/>
                      <a:pt x="57150" y="77624"/>
                      <a:pt x="57150" y="50006"/>
                    </a:cubicBezTo>
                    <a:cubicBezTo>
                      <a:pt x="57150" y="22389"/>
                      <a:pt x="34761" y="0"/>
                      <a:pt x="7144" y="0"/>
                    </a:cubicBezTo>
                    <a:lnTo>
                      <a:pt x="0" y="0"/>
                    </a:lnTo>
                  </a:path>
                </a:pathLst>
              </a:custGeom>
              <a:noFill/>
              <a:ln w="28575">
                <a:solidFill>
                  <a:srgbClr val="2FB3A8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6648450" y="3681412"/>
                <a:ext cx="100012" cy="90011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90011">
                    <a:moveTo>
                      <a:pt x="100012" y="90011"/>
                    </a:moveTo>
                    <a:lnTo>
                      <a:pt x="100012" y="50006"/>
                    </a:lnTo>
                    <a:cubicBezTo>
                      <a:pt x="100012" y="22389"/>
                      <a:pt x="77624" y="0"/>
                      <a:pt x="50006" y="0"/>
                    </a:cubicBezTo>
                    <a:cubicBezTo>
                      <a:pt x="22389" y="0"/>
                      <a:pt x="0" y="22389"/>
                      <a:pt x="0" y="50006"/>
                    </a:cubicBezTo>
                  </a:path>
                </a:pathLst>
              </a:custGeom>
              <a:noFill/>
              <a:ln w="28575">
                <a:solidFill>
                  <a:srgbClr val="2FB3A8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6519862" y="3767138"/>
                <a:ext cx="57150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100012">
                    <a:moveTo>
                      <a:pt x="50006" y="100012"/>
                    </a:moveTo>
                    <a:cubicBezTo>
                      <a:pt x="22389" y="100012"/>
                      <a:pt x="0" y="77624"/>
                      <a:pt x="0" y="50006"/>
                    </a:cubicBezTo>
                    <a:cubicBezTo>
                      <a:pt x="0" y="22389"/>
                      <a:pt x="22389" y="0"/>
                      <a:pt x="50006" y="0"/>
                    </a:cubicBezTo>
                    <a:lnTo>
                      <a:pt x="57150" y="0"/>
                    </a:lnTo>
                  </a:path>
                </a:pathLst>
              </a:custGeom>
              <a:noFill/>
              <a:ln w="28575">
                <a:solidFill>
                  <a:srgbClr val="2FB3A8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6548438" y="3681412"/>
                <a:ext cx="100012" cy="192881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192881">
                    <a:moveTo>
                      <a:pt x="0" y="90011"/>
                    </a:moveTo>
                    <a:lnTo>
                      <a:pt x="0" y="50006"/>
                    </a:lnTo>
                    <a:cubicBezTo>
                      <a:pt x="0" y="22389"/>
                      <a:pt x="22389" y="0"/>
                      <a:pt x="50006" y="0"/>
                    </a:cubicBezTo>
                    <a:cubicBezTo>
                      <a:pt x="77624" y="0"/>
                      <a:pt x="100012" y="22389"/>
                      <a:pt x="100012" y="50006"/>
                    </a:cubicBezTo>
                    <a:lnTo>
                      <a:pt x="100012" y="192881"/>
                    </a:lnTo>
                  </a:path>
                </a:pathLst>
              </a:custGeom>
              <a:noFill/>
              <a:ln w="28575">
                <a:solidFill>
                  <a:srgbClr val="2FB3A8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7022592" y="36261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深度表征（新主流）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024116" y="3887152"/>
              <a:ext cx="25549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FA0BC"/>
                  </a:solidFill>
                  <a:latin typeface="+mn-lt"/>
                  <a:ea typeface="+mn-ea"/>
                  <a:cs typeface="+mn-cs"/>
                </a:rPr>
                <a:t>预训练语言模型自动提特征，端到端学习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413944" y="4236958"/>
              <a:ext cx="3207771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5222" indent="-125222">
                <a:buClr>
                  <a:srgbClr val="DCE8F2"/>
                </a:buClr>
                <a:buSzTx/>
                <a:buFontTx/>
                <a:buChar char="•"/>
              </a:pPr>
              <a:r>
                <a:rPr lang="zh-CN" sz="1160" dirty="0">
                  <a:solidFill>
                    <a:srgbClr val="DCE8F2"/>
                  </a:solidFill>
                  <a:latin typeface="+mn-lt"/>
                  <a:ea typeface="+mn-ea"/>
                  <a:cs typeface="+mn-cs"/>
                </a:rPr>
                <a:t>BERT/Transformer 在海量蛋白序列预训练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413944" y="4522708"/>
              <a:ext cx="2635580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5222" indent="-125222">
                <a:buClr>
                  <a:srgbClr val="DCE8F2"/>
                </a:buClr>
                <a:buSzTx/>
                <a:buFontTx/>
                <a:buChar char="•"/>
              </a:pPr>
              <a:r>
                <a:rPr lang="zh-CN" sz="1160" dirty="0">
                  <a:solidFill>
                    <a:srgbClr val="DCE8F2"/>
                  </a:solidFill>
                  <a:latin typeface="+mn-lt"/>
                  <a:ea typeface="+mn-ea"/>
                  <a:cs typeface="+mn-cs"/>
                </a:rPr>
                <a:t>每个残基映射为高维上下文嵌入向量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413944" y="4808458"/>
              <a:ext cx="2815163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5222" indent="-125222">
                <a:buClr>
                  <a:srgbClr val="DCE8F2"/>
                </a:buClr>
                <a:buSzTx/>
                <a:buFontTx/>
                <a:buChar char="•"/>
              </a:pPr>
              <a:r>
                <a:rPr lang="zh-CN" sz="1160" dirty="0">
                  <a:solidFill>
                    <a:srgbClr val="DCE8F2"/>
                  </a:solidFill>
                  <a:latin typeface="+mn-lt"/>
                  <a:ea typeface="+mn-ea"/>
                  <a:cs typeface="+mn-cs"/>
                </a:rPr>
                <a:t>两阶段微调 + 注意力权重定位关键残基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413944" y="5094208"/>
              <a:ext cx="2479421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5222" indent="-125222">
                <a:buClr>
                  <a:srgbClr val="DCE8F2"/>
                </a:buClr>
                <a:buSzTx/>
                <a:buFontTx/>
                <a:buChar char="•"/>
              </a:pPr>
              <a:r>
                <a:rPr lang="zh-CN" sz="1160" dirty="0">
                  <a:solidFill>
                    <a:srgbClr val="DCE8F2"/>
                  </a:solidFill>
                  <a:latin typeface="+mn-lt"/>
                  <a:ea typeface="+mn-ea"/>
                  <a:cs typeface="+mn-cs"/>
                </a:rPr>
                <a:t>免去手工特征工程，捕捉长程依赖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6419850" y="5410200"/>
              <a:ext cx="4933950" cy="304800"/>
            </a:xfrm>
            <a:prstGeom prst="roundRect">
              <a:avLst>
                <a:gd name="adj" fmla="val 31250"/>
              </a:avLst>
            </a:prstGeom>
            <a:solidFill>
              <a:srgbClr val="123A5A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566916" y="5506402"/>
              <a:ext cx="34323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FB3A8"/>
                  </a:solidFill>
                  <a:latin typeface="+mn-lt"/>
                  <a:ea typeface="+mn-ea"/>
                  <a:cs typeface="+mn-cs"/>
                </a:rPr>
                <a:t>代表：iUP-BERT、Umami-BERT、2025 对比学习模型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604647" y="6438900"/>
            <a:ext cx="10982706" cy="294989"/>
            <a:chOff x="604647" y="6438900"/>
            <a:chExt cx="10982706" cy="294989"/>
          </a:xfrm>
        </p:grpSpPr>
        <p:sp>
          <p:nvSpPr>
            <p:cNvPr id="64" name="Line 64"/>
            <p:cNvSpPr/>
            <p:nvPr/>
          </p:nvSpPr>
          <p:spPr>
            <a:xfrm>
              <a:off x="609600" y="6438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4288">
              <a:solidFill>
                <a:srgbClr val="DDE4EA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04647" y="6543199"/>
              <a:ext cx="910306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A3B2BF"/>
                  </a:solidFill>
                  <a:latin typeface="+mn-lt"/>
                  <a:ea typeface="+mn-ea"/>
                  <a:cs typeface="+mn-cs"/>
                </a:rPr>
                <a:t>来源：UMPred-FRL（IJMS 2021）；iUmami-SCM（2020）；VirtuousUmami（Sci Rep 2022）；iUP-BERT（Foods 2022）；Umami-BERT（FRI 2023）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135490" y="6543199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A3B2BF"/>
                  </a:solidFill>
                  <a:latin typeface="+mn-lt"/>
                  <a:ea typeface="+mn-ea"/>
                  <a:cs typeface="+mn-cs"/>
                </a:rPr>
                <a:t>07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8170" y="515302"/>
            <a:ext cx="3926548" cy="843915"/>
            <a:chOff x="598170" y="515302"/>
            <a:chExt cx="3926548" cy="843915"/>
          </a:xfrm>
        </p:grpSpPr>
        <p:sp>
          <p:nvSpPr>
            <p:cNvPr id="2" name="TextBox 2"/>
            <p:cNvSpPr txBox="1"/>
            <p:nvPr/>
          </p:nvSpPr>
          <p:spPr>
            <a:xfrm>
              <a:off x="604266" y="515302"/>
              <a:ext cx="26445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22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 · 机器学习路线 · STEP 04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609600" y="762000"/>
              <a:ext cx="457200" cy="47625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98170" y="919162"/>
              <a:ext cx="392654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算法演进：从 SVM 到 BERT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09600" y="1524000"/>
            <a:ext cx="11010900" cy="3429000"/>
            <a:chOff x="609600" y="1524000"/>
            <a:chExt cx="11010900" cy="3429000"/>
          </a:xfrm>
        </p:grpSpPr>
        <p:grpSp>
          <p:nvGrpSpPr>
            <p:cNvPr id="26" name="Group 26"/>
            <p:cNvGrpSpPr/>
            <p:nvPr/>
          </p:nvGrpSpPr>
          <p:grpSpPr>
            <a:xfrm>
              <a:off x="609600" y="1524000"/>
              <a:ext cx="11010900" cy="3429000"/>
              <a:chOff x="609600" y="1524000"/>
              <a:chExt cx="11010900" cy="3429000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647700" y="1562100"/>
                <a:ext cx="10972800" cy="3390900"/>
              </a:xfrm>
              <a:prstGeom prst="roundRect">
                <a:avLst>
                  <a:gd name="adj" fmla="val 4494"/>
                </a:avLst>
              </a:prstGeom>
              <a:solidFill>
                <a:srgbClr val="E3E9ED"/>
              </a:solidFill>
              <a:ln>
                <a:noFill/>
              </a:ln>
            </p:spPr>
          </p:sp>
          <p:sp>
            <p:nvSpPr>
              <p:cNvPr id="7" name="Rectangle 7"/>
              <p:cNvSpPr/>
              <p:nvPr/>
            </p:nvSpPr>
            <p:spPr>
              <a:xfrm>
                <a:off x="609600" y="1524000"/>
                <a:ext cx="10972800" cy="3390900"/>
              </a:xfrm>
              <a:prstGeom prst="roundRect">
                <a:avLst>
                  <a:gd name="adj" fmla="val 4494"/>
                </a:avLst>
              </a:prstGeom>
              <a:solidFill>
                <a:srgbClr val="FFFFFF"/>
              </a:solidFill>
              <a:ln w="14288">
                <a:solidFill>
                  <a:srgbClr val="DDE6EC"/>
                </a:solidFill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831723" y="1729264"/>
                <a:ext cx="345922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三代算法谱系（表达能力与准确率逐级提升）</a:t>
                </a:r>
              </a:p>
            </p:txBody>
          </p:sp>
          <p:grpSp>
            <p:nvGrpSpPr>
              <p:cNvPr id="25" name="Group 25"/>
              <p:cNvGrpSpPr/>
              <p:nvPr/>
            </p:nvGrpSpPr>
            <p:grpSpPr>
              <a:xfrm>
                <a:off x="2660904" y="2213610"/>
                <a:ext cx="7054596" cy="2663190"/>
                <a:chOff x="2660904" y="2213610"/>
                <a:chExt cx="7054596" cy="2663190"/>
              </a:xfrm>
            </p:grpSpPr>
            <p:grpSp>
              <p:nvGrpSpPr>
                <p:cNvPr id="23" name="Group 23"/>
                <p:cNvGrpSpPr/>
                <p:nvPr/>
              </p:nvGrpSpPr>
              <p:grpSpPr>
                <a:xfrm>
                  <a:off x="2660904" y="2213610"/>
                  <a:ext cx="7054596" cy="2663190"/>
                  <a:chOff x="2660904" y="2213610"/>
                  <a:chExt cx="7054596" cy="2663190"/>
                </a:xfrm>
              </p:grpSpPr>
              <p:grpSp>
                <p:nvGrpSpPr>
                  <p:cNvPr id="13" name="Group 13"/>
                  <p:cNvGrpSpPr/>
                  <p:nvPr/>
                </p:nvGrpSpPr>
                <p:grpSpPr>
                  <a:xfrm>
                    <a:off x="2660904" y="2213610"/>
                    <a:ext cx="3299911" cy="961216"/>
                    <a:chOff x="2660904" y="2213610"/>
                    <a:chExt cx="3299911" cy="961216"/>
                  </a:xfrm>
                </p:grpSpPr>
                <p:sp>
                  <p:nvSpPr>
                    <p:cNvPr id="9" name="TextBox 9"/>
                    <p:cNvSpPr txBox="1"/>
                    <p:nvPr/>
                  </p:nvSpPr>
                  <p:spPr>
                    <a:xfrm>
                      <a:off x="2660904" y="2213610"/>
                      <a:ext cx="1661152" cy="234696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wrap="none" lIns="0" tIns="0" rIns="0" bIns="0" anchor="t" anchorCtr="0">
                      <a:spAutoFit/>
                    </a:bodyPr>
                    <a:lstStyle/>
                    <a:p>
                      <a:pPr algn="l"/>
                      <a:r>
                        <a:rPr lang="zh-CN" sz="1200" b="1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第一代 · 传统机器学习</a:t>
                      </a:r>
                    </a:p>
                  </p:txBody>
                </p:sp>
                <p:sp>
                  <p:nvSpPr>
                    <p:cNvPr id="10" name="Rectangle 10"/>
                    <p:cNvSpPr/>
                    <p:nvPr/>
                  </p:nvSpPr>
                  <p:spPr>
                    <a:xfrm>
                      <a:off x="2667000" y="2438400"/>
                      <a:ext cx="2857500" cy="419100"/>
                    </a:xfrm>
                    <a:prstGeom prst="roundRect">
                      <a:avLst>
                        <a:gd name="adj" fmla="val 18182"/>
                      </a:avLst>
                    </a:prstGeom>
                    <a:solidFill>
                      <a:srgbClr val="4F86B2"/>
                    </a:solidFill>
                    <a:ln>
                      <a:noFill/>
                    </a:ln>
                  </p:spPr>
                </p:sp>
                <p:sp>
                  <p:nvSpPr>
                    <p:cNvPr id="11" name="TextBox 11"/>
                    <p:cNvSpPr txBox="1"/>
                    <p:nvPr/>
                  </p:nvSpPr>
                  <p:spPr>
                    <a:xfrm>
                      <a:off x="2851785" y="2593181"/>
                      <a:ext cx="2947093" cy="22002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wrap="none" lIns="0" tIns="0" rIns="0" bIns="0" anchor="t" anchorCtr="0">
                      <a:spAutoFit/>
                    </a:bodyPr>
                    <a:lstStyle/>
                    <a:p>
                      <a:pPr algn="l"/>
                      <a:r>
                        <a:rPr lang="zh-CN" sz="1120" b="1" dirty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SVM · RF · ET · KNN · LR · PLS · GBDT</a:t>
                      </a:r>
                    </a:p>
                  </p:txBody>
                </p:sp>
                <p:sp>
                  <p:nvSpPr>
                    <p:cNvPr id="12" name="TextBox 12"/>
                    <p:cNvSpPr txBox="1"/>
                    <p:nvPr/>
                  </p:nvSpPr>
                  <p:spPr>
                    <a:xfrm>
                      <a:off x="2661856" y="2976801"/>
                      <a:ext cx="3298959" cy="198025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wrap="none" lIns="0" tIns="0" rIns="0" bIns="0" anchor="t" anchorCtr="0">
                      <a:spAutoFit/>
                    </a:bodyPr>
                    <a:lstStyle/>
                    <a:p>
                      <a:pPr algn="l"/>
                      <a:r>
                        <a:rPr lang="zh-CN" sz="1010" dirty="0">
                          <a:solidFill>
                            <a:schemeClr val="accent5"/>
                          </a:solidFill>
                          <a:latin typeface="+mn-lt"/>
                          <a:ea typeface="+mn-ea"/>
                          <a:cs typeface="+mn-cs"/>
                        </a:rPr>
                        <a:t>手工特征 + 经典分类器；iUmami-SCM、UMPred-FRL</a:t>
                      </a:r>
                    </a:p>
                  </p:txBody>
                </p:sp>
              </p:grpSp>
              <p:grpSp>
                <p:nvGrpSpPr>
                  <p:cNvPr id="18" name="Group 18"/>
                  <p:cNvGrpSpPr/>
                  <p:nvPr/>
                </p:nvGrpSpPr>
                <p:grpSpPr>
                  <a:xfrm>
                    <a:off x="2660904" y="3223260"/>
                    <a:ext cx="4959096" cy="961216"/>
                    <a:chOff x="2660904" y="3223260"/>
                    <a:chExt cx="4959096" cy="961216"/>
                  </a:xfrm>
                </p:grpSpPr>
                <p:sp>
                  <p:nvSpPr>
                    <p:cNvPr id="14" name="TextBox 14"/>
                    <p:cNvSpPr txBox="1"/>
                    <p:nvPr/>
                  </p:nvSpPr>
                  <p:spPr>
                    <a:xfrm>
                      <a:off x="2660904" y="3223260"/>
                      <a:ext cx="1338064" cy="234696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wrap="none" lIns="0" tIns="0" rIns="0" bIns="0" anchor="t" anchorCtr="0">
                      <a:spAutoFit/>
                    </a:bodyPr>
                    <a:lstStyle/>
                    <a:p>
                      <a:pPr algn="l"/>
                      <a:r>
                        <a:rPr lang="zh-CN" sz="1200" b="1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第二代 · 深度学习</a:t>
                      </a:r>
                    </a:p>
                  </p:txBody>
                </p:sp>
                <p:sp>
                  <p:nvSpPr>
                    <p:cNvPr id="15" name="Rectangle 15"/>
                    <p:cNvSpPr/>
                    <p:nvPr/>
                  </p:nvSpPr>
                  <p:spPr>
                    <a:xfrm>
                      <a:off x="2667000" y="3448050"/>
                      <a:ext cx="4953000" cy="419100"/>
                    </a:xfrm>
                    <a:prstGeom prst="roundRect">
                      <a:avLst>
                        <a:gd name="adj" fmla="val 18182"/>
                      </a:avLst>
                    </a:prstGeom>
                    <a:solidFill>
                      <a:schemeClr val="accent2"/>
                    </a:solidFill>
                    <a:ln>
                      <a:noFill/>
                    </a:ln>
                  </p:spPr>
                </p:sp>
                <p:sp>
                  <p:nvSpPr>
                    <p:cNvPr id="16" name="TextBox 16"/>
                    <p:cNvSpPr txBox="1"/>
                    <p:nvPr/>
                  </p:nvSpPr>
                  <p:spPr>
                    <a:xfrm>
                      <a:off x="2851785" y="3602831"/>
                      <a:ext cx="1851447" cy="22002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wrap="none" lIns="0" tIns="0" rIns="0" bIns="0" anchor="t" anchorCtr="0">
                      <a:spAutoFit/>
                    </a:bodyPr>
                    <a:lstStyle/>
                    <a:p>
                      <a:pPr algn="l"/>
                      <a:r>
                        <a:rPr lang="zh-CN" sz="1120" b="1" dirty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MLP · CNN · RNN / LSTM</a:t>
                      </a:r>
                    </a:p>
                  </p:txBody>
                </p:sp>
                <p:sp>
                  <p:nvSpPr>
                    <p:cNvPr id="17" name="TextBox 17"/>
                    <p:cNvSpPr txBox="1"/>
                    <p:nvPr/>
                  </p:nvSpPr>
                  <p:spPr>
                    <a:xfrm>
                      <a:off x="2661856" y="3986451"/>
                      <a:ext cx="3530700" cy="198025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wrap="none" lIns="0" tIns="0" rIns="0" bIns="0" anchor="t" anchorCtr="0">
                      <a:spAutoFit/>
                    </a:bodyPr>
                    <a:lstStyle/>
                    <a:p>
                      <a:pPr algn="l"/>
                      <a:r>
                        <a:rPr lang="zh-CN" sz="1010" dirty="0">
                          <a:solidFill>
                            <a:schemeClr val="accent5"/>
                          </a:solidFill>
                          <a:latin typeface="+mn-lt"/>
                          <a:ea typeface="+mn-ea"/>
                          <a:cs typeface="+mn-cs"/>
                        </a:rPr>
                        <a:t>自动特征学习；Umami-MRNN（MLP+RNN，ACC 90.5%）</a:t>
                      </a:r>
                    </a:p>
                  </p:txBody>
                </p:sp>
              </p:grpSp>
              <p:grpSp>
                <p:nvGrpSpPr>
                  <p:cNvPr id="22" name="Group 22"/>
                  <p:cNvGrpSpPr/>
                  <p:nvPr/>
                </p:nvGrpSpPr>
                <p:grpSpPr>
                  <a:xfrm>
                    <a:off x="2660904" y="4232910"/>
                    <a:ext cx="7054596" cy="643890"/>
                    <a:chOff x="2660904" y="4232910"/>
                    <a:chExt cx="7054596" cy="643890"/>
                  </a:xfrm>
                </p:grpSpPr>
                <p:sp>
                  <p:nvSpPr>
                    <p:cNvPr id="19" name="TextBox 19"/>
                    <p:cNvSpPr txBox="1"/>
                    <p:nvPr/>
                  </p:nvSpPr>
                  <p:spPr>
                    <a:xfrm>
                      <a:off x="2660904" y="4232910"/>
                      <a:ext cx="1661152" cy="234696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wrap="none" lIns="0" tIns="0" rIns="0" bIns="0" anchor="t" anchorCtr="0">
                      <a:spAutoFit/>
                    </a:bodyPr>
                    <a:lstStyle/>
                    <a:p>
                      <a:pPr algn="l"/>
                      <a:r>
                        <a:rPr lang="zh-CN" sz="1200" b="1" dirty="0">
                          <a:solidFill>
                            <a:srgbClr val="B5663A"/>
                          </a:solidFill>
                          <a:latin typeface="+mn-lt"/>
                          <a:ea typeface="+mn-ea"/>
                          <a:cs typeface="+mn-cs"/>
                        </a:rPr>
                        <a:t>第三代 · 预训练大模型</a:t>
                      </a:r>
                    </a:p>
                  </p:txBody>
                </p:sp>
                <p:sp>
                  <p:nvSpPr>
                    <p:cNvPr id="20" name="Rectangle 20"/>
                    <p:cNvSpPr/>
                    <p:nvPr/>
                  </p:nvSpPr>
                  <p:spPr>
                    <a:xfrm>
                      <a:off x="2667000" y="4457700"/>
                      <a:ext cx="7048500" cy="419100"/>
                    </a:xfrm>
                    <a:prstGeom prst="roundRect">
                      <a:avLst>
                        <a:gd name="adj" fmla="val 18182"/>
                      </a:avLst>
                    </a:prstGeom>
                    <a:solidFill>
                      <a:schemeClr val="accent3"/>
                    </a:solidFill>
                    <a:ln>
                      <a:noFill/>
                    </a:ln>
                  </p:spPr>
                </p:sp>
                <p:sp>
                  <p:nvSpPr>
                    <p:cNvPr id="21" name="TextBox 21"/>
                    <p:cNvSpPr txBox="1"/>
                    <p:nvPr/>
                  </p:nvSpPr>
                  <p:spPr>
                    <a:xfrm>
                      <a:off x="2851785" y="4612481"/>
                      <a:ext cx="3467094" cy="22002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wrap="none" lIns="0" tIns="0" rIns="0" bIns="0" anchor="t" anchorCtr="0">
                      <a:spAutoFit/>
                    </a:bodyPr>
                    <a:lstStyle/>
                    <a:p>
                      <a:pPr algn="l"/>
                      <a:r>
                        <a:rPr lang="zh-CN" sz="1120" b="1" dirty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BERT / Transformer · 两阶段预训练 · 对比学习</a:t>
                      </a:r>
                    </a:p>
                  </p:txBody>
                </p:sp>
              </p:grpSp>
            </p:grpSp>
            <p:sp>
              <p:nvSpPr>
                <p:cNvPr id="24" name="TextBox 24"/>
                <p:cNvSpPr txBox="1"/>
                <p:nvPr/>
              </p:nvSpPr>
              <p:spPr>
                <a:xfrm>
                  <a:off x="2661856" y="4653201"/>
                  <a:ext cx="4464773" cy="1980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10" dirty="0">
                      <a:solidFill>
                        <a:srgbClr val="A3B2BF"/>
                      </a:solidFill>
                      <a:latin typeface="+mn-lt"/>
                      <a:ea typeface="+mn-ea"/>
                      <a:cs typeface="+mn-cs"/>
                    </a:rPr>
                    <a:t>iUP-BERT、Umami-BERT、2025 对比学习（ACC 0.94）；注意力可解释</a:t>
                  </a:r>
                </a:p>
              </p:txBody>
            </p:sp>
          </p:grpSp>
        </p:grpSp>
      </p:grpSp>
      <p:grpSp>
        <p:nvGrpSpPr>
          <p:cNvPr id="43" name="Group 43"/>
          <p:cNvGrpSpPr/>
          <p:nvPr/>
        </p:nvGrpSpPr>
        <p:grpSpPr>
          <a:xfrm>
            <a:off x="609600" y="5105400"/>
            <a:ext cx="10972800" cy="800100"/>
            <a:chOff x="609600" y="5105400"/>
            <a:chExt cx="10972800" cy="800100"/>
          </a:xfrm>
        </p:grpSpPr>
        <p:sp>
          <p:nvSpPr>
            <p:cNvPr id="28" name="Rectangle 28"/>
            <p:cNvSpPr/>
            <p:nvPr/>
          </p:nvSpPr>
          <p:spPr>
            <a:xfrm>
              <a:off x="609600" y="5105400"/>
              <a:ext cx="10972800" cy="800100"/>
            </a:xfrm>
            <a:prstGeom prst="roundRect">
              <a:avLst>
                <a:gd name="adj" fmla="val 19048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838200" y="5276850"/>
              <a:ext cx="457200" cy="457200"/>
            </a:xfrm>
            <a:prstGeom prst="ellipse">
              <a:avLst/>
            </a:prstGeom>
            <a:solidFill>
              <a:srgbClr val="123A5A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938212" y="5376862"/>
              <a:ext cx="257175" cy="271463"/>
              <a:chOff x="938212" y="5376862"/>
              <a:chExt cx="257175" cy="271463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981075" y="5376862"/>
                <a:ext cx="1714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71450">
                    <a:moveTo>
                      <a:pt x="0" y="85725"/>
                    </a:moveTo>
                    <a:cubicBezTo>
                      <a:pt x="0" y="133070"/>
                      <a:pt x="38380" y="171450"/>
                      <a:pt x="85725" y="171450"/>
                    </a:cubicBezTo>
                    <a:cubicBezTo>
                      <a:pt x="133070" y="171450"/>
                      <a:pt x="171450" y="133070"/>
                      <a:pt x="171450" y="85725"/>
                    </a:cubicBezTo>
                    <a:cubicBezTo>
                      <a:pt x="171450" y="38380"/>
                      <a:pt x="133070" y="0"/>
                      <a:pt x="85725" y="0"/>
                    </a:cubicBezTo>
                    <a:cubicBezTo>
                      <a:pt x="38380" y="0"/>
                      <a:pt x="0" y="38380"/>
                      <a:pt x="0" y="85725"/>
                    </a:cubicBezTo>
                  </a:path>
                </a:pathLst>
              </a:custGeom>
              <a:noFill/>
              <a:ln w="28575">
                <a:solidFill>
                  <a:srgbClr val="2FB3A8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1066800" y="5376862"/>
                <a:ext cx="285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171450">
                    <a:moveTo>
                      <a:pt x="0" y="0"/>
                    </a:moveTo>
                    <a:cubicBezTo>
                      <a:pt x="19045" y="4758"/>
                      <a:pt x="28575" y="33333"/>
                      <a:pt x="28575" y="85725"/>
                    </a:cubicBezTo>
                    <a:cubicBezTo>
                      <a:pt x="28575" y="138117"/>
                      <a:pt x="19045" y="166692"/>
                      <a:pt x="0" y="171450"/>
                    </a:cubicBezTo>
                  </a:path>
                </a:pathLst>
              </a:custGeom>
              <a:noFill/>
              <a:ln w="28575">
                <a:solidFill>
                  <a:srgbClr val="2FB3A8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1038225" y="5376862"/>
                <a:ext cx="285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171450">
                    <a:moveTo>
                      <a:pt x="28575" y="0"/>
                    </a:moveTo>
                    <a:cubicBezTo>
                      <a:pt x="9530" y="4758"/>
                      <a:pt x="0" y="33333"/>
                      <a:pt x="0" y="85725"/>
                    </a:cubicBezTo>
                    <a:cubicBezTo>
                      <a:pt x="0" y="138117"/>
                      <a:pt x="9530" y="166692"/>
                      <a:pt x="28575" y="171450"/>
                    </a:cubicBezTo>
                  </a:path>
                </a:pathLst>
              </a:custGeom>
              <a:noFill/>
              <a:ln w="28575">
                <a:solidFill>
                  <a:srgbClr val="2FB3A8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981075" y="5462588"/>
                <a:ext cx="1714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9525">
                    <a:moveTo>
                      <a:pt x="0" y="0"/>
                    </a:moveTo>
                    <a:lnTo>
                      <a:pt x="171450" y="0"/>
                    </a:lnTo>
                  </a:path>
                </a:pathLst>
              </a:custGeom>
              <a:noFill/>
              <a:ln w="28575">
                <a:solidFill>
                  <a:srgbClr val="2FB3A8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938212" y="5619750"/>
                <a:ext cx="1000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9525">
                    <a:moveTo>
                      <a:pt x="0" y="0"/>
                    </a:moveTo>
                    <a:lnTo>
                      <a:pt x="100012" y="0"/>
                    </a:lnTo>
                  </a:path>
                </a:pathLst>
              </a:custGeom>
              <a:noFill/>
              <a:ln w="28575">
                <a:solidFill>
                  <a:srgbClr val="2FB3A8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1095375" y="5619750"/>
                <a:ext cx="1000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9525">
                    <a:moveTo>
                      <a:pt x="0" y="0"/>
                    </a:moveTo>
                    <a:lnTo>
                      <a:pt x="100012" y="0"/>
                    </a:lnTo>
                  </a:path>
                </a:pathLst>
              </a:custGeom>
              <a:noFill/>
              <a:ln w="28575">
                <a:solidFill>
                  <a:srgbClr val="2FB3A8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1038225" y="5591175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cubicBezTo>
                      <a:pt x="0" y="44357"/>
                      <a:pt x="12793" y="57150"/>
                      <a:pt x="28575" y="57150"/>
                    </a:cubicBez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</a:path>
                </a:pathLst>
              </a:custGeom>
              <a:noFill/>
              <a:ln w="28575">
                <a:solidFill>
                  <a:srgbClr val="2FB3A8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1066800" y="5548312"/>
                <a:ext cx="9525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2862">
                    <a:moveTo>
                      <a:pt x="0" y="0"/>
                    </a:moveTo>
                    <a:lnTo>
                      <a:pt x="0" y="42862"/>
                    </a:lnTo>
                  </a:path>
                </a:pathLst>
              </a:custGeom>
              <a:noFill/>
              <a:ln w="28575">
                <a:solidFill>
                  <a:srgbClr val="2FB3A8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1479423" y="5272564"/>
              <a:ext cx="37654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集成学习范例：UMPred-FRL（传统路线高峰）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480185" y="5574506"/>
              <a:ext cx="5611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DCE8F2"/>
                  </a:solidFill>
                  <a:latin typeface="+mn-lt"/>
                  <a:ea typeface="+mn-ea"/>
                  <a:cs typeface="+mn-cs"/>
                </a:rPr>
                <a:t>6 算法（ET/KNN/LR/PLS/RF/SVM）× 7 编码（AAC/APAAC/DPC/CTD/PAAC 等）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7810500" y="5257800"/>
              <a:ext cx="3429000" cy="495300"/>
            </a:xfrm>
            <a:prstGeom prst="roundRect">
              <a:avLst>
                <a:gd name="adj" fmla="val 23077"/>
              </a:avLst>
            </a:prstGeom>
            <a:solidFill>
              <a:srgbClr val="123A5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50014" y="5441156"/>
              <a:ext cx="37499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B3A8"/>
                  </a:solidFill>
                  <a:latin typeface="+mn-lt"/>
                  <a:ea typeface="+mn-ea"/>
                  <a:cs typeface="+mn-cs"/>
                </a:rPr>
                <a:t>ACC 0.888 · MCC 0.735 · Sn 0.786 · BACC 0.860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604647" y="6438900"/>
            <a:ext cx="10982706" cy="294989"/>
            <a:chOff x="604647" y="6438900"/>
            <a:chExt cx="10982706" cy="294989"/>
          </a:xfrm>
        </p:grpSpPr>
        <p:sp>
          <p:nvSpPr>
            <p:cNvPr id="44" name="Line 44"/>
            <p:cNvSpPr/>
            <p:nvPr/>
          </p:nvSpPr>
          <p:spPr>
            <a:xfrm>
              <a:off x="609600" y="6438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4288">
              <a:solidFill>
                <a:srgbClr val="DDE4EA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04647" y="6543199"/>
              <a:ext cx="84745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A3B2BF"/>
                  </a:solidFill>
                  <a:latin typeface="+mn-lt"/>
                  <a:ea typeface="+mn-ea"/>
                  <a:cs typeface="+mn-cs"/>
                </a:rPr>
                <a:t>来源：UMPred-FRL（IJMS 2021）；iUP-BERT（Foods 2022）；Umami-MRNN（2023）；Umami-BERT（FRI 2023）；Food Chemistry 2025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135490" y="6543199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A3B2BF"/>
                  </a:solidFill>
                  <a:latin typeface="+mn-lt"/>
                  <a:ea typeface="+mn-ea"/>
                  <a:cs typeface="+mn-cs"/>
                </a:rPr>
                <a:t>08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8170" y="515302"/>
            <a:ext cx="3354705" cy="843915"/>
            <a:chOff x="598170" y="515302"/>
            <a:chExt cx="3354705" cy="843915"/>
          </a:xfrm>
        </p:grpSpPr>
        <p:sp>
          <p:nvSpPr>
            <p:cNvPr id="2" name="TextBox 2"/>
            <p:cNvSpPr txBox="1"/>
            <p:nvPr/>
          </p:nvSpPr>
          <p:spPr>
            <a:xfrm>
              <a:off x="604266" y="515302"/>
              <a:ext cx="26445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22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 · 机器学习路线 · STEP 05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609600" y="762000"/>
              <a:ext cx="457200" cy="47625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98170" y="919162"/>
              <a:ext cx="335470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怎么判断模型「准不准」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09600" y="1524000"/>
            <a:ext cx="4991100" cy="3810000"/>
            <a:chOff x="609600" y="1524000"/>
            <a:chExt cx="4991100" cy="3810000"/>
          </a:xfrm>
        </p:grpSpPr>
        <p:grpSp>
          <p:nvGrpSpPr>
            <p:cNvPr id="31" name="Group 31"/>
            <p:cNvGrpSpPr/>
            <p:nvPr/>
          </p:nvGrpSpPr>
          <p:grpSpPr>
            <a:xfrm>
              <a:off x="609600" y="1524000"/>
              <a:ext cx="4991100" cy="3810000"/>
              <a:chOff x="609600" y="1524000"/>
              <a:chExt cx="4991100" cy="3810000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647700" y="1562100"/>
                <a:ext cx="4953000" cy="3771900"/>
              </a:xfrm>
              <a:prstGeom prst="roundRect">
                <a:avLst>
                  <a:gd name="adj" fmla="val 4040"/>
                </a:avLst>
              </a:prstGeom>
              <a:solidFill>
                <a:srgbClr val="E3E9ED"/>
              </a:solidFill>
              <a:ln>
                <a:noFill/>
              </a:ln>
            </p:spPr>
          </p:sp>
          <p:sp>
            <p:nvSpPr>
              <p:cNvPr id="7" name="Rectangle 7"/>
              <p:cNvSpPr/>
              <p:nvPr/>
            </p:nvSpPr>
            <p:spPr>
              <a:xfrm>
                <a:off x="609600" y="1524000"/>
                <a:ext cx="4953000" cy="3771900"/>
              </a:xfrm>
              <a:prstGeom prst="roundRect">
                <a:avLst>
                  <a:gd name="adj" fmla="val 4040"/>
                </a:avLst>
              </a:prstGeom>
              <a:solidFill>
                <a:srgbClr val="FFFFFF"/>
              </a:solidFill>
              <a:ln w="14288">
                <a:solidFill>
                  <a:srgbClr val="DDE6EC"/>
                </a:solidFill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831723" y="1729264"/>
                <a:ext cx="1908404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五维评价体系（环示意）</a:t>
                </a:r>
              </a:p>
            </p:txBody>
          </p:sp>
          <p:grpSp>
            <p:nvGrpSpPr>
              <p:cNvPr id="18" name="Group 18"/>
              <p:cNvGrpSpPr/>
              <p:nvPr/>
            </p:nvGrpSpPr>
            <p:grpSpPr>
              <a:xfrm>
                <a:off x="1332738" y="2305050"/>
                <a:ext cx="2173224" cy="2286000"/>
                <a:chOff x="1332738" y="2305050"/>
                <a:chExt cx="2173224" cy="2286000"/>
              </a:xfrm>
            </p:grpSpPr>
            <p:grpSp>
              <p:nvGrpSpPr>
                <p:cNvPr id="14" name="Group 14"/>
                <p:cNvGrpSpPr/>
                <p:nvPr/>
              </p:nvGrpSpPr>
              <p:grpSpPr>
                <a:xfrm>
                  <a:off x="1332738" y="2305050"/>
                  <a:ext cx="2173224" cy="2286000"/>
                  <a:chOff x="1332738" y="2305050"/>
                  <a:chExt cx="2173224" cy="2286000"/>
                </a:xfrm>
              </p:grpSpPr>
              <p:sp>
                <p:nvSpPr>
                  <p:cNvPr id="9" name="Freeform 9"/>
                  <p:cNvSpPr/>
                  <p:nvPr/>
                </p:nvSpPr>
                <p:spPr>
                  <a:xfrm>
                    <a:off x="2419350" y="2305050"/>
                    <a:ext cx="1086612" cy="11430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6612" h="1143000">
                        <a:moveTo>
                          <a:pt x="0" y="0"/>
                        </a:moveTo>
                        <a:cubicBezTo>
                          <a:pt x="608838" y="30480"/>
                          <a:pt x="1086612" y="533400"/>
                          <a:pt x="1085850" y="1143000"/>
                        </a:cubicBezTo>
                        <a:lnTo>
                          <a:pt x="914400" y="1143000"/>
                        </a:lnTo>
                        <a:cubicBezTo>
                          <a:pt x="915595" y="626172"/>
                          <a:pt x="515634" y="197048"/>
                          <a:pt x="0" y="161925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</p:sp>
              <p:sp>
                <p:nvSpPr>
                  <p:cNvPr id="10" name="Freeform 10"/>
                  <p:cNvSpPr/>
                  <p:nvPr/>
                </p:nvSpPr>
                <p:spPr>
                  <a:xfrm>
                    <a:off x="2419350" y="3448050"/>
                    <a:ext cx="1086612" cy="11430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6612" h="1143000">
                        <a:moveTo>
                          <a:pt x="1085850" y="0"/>
                        </a:moveTo>
                        <a:cubicBezTo>
                          <a:pt x="1086612" y="609600"/>
                          <a:pt x="608838" y="1112520"/>
                          <a:pt x="0" y="1143000"/>
                        </a:cubicBezTo>
                        <a:lnTo>
                          <a:pt x="0" y="981075"/>
                        </a:lnTo>
                        <a:cubicBezTo>
                          <a:pt x="515634" y="945952"/>
                          <a:pt x="915595" y="516828"/>
                          <a:pt x="914400" y="0"/>
                        </a:cubicBezTo>
                        <a:close/>
                      </a:path>
                    </a:pathLst>
                  </a:custGeom>
                  <a:solidFill>
                    <a:srgbClr val="4F86B2"/>
                  </a:solidFill>
                  <a:ln>
                    <a:noFill/>
                  </a:ln>
                </p:spPr>
              </p:sp>
              <p:sp>
                <p:nvSpPr>
                  <p:cNvPr id="11" name="Freeform 11"/>
                  <p:cNvSpPr/>
                  <p:nvPr/>
                </p:nvSpPr>
                <p:spPr>
                  <a:xfrm>
                    <a:off x="1332738" y="3448050"/>
                    <a:ext cx="1086612" cy="11430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6612" h="1143000">
                        <a:moveTo>
                          <a:pt x="1086612" y="1143000"/>
                        </a:moveTo>
                        <a:cubicBezTo>
                          <a:pt x="477774" y="1112520"/>
                          <a:pt x="0" y="609600"/>
                          <a:pt x="762" y="0"/>
                        </a:cubicBezTo>
                        <a:lnTo>
                          <a:pt x="172212" y="0"/>
                        </a:lnTo>
                        <a:cubicBezTo>
                          <a:pt x="171018" y="516828"/>
                          <a:pt x="570978" y="945952"/>
                          <a:pt x="1086612" y="981075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</p:sp>
              <p:sp>
                <p:nvSpPr>
                  <p:cNvPr id="12" name="Freeform 12"/>
                  <p:cNvSpPr/>
                  <p:nvPr/>
                </p:nvSpPr>
                <p:spPr>
                  <a:xfrm>
                    <a:off x="1332738" y="2305050"/>
                    <a:ext cx="1086612" cy="11430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6612" h="1143000">
                        <a:moveTo>
                          <a:pt x="762" y="1143000"/>
                        </a:moveTo>
                        <a:cubicBezTo>
                          <a:pt x="0" y="533400"/>
                          <a:pt x="477774" y="30480"/>
                          <a:pt x="1086612" y="0"/>
                        </a:cubicBezTo>
                        <a:lnTo>
                          <a:pt x="1086612" y="161925"/>
                        </a:lnTo>
                        <a:cubicBezTo>
                          <a:pt x="570978" y="197048"/>
                          <a:pt x="171018" y="626172"/>
                          <a:pt x="172212" y="114300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</p:sp>
              <p:sp>
                <p:nvSpPr>
                  <p:cNvPr id="13" name="Freeform 13"/>
                  <p:cNvSpPr/>
                  <p:nvPr/>
                </p:nvSpPr>
                <p:spPr>
                  <a:xfrm>
                    <a:off x="2419350" y="2305050"/>
                    <a:ext cx="1086612" cy="11430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6612" h="1143000">
                        <a:moveTo>
                          <a:pt x="0" y="0"/>
                        </a:moveTo>
                        <a:cubicBezTo>
                          <a:pt x="608838" y="30480"/>
                          <a:pt x="1086612" y="533400"/>
                          <a:pt x="1085850" y="1143000"/>
                        </a:cubicBezTo>
                      </a:path>
                    </a:pathLst>
                  </a:custGeom>
                  <a:noFill/>
                  <a:ln w="28575">
                    <a:solidFill>
                      <a:srgbClr val="FFFFFF"/>
                    </a:solidFill>
                  </a:ln>
                </p:spPr>
              </p:sp>
            </p:grpSp>
            <p:sp>
              <p:nvSpPr>
                <p:cNvPr id="15" name="Ellipse 15"/>
                <p:cNvSpPr/>
                <p:nvPr/>
              </p:nvSpPr>
              <p:spPr>
                <a:xfrm>
                  <a:off x="1828800" y="2857500"/>
                  <a:ext cx="1181100" cy="11811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</p:sp>
            <p:sp>
              <p:nvSpPr>
                <p:cNvPr id="16" name="TextBox 16"/>
                <p:cNvSpPr txBox="1"/>
                <p:nvPr/>
              </p:nvSpPr>
              <p:spPr>
                <a:xfrm>
                  <a:off x="2112086" y="3288506"/>
                  <a:ext cx="614528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12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综合考察</a:t>
                  </a:r>
                </a:p>
              </p:txBody>
            </p:sp>
            <p:sp>
              <p:nvSpPr>
                <p:cNvPr id="17" name="TextBox 17"/>
                <p:cNvSpPr txBox="1"/>
                <p:nvPr/>
              </p:nvSpPr>
              <p:spPr>
                <a:xfrm>
                  <a:off x="2098849" y="3528060"/>
                  <a:ext cx="641002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0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rPr>
                    <a:t>5 类指标</a:t>
                  </a:r>
                </a:p>
              </p:txBody>
            </p:sp>
          </p:grpSp>
          <p:grpSp>
            <p:nvGrpSpPr>
              <p:cNvPr id="29" name="Group 29"/>
              <p:cNvGrpSpPr/>
              <p:nvPr/>
            </p:nvGrpSpPr>
            <p:grpSpPr>
              <a:xfrm>
                <a:off x="3886200" y="2244804"/>
                <a:ext cx="1466759" cy="1736693"/>
                <a:chOff x="3886200" y="2244804"/>
                <a:chExt cx="1466759" cy="1736693"/>
              </a:xfrm>
            </p:grpSpPr>
            <p:sp>
              <p:nvSpPr>
                <p:cNvPr id="19" name="Rectangle 19"/>
                <p:cNvSpPr/>
                <p:nvPr/>
              </p:nvSpPr>
              <p:spPr>
                <a:xfrm>
                  <a:off x="3886200" y="2247900"/>
                  <a:ext cx="133350" cy="133350"/>
                </a:xfrm>
                <a:prstGeom prst="roundRect">
                  <a:avLst>
                    <a:gd name="adj" fmla="val 21429"/>
                  </a:avLst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20" name="TextBox 20"/>
                <p:cNvSpPr txBox="1"/>
                <p:nvPr/>
              </p:nvSpPr>
              <p:spPr>
                <a:xfrm>
                  <a:off x="4090226" y="2244804"/>
                  <a:ext cx="778505" cy="21269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9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ACC 准确率</a:t>
                  </a:r>
                </a:p>
              </p:txBody>
            </p:sp>
            <p:sp>
              <p:nvSpPr>
                <p:cNvPr id="21" name="Rectangle 21"/>
                <p:cNvSpPr/>
                <p:nvPr/>
              </p:nvSpPr>
              <p:spPr>
                <a:xfrm>
                  <a:off x="3886200" y="2628900"/>
                  <a:ext cx="133350" cy="133350"/>
                </a:xfrm>
                <a:prstGeom prst="roundRect">
                  <a:avLst>
                    <a:gd name="adj" fmla="val 21429"/>
                  </a:avLst>
                </a:prstGeom>
                <a:solidFill>
                  <a:srgbClr val="4F86B2"/>
                </a:solidFill>
                <a:ln>
                  <a:noFill/>
                </a:ln>
              </p:spPr>
            </p:sp>
            <p:sp>
              <p:nvSpPr>
                <p:cNvPr id="22" name="TextBox 22"/>
                <p:cNvSpPr txBox="1"/>
                <p:nvPr/>
              </p:nvSpPr>
              <p:spPr>
                <a:xfrm>
                  <a:off x="4090226" y="2625804"/>
                  <a:ext cx="964555" cy="21269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9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MCC 相关系数</a:t>
                  </a:r>
                </a:p>
              </p:txBody>
            </p:sp>
            <p:sp>
              <p:nvSpPr>
                <p:cNvPr id="23" name="Rectangle 23"/>
                <p:cNvSpPr/>
                <p:nvPr/>
              </p:nvSpPr>
              <p:spPr>
                <a:xfrm>
                  <a:off x="3886200" y="3009900"/>
                  <a:ext cx="133350" cy="133350"/>
                </a:xfrm>
                <a:prstGeom prst="roundRect">
                  <a:avLst>
                    <a:gd name="adj" fmla="val 21429"/>
                  </a:avLst>
                </a:prstGeom>
                <a:solidFill>
                  <a:schemeClr val="accent3"/>
                </a:solidFill>
                <a:ln>
                  <a:noFill/>
                </a:ln>
              </p:spPr>
            </p:sp>
            <p:sp>
              <p:nvSpPr>
                <p:cNvPr id="24" name="TextBox 24"/>
                <p:cNvSpPr txBox="1"/>
                <p:nvPr/>
              </p:nvSpPr>
              <p:spPr>
                <a:xfrm>
                  <a:off x="4090226" y="3006804"/>
                  <a:ext cx="674959" cy="21269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9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Sn 灵敏度</a:t>
                  </a:r>
                </a:p>
              </p:txBody>
            </p:sp>
            <p:sp>
              <p:nvSpPr>
                <p:cNvPr id="25" name="Rectangle 25"/>
                <p:cNvSpPr/>
                <p:nvPr/>
              </p:nvSpPr>
              <p:spPr>
                <a:xfrm>
                  <a:off x="3886200" y="3390900"/>
                  <a:ext cx="133350" cy="133350"/>
                </a:xfrm>
                <a:prstGeom prst="roundRect">
                  <a:avLst>
                    <a:gd name="adj" fmla="val 21429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26" name="TextBox 26"/>
                <p:cNvSpPr txBox="1"/>
                <p:nvPr/>
              </p:nvSpPr>
              <p:spPr>
                <a:xfrm>
                  <a:off x="4090226" y="3387804"/>
                  <a:ext cx="1173861" cy="21269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9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BACC 平衡准确率</a:t>
                  </a:r>
                </a:p>
              </p:txBody>
            </p:sp>
            <p:sp>
              <p:nvSpPr>
                <p:cNvPr id="27" name="Rectangle 27"/>
                <p:cNvSpPr/>
                <p:nvPr/>
              </p:nvSpPr>
              <p:spPr>
                <a:xfrm>
                  <a:off x="3886200" y="3771900"/>
                  <a:ext cx="133350" cy="133350"/>
                </a:xfrm>
                <a:prstGeom prst="roundRect">
                  <a:avLst>
                    <a:gd name="adj" fmla="val 21429"/>
                  </a:avLst>
                </a:prstGeom>
                <a:solidFill>
                  <a:srgbClr val="B7C3CD"/>
                </a:solidFill>
                <a:ln>
                  <a:noFill/>
                </a:ln>
              </p:spPr>
            </p:sp>
            <p:sp>
              <p:nvSpPr>
                <p:cNvPr id="28" name="TextBox 28"/>
                <p:cNvSpPr txBox="1"/>
                <p:nvPr/>
              </p:nvSpPr>
              <p:spPr>
                <a:xfrm>
                  <a:off x="4090226" y="3768804"/>
                  <a:ext cx="1262733" cy="21269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9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auROC 曲线下面积</a:t>
                  </a:r>
                </a:p>
              </p:txBody>
            </p:sp>
          </p:grpSp>
          <p:sp>
            <p:nvSpPr>
              <p:cNvPr id="30" name="TextBox 30"/>
              <p:cNvSpPr txBox="1"/>
              <p:nvPr/>
            </p:nvSpPr>
            <p:spPr>
              <a:xfrm>
                <a:off x="833056" y="4938951"/>
                <a:ext cx="3681374" cy="19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10" dirty="0">
                    <a:solidFill>
                      <a:srgbClr val="A3B2BF"/>
                    </a:solidFill>
                    <a:latin typeface="+mn-lt"/>
                    <a:ea typeface="+mn-ea"/>
                    <a:cs typeface="+mn-cs"/>
                  </a:rPr>
                  <a:t>环形等分为示意；重点在「多指标交叉看」，尤其不平衡数据</a:t>
                </a:r>
              </a:p>
            </p:txBody>
          </p:sp>
        </p:grpSp>
      </p:grpSp>
      <p:grpSp>
        <p:nvGrpSpPr>
          <p:cNvPr id="70" name="Group 70"/>
          <p:cNvGrpSpPr/>
          <p:nvPr/>
        </p:nvGrpSpPr>
        <p:grpSpPr>
          <a:xfrm>
            <a:off x="5867400" y="1524000"/>
            <a:ext cx="5753100" cy="3771900"/>
            <a:chOff x="5867400" y="1524000"/>
            <a:chExt cx="5753100" cy="3771900"/>
          </a:xfrm>
        </p:grpSpPr>
        <p:grpSp>
          <p:nvGrpSpPr>
            <p:cNvPr id="42" name="Group 42"/>
            <p:cNvGrpSpPr/>
            <p:nvPr/>
          </p:nvGrpSpPr>
          <p:grpSpPr>
            <a:xfrm>
              <a:off x="5867400" y="1524000"/>
              <a:ext cx="2800350" cy="1771650"/>
              <a:chOff x="5867400" y="1524000"/>
              <a:chExt cx="2800350" cy="1771650"/>
            </a:xfrm>
          </p:grpSpPr>
          <p:sp>
            <p:nvSpPr>
              <p:cNvPr id="33" name="Rectangle 33"/>
              <p:cNvSpPr/>
              <p:nvPr/>
            </p:nvSpPr>
            <p:spPr>
              <a:xfrm>
                <a:off x="5905500" y="1562100"/>
                <a:ext cx="2762250" cy="1733550"/>
              </a:xfrm>
              <a:prstGeom prst="roundRect">
                <a:avLst>
                  <a:gd name="adj" fmla="val 8791"/>
                </a:avLst>
              </a:prstGeom>
              <a:solidFill>
                <a:srgbClr val="E3E9ED"/>
              </a:solidFill>
              <a:ln>
                <a:noFill/>
              </a:ln>
            </p:spPr>
          </p:sp>
          <p:sp>
            <p:nvSpPr>
              <p:cNvPr id="34" name="Rectangle 34"/>
              <p:cNvSpPr/>
              <p:nvPr/>
            </p:nvSpPr>
            <p:spPr>
              <a:xfrm>
                <a:off x="5867400" y="1524000"/>
                <a:ext cx="2762250" cy="1733550"/>
              </a:xfrm>
              <a:prstGeom prst="roundRect">
                <a:avLst>
                  <a:gd name="adj" fmla="val 8791"/>
                </a:avLst>
              </a:prstGeom>
              <a:solidFill>
                <a:srgbClr val="FFFFFF"/>
              </a:solidFill>
              <a:ln w="14288">
                <a:solidFill>
                  <a:srgbClr val="E3E9ED"/>
                </a:solidFill>
              </a:ln>
            </p:spPr>
          </p:sp>
          <p:sp>
            <p:nvSpPr>
              <p:cNvPr id="35" name="Ellipse 35"/>
              <p:cNvSpPr/>
              <p:nvPr/>
            </p:nvSpPr>
            <p:spPr>
              <a:xfrm>
                <a:off x="6105525" y="1743075"/>
                <a:ext cx="438150" cy="438150"/>
              </a:xfrm>
              <a:prstGeom prst="ellipse">
                <a:avLst/>
              </a:prstGeom>
              <a:solidFill>
                <a:srgbClr val="DFF0EE"/>
              </a:solidFill>
              <a:ln>
                <a:noFill/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6235700" y="1898650"/>
                <a:ext cx="1905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27000">
                    <a:moveTo>
                      <a:pt x="0" y="63500"/>
                    </a:moveTo>
                    <a:lnTo>
                      <a:pt x="63500" y="127000"/>
                    </a:lnTo>
                    <a:lnTo>
                      <a:pt x="190500" y="0"/>
                    </a:lnTo>
                  </a:path>
                </a:pathLst>
              </a:custGeom>
              <a:noFill/>
              <a:ln w="25400">
                <a:solidFill>
                  <a:schemeClr val="accent2"/>
                </a:solidFill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6680073" y="1786414"/>
                <a:ext cx="931938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ACC 准确率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6681216" y="2039302"/>
                <a:ext cx="100012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AA8B3"/>
                    </a:solidFill>
                    <a:latin typeface="+mn-lt"/>
                    <a:ea typeface="+mn-ea"/>
                    <a:cs typeface="+mn-cs"/>
                  </a:rPr>
                  <a:t>整体分类正确率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6090094" y="2389108"/>
                <a:ext cx="1729562" cy="2273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6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最直观，但类别不平衡时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6090094" y="2617708"/>
                <a:ext cx="1573403" cy="2273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6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会被多数类「带偏」，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6090094" y="2846308"/>
                <a:ext cx="792607" cy="2273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6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虚高风险大</a:t>
                </a:r>
              </a:p>
            </p:txBody>
          </p:sp>
        </p:grpSp>
        <p:grpSp>
          <p:nvGrpSpPr>
            <p:cNvPr id="56" name="Group 56"/>
            <p:cNvGrpSpPr/>
            <p:nvPr/>
          </p:nvGrpSpPr>
          <p:grpSpPr>
            <a:xfrm>
              <a:off x="8820150" y="1524000"/>
              <a:ext cx="2800350" cy="1771650"/>
              <a:chOff x="8820150" y="1524000"/>
              <a:chExt cx="2800350" cy="1771650"/>
            </a:xfrm>
          </p:grpSpPr>
          <p:sp>
            <p:nvSpPr>
              <p:cNvPr id="43" name="Rectangle 43"/>
              <p:cNvSpPr/>
              <p:nvPr/>
            </p:nvSpPr>
            <p:spPr>
              <a:xfrm>
                <a:off x="8858250" y="1562100"/>
                <a:ext cx="2762250" cy="1733550"/>
              </a:xfrm>
              <a:prstGeom prst="roundRect">
                <a:avLst>
                  <a:gd name="adj" fmla="val 8791"/>
                </a:avLst>
              </a:prstGeom>
              <a:solidFill>
                <a:srgbClr val="E3E9ED"/>
              </a:solidFill>
              <a:ln>
                <a:noFill/>
              </a:ln>
            </p:spPr>
          </p:sp>
          <p:sp>
            <p:nvSpPr>
              <p:cNvPr id="44" name="Rectangle 44"/>
              <p:cNvSpPr/>
              <p:nvPr/>
            </p:nvSpPr>
            <p:spPr>
              <a:xfrm>
                <a:off x="8820150" y="1524000"/>
                <a:ext cx="2762250" cy="1733550"/>
              </a:xfrm>
              <a:prstGeom prst="roundRect">
                <a:avLst>
                  <a:gd name="adj" fmla="val 8791"/>
                </a:avLst>
              </a:prstGeom>
              <a:solidFill>
                <a:srgbClr val="FFFFFF"/>
              </a:solidFill>
              <a:ln w="14288">
                <a:solidFill>
                  <a:srgbClr val="E3E9ED"/>
                </a:solidFill>
              </a:ln>
            </p:spPr>
          </p:sp>
          <p:sp>
            <p:nvSpPr>
              <p:cNvPr id="45" name="Ellipse 45"/>
              <p:cNvSpPr/>
              <p:nvPr/>
            </p:nvSpPr>
            <p:spPr>
              <a:xfrm>
                <a:off x="9058275" y="1743075"/>
                <a:ext cx="438150" cy="43815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</p:sp>
          <p:grpSp>
            <p:nvGrpSpPr>
              <p:cNvPr id="50" name="Group 50"/>
              <p:cNvGrpSpPr/>
              <p:nvPr/>
            </p:nvGrpSpPr>
            <p:grpSpPr>
              <a:xfrm>
                <a:off x="9163050" y="1860550"/>
                <a:ext cx="228600" cy="212724"/>
                <a:chOff x="9163050" y="1860550"/>
                <a:chExt cx="228600" cy="212724"/>
              </a:xfrm>
            </p:grpSpPr>
            <p:sp>
              <p:nvSpPr>
                <p:cNvPr id="46" name="Freeform 46"/>
                <p:cNvSpPr/>
                <p:nvPr/>
              </p:nvSpPr>
              <p:spPr>
                <a:xfrm>
                  <a:off x="9163050" y="1962150"/>
                  <a:ext cx="76200" cy="10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101600">
                      <a:moveTo>
                        <a:pt x="0" y="12700"/>
                      </a:moveTo>
                      <a:cubicBezTo>
                        <a:pt x="0" y="5686"/>
                        <a:pt x="5686" y="0"/>
                        <a:pt x="12700" y="0"/>
                      </a:cubicBezTo>
                      <a:lnTo>
                        <a:pt x="63500" y="0"/>
                      </a:lnTo>
                      <a:cubicBezTo>
                        <a:pt x="70514" y="0"/>
                        <a:pt x="76200" y="5686"/>
                        <a:pt x="76200" y="12700"/>
                      </a:cubicBezTo>
                      <a:lnTo>
                        <a:pt x="76200" y="88900"/>
                      </a:lnTo>
                      <a:cubicBezTo>
                        <a:pt x="76200" y="95914"/>
                        <a:pt x="70514" y="101600"/>
                        <a:pt x="63500" y="101600"/>
                      </a:cubicBezTo>
                      <a:lnTo>
                        <a:pt x="12700" y="101600"/>
                      </a:lnTo>
                      <a:cubicBezTo>
                        <a:pt x="5686" y="101600"/>
                        <a:pt x="0" y="95914"/>
                        <a:pt x="0" y="88900"/>
                      </a:cubicBezTo>
                      <a:lnTo>
                        <a:pt x="0" y="12700"/>
                      </a:lnTo>
                    </a:path>
                  </a:pathLst>
                </a:custGeom>
                <a:noFill/>
                <a:ln w="25400">
                  <a:solidFill>
                    <a:schemeClr val="accent1"/>
                  </a:solidFill>
                </a:ln>
              </p:spPr>
            </p:sp>
            <p:sp>
              <p:nvSpPr>
                <p:cNvPr id="47" name="Freeform 47"/>
                <p:cNvSpPr/>
                <p:nvPr/>
              </p:nvSpPr>
              <p:spPr>
                <a:xfrm>
                  <a:off x="9315450" y="1911350"/>
                  <a:ext cx="76200" cy="15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152400">
                      <a:moveTo>
                        <a:pt x="0" y="12700"/>
                      </a:moveTo>
                      <a:cubicBezTo>
                        <a:pt x="0" y="5686"/>
                        <a:pt x="5686" y="0"/>
                        <a:pt x="12700" y="0"/>
                      </a:cubicBezTo>
                      <a:lnTo>
                        <a:pt x="63500" y="0"/>
                      </a:lnTo>
                      <a:cubicBezTo>
                        <a:pt x="70514" y="0"/>
                        <a:pt x="76200" y="5686"/>
                        <a:pt x="76200" y="12700"/>
                      </a:cubicBezTo>
                      <a:lnTo>
                        <a:pt x="76200" y="139700"/>
                      </a:lnTo>
                      <a:cubicBezTo>
                        <a:pt x="76200" y="146714"/>
                        <a:pt x="70514" y="152400"/>
                        <a:pt x="63500" y="152400"/>
                      </a:cubicBezTo>
                      <a:lnTo>
                        <a:pt x="12700" y="152400"/>
                      </a:lnTo>
                      <a:cubicBezTo>
                        <a:pt x="5686" y="152400"/>
                        <a:pt x="0" y="146714"/>
                        <a:pt x="0" y="139700"/>
                      </a:cubicBezTo>
                      <a:lnTo>
                        <a:pt x="0" y="12700"/>
                      </a:lnTo>
                    </a:path>
                  </a:pathLst>
                </a:custGeom>
                <a:noFill/>
                <a:ln w="25400">
                  <a:solidFill>
                    <a:schemeClr val="accent1"/>
                  </a:solidFill>
                </a:ln>
              </p:spPr>
            </p:sp>
            <p:sp>
              <p:nvSpPr>
                <p:cNvPr id="48" name="Freeform 48"/>
                <p:cNvSpPr/>
                <p:nvPr/>
              </p:nvSpPr>
              <p:spPr>
                <a:xfrm>
                  <a:off x="9239250" y="1860550"/>
                  <a:ext cx="76200" cy="2031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203199">
                      <a:moveTo>
                        <a:pt x="0" y="12700"/>
                      </a:moveTo>
                      <a:cubicBezTo>
                        <a:pt x="0" y="5686"/>
                        <a:pt x="5686" y="0"/>
                        <a:pt x="12700" y="0"/>
                      </a:cubicBezTo>
                      <a:lnTo>
                        <a:pt x="63500" y="0"/>
                      </a:lnTo>
                      <a:cubicBezTo>
                        <a:pt x="70514" y="0"/>
                        <a:pt x="76200" y="5686"/>
                        <a:pt x="76200" y="12700"/>
                      </a:cubicBezTo>
                      <a:lnTo>
                        <a:pt x="76200" y="190500"/>
                      </a:lnTo>
                      <a:cubicBezTo>
                        <a:pt x="76200" y="197514"/>
                        <a:pt x="70514" y="203199"/>
                        <a:pt x="63500" y="203199"/>
                      </a:cubicBezTo>
                      <a:lnTo>
                        <a:pt x="12700" y="203199"/>
                      </a:lnTo>
                      <a:cubicBezTo>
                        <a:pt x="5686" y="203199"/>
                        <a:pt x="0" y="197514"/>
                        <a:pt x="0" y="190500"/>
                      </a:cubicBezTo>
                      <a:lnTo>
                        <a:pt x="0" y="12700"/>
                      </a:lnTo>
                    </a:path>
                  </a:pathLst>
                </a:custGeom>
                <a:noFill/>
                <a:ln w="25400">
                  <a:solidFill>
                    <a:schemeClr val="accent1"/>
                  </a:solidFill>
                </a:ln>
              </p:spPr>
            </p:sp>
            <p:sp>
              <p:nvSpPr>
                <p:cNvPr id="49" name="Freeform 49"/>
                <p:cNvSpPr/>
                <p:nvPr/>
              </p:nvSpPr>
              <p:spPr>
                <a:xfrm>
                  <a:off x="9175750" y="2063749"/>
                  <a:ext cx="1778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800" h="9525">
                      <a:moveTo>
                        <a:pt x="0" y="0"/>
                      </a:moveTo>
                      <a:lnTo>
                        <a:pt x="177800" y="0"/>
                      </a:lnTo>
                    </a:path>
                  </a:pathLst>
                </a:custGeom>
                <a:noFill/>
                <a:ln w="25400">
                  <a:solidFill>
                    <a:schemeClr val="accent1"/>
                  </a:solidFill>
                </a:ln>
              </p:spPr>
            </p:sp>
          </p:grpSp>
          <p:sp>
            <p:nvSpPr>
              <p:cNvPr id="51" name="TextBox 51"/>
              <p:cNvSpPr txBox="1"/>
              <p:nvPr/>
            </p:nvSpPr>
            <p:spPr>
              <a:xfrm>
                <a:off x="9632823" y="1786414"/>
                <a:ext cx="1152240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MCC 相关系数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9633966" y="2039302"/>
                <a:ext cx="147365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AA8B3"/>
                    </a:solidFill>
                    <a:latin typeface="+mn-lt"/>
                    <a:ea typeface="+mn-ea"/>
                    <a:cs typeface="+mn-cs"/>
                  </a:rPr>
                  <a:t>−1 ~ +1，综合混淆矩阵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9042844" y="2389108"/>
                <a:ext cx="1573403" cy="2273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6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不平衡数据下最稳健，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9042844" y="2617708"/>
                <a:ext cx="1261085" cy="2273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6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文献常并列报告；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9042844" y="2846308"/>
                <a:ext cx="1316084" cy="2273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6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BACC/auROC 互补</a:t>
                </a:r>
              </a:p>
            </p:txBody>
          </p:sp>
        </p:grpSp>
        <p:grpSp>
          <p:nvGrpSpPr>
            <p:cNvPr id="69" name="Group 69"/>
            <p:cNvGrpSpPr/>
            <p:nvPr/>
          </p:nvGrpSpPr>
          <p:grpSpPr>
            <a:xfrm>
              <a:off x="5867400" y="3429000"/>
              <a:ext cx="5715000" cy="1866900"/>
              <a:chOff x="5867400" y="3429000"/>
              <a:chExt cx="5715000" cy="1866900"/>
            </a:xfrm>
          </p:grpSpPr>
          <p:sp>
            <p:nvSpPr>
              <p:cNvPr id="57" name="Rectangle 57"/>
              <p:cNvSpPr/>
              <p:nvPr/>
            </p:nvSpPr>
            <p:spPr>
              <a:xfrm>
                <a:off x="5867400" y="3429000"/>
                <a:ext cx="5715000" cy="1866900"/>
              </a:xfrm>
              <a:prstGeom prst="roundRect">
                <a:avLst>
                  <a:gd name="adj" fmla="val 8163"/>
                </a:avLst>
              </a:prstGeom>
              <a:solidFill>
                <a:srgbClr val="F0DECF"/>
              </a:solidFill>
              <a:ln>
                <a:noFill/>
              </a:ln>
            </p:spPr>
          </p:sp>
          <p:sp>
            <p:nvSpPr>
              <p:cNvPr id="58" name="Rectangle 58"/>
              <p:cNvSpPr/>
              <p:nvPr/>
            </p:nvSpPr>
            <p:spPr>
              <a:xfrm>
                <a:off x="5867400" y="3429000"/>
                <a:ext cx="5715000" cy="1866900"/>
              </a:xfrm>
              <a:prstGeom prst="roundRect">
                <a:avLst>
                  <a:gd name="adj" fmla="val 8163"/>
                </a:avLst>
              </a:prstGeom>
              <a:solidFill>
                <a:srgbClr val="FBE9DD"/>
              </a:solidFill>
              <a:ln w="14288">
                <a:solidFill>
                  <a:srgbClr val="F0DECF"/>
                </a:solidFill>
              </a:ln>
            </p:spPr>
          </p:sp>
          <p:sp>
            <p:nvSpPr>
              <p:cNvPr id="59" name="Ellipse 59"/>
              <p:cNvSpPr/>
              <p:nvPr/>
            </p:nvSpPr>
            <p:spPr>
              <a:xfrm>
                <a:off x="6105525" y="3648075"/>
                <a:ext cx="438150" cy="438150"/>
              </a:xfrm>
              <a:prstGeom prst="ellipse">
                <a:avLst/>
              </a:prstGeom>
              <a:solidFill>
                <a:srgbClr val="F5D9C6"/>
              </a:solidFill>
              <a:ln>
                <a:noFill/>
              </a:ln>
            </p:spPr>
          </p:sp>
          <p:grpSp>
            <p:nvGrpSpPr>
              <p:cNvPr id="62" name="Group 62"/>
              <p:cNvGrpSpPr/>
              <p:nvPr/>
            </p:nvGrpSpPr>
            <p:grpSpPr>
              <a:xfrm>
                <a:off x="6210300" y="3752850"/>
                <a:ext cx="228600" cy="228600"/>
                <a:chOff x="6210300" y="3752850"/>
                <a:chExt cx="228600" cy="228600"/>
              </a:xfrm>
            </p:grpSpPr>
            <p:sp>
              <p:nvSpPr>
                <p:cNvPr id="60" name="Freeform 60"/>
                <p:cNvSpPr/>
                <p:nvPr/>
              </p:nvSpPr>
              <p:spPr>
                <a:xfrm>
                  <a:off x="6210300" y="3752850"/>
                  <a:ext cx="177800" cy="177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800" h="177800">
                      <a:moveTo>
                        <a:pt x="0" y="88900"/>
                      </a:moveTo>
                      <a:cubicBezTo>
                        <a:pt x="0" y="137998"/>
                        <a:pt x="39802" y="177800"/>
                        <a:pt x="88900" y="177800"/>
                      </a:cubicBezTo>
                      <a:cubicBezTo>
                        <a:pt x="137998" y="177800"/>
                        <a:pt x="177800" y="137998"/>
                        <a:pt x="177800" y="88900"/>
                      </a:cubicBezTo>
                      <a:cubicBezTo>
                        <a:pt x="177800" y="39802"/>
                        <a:pt x="137998" y="0"/>
                        <a:pt x="88900" y="0"/>
                      </a:cubicBezTo>
                      <a:cubicBezTo>
                        <a:pt x="39802" y="0"/>
                        <a:pt x="0" y="39802"/>
                        <a:pt x="0" y="88900"/>
                      </a:cubicBezTo>
                    </a:path>
                  </a:pathLst>
                </a:custGeom>
                <a:noFill/>
                <a:ln w="25400">
                  <a:solidFill>
                    <a:schemeClr val="accent3"/>
                  </a:solidFill>
                </a:ln>
              </p:spPr>
            </p:sp>
            <p:sp>
              <p:nvSpPr>
                <p:cNvPr id="61" name="Freeform 61"/>
                <p:cNvSpPr/>
                <p:nvPr/>
              </p:nvSpPr>
              <p:spPr>
                <a:xfrm>
                  <a:off x="6362700" y="3905250"/>
                  <a:ext cx="762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76200">
                      <a:moveTo>
                        <a:pt x="76200" y="7620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25400">
                  <a:solidFill>
                    <a:schemeClr val="accent3"/>
                  </a:solidFill>
                </a:ln>
              </p:spPr>
            </p:sp>
          </p:grpSp>
          <p:sp>
            <p:nvSpPr>
              <p:cNvPr id="63" name="TextBox 63"/>
              <p:cNvSpPr txBox="1"/>
              <p:nvPr/>
            </p:nvSpPr>
            <p:spPr>
              <a:xfrm>
                <a:off x="6680073" y="3691414"/>
                <a:ext cx="2931280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b="1" dirty="0">
                    <a:solidFill>
                      <a:srgbClr val="B5663A"/>
                    </a:solidFill>
                    <a:latin typeface="+mn-lt"/>
                    <a:ea typeface="+mn-ea"/>
                    <a:cs typeface="+mn-cs"/>
                  </a:rPr>
                  <a:t>Sn 灵敏度（召回）：筛选阶段最关键</a:t>
                </a: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6090094" y="4065508"/>
                <a:ext cx="4809266" cy="2273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6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鲜味肽被找出的比例 —— 漏筛 = 漏掉一条新肽；iUP-BERT 相对前代</a:t>
                </a: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6090094" y="4313158"/>
                <a:ext cx="4772015" cy="2273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6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灵敏度提升 13.6–25.07 个百分点，主要归功于 SMOTE 过采样。</a:t>
                </a:r>
              </a:p>
            </p:txBody>
          </p:sp>
          <p:sp>
            <p:nvSpPr>
              <p:cNvPr id="66" name="Line 66"/>
              <p:cNvSpPr/>
              <p:nvPr/>
            </p:nvSpPr>
            <p:spPr>
              <a:xfrm>
                <a:off x="6096000" y="4629150"/>
                <a:ext cx="5257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257800" h="9525">
                    <a:moveTo>
                      <a:pt x="0" y="0"/>
                    </a:moveTo>
                    <a:lnTo>
                      <a:pt x="5257800" y="0"/>
                    </a:lnTo>
                  </a:path>
                </a:pathLst>
              </a:custGeom>
              <a:noFill/>
              <a:ln w="14288">
                <a:solidFill>
                  <a:srgbClr val="F3D7C6"/>
                </a:solidFill>
              </a:ln>
            </p:spPr>
          </p:sp>
          <p:sp>
            <p:nvSpPr>
              <p:cNvPr id="67" name="TextBox 67"/>
              <p:cNvSpPr txBox="1"/>
              <p:nvPr/>
            </p:nvSpPr>
            <p:spPr>
              <a:xfrm>
                <a:off x="6090094" y="4770358"/>
                <a:ext cx="3783056" cy="2273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6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比较模型必须在同一独立测试集；指标高 ≠ 感官呈鲜，</a:t>
                </a:r>
              </a:p>
            </p:txBody>
          </p:sp>
          <p:sp>
            <p:nvSpPr>
              <p:cNvPr id="68" name="TextBox 68"/>
              <p:cNvSpPr txBox="1"/>
              <p:nvPr/>
            </p:nvSpPr>
            <p:spPr>
              <a:xfrm>
                <a:off x="6090094" y="5018008"/>
                <a:ext cx="1573403" cy="2273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60" b="1" dirty="0">
                    <a:solidFill>
                      <a:srgbClr val="B5663A"/>
                    </a:solidFill>
                    <a:latin typeface="+mn-lt"/>
                    <a:ea typeface="+mn-ea"/>
                    <a:cs typeface="+mn-cs"/>
                  </a:rPr>
                  <a:t>最终仍需湿实验确证。</a:t>
                </a:r>
              </a:p>
            </p:txBody>
          </p:sp>
        </p:grpSp>
      </p:grpSp>
      <p:grpSp>
        <p:nvGrpSpPr>
          <p:cNvPr id="77" name="Group 77"/>
          <p:cNvGrpSpPr/>
          <p:nvPr/>
        </p:nvGrpSpPr>
        <p:grpSpPr>
          <a:xfrm>
            <a:off x="609600" y="5486400"/>
            <a:ext cx="10972800" cy="476250"/>
            <a:chOff x="609600" y="5486400"/>
            <a:chExt cx="10972800" cy="476250"/>
          </a:xfrm>
        </p:grpSpPr>
        <p:sp>
          <p:nvSpPr>
            <p:cNvPr id="71" name="Rectangle 71"/>
            <p:cNvSpPr/>
            <p:nvPr/>
          </p:nvSpPr>
          <p:spPr>
            <a:xfrm>
              <a:off x="609600" y="5486400"/>
              <a:ext cx="10972800" cy="476250"/>
            </a:xfrm>
            <a:prstGeom prst="roundRect">
              <a:avLst>
                <a:gd name="adj" fmla="val 28000"/>
              </a:avLst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75" name="Group 75"/>
            <p:cNvGrpSpPr/>
            <p:nvPr/>
          </p:nvGrpSpPr>
          <p:grpSpPr>
            <a:xfrm>
              <a:off x="945356" y="5612606"/>
              <a:ext cx="185737" cy="185737"/>
              <a:chOff x="945356" y="5612606"/>
              <a:chExt cx="185737" cy="185737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945356" y="5757068"/>
                <a:ext cx="4127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41275">
                    <a:moveTo>
                      <a:pt x="0" y="20637"/>
                    </a:moveTo>
                    <a:cubicBezTo>
                      <a:pt x="0" y="32035"/>
                      <a:pt x="9240" y="41275"/>
                      <a:pt x="20637" y="41275"/>
                    </a:cubicBezTo>
                    <a:cubicBezTo>
                      <a:pt x="32035" y="41275"/>
                      <a:pt x="41275" y="32035"/>
                      <a:pt x="41275" y="20637"/>
                    </a:cubicBezTo>
                    <a:cubicBezTo>
                      <a:pt x="41275" y="9240"/>
                      <a:pt x="32035" y="0"/>
                      <a:pt x="20637" y="0"/>
                    </a:cubicBezTo>
                    <a:cubicBezTo>
                      <a:pt x="9240" y="0"/>
                      <a:pt x="0" y="9240"/>
                      <a:pt x="0" y="20637"/>
                    </a:cubicBezTo>
                  </a:path>
                </a:pathLst>
              </a:custGeom>
              <a:noFill/>
              <a:ln w="20637">
                <a:solidFill>
                  <a:srgbClr val="2FB3A8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1089818" y="5612606"/>
                <a:ext cx="4127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41275">
                    <a:moveTo>
                      <a:pt x="20637" y="41275"/>
                    </a:moveTo>
                    <a:cubicBezTo>
                      <a:pt x="32035" y="41275"/>
                      <a:pt x="41275" y="32035"/>
                      <a:pt x="41275" y="20637"/>
                    </a:cubicBezTo>
                    <a:cubicBezTo>
                      <a:pt x="41275" y="9240"/>
                      <a:pt x="32035" y="0"/>
                      <a:pt x="20637" y="0"/>
                    </a:cubicBezTo>
                    <a:cubicBezTo>
                      <a:pt x="9240" y="0"/>
                      <a:pt x="0" y="9240"/>
                      <a:pt x="0" y="20637"/>
                    </a:cubicBezTo>
                    <a:cubicBezTo>
                      <a:pt x="0" y="32035"/>
                      <a:pt x="9240" y="41275"/>
                      <a:pt x="20637" y="41275"/>
                    </a:cubicBezTo>
                  </a:path>
                </a:pathLst>
              </a:custGeom>
              <a:noFill/>
              <a:ln w="20637">
                <a:solidFill>
                  <a:srgbClr val="2FB3A8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965994" y="5633244"/>
                <a:ext cx="154781" cy="144462"/>
              </a:xfrm>
              <a:custGeom>
                <a:avLst/>
                <a:gdLst/>
                <a:ahLst/>
                <a:cxnLst/>
                <a:rect l="l" t="t" r="r" b="b"/>
                <a:pathLst>
                  <a:path w="154781" h="144462">
                    <a:moveTo>
                      <a:pt x="61912" y="144462"/>
                    </a:moveTo>
                    <a:lnTo>
                      <a:pt x="118665" y="144462"/>
                    </a:lnTo>
                    <a:cubicBezTo>
                      <a:pt x="138611" y="144462"/>
                      <a:pt x="154781" y="128293"/>
                      <a:pt x="154781" y="108347"/>
                    </a:cubicBezTo>
                    <a:cubicBezTo>
                      <a:pt x="154781" y="88400"/>
                      <a:pt x="138611" y="72231"/>
                      <a:pt x="118665" y="72231"/>
                    </a:cubicBezTo>
                    <a:lnTo>
                      <a:pt x="36116" y="72231"/>
                    </a:lnTo>
                    <a:cubicBezTo>
                      <a:pt x="16169" y="72231"/>
                      <a:pt x="0" y="56062"/>
                      <a:pt x="0" y="36116"/>
                    </a:cubicBezTo>
                    <a:cubicBezTo>
                      <a:pt x="0" y="16169"/>
                      <a:pt x="16169" y="0"/>
                      <a:pt x="36116" y="0"/>
                    </a:cubicBezTo>
                    <a:lnTo>
                      <a:pt x="82550" y="0"/>
                    </a:lnTo>
                  </a:path>
                </a:pathLst>
              </a:custGeom>
              <a:noFill/>
              <a:ln w="20637">
                <a:solidFill>
                  <a:srgbClr val="2FB3A8"/>
                </a:solidFill>
              </a:ln>
            </p:spPr>
          </p:sp>
        </p:grpSp>
        <p:sp>
          <p:nvSpPr>
            <p:cNvPr id="76" name="TextBox 76"/>
            <p:cNvSpPr txBox="1"/>
            <p:nvPr/>
          </p:nvSpPr>
          <p:spPr>
            <a:xfrm>
              <a:off x="1289114" y="5648087"/>
              <a:ext cx="7750558" cy="242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4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验证协议：10 折交叉验证（调参）→ 独立测试集（报告）→ 分子对接（机制）→ 合成 + 感官评价（确证）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604647" y="6438900"/>
            <a:ext cx="10982706" cy="294989"/>
            <a:chOff x="604647" y="6438900"/>
            <a:chExt cx="10982706" cy="294989"/>
          </a:xfrm>
        </p:grpSpPr>
        <p:sp>
          <p:nvSpPr>
            <p:cNvPr id="78" name="Line 78"/>
            <p:cNvSpPr/>
            <p:nvPr/>
          </p:nvSpPr>
          <p:spPr>
            <a:xfrm>
              <a:off x="609600" y="6438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4288">
              <a:solidFill>
                <a:srgbClr val="DDE4EA"/>
              </a:solidFill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604647" y="6543199"/>
              <a:ext cx="778310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A3B2BF"/>
                  </a:solidFill>
                  <a:latin typeface="+mn-lt"/>
                  <a:ea typeface="+mn-ea"/>
                  <a:cs typeface="+mn-cs"/>
                </a:rPr>
                <a:t>来源：UMPred-FRL 独立测试集（ACC 0.888 / MCC 0.735 / Sn 0.786 / BACC 0.860，IJMS 2021）；iUP-BERT（Foods 2022）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1135490" y="6543199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A3B2BF"/>
                  </a:solidFill>
                  <a:latin typeface="+mn-lt"/>
                  <a:ea typeface="+mn-ea"/>
                  <a:cs typeface="+mn-cs"/>
                </a:rPr>
                <a:t>09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8170" y="515302"/>
            <a:ext cx="4263390" cy="843915"/>
            <a:chOff x="598170" y="515302"/>
            <a:chExt cx="4263390" cy="843915"/>
          </a:xfrm>
        </p:grpSpPr>
        <p:sp>
          <p:nvSpPr>
            <p:cNvPr id="2" name="TextBox 2"/>
            <p:cNvSpPr txBox="1"/>
            <p:nvPr/>
          </p:nvSpPr>
          <p:spPr>
            <a:xfrm>
              <a:off x="604266" y="515302"/>
              <a:ext cx="21821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22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 · 模型进展、工具与应用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609600" y="762000"/>
              <a:ext cx="457200" cy="47625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98170" y="919162"/>
              <a:ext cx="426339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五年模型演进：准确率节节攀升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47750" y="3733800"/>
            <a:ext cx="10096500" cy="9525"/>
            <a:chOff x="1047750" y="3733800"/>
            <a:chExt cx="10096500" cy="9525"/>
          </a:xfrm>
        </p:grpSpPr>
        <p:sp>
          <p:nvSpPr>
            <p:cNvPr id="6" name="Line 6"/>
            <p:cNvSpPr/>
            <p:nvPr/>
          </p:nvSpPr>
          <p:spPr>
            <a:xfrm>
              <a:off x="1047750" y="3733800"/>
              <a:ext cx="10096500" cy="9525"/>
            </a:xfrm>
            <a:custGeom>
              <a:avLst/>
              <a:gdLst/>
              <a:ahLst/>
              <a:cxnLst/>
              <a:rect l="l" t="t" r="r" b="b"/>
              <a:pathLst>
                <a:path w="10096500" h="9525">
                  <a:moveTo>
                    <a:pt x="0" y="0"/>
                  </a:moveTo>
                  <a:lnTo>
                    <a:pt x="10096500" y="0"/>
                  </a:lnTo>
                </a:path>
              </a:pathLst>
            </a:custGeom>
            <a:noFill/>
            <a:ln w="57150" cap="rnd">
              <a:solidFill>
                <a:srgbClr val="C7D2DB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1047750" y="3733800"/>
              <a:ext cx="10096500" cy="9525"/>
            </a:xfrm>
            <a:custGeom>
              <a:avLst/>
              <a:gdLst/>
              <a:ahLst/>
              <a:cxnLst/>
              <a:rect l="l" t="t" r="r" b="b"/>
              <a:pathLst>
                <a:path w="10096500" h="9525">
                  <a:moveTo>
                    <a:pt x="0" y="0"/>
                  </a:moveTo>
                  <a:lnTo>
                    <a:pt x="10096500" y="0"/>
                  </a:lnTo>
                </a:path>
              </a:pathLst>
            </a:custGeom>
            <a:noFill/>
            <a:ln w="0">
              <a:solidFill>
                <a:schemeClr val="accent2"/>
              </a:solidFill>
            </a:ln>
          </p:spPr>
        </p:sp>
      </p:grpSp>
      <p:grpSp>
        <p:nvGrpSpPr>
          <p:cNvPr id="71" name="Group 71"/>
          <p:cNvGrpSpPr/>
          <p:nvPr/>
        </p:nvGrpSpPr>
        <p:grpSpPr>
          <a:xfrm>
            <a:off x="838200" y="1562100"/>
            <a:ext cx="11087100" cy="3384376"/>
            <a:chOff x="838200" y="1562100"/>
            <a:chExt cx="11087100" cy="3384376"/>
          </a:xfrm>
        </p:grpSpPr>
        <p:grpSp>
          <p:nvGrpSpPr>
            <p:cNvPr id="18" name="Group 18"/>
            <p:cNvGrpSpPr/>
            <p:nvPr/>
          </p:nvGrpSpPr>
          <p:grpSpPr>
            <a:xfrm>
              <a:off x="838200" y="1600200"/>
              <a:ext cx="1562100" cy="2247900"/>
              <a:chOff x="838200" y="1600200"/>
              <a:chExt cx="1562100" cy="2247900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876300" y="1638300"/>
                <a:ext cx="1524000" cy="1333500"/>
              </a:xfrm>
              <a:prstGeom prst="roundRect">
                <a:avLst>
                  <a:gd name="adj" fmla="val 11429"/>
                </a:avLst>
              </a:prstGeom>
              <a:solidFill>
                <a:srgbClr val="E3E9ED"/>
              </a:solidFill>
              <a:ln>
                <a:noFill/>
              </a:ln>
            </p:spPr>
          </p:sp>
          <p:sp>
            <p:nvSpPr>
              <p:cNvPr id="10" name="Rectangle 10"/>
              <p:cNvSpPr/>
              <p:nvPr/>
            </p:nvSpPr>
            <p:spPr>
              <a:xfrm>
                <a:off x="838200" y="1600200"/>
                <a:ext cx="1524000" cy="1333500"/>
              </a:xfrm>
              <a:prstGeom prst="roundRect">
                <a:avLst>
                  <a:gd name="adj" fmla="val 11429"/>
                </a:avLst>
              </a:prstGeom>
              <a:solidFill>
                <a:srgbClr val="FFFFFF"/>
              </a:solidFill>
              <a:ln w="14288">
                <a:solidFill>
                  <a:srgbClr val="E3E9ED"/>
                </a:solidFill>
              </a:ln>
            </p:spPr>
          </p:sp>
          <p:sp>
            <p:nvSpPr>
              <p:cNvPr id="11" name="Rectangle 11"/>
              <p:cNvSpPr/>
              <p:nvPr/>
            </p:nvSpPr>
            <p:spPr>
              <a:xfrm>
                <a:off x="838200" y="1600200"/>
                <a:ext cx="1524000" cy="57150"/>
              </a:xfrm>
              <a:prstGeom prst="roundRect">
                <a:avLst>
                  <a:gd name="adj" fmla="val 50000"/>
                </a:avLst>
              </a:prstGeom>
              <a:solidFill>
                <a:srgbClr val="4F86B2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022604" y="1813560"/>
                <a:ext cx="38535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4F86B2"/>
                    </a:solidFill>
                    <a:latin typeface="+mn-lt"/>
                    <a:ea typeface="+mn-ea"/>
                    <a:cs typeface="+mn-cs"/>
                  </a:rPr>
                  <a:t>2020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022604" y="2099310"/>
                <a:ext cx="98596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iUmami-SCM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023366" y="2363152"/>
                <a:ext cx="77983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SCM 评分卡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023366" y="2610802"/>
                <a:ext cx="71262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ACC 0.824</a:t>
                </a:r>
              </a:p>
            </p:txBody>
          </p:sp>
          <p:sp>
            <p:nvSpPr>
              <p:cNvPr id="16" name="Line 16"/>
              <p:cNvSpPr/>
              <p:nvPr/>
            </p:nvSpPr>
            <p:spPr>
              <a:xfrm>
                <a:off x="1333500" y="2933700"/>
                <a:ext cx="9525" cy="800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800100">
                    <a:moveTo>
                      <a:pt x="0" y="0"/>
                    </a:moveTo>
                    <a:lnTo>
                      <a:pt x="0" y="800100"/>
                    </a:lnTo>
                  </a:path>
                </a:pathLst>
              </a:custGeom>
              <a:noFill/>
              <a:ln w="19050">
                <a:solidFill>
                  <a:srgbClr val="C7D2DB"/>
                </a:solidFill>
                <a:prstDash val="dash"/>
              </a:ln>
            </p:spPr>
          </p:sp>
          <p:sp>
            <p:nvSpPr>
              <p:cNvPr id="17" name="Ellipse 17"/>
              <p:cNvSpPr/>
              <p:nvPr/>
            </p:nvSpPr>
            <p:spPr>
              <a:xfrm>
                <a:off x="1219200" y="3619500"/>
                <a:ext cx="228600" cy="228600"/>
              </a:xfrm>
              <a:prstGeom prst="ellipse">
                <a:avLst/>
              </a:prstGeom>
              <a:solidFill>
                <a:srgbClr val="4F86B2"/>
              </a:solidFill>
              <a:ln w="38100">
                <a:solidFill>
                  <a:srgbClr val="F4F6F7"/>
                </a:solidFill>
              </a:ln>
            </p:spPr>
          </p:sp>
        </p:grpSp>
        <p:grpSp>
          <p:nvGrpSpPr>
            <p:cNvPr id="28" name="Group 28"/>
            <p:cNvGrpSpPr/>
            <p:nvPr/>
          </p:nvGrpSpPr>
          <p:grpSpPr>
            <a:xfrm>
              <a:off x="2743200" y="3124200"/>
              <a:ext cx="1562100" cy="1371600"/>
              <a:chOff x="2743200" y="3124200"/>
              <a:chExt cx="1562100" cy="137160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2781300" y="3162300"/>
                <a:ext cx="1524000" cy="1333500"/>
              </a:xfrm>
              <a:prstGeom prst="roundRect">
                <a:avLst>
                  <a:gd name="adj" fmla="val 11429"/>
                </a:avLst>
              </a:prstGeom>
              <a:solidFill>
                <a:srgbClr val="E3E9ED"/>
              </a:solidFill>
              <a:ln>
                <a:noFill/>
              </a:ln>
            </p:spPr>
          </p:sp>
          <p:sp>
            <p:nvSpPr>
              <p:cNvPr id="20" name="Rectangle 20"/>
              <p:cNvSpPr/>
              <p:nvPr/>
            </p:nvSpPr>
            <p:spPr>
              <a:xfrm>
                <a:off x="2743200" y="3124200"/>
                <a:ext cx="1524000" cy="1333500"/>
              </a:xfrm>
              <a:prstGeom prst="roundRect">
                <a:avLst>
                  <a:gd name="adj" fmla="val 11429"/>
                </a:avLst>
              </a:prstGeom>
              <a:solidFill>
                <a:srgbClr val="FFFFFF"/>
              </a:solidFill>
              <a:ln w="14288">
                <a:solidFill>
                  <a:srgbClr val="E3E9ED"/>
                </a:solidFill>
              </a:ln>
            </p:spPr>
          </p:sp>
          <p:sp>
            <p:nvSpPr>
              <p:cNvPr id="21" name="Rectangle 21"/>
              <p:cNvSpPr/>
              <p:nvPr/>
            </p:nvSpPr>
            <p:spPr>
              <a:xfrm>
                <a:off x="2743200" y="3124200"/>
                <a:ext cx="1524000" cy="57150"/>
              </a:xfrm>
              <a:prstGeom prst="roundRect">
                <a:avLst>
                  <a:gd name="adj" fmla="val 50000"/>
                </a:avLst>
              </a:prstGeom>
              <a:solidFill>
                <a:srgbClr val="4F86B2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2927604" y="3337560"/>
                <a:ext cx="38535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4F86B2"/>
                    </a:solidFill>
                    <a:latin typeface="+mn-lt"/>
                    <a:ea typeface="+mn-ea"/>
                    <a:cs typeface="+mn-cs"/>
                  </a:rPr>
                  <a:t>2021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2927604" y="3623310"/>
                <a:ext cx="101551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UMPred-FRL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2928366" y="3887152"/>
                <a:ext cx="97892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6 算法 × 7 编码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2928366" y="4134802"/>
                <a:ext cx="71262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ACC 0.888</a:t>
                </a:r>
              </a:p>
            </p:txBody>
          </p:sp>
          <p:sp>
            <p:nvSpPr>
              <p:cNvPr id="26" name="Line 26"/>
              <p:cNvSpPr/>
              <p:nvPr/>
            </p:nvSpPr>
            <p:spPr>
              <a:xfrm>
                <a:off x="3238500" y="3124200"/>
                <a:ext cx="9525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09600">
                    <a:moveTo>
                      <a:pt x="0" y="0"/>
                    </a:moveTo>
                    <a:lnTo>
                      <a:pt x="0" y="609600"/>
                    </a:lnTo>
                  </a:path>
                </a:pathLst>
              </a:custGeom>
              <a:noFill/>
              <a:ln w="19050">
                <a:solidFill>
                  <a:srgbClr val="C7D2DB"/>
                </a:solidFill>
                <a:prstDash val="dash"/>
              </a:ln>
            </p:spPr>
          </p:sp>
          <p:sp>
            <p:nvSpPr>
              <p:cNvPr id="27" name="Ellipse 27"/>
              <p:cNvSpPr/>
              <p:nvPr/>
            </p:nvSpPr>
            <p:spPr>
              <a:xfrm>
                <a:off x="3124200" y="3619500"/>
                <a:ext cx="228600" cy="228600"/>
              </a:xfrm>
              <a:prstGeom prst="ellipse">
                <a:avLst/>
              </a:prstGeom>
              <a:solidFill>
                <a:srgbClr val="4F86B2"/>
              </a:solidFill>
              <a:ln w="38100">
                <a:solidFill>
                  <a:srgbClr val="F4F6F7"/>
                </a:solidFill>
              </a:ln>
            </p:spPr>
          </p:sp>
        </p:grpSp>
        <p:grpSp>
          <p:nvGrpSpPr>
            <p:cNvPr id="40" name="Group 40"/>
            <p:cNvGrpSpPr/>
            <p:nvPr/>
          </p:nvGrpSpPr>
          <p:grpSpPr>
            <a:xfrm>
              <a:off x="4648200" y="1562100"/>
              <a:ext cx="1657350" cy="3384376"/>
              <a:chOff x="4648200" y="1562100"/>
              <a:chExt cx="1657350" cy="3384376"/>
            </a:xfrm>
          </p:grpSpPr>
          <p:sp>
            <p:nvSpPr>
              <p:cNvPr id="29" name="Rectangle 29"/>
              <p:cNvSpPr/>
              <p:nvPr/>
            </p:nvSpPr>
            <p:spPr>
              <a:xfrm>
                <a:off x="4686300" y="1600200"/>
                <a:ext cx="1619250" cy="1428750"/>
              </a:xfrm>
              <a:prstGeom prst="roundRect">
                <a:avLst>
                  <a:gd name="adj" fmla="val 10667"/>
                </a:avLst>
              </a:prstGeom>
              <a:solidFill>
                <a:srgbClr val="E3E9ED"/>
              </a:solidFill>
              <a:ln>
                <a:noFill/>
              </a:ln>
            </p:spPr>
          </p:sp>
          <p:sp>
            <p:nvSpPr>
              <p:cNvPr id="30" name="Rectangle 30"/>
              <p:cNvSpPr/>
              <p:nvPr/>
            </p:nvSpPr>
            <p:spPr>
              <a:xfrm>
                <a:off x="4648200" y="1562100"/>
                <a:ext cx="1619250" cy="1428750"/>
              </a:xfrm>
              <a:prstGeom prst="roundRect">
                <a:avLst>
                  <a:gd name="adj" fmla="val 10667"/>
                </a:avLst>
              </a:prstGeom>
              <a:solidFill>
                <a:srgbClr val="FFFFFF"/>
              </a:solidFill>
              <a:ln w="14288">
                <a:solidFill>
                  <a:srgbClr val="CFE4E1"/>
                </a:solidFill>
              </a:ln>
            </p:spPr>
          </p:sp>
          <p:sp>
            <p:nvSpPr>
              <p:cNvPr id="31" name="Rectangle 31"/>
              <p:cNvSpPr/>
              <p:nvPr/>
            </p:nvSpPr>
            <p:spPr>
              <a:xfrm>
                <a:off x="4648200" y="1562100"/>
                <a:ext cx="1619250" cy="57150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4832604" y="1775460"/>
                <a:ext cx="38535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2022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4832604" y="2061210"/>
                <a:ext cx="750273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iUP-BERT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833366" y="2325052"/>
                <a:ext cx="125029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BERT+SMOTE+SVM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4833366" y="2553652"/>
                <a:ext cx="100012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灵敏度大幅领先</a:t>
                </a:r>
              </a:p>
            </p:txBody>
          </p:sp>
          <p:sp>
            <p:nvSpPr>
              <p:cNvPr id="36" name="Line 36"/>
              <p:cNvSpPr/>
              <p:nvPr/>
            </p:nvSpPr>
            <p:spPr>
              <a:xfrm>
                <a:off x="5143500" y="2990850"/>
                <a:ext cx="9525" cy="7429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742950">
                    <a:moveTo>
                      <a:pt x="0" y="0"/>
                    </a:moveTo>
                    <a:lnTo>
                      <a:pt x="0" y="742950"/>
                    </a:lnTo>
                  </a:path>
                </a:pathLst>
              </a:custGeom>
              <a:noFill/>
              <a:ln w="19050">
                <a:solidFill>
                  <a:srgbClr val="C7D2DB"/>
                </a:solidFill>
                <a:prstDash val="dash"/>
              </a:ln>
            </p:spPr>
          </p:sp>
          <p:sp>
            <p:nvSpPr>
              <p:cNvPr id="37" name="Ellipse 37"/>
              <p:cNvSpPr/>
              <p:nvPr/>
            </p:nvSpPr>
            <p:spPr>
              <a:xfrm>
                <a:off x="5029200" y="3619500"/>
                <a:ext cx="228600" cy="228600"/>
              </a:xfrm>
              <a:prstGeom prst="ellipse">
                <a:avLst/>
              </a:prstGeom>
              <a:solidFill>
                <a:schemeClr val="accent2"/>
              </a:solidFill>
              <a:ln w="38100">
                <a:solidFill>
                  <a:srgbClr val="F4F6F7"/>
                </a:solidFill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4833556" y="4557951"/>
                <a:ext cx="1292642" cy="19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1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同年 VirtuousUmami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4833556" y="4748451"/>
                <a:ext cx="1369949" cy="19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1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通用味觉预测（开源）</a:t>
                </a:r>
              </a:p>
            </p:txBody>
          </p:sp>
        </p:grpSp>
        <p:grpSp>
          <p:nvGrpSpPr>
            <p:cNvPr id="50" name="Group 50"/>
            <p:cNvGrpSpPr/>
            <p:nvPr/>
          </p:nvGrpSpPr>
          <p:grpSpPr>
            <a:xfrm>
              <a:off x="6553200" y="3124200"/>
              <a:ext cx="1709771" cy="1371600"/>
              <a:chOff x="6553200" y="3124200"/>
              <a:chExt cx="1709771" cy="1371600"/>
            </a:xfrm>
          </p:grpSpPr>
          <p:sp>
            <p:nvSpPr>
              <p:cNvPr id="41" name="Rectangle 41"/>
              <p:cNvSpPr/>
              <p:nvPr/>
            </p:nvSpPr>
            <p:spPr>
              <a:xfrm>
                <a:off x="6591300" y="3162300"/>
                <a:ext cx="1619250" cy="1333500"/>
              </a:xfrm>
              <a:prstGeom prst="roundRect">
                <a:avLst>
                  <a:gd name="adj" fmla="val 11429"/>
                </a:avLst>
              </a:prstGeom>
              <a:solidFill>
                <a:srgbClr val="E3E9ED"/>
              </a:solidFill>
              <a:ln>
                <a:noFill/>
              </a:ln>
            </p:spPr>
          </p:sp>
          <p:sp>
            <p:nvSpPr>
              <p:cNvPr id="42" name="Rectangle 42"/>
              <p:cNvSpPr/>
              <p:nvPr/>
            </p:nvSpPr>
            <p:spPr>
              <a:xfrm>
                <a:off x="6553200" y="3124200"/>
                <a:ext cx="1619250" cy="1333500"/>
              </a:xfrm>
              <a:prstGeom prst="roundRect">
                <a:avLst>
                  <a:gd name="adj" fmla="val 11429"/>
                </a:avLst>
              </a:prstGeom>
              <a:solidFill>
                <a:srgbClr val="FFFFFF"/>
              </a:solidFill>
              <a:ln w="14288">
                <a:solidFill>
                  <a:srgbClr val="CFE4E1"/>
                </a:solidFill>
              </a:ln>
            </p:spPr>
          </p:sp>
          <p:sp>
            <p:nvSpPr>
              <p:cNvPr id="43" name="Rectangle 43"/>
              <p:cNvSpPr/>
              <p:nvPr/>
            </p:nvSpPr>
            <p:spPr>
              <a:xfrm>
                <a:off x="6553200" y="3124200"/>
                <a:ext cx="1619250" cy="57150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6737604" y="3337560"/>
                <a:ext cx="38535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2023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6737985" y="3631406"/>
                <a:ext cx="152498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Umami-MRNN / BERT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6738366" y="3887152"/>
                <a:ext cx="133243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MRNN 90.5%；BERT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6738366" y="4115752"/>
                <a:ext cx="143831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93.2% + 注意力可解释</a:t>
                </a:r>
              </a:p>
            </p:txBody>
          </p:sp>
          <p:sp>
            <p:nvSpPr>
              <p:cNvPr id="48" name="Line 48"/>
              <p:cNvSpPr/>
              <p:nvPr/>
            </p:nvSpPr>
            <p:spPr>
              <a:xfrm>
                <a:off x="7048500" y="3124200"/>
                <a:ext cx="9525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09600">
                    <a:moveTo>
                      <a:pt x="0" y="0"/>
                    </a:moveTo>
                    <a:lnTo>
                      <a:pt x="0" y="609600"/>
                    </a:lnTo>
                  </a:path>
                </a:pathLst>
              </a:custGeom>
              <a:noFill/>
              <a:ln w="19050">
                <a:solidFill>
                  <a:srgbClr val="C7D2DB"/>
                </a:solidFill>
                <a:prstDash val="dash"/>
              </a:ln>
            </p:spPr>
          </p:sp>
          <p:sp>
            <p:nvSpPr>
              <p:cNvPr id="49" name="Ellipse 49"/>
              <p:cNvSpPr/>
              <p:nvPr/>
            </p:nvSpPr>
            <p:spPr>
              <a:xfrm>
                <a:off x="6934200" y="3619500"/>
                <a:ext cx="228600" cy="228600"/>
              </a:xfrm>
              <a:prstGeom prst="ellipse">
                <a:avLst/>
              </a:prstGeom>
              <a:solidFill>
                <a:schemeClr val="accent2"/>
              </a:solidFill>
              <a:ln w="38100">
                <a:solidFill>
                  <a:srgbClr val="F4F6F7"/>
                </a:solidFill>
              </a:ln>
            </p:spPr>
          </p:sp>
        </p:grpSp>
        <p:grpSp>
          <p:nvGrpSpPr>
            <p:cNvPr id="60" name="Group 60"/>
            <p:cNvGrpSpPr/>
            <p:nvPr/>
          </p:nvGrpSpPr>
          <p:grpSpPr>
            <a:xfrm>
              <a:off x="8458200" y="1562100"/>
              <a:ext cx="1657350" cy="2286000"/>
              <a:chOff x="8458200" y="1562100"/>
              <a:chExt cx="1657350" cy="2286000"/>
            </a:xfrm>
          </p:grpSpPr>
          <p:sp>
            <p:nvSpPr>
              <p:cNvPr id="51" name="Rectangle 51"/>
              <p:cNvSpPr/>
              <p:nvPr/>
            </p:nvSpPr>
            <p:spPr>
              <a:xfrm>
                <a:off x="8496300" y="1600200"/>
                <a:ext cx="1619250" cy="1333500"/>
              </a:xfrm>
              <a:prstGeom prst="roundRect">
                <a:avLst>
                  <a:gd name="adj" fmla="val 11429"/>
                </a:avLst>
              </a:prstGeom>
              <a:solidFill>
                <a:srgbClr val="E3E9ED"/>
              </a:solidFill>
              <a:ln>
                <a:noFill/>
              </a:ln>
            </p:spPr>
          </p:sp>
          <p:sp>
            <p:nvSpPr>
              <p:cNvPr id="52" name="Rectangle 52"/>
              <p:cNvSpPr/>
              <p:nvPr/>
            </p:nvSpPr>
            <p:spPr>
              <a:xfrm>
                <a:off x="8458200" y="1562100"/>
                <a:ext cx="1619250" cy="1333500"/>
              </a:xfrm>
              <a:prstGeom prst="roundRect">
                <a:avLst>
                  <a:gd name="adj" fmla="val 11429"/>
                </a:avLst>
              </a:prstGeom>
              <a:solidFill>
                <a:srgbClr val="FFFFFF"/>
              </a:solidFill>
              <a:ln w="14288">
                <a:solidFill>
                  <a:srgbClr val="F0DECF"/>
                </a:solidFill>
              </a:ln>
            </p:spPr>
          </p:sp>
          <p:sp>
            <p:nvSpPr>
              <p:cNvPr id="53" name="Rectangle 53"/>
              <p:cNvSpPr/>
              <p:nvPr/>
            </p:nvSpPr>
            <p:spPr>
              <a:xfrm>
                <a:off x="8458200" y="1562100"/>
                <a:ext cx="1619250" cy="57150"/>
              </a:xfrm>
              <a:prstGeom prst="roundRect">
                <a:avLst>
                  <a:gd name="adj" fmla="val 50000"/>
                </a:avLst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54" name="TextBox 54"/>
              <p:cNvSpPr txBox="1"/>
              <p:nvPr/>
            </p:nvSpPr>
            <p:spPr>
              <a:xfrm>
                <a:off x="8642604" y="1775460"/>
                <a:ext cx="38535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2024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8642604" y="2061210"/>
                <a:ext cx="83789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VmmScore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8643366" y="2325052"/>
                <a:ext cx="122788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DL 预测 + ML 优化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8643366" y="2553652"/>
                <a:ext cx="100012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对接打分一体化</a:t>
                </a:r>
              </a:p>
            </p:txBody>
          </p:sp>
          <p:sp>
            <p:nvSpPr>
              <p:cNvPr id="58" name="Line 58"/>
              <p:cNvSpPr/>
              <p:nvPr/>
            </p:nvSpPr>
            <p:spPr>
              <a:xfrm>
                <a:off x="8953500" y="2933700"/>
                <a:ext cx="9525" cy="800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800100">
                    <a:moveTo>
                      <a:pt x="0" y="0"/>
                    </a:moveTo>
                    <a:lnTo>
                      <a:pt x="0" y="800100"/>
                    </a:lnTo>
                  </a:path>
                </a:pathLst>
              </a:custGeom>
              <a:noFill/>
              <a:ln w="19050">
                <a:solidFill>
                  <a:srgbClr val="C7D2DB"/>
                </a:solidFill>
                <a:prstDash val="dash"/>
              </a:ln>
            </p:spPr>
          </p:sp>
          <p:sp>
            <p:nvSpPr>
              <p:cNvPr id="59" name="Ellipse 59"/>
              <p:cNvSpPr/>
              <p:nvPr/>
            </p:nvSpPr>
            <p:spPr>
              <a:xfrm>
                <a:off x="8839200" y="3619500"/>
                <a:ext cx="228600" cy="228600"/>
              </a:xfrm>
              <a:prstGeom prst="ellipse">
                <a:avLst/>
              </a:prstGeom>
              <a:solidFill>
                <a:schemeClr val="accent3"/>
              </a:solidFill>
              <a:ln w="38100">
                <a:solidFill>
                  <a:srgbClr val="F4F6F7"/>
                </a:solidFill>
              </a:ln>
            </p:spPr>
          </p:sp>
        </p:grpSp>
        <p:grpSp>
          <p:nvGrpSpPr>
            <p:cNvPr id="70" name="Group 70"/>
            <p:cNvGrpSpPr/>
            <p:nvPr/>
          </p:nvGrpSpPr>
          <p:grpSpPr>
            <a:xfrm>
              <a:off x="10363200" y="3124200"/>
              <a:ext cx="1562100" cy="1371600"/>
              <a:chOff x="10363200" y="3124200"/>
              <a:chExt cx="1562100" cy="1371600"/>
            </a:xfrm>
          </p:grpSpPr>
          <p:sp>
            <p:nvSpPr>
              <p:cNvPr id="61" name="Rectangle 61"/>
              <p:cNvSpPr/>
              <p:nvPr/>
            </p:nvSpPr>
            <p:spPr>
              <a:xfrm>
                <a:off x="10401300" y="3162300"/>
                <a:ext cx="1524000" cy="1333500"/>
              </a:xfrm>
              <a:prstGeom prst="roundRect">
                <a:avLst>
                  <a:gd name="adj" fmla="val 11429"/>
                </a:avLst>
              </a:prstGeom>
              <a:solidFill>
                <a:srgbClr val="F0DECF"/>
              </a:solidFill>
              <a:ln>
                <a:noFill/>
              </a:ln>
            </p:spPr>
          </p:sp>
          <p:sp>
            <p:nvSpPr>
              <p:cNvPr id="62" name="Rectangle 62"/>
              <p:cNvSpPr/>
              <p:nvPr/>
            </p:nvSpPr>
            <p:spPr>
              <a:xfrm>
                <a:off x="10363200" y="3124200"/>
                <a:ext cx="1524000" cy="1333500"/>
              </a:xfrm>
              <a:prstGeom prst="roundRect">
                <a:avLst>
                  <a:gd name="adj" fmla="val 11429"/>
                </a:avLst>
              </a:prstGeom>
              <a:solidFill>
                <a:srgbClr val="FBE9DD"/>
              </a:solidFill>
              <a:ln w="14288">
                <a:solidFill>
                  <a:srgbClr val="F0DECF"/>
                </a:solidFill>
              </a:ln>
            </p:spPr>
          </p:sp>
          <p:sp>
            <p:nvSpPr>
              <p:cNvPr id="63" name="Rectangle 63"/>
              <p:cNvSpPr/>
              <p:nvPr/>
            </p:nvSpPr>
            <p:spPr>
              <a:xfrm>
                <a:off x="10363200" y="3124200"/>
                <a:ext cx="1524000" cy="57150"/>
              </a:xfrm>
              <a:prstGeom prst="roundRect">
                <a:avLst>
                  <a:gd name="adj" fmla="val 50000"/>
                </a:avLst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64" name="TextBox 64"/>
              <p:cNvSpPr txBox="1"/>
              <p:nvPr/>
            </p:nvSpPr>
            <p:spPr>
              <a:xfrm>
                <a:off x="10547604" y="3337560"/>
                <a:ext cx="38535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B5663A"/>
                    </a:solidFill>
                    <a:latin typeface="+mn-lt"/>
                    <a:ea typeface="+mn-ea"/>
                    <a:cs typeface="+mn-cs"/>
                  </a:rPr>
                  <a:t>2025</a:t>
                </a: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10547604" y="3623310"/>
                <a:ext cx="94585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B5663A"/>
                    </a:solidFill>
                    <a:latin typeface="+mn-lt"/>
                    <a:ea typeface="+mn-ea"/>
                    <a:cs typeface="+mn-cs"/>
                  </a:rPr>
                  <a:t>对比学习 DL</a:t>
                </a:r>
              </a:p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10548366" y="3887152"/>
                <a:ext cx="115561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预训练+增强+对比</a:t>
                </a:r>
              </a:p>
            </p:txBody>
          </p:sp>
          <p:sp>
            <p:nvSpPr>
              <p:cNvPr id="67" name="TextBox 67"/>
              <p:cNvSpPr txBox="1"/>
              <p:nvPr/>
            </p:nvSpPr>
            <p:spPr>
              <a:xfrm>
                <a:off x="10548366" y="4134802"/>
                <a:ext cx="83397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B5663A"/>
                    </a:solidFill>
                    <a:latin typeface="+mn-lt"/>
                    <a:ea typeface="+mn-ea"/>
                    <a:cs typeface="+mn-cs"/>
                  </a:rPr>
                  <a:t>ACC 0.9398</a:t>
                </a:r>
              </a:p>
            </p:txBody>
          </p:sp>
          <p:sp>
            <p:nvSpPr>
              <p:cNvPr id="68" name="Line 68"/>
              <p:cNvSpPr/>
              <p:nvPr/>
            </p:nvSpPr>
            <p:spPr>
              <a:xfrm>
                <a:off x="10858500" y="3124200"/>
                <a:ext cx="9525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09600">
                    <a:moveTo>
                      <a:pt x="0" y="0"/>
                    </a:moveTo>
                    <a:lnTo>
                      <a:pt x="0" y="609600"/>
                    </a:lnTo>
                  </a:path>
                </a:pathLst>
              </a:custGeom>
              <a:noFill/>
              <a:ln w="19050">
                <a:solidFill>
                  <a:schemeClr val="accent3"/>
                </a:solidFill>
                <a:prstDash val="dash"/>
              </a:ln>
            </p:spPr>
          </p:sp>
          <p:sp>
            <p:nvSpPr>
              <p:cNvPr id="69" name="Ellipse 69"/>
              <p:cNvSpPr/>
              <p:nvPr/>
            </p:nvSpPr>
            <p:spPr>
              <a:xfrm>
                <a:off x="10744200" y="3619500"/>
                <a:ext cx="228600" cy="228600"/>
              </a:xfrm>
              <a:prstGeom prst="ellipse">
                <a:avLst/>
              </a:prstGeom>
              <a:solidFill>
                <a:schemeClr val="accent3"/>
              </a:solidFill>
              <a:ln w="38100">
                <a:solidFill>
                  <a:srgbClr val="F4F6F7"/>
                </a:solidFill>
              </a:ln>
            </p:spPr>
          </p:sp>
        </p:grpSp>
      </p:grpSp>
      <p:grpSp>
        <p:nvGrpSpPr>
          <p:cNvPr id="78" name="Group 78"/>
          <p:cNvGrpSpPr/>
          <p:nvPr/>
        </p:nvGrpSpPr>
        <p:grpSpPr>
          <a:xfrm>
            <a:off x="1047750" y="4991100"/>
            <a:ext cx="10287000" cy="342900"/>
            <a:chOff x="1047750" y="4991100"/>
            <a:chExt cx="10287000" cy="342900"/>
          </a:xfrm>
        </p:grpSpPr>
        <p:sp>
          <p:nvSpPr>
            <p:cNvPr id="72" name="Rectangle 72"/>
            <p:cNvSpPr/>
            <p:nvPr/>
          </p:nvSpPr>
          <p:spPr>
            <a:xfrm>
              <a:off x="1047750" y="4991100"/>
              <a:ext cx="3429000" cy="342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1908810" y="5106352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传统机器学习（手工特征）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4667250" y="4991100"/>
              <a:ext cx="3238500" cy="342900"/>
            </a:xfrm>
            <a:prstGeom prst="roundRect">
              <a:avLst>
                <a:gd name="adj" fmla="val 50000"/>
              </a:avLst>
            </a:prstGeom>
            <a:solidFill>
              <a:srgbClr val="DFF0EE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5857113" y="510635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深度学习表示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8096250" y="4991100"/>
              <a:ext cx="3238500" cy="342900"/>
            </a:xfrm>
            <a:prstGeom prst="roundRect">
              <a:avLst>
                <a:gd name="adj" fmla="val 50000"/>
              </a:avLst>
            </a:prstGeom>
            <a:solidFill>
              <a:srgbClr val="FBE9DD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9130097" y="5106352"/>
              <a:ext cx="117080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5663A"/>
                  </a:solidFill>
                  <a:latin typeface="+mn-lt"/>
                  <a:ea typeface="+mn-ea"/>
                  <a:cs typeface="+mn-cs"/>
                </a:rPr>
                <a:t>可解释 + 对接融合</a:t>
              </a:r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609600" y="5619750"/>
            <a:ext cx="10972800" cy="514350"/>
            <a:chOff x="609600" y="5619750"/>
            <a:chExt cx="10972800" cy="514350"/>
          </a:xfrm>
        </p:grpSpPr>
        <p:sp>
          <p:nvSpPr>
            <p:cNvPr id="79" name="Rectangle 79"/>
            <p:cNvSpPr/>
            <p:nvPr/>
          </p:nvSpPr>
          <p:spPr>
            <a:xfrm>
              <a:off x="609600" y="5619750"/>
              <a:ext cx="10972800" cy="514350"/>
            </a:xfrm>
            <a:prstGeom prst="roundRect">
              <a:avLst>
                <a:gd name="adj" fmla="val 25926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0" name="Rectangle 80"/>
            <p:cNvSpPr/>
            <p:nvPr/>
          </p:nvSpPr>
          <p:spPr>
            <a:xfrm>
              <a:off x="609600" y="5619750"/>
              <a:ext cx="57150" cy="5143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grpSp>
          <p:nvGrpSpPr>
            <p:cNvPr id="84" name="Group 84"/>
            <p:cNvGrpSpPr/>
            <p:nvPr/>
          </p:nvGrpSpPr>
          <p:grpSpPr>
            <a:xfrm>
              <a:off x="969963" y="5810250"/>
              <a:ext cx="155575" cy="133350"/>
              <a:chOff x="969963" y="5810250"/>
              <a:chExt cx="155575" cy="133350"/>
            </a:xfrm>
          </p:grpSpPr>
          <p:sp>
            <p:nvSpPr>
              <p:cNvPr id="81" name="Freeform 81"/>
              <p:cNvSpPr/>
              <p:nvPr/>
            </p:nvSpPr>
            <p:spPr>
              <a:xfrm>
                <a:off x="969963" y="5876925"/>
                <a:ext cx="1555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9525">
                    <a:moveTo>
                      <a:pt x="0" y="0"/>
                    </a:moveTo>
                    <a:lnTo>
                      <a:pt x="155575" y="0"/>
                    </a:lnTo>
                  </a:path>
                </a:pathLst>
              </a:custGeom>
              <a:noFill/>
              <a:ln w="22225">
                <a:solidFill>
                  <a:srgbClr val="2FB3A8"/>
                </a:solidFill>
              </a:ln>
            </p:spPr>
          </p:sp>
          <p:sp>
            <p:nvSpPr>
              <p:cNvPr id="82" name="Freeform 82"/>
              <p:cNvSpPr/>
              <p:nvPr/>
            </p:nvSpPr>
            <p:spPr>
              <a:xfrm>
                <a:off x="1058863" y="5876925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0" y="66675"/>
                    </a:move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2FB3A8"/>
                </a:solidFill>
              </a:ln>
            </p:spPr>
          </p:sp>
          <p:sp>
            <p:nvSpPr>
              <p:cNvPr id="83" name="Freeform 83"/>
              <p:cNvSpPr/>
              <p:nvPr/>
            </p:nvSpPr>
            <p:spPr>
              <a:xfrm>
                <a:off x="1058863" y="5810250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0" y="0"/>
                    </a:moveTo>
                    <a:lnTo>
                      <a:pt x="66675" y="66675"/>
                    </a:lnTo>
                  </a:path>
                </a:pathLst>
              </a:custGeom>
              <a:noFill/>
              <a:ln w="22225">
                <a:solidFill>
                  <a:srgbClr val="2FB3A8"/>
                </a:solidFill>
              </a:ln>
            </p:spPr>
          </p:sp>
        </p:grpSp>
        <p:sp>
          <p:nvSpPr>
            <p:cNvPr id="85" name="TextBox 85"/>
            <p:cNvSpPr txBox="1"/>
            <p:nvPr/>
          </p:nvSpPr>
          <p:spPr>
            <a:xfrm>
              <a:off x="1327023" y="5796439"/>
              <a:ext cx="732034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方法与数据双轮驱动：准确率 82% → 94%，重心从「分得准」转向「可解释、可对接、可验证」</a:t>
              </a:r>
            </a:p>
          </p:txBody>
        </p:sp>
      </p:grpSp>
      <p:grpSp>
        <p:nvGrpSpPr>
          <p:cNvPr id="90" name="Group 90"/>
          <p:cNvGrpSpPr/>
          <p:nvPr/>
        </p:nvGrpSpPr>
        <p:grpSpPr>
          <a:xfrm>
            <a:off x="604647" y="6438900"/>
            <a:ext cx="11032498" cy="294989"/>
            <a:chOff x="604647" y="6438900"/>
            <a:chExt cx="11032498" cy="294989"/>
          </a:xfrm>
        </p:grpSpPr>
        <p:sp>
          <p:nvSpPr>
            <p:cNvPr id="87" name="Line 87"/>
            <p:cNvSpPr/>
            <p:nvPr/>
          </p:nvSpPr>
          <p:spPr>
            <a:xfrm>
              <a:off x="609600" y="6438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4288">
              <a:solidFill>
                <a:srgbClr val="DDE4EA"/>
              </a:solidFill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604647" y="6543199"/>
              <a:ext cx="110324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A3B2BF"/>
                  </a:solidFill>
                  <a:latin typeface="+mn-lt"/>
                  <a:ea typeface="+mn-ea"/>
                  <a:cs typeface="+mn-cs"/>
                </a:rPr>
                <a:t>来源：iUmami-SCM（2020）；UMPred-FRL（IJMS 2021）；VirtuousUmami/iUP-BERT（2022）；Umami-MRNN/Umami-BERT（2023）；Mlp4Umami（2024）；Food Chemistry 2025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11135490" y="6543199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A3B2BF"/>
                  </a:solidFill>
                  <a:latin typeface="+mn-lt"/>
                  <a:ea typeface="+mn-ea"/>
                  <a:cs typeface="+mn-cs"/>
                </a:rPr>
                <a:t>10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8170" y="515302"/>
            <a:ext cx="3657600" cy="843915"/>
            <a:chOff x="598170" y="515302"/>
            <a:chExt cx="3657600" cy="843915"/>
          </a:xfrm>
        </p:grpSpPr>
        <p:sp>
          <p:nvSpPr>
            <p:cNvPr id="2" name="TextBox 2"/>
            <p:cNvSpPr txBox="1"/>
            <p:nvPr/>
          </p:nvSpPr>
          <p:spPr>
            <a:xfrm>
              <a:off x="604266" y="515302"/>
              <a:ext cx="21821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22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 · 模型进展、工具与应用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609600" y="762000"/>
              <a:ext cx="457200" cy="47625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98170" y="919162"/>
              <a:ext cx="365760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开箱即用：在线预测服务器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09600" y="1524000"/>
            <a:ext cx="7277100" cy="4038600"/>
            <a:chOff x="609600" y="1524000"/>
            <a:chExt cx="7277100" cy="4038600"/>
          </a:xfrm>
        </p:grpSpPr>
        <p:grpSp>
          <p:nvGrpSpPr>
            <p:cNvPr id="45" name="Group 45"/>
            <p:cNvGrpSpPr/>
            <p:nvPr/>
          </p:nvGrpSpPr>
          <p:grpSpPr>
            <a:xfrm>
              <a:off x="609600" y="1524000"/>
              <a:ext cx="7277100" cy="4038600"/>
              <a:chOff x="609600" y="1524000"/>
              <a:chExt cx="7277100" cy="4038600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647700" y="1562100"/>
                <a:ext cx="7239000" cy="4000500"/>
              </a:xfrm>
              <a:prstGeom prst="roundRect">
                <a:avLst>
                  <a:gd name="adj" fmla="val 3810"/>
                </a:avLst>
              </a:prstGeom>
              <a:solidFill>
                <a:srgbClr val="E3E9ED"/>
              </a:solidFill>
              <a:ln>
                <a:noFill/>
              </a:ln>
            </p:spPr>
          </p:sp>
          <p:sp>
            <p:nvSpPr>
              <p:cNvPr id="7" name="Rectangle 7"/>
              <p:cNvSpPr/>
              <p:nvPr/>
            </p:nvSpPr>
            <p:spPr>
              <a:xfrm>
                <a:off x="609600" y="1524000"/>
                <a:ext cx="7239000" cy="4000500"/>
              </a:xfrm>
              <a:prstGeom prst="roundRect">
                <a:avLst>
                  <a:gd name="adj" fmla="val 3810"/>
                </a:avLst>
              </a:prstGeom>
              <a:solidFill>
                <a:srgbClr val="FFFFFF"/>
              </a:solidFill>
              <a:ln w="14288">
                <a:solidFill>
                  <a:srgbClr val="DDE6EC"/>
                </a:solidFill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831723" y="1729264"/>
                <a:ext cx="156377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鲜味肽预测工具一览</a:t>
                </a:r>
              </a:p>
            </p:txBody>
          </p:sp>
          <p:sp>
            <p:nvSpPr>
              <p:cNvPr id="9" name="Rectangle 9"/>
              <p:cNvSpPr/>
              <p:nvPr/>
            </p:nvSpPr>
            <p:spPr>
              <a:xfrm>
                <a:off x="838200" y="2019300"/>
                <a:ext cx="6781800" cy="342900"/>
              </a:xfrm>
              <a:prstGeom prst="roundRect">
                <a:avLst>
                  <a:gd name="adj" fmla="val 27778"/>
                </a:avLst>
              </a:prstGeom>
              <a:solidFill>
                <a:srgbClr val="F0F5F9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985076" y="2130504"/>
                <a:ext cx="304521" cy="2126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90" b="1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工具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2851976" y="2130504"/>
                <a:ext cx="597992" cy="2126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90" b="1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方法核心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5709476" y="2130504"/>
                <a:ext cx="597992" cy="2126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90" b="1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获取方式</a:t>
                </a:r>
              </a:p>
            </p:txBody>
          </p:sp>
          <p:grpSp>
            <p:nvGrpSpPr>
              <p:cNvPr id="44" name="Group 44"/>
              <p:cNvGrpSpPr/>
              <p:nvPr/>
            </p:nvGrpSpPr>
            <p:grpSpPr>
              <a:xfrm>
                <a:off x="838200" y="2597229"/>
                <a:ext cx="6781800" cy="2863597"/>
                <a:chOff x="838200" y="2597229"/>
                <a:chExt cx="6781800" cy="2863597"/>
              </a:xfrm>
            </p:grpSpPr>
            <p:sp>
              <p:nvSpPr>
                <p:cNvPr id="13" name="Ellipse 13"/>
                <p:cNvSpPr/>
                <p:nvPr/>
              </p:nvSpPr>
              <p:spPr>
                <a:xfrm>
                  <a:off x="895350" y="2628900"/>
                  <a:ext cx="76200" cy="76200"/>
                </a:xfrm>
                <a:prstGeom prst="ellipse">
                  <a:avLst/>
                </a:prstGeom>
                <a:solidFill>
                  <a:srgbClr val="4F86B2"/>
                </a:solidFill>
                <a:ln>
                  <a:noFill/>
                </a:ln>
              </p:spPr>
            </p:sp>
            <p:sp>
              <p:nvSpPr>
                <p:cNvPr id="14" name="TextBox 14"/>
                <p:cNvSpPr txBox="1"/>
                <p:nvPr/>
              </p:nvSpPr>
              <p:spPr>
                <a:xfrm>
                  <a:off x="1061276" y="2597229"/>
                  <a:ext cx="895561" cy="21269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9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rPr>
                    <a:t>iUmami-SCM</a:t>
                  </a:r>
                </a:p>
              </p:txBody>
            </p:sp>
            <p:sp>
              <p:nvSpPr>
                <p:cNvPr id="15" name="TextBox 15"/>
                <p:cNvSpPr txBox="1"/>
                <p:nvPr/>
              </p:nvSpPr>
              <p:spPr>
                <a:xfrm>
                  <a:off x="2851976" y="2597229"/>
                  <a:ext cx="1607977" cy="21269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9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SCM 评分卡 + 组成特征</a:t>
                  </a:r>
                </a:p>
              </p:txBody>
            </p:sp>
            <p:sp>
              <p:nvSpPr>
                <p:cNvPr id="16" name="TextBox 16"/>
                <p:cNvSpPr txBox="1"/>
                <p:nvPr/>
              </p:nvSpPr>
              <p:spPr>
                <a:xfrm>
                  <a:off x="5709476" y="2597229"/>
                  <a:ext cx="780997" cy="21269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9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Web 服务器</a:t>
                  </a:r>
                </a:p>
              </p:txBody>
            </p:sp>
            <p:sp>
              <p:nvSpPr>
                <p:cNvPr id="17" name="Line 17"/>
                <p:cNvSpPr/>
                <p:nvPr/>
              </p:nvSpPr>
              <p:spPr>
                <a:xfrm>
                  <a:off x="838200" y="2876550"/>
                  <a:ext cx="67818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81800" h="9525">
                      <a:moveTo>
                        <a:pt x="0" y="0"/>
                      </a:moveTo>
                      <a:lnTo>
                        <a:pt x="6781800" y="0"/>
                      </a:lnTo>
                    </a:path>
                  </a:pathLst>
                </a:custGeom>
                <a:noFill/>
                <a:ln w="14288">
                  <a:solidFill>
                    <a:srgbClr val="F2F5F8"/>
                  </a:solidFill>
                </a:ln>
              </p:spPr>
            </p:sp>
            <p:sp>
              <p:nvSpPr>
                <p:cNvPr id="18" name="Ellipse 18"/>
                <p:cNvSpPr/>
                <p:nvPr/>
              </p:nvSpPr>
              <p:spPr>
                <a:xfrm>
                  <a:off x="895350" y="3086100"/>
                  <a:ext cx="76200" cy="76200"/>
                </a:xfrm>
                <a:prstGeom prst="ellipse">
                  <a:avLst/>
                </a:prstGeom>
                <a:solidFill>
                  <a:srgbClr val="4F86B2"/>
                </a:solidFill>
                <a:ln>
                  <a:noFill/>
                </a:ln>
              </p:spPr>
            </p:sp>
            <p:sp>
              <p:nvSpPr>
                <p:cNvPr id="19" name="TextBox 19"/>
                <p:cNvSpPr txBox="1"/>
                <p:nvPr/>
              </p:nvSpPr>
              <p:spPr>
                <a:xfrm>
                  <a:off x="1061276" y="3054429"/>
                  <a:ext cx="922403" cy="21269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9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rPr>
                    <a:t>UMPred-FRL</a:t>
                  </a:r>
                </a:p>
              </p:txBody>
            </p:sp>
            <p:sp>
              <p:nvSpPr>
                <p:cNvPr id="20" name="TextBox 20"/>
                <p:cNvSpPr txBox="1"/>
                <p:nvPr/>
              </p:nvSpPr>
              <p:spPr>
                <a:xfrm>
                  <a:off x="2851976" y="3054429"/>
                  <a:ext cx="1309661" cy="21269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9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6 算法 × 7 编码集成</a:t>
                  </a:r>
                </a:p>
              </p:txBody>
            </p:sp>
            <p:sp>
              <p:nvSpPr>
                <p:cNvPr id="21" name="TextBox 21"/>
                <p:cNvSpPr txBox="1"/>
                <p:nvPr/>
              </p:nvSpPr>
              <p:spPr>
                <a:xfrm>
                  <a:off x="5709476" y="3054429"/>
                  <a:ext cx="1294987" cy="21269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9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pmlabstack 服务器</a:t>
                  </a:r>
                </a:p>
              </p:txBody>
            </p:sp>
            <p:sp>
              <p:nvSpPr>
                <p:cNvPr id="22" name="Line 22"/>
                <p:cNvSpPr/>
                <p:nvPr/>
              </p:nvSpPr>
              <p:spPr>
                <a:xfrm>
                  <a:off x="838200" y="3333750"/>
                  <a:ext cx="67818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81800" h="9525">
                      <a:moveTo>
                        <a:pt x="0" y="0"/>
                      </a:moveTo>
                      <a:lnTo>
                        <a:pt x="6781800" y="0"/>
                      </a:lnTo>
                    </a:path>
                  </a:pathLst>
                </a:custGeom>
                <a:noFill/>
                <a:ln w="14288">
                  <a:solidFill>
                    <a:srgbClr val="F2F5F8"/>
                  </a:solidFill>
                </a:ln>
              </p:spPr>
            </p:sp>
            <p:sp>
              <p:nvSpPr>
                <p:cNvPr id="23" name="Ellipse 23"/>
                <p:cNvSpPr/>
                <p:nvPr/>
              </p:nvSpPr>
              <p:spPr>
                <a:xfrm>
                  <a:off x="895350" y="3543300"/>
                  <a:ext cx="76200" cy="76200"/>
                </a:xfrm>
                <a:prstGeom prst="ellipse">
                  <a:avLst/>
                </a:prstGeom>
                <a:solidFill>
                  <a:srgbClr val="4F86B2"/>
                </a:solidFill>
                <a:ln>
                  <a:noFill/>
                </a:ln>
              </p:spPr>
            </p:sp>
            <p:sp>
              <p:nvSpPr>
                <p:cNvPr id="24" name="TextBox 24"/>
                <p:cNvSpPr txBox="1"/>
                <p:nvPr/>
              </p:nvSpPr>
              <p:spPr>
                <a:xfrm>
                  <a:off x="1061276" y="3511629"/>
                  <a:ext cx="681472" cy="21269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9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rPr>
                    <a:t>iUP-BERT</a:t>
                  </a:r>
                </a:p>
              </p:txBody>
            </p:sp>
            <p:sp>
              <p:nvSpPr>
                <p:cNvPr id="25" name="TextBox 25"/>
                <p:cNvSpPr txBox="1"/>
                <p:nvPr/>
              </p:nvSpPr>
              <p:spPr>
                <a:xfrm>
                  <a:off x="2851976" y="3511629"/>
                  <a:ext cx="1840540" cy="21269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9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BERT 嵌入 + SMOTE + SVM</a:t>
                  </a:r>
                </a:p>
              </p:txBody>
            </p:sp>
            <p:sp>
              <p:nvSpPr>
                <p:cNvPr id="26" name="TextBox 26"/>
                <p:cNvSpPr txBox="1"/>
                <p:nvPr/>
              </p:nvSpPr>
              <p:spPr>
                <a:xfrm>
                  <a:off x="5709476" y="3511629"/>
                  <a:ext cx="1500417" cy="21269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9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aibiochem.net 服务器</a:t>
                  </a:r>
                </a:p>
              </p:txBody>
            </p:sp>
            <p:sp>
              <p:nvSpPr>
                <p:cNvPr id="27" name="Line 27"/>
                <p:cNvSpPr/>
                <p:nvPr/>
              </p:nvSpPr>
              <p:spPr>
                <a:xfrm>
                  <a:off x="838200" y="3790950"/>
                  <a:ext cx="67818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81800" h="9525">
                      <a:moveTo>
                        <a:pt x="0" y="0"/>
                      </a:moveTo>
                      <a:lnTo>
                        <a:pt x="6781800" y="0"/>
                      </a:lnTo>
                    </a:path>
                  </a:pathLst>
                </a:custGeom>
                <a:noFill/>
                <a:ln w="14288">
                  <a:solidFill>
                    <a:srgbClr val="F2F5F8"/>
                  </a:solidFill>
                </a:ln>
              </p:spPr>
            </p:sp>
            <p:sp>
              <p:nvSpPr>
                <p:cNvPr id="28" name="Ellipse 28"/>
                <p:cNvSpPr/>
                <p:nvPr/>
              </p:nvSpPr>
              <p:spPr>
                <a:xfrm>
                  <a:off x="895350" y="4000500"/>
                  <a:ext cx="76200" cy="762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29" name="TextBox 29"/>
                <p:cNvSpPr txBox="1"/>
                <p:nvPr/>
              </p:nvSpPr>
              <p:spPr>
                <a:xfrm>
                  <a:off x="1061276" y="3968829"/>
                  <a:ext cx="908934" cy="21269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90" b="1" dirty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rPr>
                    <a:t>Umami-BERT</a:t>
                  </a:r>
                </a:p>
              </p:txBody>
            </p:sp>
            <p:sp>
              <p:nvSpPr>
                <p:cNvPr id="30" name="TextBox 30"/>
                <p:cNvSpPr txBox="1"/>
                <p:nvPr/>
              </p:nvSpPr>
              <p:spPr>
                <a:xfrm>
                  <a:off x="2851976" y="3968829"/>
                  <a:ext cx="1675276" cy="21269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9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两阶段 BERT + Inception</a:t>
                  </a:r>
                </a:p>
              </p:txBody>
            </p:sp>
            <p:sp>
              <p:nvSpPr>
                <p:cNvPr id="31" name="TextBox 31"/>
                <p:cNvSpPr txBox="1"/>
                <p:nvPr/>
              </p:nvSpPr>
              <p:spPr>
                <a:xfrm>
                  <a:off x="5709476" y="3968829"/>
                  <a:ext cx="1625143" cy="21269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9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服务器（注意力可解释）</a:t>
                  </a:r>
                </a:p>
              </p:txBody>
            </p:sp>
            <p:sp>
              <p:nvSpPr>
                <p:cNvPr id="32" name="Line 32"/>
                <p:cNvSpPr/>
                <p:nvPr/>
              </p:nvSpPr>
              <p:spPr>
                <a:xfrm>
                  <a:off x="838200" y="4248150"/>
                  <a:ext cx="67818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81800" h="9525">
                      <a:moveTo>
                        <a:pt x="0" y="0"/>
                      </a:moveTo>
                      <a:lnTo>
                        <a:pt x="6781800" y="0"/>
                      </a:lnTo>
                    </a:path>
                  </a:pathLst>
                </a:custGeom>
                <a:noFill/>
                <a:ln w="14288">
                  <a:solidFill>
                    <a:srgbClr val="F2F5F8"/>
                  </a:solidFill>
                </a:ln>
              </p:spPr>
            </p:sp>
            <p:sp>
              <p:nvSpPr>
                <p:cNvPr id="33" name="Ellipse 33"/>
                <p:cNvSpPr/>
                <p:nvPr/>
              </p:nvSpPr>
              <p:spPr>
                <a:xfrm>
                  <a:off x="895350" y="4457700"/>
                  <a:ext cx="76200" cy="76200"/>
                </a:xfrm>
                <a:prstGeom prst="ellipse">
                  <a:avLst/>
                </a:prstGeom>
                <a:solidFill>
                  <a:srgbClr val="4F86B2"/>
                </a:solidFill>
                <a:ln>
                  <a:noFill/>
                </a:ln>
              </p:spPr>
            </p:sp>
            <p:sp>
              <p:nvSpPr>
                <p:cNvPr id="34" name="TextBox 34"/>
                <p:cNvSpPr txBox="1"/>
                <p:nvPr/>
              </p:nvSpPr>
              <p:spPr>
                <a:xfrm>
                  <a:off x="1061276" y="4426029"/>
                  <a:ext cx="1106720" cy="21269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9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rPr>
                    <a:t>VirtuousUmami</a:t>
                  </a:r>
                </a:p>
              </p:txBody>
            </p:sp>
            <p:sp>
              <p:nvSpPr>
                <p:cNvPr id="35" name="TextBox 35"/>
                <p:cNvSpPr txBox="1"/>
                <p:nvPr/>
              </p:nvSpPr>
              <p:spPr>
                <a:xfrm>
                  <a:off x="2851976" y="4426029"/>
                  <a:ext cx="1313156" cy="21269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9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Mordred 2D 描述符</a:t>
                  </a:r>
                </a:p>
              </p:txBody>
            </p:sp>
            <p:sp>
              <p:nvSpPr>
                <p:cNvPr id="36" name="TextBox 36"/>
                <p:cNvSpPr txBox="1"/>
                <p:nvPr/>
              </p:nvSpPr>
              <p:spPr>
                <a:xfrm>
                  <a:off x="5709476" y="4426029"/>
                  <a:ext cx="1707924" cy="21269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9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GitHub 开源，多输入格式</a:t>
                  </a:r>
                </a:p>
              </p:txBody>
            </p:sp>
            <p:sp>
              <p:nvSpPr>
                <p:cNvPr id="37" name="Line 37"/>
                <p:cNvSpPr/>
                <p:nvPr/>
              </p:nvSpPr>
              <p:spPr>
                <a:xfrm>
                  <a:off x="838200" y="4705350"/>
                  <a:ext cx="67818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81800" h="9525">
                      <a:moveTo>
                        <a:pt x="0" y="0"/>
                      </a:moveTo>
                      <a:lnTo>
                        <a:pt x="6781800" y="0"/>
                      </a:lnTo>
                    </a:path>
                  </a:pathLst>
                </a:custGeom>
                <a:noFill/>
                <a:ln w="14288">
                  <a:solidFill>
                    <a:srgbClr val="F2F5F8"/>
                  </a:solidFill>
                </a:ln>
              </p:spPr>
            </p:sp>
            <p:sp>
              <p:nvSpPr>
                <p:cNvPr id="38" name="Ellipse 38"/>
                <p:cNvSpPr/>
                <p:nvPr/>
              </p:nvSpPr>
              <p:spPr>
                <a:xfrm>
                  <a:off x="895350" y="4914900"/>
                  <a:ext cx="76200" cy="76200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</p:sp>
            <p:sp>
              <p:nvSpPr>
                <p:cNvPr id="39" name="TextBox 39"/>
                <p:cNvSpPr txBox="1"/>
                <p:nvPr/>
              </p:nvSpPr>
              <p:spPr>
                <a:xfrm>
                  <a:off x="1061276" y="4883229"/>
                  <a:ext cx="761063" cy="21269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90" b="1" dirty="0">
                      <a:solidFill>
                        <a:srgbClr val="B5663A"/>
                      </a:solidFill>
                      <a:latin typeface="+mn-lt"/>
                      <a:ea typeface="+mn-ea"/>
                      <a:cs typeface="+mn-cs"/>
                    </a:rPr>
                    <a:t>VmmScore</a:t>
                  </a:r>
                </a:p>
              </p:txBody>
            </p:sp>
            <p:sp>
              <p:nvSpPr>
                <p:cNvPr id="40" name="TextBox 40"/>
                <p:cNvSpPr txBox="1"/>
                <p:nvPr/>
              </p:nvSpPr>
              <p:spPr>
                <a:xfrm>
                  <a:off x="2851976" y="4883229"/>
                  <a:ext cx="1336655" cy="21269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9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DL 预测 + 对接打分</a:t>
                  </a:r>
                </a:p>
              </p:txBody>
            </p:sp>
            <p:sp>
              <p:nvSpPr>
                <p:cNvPr id="41" name="TextBox 41"/>
                <p:cNvSpPr txBox="1"/>
                <p:nvPr/>
              </p:nvSpPr>
              <p:spPr>
                <a:xfrm>
                  <a:off x="5709476" y="4883229"/>
                  <a:ext cx="1402444" cy="21269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9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Mlp4Umami 开源管线</a:t>
                  </a:r>
                </a:p>
              </p:txBody>
            </p:sp>
            <p:sp>
              <p:nvSpPr>
                <p:cNvPr id="42" name="Line 42"/>
                <p:cNvSpPr/>
                <p:nvPr/>
              </p:nvSpPr>
              <p:spPr>
                <a:xfrm>
                  <a:off x="838200" y="5162550"/>
                  <a:ext cx="67818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81800" h="9525">
                      <a:moveTo>
                        <a:pt x="0" y="0"/>
                      </a:moveTo>
                      <a:lnTo>
                        <a:pt x="6781800" y="0"/>
                      </a:lnTo>
                    </a:path>
                  </a:pathLst>
                </a:custGeom>
                <a:noFill/>
                <a:ln w="14288">
                  <a:solidFill>
                    <a:srgbClr val="F2F5F8"/>
                  </a:solidFill>
                </a:ln>
              </p:spPr>
            </p:sp>
            <p:sp>
              <p:nvSpPr>
                <p:cNvPr id="43" name="TextBox 43"/>
                <p:cNvSpPr txBox="1"/>
                <p:nvPr/>
              </p:nvSpPr>
              <p:spPr>
                <a:xfrm>
                  <a:off x="985456" y="5262801"/>
                  <a:ext cx="3750320" cy="1980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1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配套：BIOPEP-UWM（肽库）、PeptideRanker（活性初筛）</a:t>
                  </a:r>
                </a:p>
              </p:txBody>
            </p:sp>
          </p:grpSp>
        </p:grpSp>
      </p:grpSp>
      <p:grpSp>
        <p:nvGrpSpPr>
          <p:cNvPr id="78" name="Group 78"/>
          <p:cNvGrpSpPr/>
          <p:nvPr/>
        </p:nvGrpSpPr>
        <p:grpSpPr>
          <a:xfrm>
            <a:off x="8077200" y="1524000"/>
            <a:ext cx="3505200" cy="4000500"/>
            <a:chOff x="8077200" y="1524000"/>
            <a:chExt cx="3505200" cy="4000500"/>
          </a:xfrm>
        </p:grpSpPr>
        <p:sp>
          <p:nvSpPr>
            <p:cNvPr id="47" name="Rectangle 47"/>
            <p:cNvSpPr/>
            <p:nvPr/>
          </p:nvSpPr>
          <p:spPr>
            <a:xfrm>
              <a:off x="8077200" y="1524000"/>
              <a:ext cx="3505200" cy="4000500"/>
            </a:xfrm>
            <a:prstGeom prst="roundRect">
              <a:avLst>
                <a:gd name="adj" fmla="val 489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8" name="Ellipse 48"/>
            <p:cNvSpPr/>
            <p:nvPr/>
          </p:nvSpPr>
          <p:spPr>
            <a:xfrm>
              <a:off x="8286750" y="1733550"/>
              <a:ext cx="457200" cy="457200"/>
            </a:xfrm>
            <a:prstGeom prst="ellipse">
              <a:avLst/>
            </a:prstGeom>
            <a:solidFill>
              <a:srgbClr val="123A5A"/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8393906" y="1840706"/>
              <a:ext cx="242888" cy="242888"/>
              <a:chOff x="8393906" y="1840706"/>
              <a:chExt cx="242888" cy="242888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8393906" y="1840706"/>
                <a:ext cx="242888" cy="242888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242888">
                    <a:moveTo>
                      <a:pt x="0" y="121444"/>
                    </a:moveTo>
                    <a:cubicBezTo>
                      <a:pt x="0" y="188516"/>
                      <a:pt x="54372" y="242888"/>
                      <a:pt x="121444" y="242888"/>
                    </a:cubicBezTo>
                    <a:cubicBezTo>
                      <a:pt x="188516" y="242888"/>
                      <a:pt x="242888" y="188516"/>
                      <a:pt x="242888" y="121444"/>
                    </a:cubicBezTo>
                    <a:cubicBezTo>
                      <a:pt x="242888" y="54372"/>
                      <a:pt x="188516" y="0"/>
                      <a:pt x="121444" y="0"/>
                    </a:cubicBezTo>
                    <a:cubicBezTo>
                      <a:pt x="54372" y="0"/>
                      <a:pt x="0" y="54372"/>
                      <a:pt x="0" y="121444"/>
                    </a:cubicBezTo>
                  </a:path>
                </a:pathLst>
              </a:custGeom>
              <a:noFill/>
              <a:ln w="26988">
                <a:solidFill>
                  <a:srgbClr val="2FB3A8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8402003" y="1921669"/>
                <a:ext cx="22669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6696" h="9525">
                    <a:moveTo>
                      <a:pt x="0" y="0"/>
                    </a:moveTo>
                    <a:lnTo>
                      <a:pt x="226696" y="0"/>
                    </a:lnTo>
                  </a:path>
                </a:pathLst>
              </a:custGeom>
              <a:noFill/>
              <a:ln w="26988">
                <a:solidFill>
                  <a:srgbClr val="2FB3A8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8402003" y="2002632"/>
                <a:ext cx="22669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6696" h="9525">
                    <a:moveTo>
                      <a:pt x="0" y="0"/>
                    </a:moveTo>
                    <a:lnTo>
                      <a:pt x="226696" y="0"/>
                    </a:lnTo>
                  </a:path>
                </a:pathLst>
              </a:custGeom>
              <a:noFill/>
              <a:ln w="26988">
                <a:solidFill>
                  <a:srgbClr val="2FB3A8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462225" y="1840706"/>
                <a:ext cx="46379" cy="242888"/>
              </a:xfrm>
              <a:custGeom>
                <a:avLst/>
                <a:gdLst/>
                <a:ahLst/>
                <a:cxnLst/>
                <a:rect l="l" t="t" r="r" b="b"/>
                <a:pathLst>
                  <a:path w="46379" h="242888">
                    <a:moveTo>
                      <a:pt x="46379" y="0"/>
                    </a:moveTo>
                    <a:cubicBezTo>
                      <a:pt x="0" y="74321"/>
                      <a:pt x="0" y="168567"/>
                      <a:pt x="46379" y="242888"/>
                    </a:cubicBezTo>
                  </a:path>
                </a:pathLst>
              </a:custGeom>
              <a:noFill/>
              <a:ln w="26988">
                <a:solidFill>
                  <a:srgbClr val="2FB3A8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8522097" y="1840706"/>
                <a:ext cx="46379" cy="242888"/>
              </a:xfrm>
              <a:custGeom>
                <a:avLst/>
                <a:gdLst/>
                <a:ahLst/>
                <a:cxnLst/>
                <a:rect l="l" t="t" r="r" b="b"/>
                <a:pathLst>
                  <a:path w="46379" h="242888">
                    <a:moveTo>
                      <a:pt x="0" y="0"/>
                    </a:moveTo>
                    <a:cubicBezTo>
                      <a:pt x="46379" y="74321"/>
                      <a:pt x="46379" y="168567"/>
                      <a:pt x="0" y="242888"/>
                    </a:cubicBezTo>
                  </a:path>
                </a:pathLst>
              </a:custGeom>
              <a:noFill/>
              <a:ln w="26988">
                <a:solidFill>
                  <a:srgbClr val="2FB3A8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8870061" y="1865471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快速上手三步</a:t>
              </a:r>
            </a:p>
          </p:txBody>
        </p:sp>
        <p:grpSp>
          <p:nvGrpSpPr>
            <p:cNvPr id="61" name="Group 61"/>
            <p:cNvGrpSpPr/>
            <p:nvPr/>
          </p:nvGrpSpPr>
          <p:grpSpPr>
            <a:xfrm>
              <a:off x="8353425" y="2442210"/>
              <a:ext cx="1674343" cy="678751"/>
              <a:chOff x="8353425" y="2442210"/>
              <a:chExt cx="1674343" cy="678751"/>
            </a:xfrm>
          </p:grpSpPr>
          <p:sp>
            <p:nvSpPr>
              <p:cNvPr id="56" name="Ellipse 56"/>
              <p:cNvSpPr/>
              <p:nvPr/>
            </p:nvSpPr>
            <p:spPr>
              <a:xfrm>
                <a:off x="8353425" y="2466975"/>
                <a:ext cx="323850" cy="323850"/>
              </a:xfrm>
              <a:prstGeom prst="ellipse">
                <a:avLst/>
              </a:prstGeom>
              <a:solidFill>
                <a:srgbClr val="123A5A"/>
              </a:solidFill>
              <a:ln>
                <a:noFill/>
              </a:ln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8466099" y="2564606"/>
                <a:ext cx="9850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b="1" dirty="0">
                    <a:solidFill>
                      <a:srgbClr val="2FB3A8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8814054" y="2442210"/>
                <a:ext cx="65836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准备序列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8814816" y="2706052"/>
                <a:ext cx="121295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AEBFD0"/>
                    </a:solidFill>
                    <a:latin typeface="+mn-lt"/>
                    <a:ea typeface="+mn-ea"/>
                    <a:cs typeface="+mn-cs"/>
                  </a:rPr>
                  <a:t>单字母 FASTA，或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8814816" y="2915602"/>
                <a:ext cx="99418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AEBFD0"/>
                    </a:solidFill>
                    <a:latin typeface="+mn-lt"/>
                    <a:ea typeface="+mn-ea"/>
                    <a:cs typeface="+mn-cs"/>
                  </a:rPr>
                  <a:t>SMILES / InChI</a:t>
                </a:r>
              </a:p>
            </p:txBody>
          </p:sp>
        </p:grpSp>
        <p:sp>
          <p:nvSpPr>
            <p:cNvPr id="62" name="Line 62"/>
            <p:cNvSpPr/>
            <p:nvPr/>
          </p:nvSpPr>
          <p:spPr>
            <a:xfrm>
              <a:off x="8515350" y="314325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19050">
              <a:solidFill>
                <a:srgbClr val="244A6E"/>
              </a:solidFill>
            </a:ln>
          </p:spPr>
        </p:sp>
        <p:grpSp>
          <p:nvGrpSpPr>
            <p:cNvPr id="68" name="Group 68"/>
            <p:cNvGrpSpPr/>
            <p:nvPr/>
          </p:nvGrpSpPr>
          <p:grpSpPr>
            <a:xfrm>
              <a:off x="8353425" y="3356610"/>
              <a:ext cx="1461516" cy="678751"/>
              <a:chOff x="8353425" y="3356610"/>
              <a:chExt cx="1461516" cy="678751"/>
            </a:xfrm>
          </p:grpSpPr>
          <p:sp>
            <p:nvSpPr>
              <p:cNvPr id="63" name="Ellipse 63"/>
              <p:cNvSpPr/>
              <p:nvPr/>
            </p:nvSpPr>
            <p:spPr>
              <a:xfrm>
                <a:off x="8353425" y="3381375"/>
                <a:ext cx="323850" cy="323850"/>
              </a:xfrm>
              <a:prstGeom prst="ellipse">
                <a:avLst/>
              </a:prstGeom>
              <a:solidFill>
                <a:srgbClr val="123A5A"/>
              </a:solidFill>
              <a:ln>
                <a:noFill/>
              </a:ln>
            </p:spPr>
          </p:sp>
          <p:sp>
            <p:nvSpPr>
              <p:cNvPr id="64" name="TextBox 64"/>
              <p:cNvSpPr txBox="1"/>
              <p:nvPr/>
            </p:nvSpPr>
            <p:spPr>
              <a:xfrm>
                <a:off x="8466099" y="3479006"/>
                <a:ext cx="9850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b="1" dirty="0">
                    <a:solidFill>
                      <a:srgbClr val="2FB3A8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8814054" y="3356610"/>
                <a:ext cx="65836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粘贴提交</a:t>
                </a:r>
              </a:p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8814816" y="3620452"/>
                <a:ext cx="100012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AEBFD0"/>
                    </a:solidFill>
                    <a:latin typeface="+mn-lt"/>
                    <a:ea typeface="+mn-ea"/>
                    <a:cs typeface="+mn-cs"/>
                  </a:rPr>
                  <a:t>服务器返回呈鲜</a:t>
                </a:r>
              </a:p>
            </p:txBody>
          </p:sp>
          <p:sp>
            <p:nvSpPr>
              <p:cNvPr id="67" name="TextBox 67"/>
              <p:cNvSpPr txBox="1"/>
              <p:nvPr/>
            </p:nvSpPr>
            <p:spPr>
              <a:xfrm>
                <a:off x="8814816" y="3830002"/>
                <a:ext cx="71742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AEBFD0"/>
                    </a:solidFill>
                    <a:latin typeface="+mn-lt"/>
                    <a:ea typeface="+mn-ea"/>
                    <a:cs typeface="+mn-cs"/>
                  </a:rPr>
                  <a:t>概率与排名</a:t>
                </a:r>
              </a:p>
            </p:txBody>
          </p:sp>
        </p:grpSp>
        <p:sp>
          <p:nvSpPr>
            <p:cNvPr id="69" name="Line 69"/>
            <p:cNvSpPr/>
            <p:nvPr/>
          </p:nvSpPr>
          <p:spPr>
            <a:xfrm>
              <a:off x="8515350" y="405765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19050">
              <a:solidFill>
                <a:srgbClr val="244A6E"/>
              </a:solidFill>
            </a:ln>
          </p:spPr>
        </p:sp>
        <p:grpSp>
          <p:nvGrpSpPr>
            <p:cNvPr id="75" name="Group 75"/>
            <p:cNvGrpSpPr/>
            <p:nvPr/>
          </p:nvGrpSpPr>
          <p:grpSpPr>
            <a:xfrm>
              <a:off x="8353425" y="4271010"/>
              <a:ext cx="1602867" cy="678751"/>
              <a:chOff x="8353425" y="4271010"/>
              <a:chExt cx="1602867" cy="678751"/>
            </a:xfrm>
          </p:grpSpPr>
          <p:sp>
            <p:nvSpPr>
              <p:cNvPr id="70" name="Ellipse 70"/>
              <p:cNvSpPr/>
              <p:nvPr/>
            </p:nvSpPr>
            <p:spPr>
              <a:xfrm>
                <a:off x="8353425" y="4295775"/>
                <a:ext cx="323850" cy="323850"/>
              </a:xfrm>
              <a:prstGeom prst="ellipse">
                <a:avLst/>
              </a:prstGeom>
              <a:solidFill>
                <a:srgbClr val="123A5A"/>
              </a:solidFill>
              <a:ln>
                <a:noFill/>
              </a:ln>
            </p:spPr>
          </p:sp>
          <p:sp>
            <p:nvSpPr>
              <p:cNvPr id="71" name="TextBox 71"/>
              <p:cNvSpPr txBox="1"/>
              <p:nvPr/>
            </p:nvSpPr>
            <p:spPr>
              <a:xfrm>
                <a:off x="8466099" y="4393406"/>
                <a:ext cx="9850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b="1" dirty="0">
                    <a:solidFill>
                      <a:srgbClr val="2FB3A8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72" name="TextBox 72"/>
              <p:cNvSpPr txBox="1"/>
              <p:nvPr/>
            </p:nvSpPr>
            <p:spPr>
              <a:xfrm>
                <a:off x="8814054" y="4271010"/>
                <a:ext cx="65836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合成验证</a:t>
                </a:r>
              </a:p>
            </p:txBody>
          </p:sp>
          <p:sp>
            <p:nvSpPr>
              <p:cNvPr id="73" name="TextBox 73"/>
              <p:cNvSpPr txBox="1"/>
              <p:nvPr/>
            </p:nvSpPr>
            <p:spPr>
              <a:xfrm>
                <a:off x="8814816" y="4534852"/>
                <a:ext cx="114147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AEBFD0"/>
                    </a:solidFill>
                    <a:latin typeface="+mn-lt"/>
                    <a:ea typeface="+mn-ea"/>
                    <a:cs typeface="+mn-cs"/>
                  </a:rPr>
                  <a:t>高置信肽进入对接</a:t>
                </a:r>
              </a:p>
            </p:txBody>
          </p:sp>
          <p:sp>
            <p:nvSpPr>
              <p:cNvPr id="74" name="TextBox 74"/>
              <p:cNvSpPr txBox="1"/>
              <p:nvPr/>
            </p:nvSpPr>
            <p:spPr>
              <a:xfrm>
                <a:off x="8814816" y="4744402"/>
                <a:ext cx="71742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AEBFD0"/>
                    </a:solidFill>
                    <a:latin typeface="+mn-lt"/>
                    <a:ea typeface="+mn-ea"/>
                    <a:cs typeface="+mn-cs"/>
                  </a:rPr>
                  <a:t>与感官实验</a:t>
                </a:r>
              </a:p>
            </p:txBody>
          </p:sp>
        </p:grpSp>
        <p:sp>
          <p:nvSpPr>
            <p:cNvPr id="76" name="Rectangle 76"/>
            <p:cNvSpPr/>
            <p:nvPr/>
          </p:nvSpPr>
          <p:spPr>
            <a:xfrm>
              <a:off x="8343900" y="5067300"/>
              <a:ext cx="2971800" cy="285750"/>
            </a:xfrm>
            <a:prstGeom prst="roundRect">
              <a:avLst>
                <a:gd name="adj" fmla="val 50000"/>
              </a:avLst>
            </a:prstGeom>
            <a:solidFill>
              <a:srgbClr val="123A5A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8804910" y="5148501"/>
              <a:ext cx="2049780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10" dirty="0">
                  <a:solidFill>
                    <a:srgbClr val="2FB3A8"/>
                  </a:solidFill>
                  <a:latin typeface="+mn-lt"/>
                  <a:ea typeface="+mn-ea"/>
                  <a:cs typeface="+mn-cs"/>
                </a:rPr>
                <a:t>开源工具可本地批量筛选自建肽库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604647" y="6438900"/>
            <a:ext cx="10982706" cy="294989"/>
            <a:chOff x="604647" y="6438900"/>
            <a:chExt cx="10982706" cy="294989"/>
          </a:xfrm>
        </p:grpSpPr>
        <p:sp>
          <p:nvSpPr>
            <p:cNvPr id="79" name="Line 79"/>
            <p:cNvSpPr/>
            <p:nvPr/>
          </p:nvSpPr>
          <p:spPr>
            <a:xfrm>
              <a:off x="609600" y="6438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4288">
              <a:solidFill>
                <a:srgbClr val="DDE4EA"/>
              </a:solidFill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604647" y="6543199"/>
              <a:ext cx="1047789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A3B2BF"/>
                  </a:solidFill>
                  <a:latin typeface="+mn-lt"/>
                  <a:ea typeface="+mn-ea"/>
                  <a:cs typeface="+mn-cs"/>
                </a:rPr>
                <a:t>来源：iUmami-SCM（2020）；UMPred-FRL（IJMS 2021）；iUP-BERT（Foods 2022）；Umami-BERT（FRI 2023）；VirtuousUmami（Sci Rep 2022）；Mlp4Umami（2024）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1135490" y="6543199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A3B2BF"/>
                  </a:solidFill>
                  <a:latin typeface="+mn-lt"/>
                  <a:ea typeface="+mn-ea"/>
                  <a:cs typeface="+mn-cs"/>
                </a:rPr>
                <a:t>11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8170" y="515302"/>
            <a:ext cx="3303213" cy="843915"/>
            <a:chOff x="598170" y="515302"/>
            <a:chExt cx="3303213" cy="843915"/>
          </a:xfrm>
        </p:grpSpPr>
        <p:sp>
          <p:nvSpPr>
            <p:cNvPr id="2" name="TextBox 2"/>
            <p:cNvSpPr txBox="1"/>
            <p:nvPr/>
          </p:nvSpPr>
          <p:spPr>
            <a:xfrm>
              <a:off x="604266" y="515302"/>
              <a:ext cx="21821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22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 · 模型进展、工具与应用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609600" y="762000"/>
              <a:ext cx="457200" cy="47625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98170" y="919162"/>
              <a:ext cx="3303213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准确率：从 82% 到 94%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609600" y="1524000"/>
            <a:ext cx="7658100" cy="4381500"/>
            <a:chOff x="609600" y="1524000"/>
            <a:chExt cx="7658100" cy="4381500"/>
          </a:xfrm>
        </p:grpSpPr>
        <p:grpSp>
          <p:nvGrpSpPr>
            <p:cNvPr id="50" name="Group 50"/>
            <p:cNvGrpSpPr/>
            <p:nvPr/>
          </p:nvGrpSpPr>
          <p:grpSpPr>
            <a:xfrm>
              <a:off x="609600" y="1524000"/>
              <a:ext cx="7658100" cy="4381500"/>
              <a:chOff x="609600" y="1524000"/>
              <a:chExt cx="7658100" cy="4381500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647700" y="1562100"/>
                <a:ext cx="7620000" cy="4343400"/>
              </a:xfrm>
              <a:prstGeom prst="roundRect">
                <a:avLst>
                  <a:gd name="adj" fmla="val 3509"/>
                </a:avLst>
              </a:prstGeom>
              <a:solidFill>
                <a:srgbClr val="E3E9ED"/>
              </a:solidFill>
              <a:ln>
                <a:noFill/>
              </a:ln>
            </p:spPr>
          </p:sp>
          <p:sp>
            <p:nvSpPr>
              <p:cNvPr id="7" name="Rectangle 7"/>
              <p:cNvSpPr/>
              <p:nvPr/>
            </p:nvSpPr>
            <p:spPr>
              <a:xfrm>
                <a:off x="609600" y="1524000"/>
                <a:ext cx="7620000" cy="4343400"/>
              </a:xfrm>
              <a:prstGeom prst="roundRect">
                <a:avLst>
                  <a:gd name="adj" fmla="val 3509"/>
                </a:avLst>
              </a:prstGeom>
              <a:solidFill>
                <a:srgbClr val="FFFFFF"/>
              </a:solidFill>
              <a:ln w="14288">
                <a:solidFill>
                  <a:srgbClr val="DDE6EC"/>
                </a:solidFill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831723" y="1729264"/>
                <a:ext cx="345922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代表性模型准确率（各文献自报，口径不同）</a:t>
                </a:r>
              </a:p>
            </p:txBody>
          </p:sp>
          <p:grpSp>
            <p:nvGrpSpPr>
              <p:cNvPr id="48" name="Group 48"/>
              <p:cNvGrpSpPr/>
              <p:nvPr/>
            </p:nvGrpSpPr>
            <p:grpSpPr>
              <a:xfrm>
                <a:off x="771606" y="2161699"/>
                <a:ext cx="7229394" cy="2914840"/>
                <a:chOff x="771606" y="2161699"/>
                <a:chExt cx="7229394" cy="2914840"/>
              </a:xfrm>
            </p:grpSpPr>
            <p:grpSp>
              <p:nvGrpSpPr>
                <p:cNvPr id="11" name="Group 11"/>
                <p:cNvGrpSpPr/>
                <p:nvPr/>
              </p:nvGrpSpPr>
              <p:grpSpPr>
                <a:xfrm>
                  <a:off x="1143000" y="2228850"/>
                  <a:ext cx="6858000" cy="2543175"/>
                  <a:chOff x="1143000" y="2228850"/>
                  <a:chExt cx="6858000" cy="2543175"/>
                </a:xfrm>
              </p:grpSpPr>
              <p:sp>
                <p:nvSpPr>
                  <p:cNvPr id="9" name="Line 9"/>
                  <p:cNvSpPr/>
                  <p:nvPr/>
                </p:nvSpPr>
                <p:spPr>
                  <a:xfrm>
                    <a:off x="1143000" y="2228850"/>
                    <a:ext cx="9525" cy="25336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525" h="2533650">
                        <a:moveTo>
                          <a:pt x="0" y="0"/>
                        </a:moveTo>
                        <a:lnTo>
                          <a:pt x="0" y="2533650"/>
                        </a:lnTo>
                      </a:path>
                    </a:pathLst>
                  </a:custGeom>
                  <a:noFill/>
                  <a:ln w="14288">
                    <a:solidFill>
                      <a:srgbClr val="C7D2DB"/>
                    </a:solidFill>
                  </a:ln>
                </p:spPr>
              </p:sp>
              <p:sp>
                <p:nvSpPr>
                  <p:cNvPr id="10" name="Line 10"/>
                  <p:cNvSpPr/>
                  <p:nvPr/>
                </p:nvSpPr>
                <p:spPr>
                  <a:xfrm>
                    <a:off x="1143000" y="4762500"/>
                    <a:ext cx="6858000" cy="9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858000" h="9525">
                        <a:moveTo>
                          <a:pt x="0" y="0"/>
                        </a:moveTo>
                        <a:lnTo>
                          <a:pt x="6858000" y="0"/>
                        </a:lnTo>
                      </a:path>
                    </a:pathLst>
                  </a:custGeom>
                  <a:noFill/>
                  <a:ln w="14288">
                    <a:solidFill>
                      <a:srgbClr val="C7D2DB"/>
                    </a:solidFill>
                  </a:ln>
                </p:spPr>
              </p:sp>
            </p:grpSp>
            <p:grpSp>
              <p:nvGrpSpPr>
                <p:cNvPr id="14" name="Group 14"/>
                <p:cNvGrpSpPr/>
                <p:nvPr/>
              </p:nvGrpSpPr>
              <p:grpSpPr>
                <a:xfrm>
                  <a:off x="1066800" y="2305050"/>
                  <a:ext cx="2567193" cy="237839"/>
                  <a:chOff x="1066800" y="2305050"/>
                  <a:chExt cx="2567193" cy="237839"/>
                </a:xfrm>
              </p:grpSpPr>
              <p:sp>
                <p:nvSpPr>
                  <p:cNvPr id="12" name="Freeform 12"/>
                  <p:cNvSpPr/>
                  <p:nvPr/>
                </p:nvSpPr>
                <p:spPr>
                  <a:xfrm>
                    <a:off x="1066800" y="2305050"/>
                    <a:ext cx="114300" cy="1714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300" h="171450">
                        <a:moveTo>
                          <a:pt x="0" y="0"/>
                        </a:moveTo>
                        <a:lnTo>
                          <a:pt x="114300" y="57150"/>
                        </a:lnTo>
                        <a:lnTo>
                          <a:pt x="0" y="114300"/>
                        </a:lnTo>
                        <a:lnTo>
                          <a:pt x="114300" y="171450"/>
                        </a:lnTo>
                      </a:path>
                    </a:pathLst>
                  </a:custGeom>
                  <a:noFill/>
                  <a:ln w="23812">
                    <a:solidFill>
                      <a:schemeClr val="accent3"/>
                    </a:solidFill>
                  </a:ln>
                </p:spPr>
              </p:sp>
              <p:sp>
                <p:nvSpPr>
                  <p:cNvPr id="13" name="TextBox 13"/>
                  <p:cNvSpPr txBox="1"/>
                  <p:nvPr/>
                </p:nvSpPr>
                <p:spPr>
                  <a:xfrm>
                    <a:off x="1328547" y="2352199"/>
                    <a:ext cx="2305446" cy="19069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980" dirty="0">
                        <a:solidFill>
                          <a:schemeClr val="accent3"/>
                        </a:solidFill>
                        <a:latin typeface="+mn-lt"/>
                        <a:ea typeface="+mn-ea"/>
                        <a:cs typeface="+mn-cs"/>
                      </a:rPr>
                      <a:t>纵轴显示 0.80–1.00 区间（轴断裂 ≁）</a:t>
                    </a:r>
                  </a:p>
                </p:txBody>
              </p:sp>
            </p:grpSp>
            <p:grpSp>
              <p:nvGrpSpPr>
                <p:cNvPr id="18" name="Group 18"/>
                <p:cNvGrpSpPr/>
                <p:nvPr/>
              </p:nvGrpSpPr>
              <p:grpSpPr>
                <a:xfrm>
                  <a:off x="1143000" y="2914650"/>
                  <a:ext cx="6858000" cy="1381125"/>
                  <a:chOff x="1143000" y="2914650"/>
                  <a:chExt cx="6858000" cy="1381125"/>
                </a:xfrm>
              </p:grpSpPr>
              <p:sp>
                <p:nvSpPr>
                  <p:cNvPr id="15" name="Line 15"/>
                  <p:cNvSpPr/>
                  <p:nvPr/>
                </p:nvSpPr>
                <p:spPr>
                  <a:xfrm>
                    <a:off x="1143000" y="2914650"/>
                    <a:ext cx="6858000" cy="9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858000" h="9525">
                        <a:moveTo>
                          <a:pt x="0" y="0"/>
                        </a:moveTo>
                        <a:lnTo>
                          <a:pt x="6858000" y="0"/>
                        </a:lnTo>
                      </a:path>
                    </a:pathLst>
                  </a:custGeom>
                  <a:noFill/>
                  <a:ln w="14288">
                    <a:solidFill>
                      <a:srgbClr val="F0F4F7"/>
                    </a:solidFill>
                  </a:ln>
                </p:spPr>
              </p:sp>
              <p:sp>
                <p:nvSpPr>
                  <p:cNvPr id="16" name="Line 16"/>
                  <p:cNvSpPr/>
                  <p:nvPr/>
                </p:nvSpPr>
                <p:spPr>
                  <a:xfrm>
                    <a:off x="1143000" y="3600450"/>
                    <a:ext cx="6858000" cy="9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858000" h="9525">
                        <a:moveTo>
                          <a:pt x="0" y="0"/>
                        </a:moveTo>
                        <a:lnTo>
                          <a:pt x="6858000" y="0"/>
                        </a:lnTo>
                      </a:path>
                    </a:pathLst>
                  </a:custGeom>
                  <a:noFill/>
                  <a:ln w="14288">
                    <a:solidFill>
                      <a:srgbClr val="F0F4F7"/>
                    </a:solidFill>
                  </a:ln>
                </p:spPr>
              </p:sp>
              <p:sp>
                <p:nvSpPr>
                  <p:cNvPr id="17" name="Line 17"/>
                  <p:cNvSpPr/>
                  <p:nvPr/>
                </p:nvSpPr>
                <p:spPr>
                  <a:xfrm>
                    <a:off x="1143000" y="4286250"/>
                    <a:ext cx="6858000" cy="9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858000" h="9525">
                        <a:moveTo>
                          <a:pt x="0" y="0"/>
                        </a:moveTo>
                        <a:lnTo>
                          <a:pt x="6858000" y="0"/>
                        </a:lnTo>
                      </a:path>
                    </a:pathLst>
                  </a:custGeom>
                  <a:noFill/>
                  <a:ln w="14288">
                    <a:solidFill>
                      <a:srgbClr val="F0F4F7"/>
                    </a:solidFill>
                  </a:ln>
                </p:spPr>
              </p:sp>
            </p:grpSp>
            <p:grpSp>
              <p:nvGrpSpPr>
                <p:cNvPr id="23" name="Group 23"/>
                <p:cNvGrpSpPr/>
                <p:nvPr/>
              </p:nvGrpSpPr>
              <p:grpSpPr>
                <a:xfrm>
                  <a:off x="771606" y="2161699"/>
                  <a:ext cx="300147" cy="2248090"/>
                  <a:chOff x="771606" y="2161699"/>
                  <a:chExt cx="300147" cy="2248090"/>
                </a:xfrm>
              </p:grpSpPr>
              <p:sp>
                <p:nvSpPr>
                  <p:cNvPr id="19" name="TextBox 19"/>
                  <p:cNvSpPr txBox="1"/>
                  <p:nvPr/>
                </p:nvSpPr>
                <p:spPr>
                  <a:xfrm>
                    <a:off x="771606" y="2161699"/>
                    <a:ext cx="300147" cy="19069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r"/>
                    <a:r>
                      <a:rPr lang="zh-CN" sz="980" dirty="0">
                        <a:solidFill>
                          <a:srgbClr val="9AA8B3"/>
                        </a:solidFill>
                        <a:latin typeface="+mn-lt"/>
                        <a:ea typeface="+mn-ea"/>
                        <a:cs typeface="+mn-cs"/>
                      </a:rPr>
                      <a:t>1.00</a:t>
                    </a:r>
                  </a:p>
                </p:txBody>
              </p:sp>
              <p:sp>
                <p:nvSpPr>
                  <p:cNvPr id="20" name="TextBox 20"/>
                  <p:cNvSpPr txBox="1"/>
                  <p:nvPr/>
                </p:nvSpPr>
                <p:spPr>
                  <a:xfrm>
                    <a:off x="771606" y="2847499"/>
                    <a:ext cx="300147" cy="19069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r"/>
                    <a:r>
                      <a:rPr lang="zh-CN" sz="980" dirty="0">
                        <a:solidFill>
                          <a:srgbClr val="9AA8B3"/>
                        </a:solidFill>
                        <a:latin typeface="+mn-lt"/>
                        <a:ea typeface="+mn-ea"/>
                        <a:cs typeface="+mn-cs"/>
                      </a:rPr>
                      <a:t>0.93</a:t>
                    </a:r>
                  </a:p>
                </p:txBody>
              </p:sp>
              <p:sp>
                <p:nvSpPr>
                  <p:cNvPr id="21" name="TextBox 21"/>
                  <p:cNvSpPr txBox="1"/>
                  <p:nvPr/>
                </p:nvSpPr>
                <p:spPr>
                  <a:xfrm>
                    <a:off x="771606" y="3533299"/>
                    <a:ext cx="300147" cy="19069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r"/>
                    <a:r>
                      <a:rPr lang="zh-CN" sz="980" dirty="0">
                        <a:solidFill>
                          <a:srgbClr val="9AA8B3"/>
                        </a:solidFill>
                        <a:latin typeface="+mn-lt"/>
                        <a:ea typeface="+mn-ea"/>
                        <a:cs typeface="+mn-cs"/>
                      </a:rPr>
                      <a:t>0.87</a:t>
                    </a:r>
                  </a:p>
                </p:txBody>
              </p:sp>
              <p:sp>
                <p:nvSpPr>
                  <p:cNvPr id="22" name="TextBox 22"/>
                  <p:cNvSpPr txBox="1"/>
                  <p:nvPr/>
                </p:nvSpPr>
                <p:spPr>
                  <a:xfrm>
                    <a:off x="771606" y="4219099"/>
                    <a:ext cx="300147" cy="19069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r"/>
                    <a:r>
                      <a:rPr lang="zh-CN" sz="980" dirty="0">
                        <a:solidFill>
                          <a:srgbClr val="9AA8B3"/>
                        </a:solidFill>
                        <a:latin typeface="+mn-lt"/>
                        <a:ea typeface="+mn-ea"/>
                        <a:cs typeface="+mn-cs"/>
                      </a:rPr>
                      <a:t>0.80</a:t>
                    </a:r>
                  </a:p>
                </p:txBody>
              </p:sp>
            </p:grpSp>
            <p:grpSp>
              <p:nvGrpSpPr>
                <p:cNvPr id="27" name="Group 27"/>
                <p:cNvGrpSpPr/>
                <p:nvPr/>
              </p:nvGrpSpPr>
              <p:grpSpPr>
                <a:xfrm>
                  <a:off x="1143000" y="2971800"/>
                  <a:ext cx="6858000" cy="257175"/>
                  <a:chOff x="1143000" y="2971800"/>
                  <a:chExt cx="6858000" cy="257175"/>
                </a:xfrm>
              </p:grpSpPr>
              <p:sp>
                <p:nvSpPr>
                  <p:cNvPr id="24" name="Line 24"/>
                  <p:cNvSpPr/>
                  <p:nvPr/>
                </p:nvSpPr>
                <p:spPr>
                  <a:xfrm>
                    <a:off x="1143000" y="3219450"/>
                    <a:ext cx="6858000" cy="9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858000" h="9525">
                        <a:moveTo>
                          <a:pt x="0" y="0"/>
                        </a:moveTo>
                        <a:lnTo>
                          <a:pt x="6858000" y="0"/>
                        </a:lnTo>
                      </a:path>
                    </a:pathLst>
                  </a:custGeom>
                  <a:noFill/>
                  <a:ln w="23812">
                    <a:solidFill>
                      <a:schemeClr val="accent3"/>
                    </a:solidFill>
                    <a:custDash>
                      <a:ds d="320000" sp="240000"/>
                    </a:custDash>
                  </a:ln>
                </p:spPr>
              </p:sp>
              <p:sp>
                <p:nvSpPr>
                  <p:cNvPr id="25" name="Rectangle 25"/>
                  <p:cNvSpPr/>
                  <p:nvPr/>
                </p:nvSpPr>
                <p:spPr>
                  <a:xfrm>
                    <a:off x="7067550" y="2971800"/>
                    <a:ext cx="876300" cy="2286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FBE9DD"/>
                  </a:solidFill>
                  <a:ln>
                    <a:noFill/>
                  </a:ln>
                </p:spPr>
              </p:sp>
              <p:sp>
                <p:nvSpPr>
                  <p:cNvPr id="26" name="TextBox 26"/>
                  <p:cNvSpPr txBox="1"/>
                  <p:nvPr/>
                </p:nvSpPr>
                <p:spPr>
                  <a:xfrm>
                    <a:off x="7143135" y="3024426"/>
                    <a:ext cx="725129" cy="19802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ctr"/>
                    <a:r>
                      <a:rPr lang="zh-CN" sz="1010" b="1" dirty="0">
                        <a:solidFill>
                          <a:srgbClr val="B5663A"/>
                        </a:solidFill>
                        <a:latin typeface="+mn-lt"/>
                        <a:ea typeface="+mn-ea"/>
                        <a:cs typeface="+mn-cs"/>
                      </a:rPr>
                      <a:t>90% 参考线</a:t>
                    </a:r>
                  </a:p>
                </p:txBody>
              </p:sp>
            </p:grpSp>
            <p:grpSp>
              <p:nvGrpSpPr>
                <p:cNvPr id="40" name="Group 40"/>
                <p:cNvGrpSpPr/>
                <p:nvPr/>
              </p:nvGrpSpPr>
              <p:grpSpPr>
                <a:xfrm>
                  <a:off x="1581150" y="2568654"/>
                  <a:ext cx="6096000" cy="2193846"/>
                  <a:chOff x="1581150" y="2568654"/>
                  <a:chExt cx="6096000" cy="2193846"/>
                </a:xfrm>
              </p:grpSpPr>
              <p:sp>
                <p:nvSpPr>
                  <p:cNvPr id="28" name="Rectangle 28"/>
                  <p:cNvSpPr/>
                  <p:nvPr/>
                </p:nvSpPr>
                <p:spPr>
                  <a:xfrm>
                    <a:off x="1581150" y="4038600"/>
                    <a:ext cx="762000" cy="723900"/>
                  </a:xfrm>
                  <a:prstGeom prst="roundRect">
                    <a:avLst>
                      <a:gd name="adj" fmla="val 7895"/>
                    </a:avLst>
                  </a:prstGeom>
                  <a:solidFill>
                    <a:srgbClr val="8FB3CC"/>
                  </a:solidFill>
                  <a:ln>
                    <a:noFill/>
                  </a:ln>
                </p:spPr>
              </p:sp>
              <p:sp>
                <p:nvSpPr>
                  <p:cNvPr id="29" name="TextBox 29"/>
                  <p:cNvSpPr txBox="1"/>
                  <p:nvPr/>
                </p:nvSpPr>
                <p:spPr>
                  <a:xfrm>
                    <a:off x="1744776" y="3825954"/>
                    <a:ext cx="434749" cy="21269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ctr"/>
                    <a:r>
                      <a:rPr lang="zh-CN" sz="1090" b="1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rPr>
                      <a:t>0.824</a:t>
                    </a:r>
                  </a:p>
                </p:txBody>
              </p:sp>
              <p:sp>
                <p:nvSpPr>
                  <p:cNvPr id="30" name="Rectangle 30"/>
                  <p:cNvSpPr/>
                  <p:nvPr/>
                </p:nvSpPr>
                <p:spPr>
                  <a:xfrm>
                    <a:off x="2647950" y="3352800"/>
                    <a:ext cx="762000" cy="1409700"/>
                  </a:xfrm>
                  <a:prstGeom prst="roundRect">
                    <a:avLst>
                      <a:gd name="adj" fmla="val 7500"/>
                    </a:avLst>
                  </a:prstGeom>
                  <a:solidFill>
                    <a:srgbClr val="8FB3CC"/>
                  </a:solidFill>
                  <a:ln>
                    <a:noFill/>
                  </a:ln>
                </p:spPr>
              </p:sp>
              <p:sp>
                <p:nvSpPr>
                  <p:cNvPr id="31" name="TextBox 31"/>
                  <p:cNvSpPr txBox="1"/>
                  <p:nvPr/>
                </p:nvSpPr>
                <p:spPr>
                  <a:xfrm>
                    <a:off x="2811576" y="3140154"/>
                    <a:ext cx="434749" cy="21269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ctr"/>
                    <a:r>
                      <a:rPr lang="zh-CN" sz="1090" b="1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rPr>
                      <a:t>0.888</a:t>
                    </a:r>
                  </a:p>
                </p:txBody>
              </p:sp>
              <p:sp>
                <p:nvSpPr>
                  <p:cNvPr id="32" name="Rectangle 32"/>
                  <p:cNvSpPr/>
                  <p:nvPr/>
                </p:nvSpPr>
                <p:spPr>
                  <a:xfrm>
                    <a:off x="3714750" y="3181350"/>
                    <a:ext cx="762000" cy="1581150"/>
                  </a:xfrm>
                  <a:prstGeom prst="roundRect">
                    <a:avLst>
                      <a:gd name="adj" fmla="val 7500"/>
                    </a:avLst>
                  </a:prstGeom>
                  <a:solidFill>
                    <a:srgbClr val="4F86B2"/>
                  </a:solidFill>
                  <a:ln>
                    <a:noFill/>
                  </a:ln>
                </p:spPr>
              </p:sp>
              <p:sp>
                <p:nvSpPr>
                  <p:cNvPr id="33" name="TextBox 33"/>
                  <p:cNvSpPr txBox="1"/>
                  <p:nvPr/>
                </p:nvSpPr>
                <p:spPr>
                  <a:xfrm>
                    <a:off x="3878376" y="2968704"/>
                    <a:ext cx="434749" cy="21269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ctr"/>
                    <a:r>
                      <a:rPr lang="zh-CN" sz="1090" b="1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rPr>
                      <a:t>≈0.91</a:t>
                    </a:r>
                  </a:p>
                </p:txBody>
              </p:sp>
              <p:sp>
                <p:nvSpPr>
                  <p:cNvPr id="34" name="Rectangle 34"/>
                  <p:cNvSpPr/>
                  <p:nvPr/>
                </p:nvSpPr>
                <p:spPr>
                  <a:xfrm>
                    <a:off x="4781550" y="3181350"/>
                    <a:ext cx="762000" cy="1581150"/>
                  </a:xfrm>
                  <a:prstGeom prst="roundRect">
                    <a:avLst>
                      <a:gd name="adj" fmla="val 7500"/>
                    </a:avLst>
                  </a:prstGeom>
                  <a:solidFill>
                    <a:srgbClr val="4F86B2"/>
                  </a:solidFill>
                  <a:ln>
                    <a:noFill/>
                  </a:ln>
                </p:spPr>
              </p:sp>
              <p:sp>
                <p:nvSpPr>
                  <p:cNvPr id="35" name="TextBox 35"/>
                  <p:cNvSpPr txBox="1"/>
                  <p:nvPr/>
                </p:nvSpPr>
                <p:spPr>
                  <a:xfrm>
                    <a:off x="4945176" y="2968704"/>
                    <a:ext cx="434749" cy="21269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ctr"/>
                    <a:r>
                      <a:rPr lang="zh-CN" sz="1090" b="1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rPr>
                      <a:t>0.905</a:t>
                    </a:r>
                  </a:p>
                </p:txBody>
              </p:sp>
              <p:sp>
                <p:nvSpPr>
                  <p:cNvPr id="36" name="Rectangle 36"/>
                  <p:cNvSpPr/>
                  <p:nvPr/>
                </p:nvSpPr>
                <p:spPr>
                  <a:xfrm>
                    <a:off x="5848350" y="2876550"/>
                    <a:ext cx="762000" cy="1885950"/>
                  </a:xfrm>
                  <a:prstGeom prst="roundRect">
                    <a:avLst>
                      <a:gd name="adj" fmla="val 7500"/>
                    </a:avLst>
                  </a:prstGeom>
                  <a:solidFill>
                    <a:schemeClr val="accent2"/>
                  </a:solidFill>
                  <a:ln>
                    <a:noFill/>
                  </a:ln>
                </p:spPr>
              </p:sp>
              <p:sp>
                <p:nvSpPr>
                  <p:cNvPr id="37" name="TextBox 37"/>
                  <p:cNvSpPr txBox="1"/>
                  <p:nvPr/>
                </p:nvSpPr>
                <p:spPr>
                  <a:xfrm>
                    <a:off x="6011976" y="2663904"/>
                    <a:ext cx="434749" cy="21269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ctr"/>
                    <a:r>
                      <a:rPr lang="zh-CN" sz="1090" b="1" dirty="0">
                        <a:solidFill>
                          <a:schemeClr val="accent2"/>
                        </a:solidFill>
                        <a:latin typeface="+mn-lt"/>
                        <a:ea typeface="+mn-ea"/>
                        <a:cs typeface="+mn-cs"/>
                      </a:rPr>
                      <a:t>0.932</a:t>
                    </a:r>
                  </a:p>
                </p:txBody>
              </p:sp>
              <p:sp>
                <p:nvSpPr>
                  <p:cNvPr id="38" name="Rectangle 38"/>
                  <p:cNvSpPr/>
                  <p:nvPr/>
                </p:nvSpPr>
                <p:spPr>
                  <a:xfrm>
                    <a:off x="6915150" y="2781300"/>
                    <a:ext cx="762000" cy="1981200"/>
                  </a:xfrm>
                  <a:prstGeom prst="roundRect">
                    <a:avLst>
                      <a:gd name="adj" fmla="val 7500"/>
                    </a:avLst>
                  </a:prstGeom>
                  <a:solidFill>
                    <a:schemeClr val="accent3"/>
                  </a:solidFill>
                  <a:ln>
                    <a:noFill/>
                  </a:ln>
                </p:spPr>
              </p:sp>
              <p:sp>
                <p:nvSpPr>
                  <p:cNvPr id="39" name="TextBox 39"/>
                  <p:cNvSpPr txBox="1"/>
                  <p:nvPr/>
                </p:nvSpPr>
                <p:spPr>
                  <a:xfrm>
                    <a:off x="7121146" y="2568654"/>
                    <a:ext cx="350009" cy="21269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ctr"/>
                    <a:r>
                      <a:rPr lang="zh-CN" sz="1090" b="1" dirty="0">
                        <a:solidFill>
                          <a:srgbClr val="B5663A"/>
                        </a:solidFill>
                        <a:latin typeface="+mn-lt"/>
                        <a:ea typeface="+mn-ea"/>
                        <a:cs typeface="+mn-cs"/>
                      </a:rPr>
                      <a:t>0.94</a:t>
                    </a:r>
                  </a:p>
                </p:txBody>
              </p:sp>
            </p:grpSp>
            <p:grpSp>
              <p:nvGrpSpPr>
                <p:cNvPr id="47" name="Group 47"/>
                <p:cNvGrpSpPr/>
                <p:nvPr/>
              </p:nvGrpSpPr>
              <p:grpSpPr>
                <a:xfrm>
                  <a:off x="1578507" y="4885849"/>
                  <a:ext cx="6112902" cy="190690"/>
                  <a:chOff x="1578507" y="4885849"/>
                  <a:chExt cx="6112902" cy="190690"/>
                </a:xfrm>
              </p:grpSpPr>
              <p:sp>
                <p:nvSpPr>
                  <p:cNvPr id="41" name="TextBox 41"/>
                  <p:cNvSpPr txBox="1"/>
                  <p:nvPr/>
                </p:nvSpPr>
                <p:spPr>
                  <a:xfrm>
                    <a:off x="1578507" y="4885849"/>
                    <a:ext cx="767287" cy="19069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ctr"/>
                    <a:r>
                      <a:rPr lang="zh-CN" sz="980" dirty="0">
                        <a:solidFill>
                          <a:schemeClr val="accent5"/>
                        </a:solidFill>
                        <a:latin typeface="+mn-lt"/>
                        <a:ea typeface="+mn-ea"/>
                        <a:cs typeface="+mn-cs"/>
                      </a:rPr>
                      <a:t>iUmami-SCM</a:t>
                    </a:r>
                  </a:p>
                </p:txBody>
              </p:sp>
              <p:sp>
                <p:nvSpPr>
                  <p:cNvPr id="42" name="TextBox 42"/>
                  <p:cNvSpPr txBox="1"/>
                  <p:nvPr/>
                </p:nvSpPr>
                <p:spPr>
                  <a:xfrm>
                    <a:off x="2633815" y="4885849"/>
                    <a:ext cx="790270" cy="19069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ctr"/>
                    <a:r>
                      <a:rPr lang="zh-CN" sz="980" dirty="0">
                        <a:solidFill>
                          <a:schemeClr val="accent5"/>
                        </a:solidFill>
                        <a:latin typeface="+mn-lt"/>
                        <a:ea typeface="+mn-ea"/>
                        <a:cs typeface="+mn-cs"/>
                      </a:rPr>
                      <a:t>UMPred-FRL</a:t>
                    </a:r>
                  </a:p>
                </p:txBody>
              </p:sp>
              <p:sp>
                <p:nvSpPr>
                  <p:cNvPr id="43" name="TextBox 43"/>
                  <p:cNvSpPr txBox="1"/>
                  <p:nvPr/>
                </p:nvSpPr>
                <p:spPr>
                  <a:xfrm>
                    <a:off x="3803766" y="4885849"/>
                    <a:ext cx="583969" cy="19069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ctr"/>
                    <a:r>
                      <a:rPr lang="zh-CN" sz="980" dirty="0">
                        <a:solidFill>
                          <a:schemeClr val="accent5"/>
                        </a:solidFill>
                        <a:latin typeface="+mn-lt"/>
                        <a:ea typeface="+mn-ea"/>
                        <a:cs typeface="+mn-cs"/>
                      </a:rPr>
                      <a:t>iUP-BERT</a:t>
                    </a:r>
                  </a:p>
                </p:txBody>
              </p:sp>
              <p:sp>
                <p:nvSpPr>
                  <p:cNvPr id="44" name="TextBox 44"/>
                  <p:cNvSpPr txBox="1"/>
                  <p:nvPr/>
                </p:nvSpPr>
                <p:spPr>
                  <a:xfrm>
                    <a:off x="4759574" y="4885849"/>
                    <a:ext cx="805952" cy="19069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ctr"/>
                    <a:r>
                      <a:rPr lang="zh-CN" sz="980" dirty="0">
                        <a:solidFill>
                          <a:schemeClr val="accent5"/>
                        </a:solidFill>
                        <a:latin typeface="+mn-lt"/>
                        <a:ea typeface="+mn-ea"/>
                        <a:cs typeface="+mn-cs"/>
                      </a:rPr>
                      <a:t>Umami-MRNN</a:t>
                    </a:r>
                  </a:p>
                </p:txBody>
              </p:sp>
              <p:sp>
                <p:nvSpPr>
                  <p:cNvPr id="45" name="TextBox 45"/>
                  <p:cNvSpPr txBox="1"/>
                  <p:nvPr/>
                </p:nvSpPr>
                <p:spPr>
                  <a:xfrm>
                    <a:off x="5839982" y="4885849"/>
                    <a:ext cx="778737" cy="19069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ctr"/>
                    <a:r>
                      <a:rPr lang="zh-CN" sz="980" dirty="0">
                        <a:solidFill>
                          <a:schemeClr val="accent5"/>
                        </a:solidFill>
                        <a:latin typeface="+mn-lt"/>
                        <a:ea typeface="+mn-ea"/>
                        <a:cs typeface="+mn-cs"/>
                      </a:rPr>
                      <a:t>Umami-BERT</a:t>
                    </a:r>
                  </a:p>
                </p:txBody>
              </p:sp>
              <p:sp>
                <p:nvSpPr>
                  <p:cNvPr id="46" name="TextBox 46"/>
                  <p:cNvSpPr txBox="1"/>
                  <p:nvPr/>
                </p:nvSpPr>
                <p:spPr>
                  <a:xfrm>
                    <a:off x="6900890" y="4885849"/>
                    <a:ext cx="790519" cy="19069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ctr"/>
                    <a:r>
                      <a:rPr lang="zh-CN" sz="980" dirty="0">
                        <a:solidFill>
                          <a:schemeClr val="accent5"/>
                        </a:solidFill>
                        <a:latin typeface="+mn-lt"/>
                        <a:ea typeface="+mn-ea"/>
                        <a:cs typeface="+mn-cs"/>
                      </a:rPr>
                      <a:t>2025 对比DL</a:t>
                    </a:r>
                  </a:p>
                </p:txBody>
              </p:sp>
            </p:grpSp>
          </p:grpSp>
          <p:sp>
            <p:nvSpPr>
              <p:cNvPr id="49" name="TextBox 49"/>
              <p:cNvSpPr txBox="1"/>
              <p:nvPr/>
            </p:nvSpPr>
            <p:spPr>
              <a:xfrm>
                <a:off x="833247" y="5514499"/>
                <a:ext cx="479979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A3B2BF"/>
                    </a:solidFill>
                    <a:latin typeface="+mn-lt"/>
                    <a:ea typeface="+mn-ea"/>
                    <a:cs typeface="+mn-cs"/>
                  </a:rPr>
                  <a:t>Umami-BERT 非平衡集 95.0%；纵轴断裂放大差异，跨数据集比较仅供趋势参考</a:t>
                </a:r>
              </a:p>
            </p:txBody>
          </p:sp>
        </p:grpSp>
      </p:grpSp>
      <p:grpSp>
        <p:nvGrpSpPr>
          <p:cNvPr id="76" name="Group 76"/>
          <p:cNvGrpSpPr/>
          <p:nvPr/>
        </p:nvGrpSpPr>
        <p:grpSpPr>
          <a:xfrm>
            <a:off x="8458200" y="1524000"/>
            <a:ext cx="3162300" cy="4381547"/>
            <a:chOff x="8458200" y="1524000"/>
            <a:chExt cx="3162300" cy="4381547"/>
          </a:xfrm>
        </p:grpSpPr>
        <p:grpSp>
          <p:nvGrpSpPr>
            <p:cNvPr id="58" name="Group 58"/>
            <p:cNvGrpSpPr/>
            <p:nvPr/>
          </p:nvGrpSpPr>
          <p:grpSpPr>
            <a:xfrm>
              <a:off x="8458200" y="1524000"/>
              <a:ext cx="3162300" cy="1371600"/>
              <a:chOff x="8458200" y="1524000"/>
              <a:chExt cx="3162300" cy="1371600"/>
            </a:xfrm>
          </p:grpSpPr>
          <p:sp>
            <p:nvSpPr>
              <p:cNvPr id="52" name="Rectangle 52"/>
              <p:cNvSpPr/>
              <p:nvPr/>
            </p:nvSpPr>
            <p:spPr>
              <a:xfrm>
                <a:off x="8496300" y="1562100"/>
                <a:ext cx="3124200" cy="1333500"/>
              </a:xfrm>
              <a:prstGeom prst="roundRect">
                <a:avLst>
                  <a:gd name="adj" fmla="val 11429"/>
                </a:avLst>
              </a:prstGeom>
              <a:solidFill>
                <a:srgbClr val="E3E9ED"/>
              </a:solidFill>
              <a:ln>
                <a:noFill/>
              </a:ln>
            </p:spPr>
          </p:sp>
          <p:sp>
            <p:nvSpPr>
              <p:cNvPr id="53" name="Rectangle 53"/>
              <p:cNvSpPr/>
              <p:nvPr/>
            </p:nvSpPr>
            <p:spPr>
              <a:xfrm>
                <a:off x="8458200" y="1524000"/>
                <a:ext cx="3124200" cy="1333500"/>
              </a:xfrm>
              <a:prstGeom prst="roundRect">
                <a:avLst>
                  <a:gd name="adj" fmla="val 11429"/>
                </a:avLst>
              </a:prstGeom>
              <a:solidFill>
                <a:srgbClr val="FFFFFF"/>
              </a:solidFill>
              <a:ln w="14288">
                <a:solidFill>
                  <a:srgbClr val="F0DECF"/>
                </a:solidFill>
              </a:ln>
            </p:spPr>
          </p:sp>
          <p:sp>
            <p:nvSpPr>
              <p:cNvPr id="54" name="Rectangle 54"/>
              <p:cNvSpPr/>
              <p:nvPr/>
            </p:nvSpPr>
            <p:spPr>
              <a:xfrm>
                <a:off x="8458200" y="1524000"/>
                <a:ext cx="57150" cy="1333500"/>
              </a:xfrm>
              <a:prstGeom prst="roundRect">
                <a:avLst>
                  <a:gd name="adj" fmla="val 50000"/>
                </a:avLst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55" name="TextBox 55"/>
              <p:cNvSpPr txBox="1"/>
              <p:nvPr/>
            </p:nvSpPr>
            <p:spPr>
              <a:xfrm>
                <a:off x="8708898" y="1774508"/>
                <a:ext cx="855727" cy="6160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315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94%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8718804" y="2270760"/>
                <a:ext cx="81991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最高准确率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8719566" y="2553652"/>
                <a:ext cx="220867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2025 对比学习，超已有模型 2–9pp</a:t>
                </a:r>
              </a:p>
            </p:txBody>
          </p:sp>
        </p:grpSp>
        <p:grpSp>
          <p:nvGrpSpPr>
            <p:cNvPr id="65" name="Group 65"/>
            <p:cNvGrpSpPr/>
            <p:nvPr/>
          </p:nvGrpSpPr>
          <p:grpSpPr>
            <a:xfrm>
              <a:off x="8458200" y="3009900"/>
              <a:ext cx="3162300" cy="1371600"/>
              <a:chOff x="8458200" y="3009900"/>
              <a:chExt cx="3162300" cy="1371600"/>
            </a:xfrm>
          </p:grpSpPr>
          <p:sp>
            <p:nvSpPr>
              <p:cNvPr id="59" name="Rectangle 59"/>
              <p:cNvSpPr/>
              <p:nvPr/>
            </p:nvSpPr>
            <p:spPr>
              <a:xfrm>
                <a:off x="8496300" y="3048000"/>
                <a:ext cx="3124200" cy="1333500"/>
              </a:xfrm>
              <a:prstGeom prst="roundRect">
                <a:avLst>
                  <a:gd name="adj" fmla="val 11429"/>
                </a:avLst>
              </a:prstGeom>
              <a:solidFill>
                <a:srgbClr val="E3E9ED"/>
              </a:solidFill>
              <a:ln>
                <a:noFill/>
              </a:ln>
            </p:spPr>
          </p:sp>
          <p:sp>
            <p:nvSpPr>
              <p:cNvPr id="60" name="Rectangle 60"/>
              <p:cNvSpPr/>
              <p:nvPr/>
            </p:nvSpPr>
            <p:spPr>
              <a:xfrm>
                <a:off x="8458200" y="3009900"/>
                <a:ext cx="3124200" cy="1333500"/>
              </a:xfrm>
              <a:prstGeom prst="roundRect">
                <a:avLst>
                  <a:gd name="adj" fmla="val 11429"/>
                </a:avLst>
              </a:prstGeom>
              <a:solidFill>
                <a:srgbClr val="FFFFFF"/>
              </a:solidFill>
              <a:ln w="14288">
                <a:solidFill>
                  <a:srgbClr val="CFE4E1"/>
                </a:solidFill>
              </a:ln>
            </p:spPr>
          </p:sp>
          <p:sp>
            <p:nvSpPr>
              <p:cNvPr id="61" name="Rectangle 61"/>
              <p:cNvSpPr/>
              <p:nvPr/>
            </p:nvSpPr>
            <p:spPr>
              <a:xfrm>
                <a:off x="8458200" y="3009900"/>
                <a:ext cx="57150" cy="1333500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62" name="TextBox 62"/>
              <p:cNvSpPr txBox="1"/>
              <p:nvPr/>
            </p:nvSpPr>
            <p:spPr>
              <a:xfrm>
                <a:off x="8708898" y="3260408"/>
                <a:ext cx="1256457" cy="6160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31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+12pp</a:t>
                </a:r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8718804" y="3756660"/>
                <a:ext cx="109819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五年 ACC 提升</a:t>
                </a: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8719566" y="4039552"/>
                <a:ext cx="214506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82.4% → 94%，深度学习稳站 90%</a:t>
                </a:r>
              </a:p>
            </p:txBody>
          </p:sp>
        </p:grpSp>
        <p:grpSp>
          <p:nvGrpSpPr>
            <p:cNvPr id="75" name="Group 75"/>
            <p:cNvGrpSpPr/>
            <p:nvPr/>
          </p:nvGrpSpPr>
          <p:grpSpPr>
            <a:xfrm>
              <a:off x="8458200" y="4495800"/>
              <a:ext cx="3124200" cy="1409747"/>
              <a:chOff x="8458200" y="4495800"/>
              <a:chExt cx="3124200" cy="1409747"/>
            </a:xfrm>
          </p:grpSpPr>
          <p:sp>
            <p:nvSpPr>
              <p:cNvPr id="66" name="Rectangle 66"/>
              <p:cNvSpPr/>
              <p:nvPr/>
            </p:nvSpPr>
            <p:spPr>
              <a:xfrm>
                <a:off x="8458200" y="4495800"/>
                <a:ext cx="3124200" cy="1371600"/>
              </a:xfrm>
              <a:prstGeom prst="roundRect">
                <a:avLst>
                  <a:gd name="adj" fmla="val 11111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grpSp>
            <p:nvGrpSpPr>
              <p:cNvPr id="71" name="Group 71"/>
              <p:cNvGrpSpPr/>
              <p:nvPr/>
            </p:nvGrpSpPr>
            <p:grpSpPr>
              <a:xfrm>
                <a:off x="8760619" y="4791075"/>
                <a:ext cx="214313" cy="200025"/>
                <a:chOff x="8760619" y="4791075"/>
                <a:chExt cx="214313" cy="200025"/>
              </a:xfrm>
            </p:grpSpPr>
            <p:sp>
              <p:nvSpPr>
                <p:cNvPr id="67" name="Freeform 67"/>
                <p:cNvSpPr/>
                <p:nvPr/>
              </p:nvSpPr>
              <p:spPr>
                <a:xfrm>
                  <a:off x="8760619" y="4886325"/>
                  <a:ext cx="71438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438" h="95250">
                      <a:moveTo>
                        <a:pt x="0" y="11906"/>
                      </a:moveTo>
                      <a:cubicBezTo>
                        <a:pt x="0" y="5331"/>
                        <a:pt x="5331" y="0"/>
                        <a:pt x="11906" y="0"/>
                      </a:cubicBezTo>
                      <a:lnTo>
                        <a:pt x="59531" y="0"/>
                      </a:lnTo>
                      <a:cubicBezTo>
                        <a:pt x="66107" y="0"/>
                        <a:pt x="71438" y="5331"/>
                        <a:pt x="71438" y="11906"/>
                      </a:cubicBezTo>
                      <a:lnTo>
                        <a:pt x="71438" y="83344"/>
                      </a:lnTo>
                      <a:cubicBezTo>
                        <a:pt x="71438" y="89919"/>
                        <a:pt x="66107" y="95250"/>
                        <a:pt x="59531" y="95250"/>
                      </a:cubicBezTo>
                      <a:lnTo>
                        <a:pt x="11906" y="95250"/>
                      </a:lnTo>
                      <a:cubicBezTo>
                        <a:pt x="5331" y="95250"/>
                        <a:pt x="0" y="89919"/>
                        <a:pt x="0" y="83344"/>
                      </a:cubicBezTo>
                      <a:lnTo>
                        <a:pt x="0" y="11906"/>
                      </a:lnTo>
                    </a:path>
                  </a:pathLst>
                </a:custGeom>
                <a:noFill/>
                <a:ln w="23812">
                  <a:solidFill>
                    <a:srgbClr val="2FB3A8"/>
                  </a:solidFill>
                </a:ln>
              </p:spPr>
            </p:sp>
            <p:sp>
              <p:nvSpPr>
                <p:cNvPr id="68" name="Freeform 68"/>
                <p:cNvSpPr/>
                <p:nvPr/>
              </p:nvSpPr>
              <p:spPr>
                <a:xfrm>
                  <a:off x="8903494" y="4838700"/>
                  <a:ext cx="71438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438" h="142875">
                      <a:moveTo>
                        <a:pt x="0" y="11906"/>
                      </a:moveTo>
                      <a:cubicBezTo>
                        <a:pt x="0" y="5331"/>
                        <a:pt x="5331" y="0"/>
                        <a:pt x="11906" y="0"/>
                      </a:cubicBezTo>
                      <a:lnTo>
                        <a:pt x="59531" y="0"/>
                      </a:lnTo>
                      <a:cubicBezTo>
                        <a:pt x="66107" y="0"/>
                        <a:pt x="71438" y="5331"/>
                        <a:pt x="71438" y="11906"/>
                      </a:cubicBezTo>
                      <a:lnTo>
                        <a:pt x="71438" y="130969"/>
                      </a:lnTo>
                      <a:cubicBezTo>
                        <a:pt x="71438" y="137544"/>
                        <a:pt x="66107" y="142875"/>
                        <a:pt x="59531" y="142875"/>
                      </a:cubicBezTo>
                      <a:lnTo>
                        <a:pt x="11906" y="142875"/>
                      </a:lnTo>
                      <a:cubicBezTo>
                        <a:pt x="5331" y="142875"/>
                        <a:pt x="0" y="137544"/>
                        <a:pt x="0" y="130969"/>
                      </a:cubicBezTo>
                      <a:lnTo>
                        <a:pt x="0" y="11906"/>
                      </a:lnTo>
                    </a:path>
                  </a:pathLst>
                </a:custGeom>
                <a:noFill/>
                <a:ln w="23812">
                  <a:solidFill>
                    <a:srgbClr val="2FB3A8"/>
                  </a:solidFill>
                </a:ln>
              </p:spPr>
            </p:sp>
            <p:sp>
              <p:nvSpPr>
                <p:cNvPr id="69" name="Freeform 69"/>
                <p:cNvSpPr/>
                <p:nvPr/>
              </p:nvSpPr>
              <p:spPr>
                <a:xfrm>
                  <a:off x="8832056" y="4791075"/>
                  <a:ext cx="71438" cy="1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438" h="190500">
                      <a:moveTo>
                        <a:pt x="0" y="11906"/>
                      </a:moveTo>
                      <a:cubicBezTo>
                        <a:pt x="0" y="5331"/>
                        <a:pt x="5331" y="0"/>
                        <a:pt x="11906" y="0"/>
                      </a:cubicBezTo>
                      <a:lnTo>
                        <a:pt x="59531" y="0"/>
                      </a:lnTo>
                      <a:cubicBezTo>
                        <a:pt x="66107" y="0"/>
                        <a:pt x="71438" y="5331"/>
                        <a:pt x="71438" y="11906"/>
                      </a:cubicBezTo>
                      <a:lnTo>
                        <a:pt x="71438" y="178594"/>
                      </a:lnTo>
                      <a:cubicBezTo>
                        <a:pt x="71438" y="185169"/>
                        <a:pt x="66107" y="190500"/>
                        <a:pt x="59531" y="190500"/>
                      </a:cubicBezTo>
                      <a:lnTo>
                        <a:pt x="11906" y="190500"/>
                      </a:lnTo>
                      <a:cubicBezTo>
                        <a:pt x="5331" y="190500"/>
                        <a:pt x="0" y="185169"/>
                        <a:pt x="0" y="178594"/>
                      </a:cubicBezTo>
                      <a:lnTo>
                        <a:pt x="0" y="11906"/>
                      </a:lnTo>
                    </a:path>
                  </a:pathLst>
                </a:custGeom>
                <a:noFill/>
                <a:ln w="23812">
                  <a:solidFill>
                    <a:srgbClr val="2FB3A8"/>
                  </a:solidFill>
                </a:ln>
              </p:spPr>
            </p:sp>
            <p:sp>
              <p:nvSpPr>
                <p:cNvPr id="70" name="Freeform 70"/>
                <p:cNvSpPr/>
                <p:nvPr/>
              </p:nvSpPr>
              <p:spPr>
                <a:xfrm>
                  <a:off x="8772525" y="4981575"/>
                  <a:ext cx="166688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688" h="9525">
                      <a:moveTo>
                        <a:pt x="0" y="0"/>
                      </a:moveTo>
                      <a:lnTo>
                        <a:pt x="166688" y="0"/>
                      </a:lnTo>
                    </a:path>
                  </a:pathLst>
                </a:custGeom>
                <a:noFill/>
                <a:ln w="23812">
                  <a:solidFill>
                    <a:srgbClr val="2FB3A8"/>
                  </a:solidFill>
                </a:ln>
              </p:spPr>
            </p:sp>
          </p:grpSp>
          <p:sp>
            <p:nvSpPr>
              <p:cNvPr id="72" name="TextBox 72"/>
              <p:cNvSpPr txBox="1"/>
              <p:nvPr/>
            </p:nvSpPr>
            <p:spPr>
              <a:xfrm>
                <a:off x="8718423" y="5177314"/>
                <a:ext cx="1266032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MCC 最高 0.85</a:t>
                </a:r>
              </a:p>
            </p:txBody>
          </p:sp>
          <p:sp>
            <p:nvSpPr>
              <p:cNvPr id="73" name="TextBox 73"/>
              <p:cNvSpPr txBox="1"/>
              <p:nvPr/>
            </p:nvSpPr>
            <p:spPr>
              <a:xfrm>
                <a:off x="8719376" y="5483304"/>
                <a:ext cx="2425084" cy="2126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90" dirty="0">
                    <a:solidFill>
                      <a:srgbClr val="AEBFD0"/>
                    </a:solidFill>
                    <a:latin typeface="+mn-lt"/>
                    <a:ea typeface="+mn-ea"/>
                    <a:cs typeface="+mn-cs"/>
                  </a:rPr>
                  <a:t>Umami-BERT 非平衡集；不平衡数据</a:t>
                </a:r>
              </a:p>
            </p:txBody>
          </p:sp>
          <p:sp>
            <p:nvSpPr>
              <p:cNvPr id="74" name="TextBox 74"/>
              <p:cNvSpPr txBox="1"/>
              <p:nvPr/>
            </p:nvSpPr>
            <p:spPr>
              <a:xfrm>
                <a:off x="8719376" y="5692854"/>
                <a:ext cx="1498839" cy="2126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90" dirty="0">
                    <a:solidFill>
                      <a:srgbClr val="AEBFD0"/>
                    </a:solidFill>
                    <a:latin typeface="+mn-lt"/>
                    <a:ea typeface="+mn-ea"/>
                    <a:cs typeface="+mn-cs"/>
                  </a:rPr>
                  <a:t>下看 MCC / Sn 更可靠</a:t>
                </a:r>
              </a:p>
            </p:txBody>
          </p:sp>
        </p:grpSp>
      </p:grpSp>
      <p:grpSp>
        <p:nvGrpSpPr>
          <p:cNvPr id="80" name="Group 80"/>
          <p:cNvGrpSpPr/>
          <p:nvPr/>
        </p:nvGrpSpPr>
        <p:grpSpPr>
          <a:xfrm>
            <a:off x="604647" y="6438900"/>
            <a:ext cx="11598018" cy="294989"/>
            <a:chOff x="604647" y="6438900"/>
            <a:chExt cx="11598018" cy="294989"/>
          </a:xfrm>
        </p:grpSpPr>
        <p:sp>
          <p:nvSpPr>
            <p:cNvPr id="77" name="Line 77"/>
            <p:cNvSpPr/>
            <p:nvPr/>
          </p:nvSpPr>
          <p:spPr>
            <a:xfrm>
              <a:off x="609600" y="6438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4288">
              <a:solidFill>
                <a:srgbClr val="DDE4EA"/>
              </a:solidFill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604647" y="6543199"/>
              <a:ext cx="1159801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A3B2BF"/>
                  </a:solidFill>
                  <a:latin typeface="+mn-lt"/>
                  <a:ea typeface="+mn-ea"/>
                  <a:cs typeface="+mn-cs"/>
                </a:rPr>
                <a:t>来源：iUmami-SCM（0.824）；UMPred-FRL（0.888）；iUP-BERT（≈0.91）；Umami-MRNN（0.905）；Umami-BERT（0.932/0.950，MCC 0.78/0.85）；Food Chemistry 2025（0.9398）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1135490" y="6543199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A3B2BF"/>
                  </a:solidFill>
                  <a:latin typeface="+mn-lt"/>
                  <a:ea typeface="+mn-ea"/>
                  <a:cs typeface="+mn-cs"/>
                </a:rPr>
                <a:t>12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8170" y="515302"/>
            <a:ext cx="5172075" cy="843915"/>
            <a:chOff x="598170" y="515302"/>
            <a:chExt cx="5172075" cy="843915"/>
          </a:xfrm>
        </p:grpSpPr>
        <p:sp>
          <p:nvSpPr>
            <p:cNvPr id="2" name="TextBox 2"/>
            <p:cNvSpPr txBox="1"/>
            <p:nvPr/>
          </p:nvSpPr>
          <p:spPr>
            <a:xfrm>
              <a:off x="604266" y="515302"/>
              <a:ext cx="21821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22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 · 模型进展、工具与应用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609600" y="762000"/>
              <a:ext cx="457200" cy="47625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98170" y="919162"/>
              <a:ext cx="517207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分子对接：从「猜得准」到「说得清」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09600" y="1524000"/>
            <a:ext cx="5943600" cy="4381500"/>
            <a:chOff x="609600" y="1524000"/>
            <a:chExt cx="5943600" cy="4381500"/>
          </a:xfrm>
        </p:grpSpPr>
        <p:sp>
          <p:nvSpPr>
            <p:cNvPr id="6" name="Rectangle 6"/>
            <p:cNvSpPr/>
            <p:nvPr/>
          </p:nvSpPr>
          <p:spPr>
            <a:xfrm>
              <a:off x="647700" y="1562100"/>
              <a:ext cx="5905500" cy="4343400"/>
            </a:xfrm>
            <a:prstGeom prst="roundRect">
              <a:avLst>
                <a:gd name="adj" fmla="val 3509"/>
              </a:avLst>
            </a:prstGeom>
            <a:solidFill>
              <a:srgbClr val="E3E9ED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524000"/>
              <a:ext cx="5905500" cy="4343400"/>
            </a:xfrm>
            <a:prstGeom prst="roundRect">
              <a:avLst>
                <a:gd name="adj" fmla="val 3509"/>
              </a:avLst>
            </a:prstGeom>
            <a:solidFill>
              <a:srgbClr val="FFFFFF"/>
            </a:solidFill>
            <a:ln w="14288">
              <a:solidFill>
                <a:srgbClr val="DDE6EC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838200" y="1752600"/>
              <a:ext cx="2857500" cy="2667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04126" y="1816179"/>
              <a:ext cx="2344037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9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肽与受体结合口袋（VFD 域）示意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1733550" y="2171700"/>
              <a:ext cx="3625850" cy="2520950"/>
            </a:xfrm>
            <a:custGeom>
              <a:avLst/>
              <a:gdLst/>
              <a:ahLst/>
              <a:cxnLst/>
              <a:rect l="l" t="t" r="r" b="b"/>
              <a:pathLst>
                <a:path w="3625850" h="2520950">
                  <a:moveTo>
                    <a:pt x="266700" y="361950"/>
                  </a:moveTo>
                  <a:cubicBezTo>
                    <a:pt x="0" y="996950"/>
                    <a:pt x="57150" y="1631950"/>
                    <a:pt x="438150" y="2266950"/>
                  </a:cubicBezTo>
                  <a:cubicBezTo>
                    <a:pt x="1403350" y="2520950"/>
                    <a:pt x="2330450" y="2489200"/>
                    <a:pt x="3219450" y="2171700"/>
                  </a:cubicBezTo>
                  <a:cubicBezTo>
                    <a:pt x="3625850" y="1536700"/>
                    <a:pt x="3575050" y="901700"/>
                    <a:pt x="3067050" y="266700"/>
                  </a:cubicBezTo>
                  <a:cubicBezTo>
                    <a:pt x="2152650" y="0"/>
                    <a:pt x="1219200" y="31750"/>
                    <a:pt x="266700" y="361950"/>
                  </a:cubicBezTo>
                  <a:close/>
                </a:path>
              </a:pathLst>
            </a:custGeom>
            <a:solidFill>
              <a:schemeClr val="accent6"/>
            </a:solidFill>
            <a:ln w="23812">
              <a:solidFill>
                <a:srgbClr val="4F86B2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429661" y="4443651"/>
              <a:ext cx="2189177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10" dirty="0">
                  <a:solidFill>
                    <a:srgbClr val="4F86B2"/>
                  </a:solidFill>
                  <a:latin typeface="+mn-lt"/>
                  <a:ea typeface="+mn-ea"/>
                  <a:cs typeface="+mn-cs"/>
                </a:rPr>
                <a:t>受体结合口袋（Venus flytrap 域）</a:t>
              </a:r>
            </a:p>
          </p:txBody>
        </p:sp>
        <p:grpSp>
          <p:nvGrpSpPr>
            <p:cNvPr id="20" name="Group 20"/>
            <p:cNvGrpSpPr/>
            <p:nvPr/>
          </p:nvGrpSpPr>
          <p:grpSpPr>
            <a:xfrm>
              <a:off x="2752725" y="2905125"/>
              <a:ext cx="1981200" cy="895350"/>
              <a:chOff x="2752725" y="2905125"/>
              <a:chExt cx="1981200" cy="895350"/>
            </a:xfrm>
          </p:grpSpPr>
          <p:sp>
            <p:nvSpPr>
              <p:cNvPr id="12" name="Line 12"/>
              <p:cNvSpPr/>
              <p:nvPr/>
            </p:nvSpPr>
            <p:spPr>
              <a:xfrm>
                <a:off x="3067050" y="3162300"/>
                <a:ext cx="476250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476250" h="247650">
                    <a:moveTo>
                      <a:pt x="0" y="0"/>
                    </a:moveTo>
                    <a:lnTo>
                      <a:pt x="476250" y="247650"/>
                    </a:lnTo>
                  </a:path>
                </a:pathLst>
              </a:custGeom>
              <a:noFill/>
              <a:ln w="47625">
                <a:solidFill>
                  <a:srgbClr val="C7D2DB"/>
                </a:solidFill>
              </a:ln>
            </p:spPr>
          </p:sp>
          <p:sp>
            <p:nvSpPr>
              <p:cNvPr id="13" name="Line 13"/>
              <p:cNvSpPr/>
              <p:nvPr/>
            </p:nvSpPr>
            <p:spPr>
              <a:xfrm>
                <a:off x="3543300" y="3219450"/>
                <a:ext cx="47625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476250" h="190500">
                    <a:moveTo>
                      <a:pt x="0" y="190500"/>
                    </a:moveTo>
                    <a:lnTo>
                      <a:pt x="476250" y="0"/>
                    </a:lnTo>
                  </a:path>
                </a:pathLst>
              </a:custGeom>
              <a:noFill/>
              <a:ln w="47625">
                <a:solidFill>
                  <a:srgbClr val="C7D2DB"/>
                </a:solidFill>
              </a:ln>
            </p:spPr>
          </p:sp>
          <p:sp>
            <p:nvSpPr>
              <p:cNvPr id="14" name="Line 14"/>
              <p:cNvSpPr/>
              <p:nvPr/>
            </p:nvSpPr>
            <p:spPr>
              <a:xfrm>
                <a:off x="4019550" y="3219450"/>
                <a:ext cx="381000" cy="304800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304800">
                    <a:moveTo>
                      <a:pt x="0" y="0"/>
                    </a:moveTo>
                    <a:lnTo>
                      <a:pt x="381000" y="304800"/>
                    </a:lnTo>
                  </a:path>
                </a:pathLst>
              </a:custGeom>
              <a:noFill/>
              <a:ln w="47625">
                <a:solidFill>
                  <a:srgbClr val="C7D2DB"/>
                </a:solidFill>
              </a:ln>
            </p:spPr>
          </p:sp>
          <p:sp>
            <p:nvSpPr>
              <p:cNvPr id="15" name="Ellipse 15"/>
              <p:cNvSpPr/>
              <p:nvPr/>
            </p:nvSpPr>
            <p:spPr>
              <a:xfrm>
                <a:off x="2752725" y="2905125"/>
                <a:ext cx="361950" cy="36195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16" name="Ellipse 16"/>
              <p:cNvSpPr/>
              <p:nvPr/>
            </p:nvSpPr>
            <p:spPr>
              <a:xfrm>
                <a:off x="3495675" y="3286125"/>
                <a:ext cx="361950" cy="3619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7" name="Ellipse 17"/>
              <p:cNvSpPr/>
              <p:nvPr/>
            </p:nvSpPr>
            <p:spPr>
              <a:xfrm>
                <a:off x="3971925" y="2981325"/>
                <a:ext cx="361950" cy="36195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18" name="Ellipse 18"/>
              <p:cNvSpPr/>
              <p:nvPr/>
            </p:nvSpPr>
            <p:spPr>
              <a:xfrm>
                <a:off x="4371975" y="3438525"/>
                <a:ext cx="361950" cy="3619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2888497" y="3037999"/>
                <a:ext cx="90407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D</a:t>
                </a:r>
              </a:p>
            </p:txBody>
          </p:sp>
        </p:grpSp>
        <p:sp>
          <p:nvSpPr>
            <p:cNvPr id="21" name="Line 21"/>
            <p:cNvSpPr/>
            <p:nvPr/>
          </p:nvSpPr>
          <p:spPr>
            <a:xfrm>
              <a:off x="2400300" y="2590800"/>
              <a:ext cx="533400" cy="314325"/>
            </a:xfrm>
            <a:custGeom>
              <a:avLst/>
              <a:gdLst/>
              <a:ahLst/>
              <a:cxnLst/>
              <a:rect l="l" t="t" r="r" b="b"/>
              <a:pathLst>
                <a:path w="533400" h="314325">
                  <a:moveTo>
                    <a:pt x="533400" y="314325"/>
                  </a:moveTo>
                  <a:lnTo>
                    <a:pt x="0" y="0"/>
                  </a:lnTo>
                </a:path>
              </a:pathLst>
            </a:custGeom>
            <a:noFill/>
            <a:ln w="23812">
              <a:solidFill>
                <a:schemeClr val="accent3"/>
              </a:solidFill>
              <a:custDash>
                <a:ds d="240000" sp="160000"/>
              </a:custDash>
            </a:ln>
          </p:spPr>
        </p:sp>
        <p:sp>
          <p:nvSpPr>
            <p:cNvPr id="22" name="Ellipse 22"/>
            <p:cNvSpPr/>
            <p:nvPr/>
          </p:nvSpPr>
          <p:spPr>
            <a:xfrm>
              <a:off x="2295525" y="2486025"/>
              <a:ext cx="133350" cy="1333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670875" y="2321004"/>
              <a:ext cx="529082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90" b="1" dirty="0">
                  <a:solidFill>
                    <a:srgbClr val="B5663A"/>
                  </a:solidFill>
                  <a:latin typeface="+mn-lt"/>
                  <a:ea typeface="+mn-ea"/>
                  <a:cs typeface="+mn-cs"/>
                </a:rPr>
                <a:t>Arg277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423606" y="2557701"/>
              <a:ext cx="554152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关键盐桥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4552950" y="2933700"/>
              <a:ext cx="438150" cy="504825"/>
            </a:xfrm>
            <a:custGeom>
              <a:avLst/>
              <a:gdLst/>
              <a:ahLst/>
              <a:cxnLst/>
              <a:rect l="l" t="t" r="r" b="b"/>
              <a:pathLst>
                <a:path w="438150" h="504825">
                  <a:moveTo>
                    <a:pt x="0" y="504825"/>
                  </a:moveTo>
                  <a:lnTo>
                    <a:pt x="438150" y="0"/>
                  </a:lnTo>
                </a:path>
              </a:pathLst>
            </a:custGeom>
            <a:noFill/>
            <a:ln w="23812">
              <a:solidFill>
                <a:schemeClr val="accent2"/>
              </a:solidFill>
              <a:custDash>
                <a:ds d="240000" sp="160000"/>
              </a:custDash>
            </a:ln>
          </p:spPr>
        </p:sp>
        <p:sp>
          <p:nvSpPr>
            <p:cNvPr id="26" name="Ellipse 26"/>
            <p:cNvSpPr/>
            <p:nvPr/>
          </p:nvSpPr>
          <p:spPr>
            <a:xfrm>
              <a:off x="4962525" y="2809875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138356" y="2729151"/>
              <a:ext cx="554152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氢键网络</a:t>
              </a:r>
            </a:p>
          </p:txBody>
        </p:sp>
        <p:grpSp>
          <p:nvGrpSpPr>
            <p:cNvPr id="35" name="Group 35"/>
            <p:cNvGrpSpPr/>
            <p:nvPr/>
          </p:nvGrpSpPr>
          <p:grpSpPr>
            <a:xfrm>
              <a:off x="833247" y="5200650"/>
              <a:ext cx="4423791" cy="523589"/>
              <a:chOff x="833247" y="5200650"/>
              <a:chExt cx="4423791" cy="523589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838200" y="5200650"/>
                <a:ext cx="133350" cy="133350"/>
              </a:xfrm>
              <a:prstGeom prst="roundRect">
                <a:avLst>
                  <a:gd name="adj" fmla="val 21429"/>
                </a:avLst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1042416" y="5201602"/>
                <a:ext cx="124615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酸性残基 D（Asp）</a:t>
                </a:r>
              </a:p>
            </p:txBody>
          </p:sp>
          <p:sp>
            <p:nvSpPr>
              <p:cNvPr id="30" name="Rectangle 30"/>
              <p:cNvSpPr/>
              <p:nvPr/>
            </p:nvSpPr>
            <p:spPr>
              <a:xfrm>
                <a:off x="2857500" y="5200650"/>
                <a:ext cx="133350" cy="133350"/>
              </a:xfrm>
              <a:prstGeom prst="roundRect">
                <a:avLst>
                  <a:gd name="adj" fmla="val 21429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3061716" y="5201602"/>
                <a:ext cx="5760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协同残基</a:t>
                </a:r>
              </a:p>
            </p:txBody>
          </p:sp>
          <p:sp>
            <p:nvSpPr>
              <p:cNvPr id="32" name="Rectangle 32"/>
              <p:cNvSpPr/>
              <p:nvPr/>
            </p:nvSpPr>
            <p:spPr>
              <a:xfrm>
                <a:off x="4476750" y="5200650"/>
                <a:ext cx="133350" cy="133350"/>
              </a:xfrm>
              <a:prstGeom prst="roundRect">
                <a:avLst>
                  <a:gd name="adj" fmla="val 21429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4680966" y="5201602"/>
                <a:ext cx="5760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其他残基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833247" y="5533549"/>
                <a:ext cx="3622358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A3B2BF"/>
                    </a:solidFill>
                    <a:latin typeface="+mn-lt"/>
                    <a:ea typeface="+mn-ea"/>
                    <a:cs typeface="+mn-cs"/>
                  </a:rPr>
                  <a:t>示意图，非真实构象；真实研究由 AutoDock 等工具生成打分</a:t>
                </a:r>
              </a:p>
            </p:txBody>
          </p:sp>
        </p:grpSp>
      </p:grpSp>
      <p:grpSp>
        <p:nvGrpSpPr>
          <p:cNvPr id="83" name="Group 83"/>
          <p:cNvGrpSpPr/>
          <p:nvPr/>
        </p:nvGrpSpPr>
        <p:grpSpPr>
          <a:xfrm>
            <a:off x="6743700" y="1524000"/>
            <a:ext cx="4876800" cy="4343400"/>
            <a:chOff x="6743700" y="1524000"/>
            <a:chExt cx="4876800" cy="4343400"/>
          </a:xfrm>
        </p:grpSpPr>
        <p:grpSp>
          <p:nvGrpSpPr>
            <p:cNvPr id="48" name="Group 48"/>
            <p:cNvGrpSpPr/>
            <p:nvPr/>
          </p:nvGrpSpPr>
          <p:grpSpPr>
            <a:xfrm>
              <a:off x="6743700" y="1524000"/>
              <a:ext cx="4876800" cy="1371600"/>
              <a:chOff x="6743700" y="1524000"/>
              <a:chExt cx="4876800" cy="1371600"/>
            </a:xfrm>
          </p:grpSpPr>
          <p:sp>
            <p:nvSpPr>
              <p:cNvPr id="37" name="Rectangle 37"/>
              <p:cNvSpPr/>
              <p:nvPr/>
            </p:nvSpPr>
            <p:spPr>
              <a:xfrm>
                <a:off x="6781800" y="1562100"/>
                <a:ext cx="4838700" cy="1333500"/>
              </a:xfrm>
              <a:prstGeom prst="roundRect">
                <a:avLst>
                  <a:gd name="adj" fmla="val 11429"/>
                </a:avLst>
              </a:prstGeom>
              <a:solidFill>
                <a:srgbClr val="E3E9ED"/>
              </a:solidFill>
              <a:ln>
                <a:noFill/>
              </a:ln>
            </p:spPr>
          </p:sp>
          <p:sp>
            <p:nvSpPr>
              <p:cNvPr id="38" name="Rectangle 38"/>
              <p:cNvSpPr/>
              <p:nvPr/>
            </p:nvSpPr>
            <p:spPr>
              <a:xfrm>
                <a:off x="6743700" y="1524000"/>
                <a:ext cx="4838700" cy="1333500"/>
              </a:xfrm>
              <a:prstGeom prst="roundRect">
                <a:avLst>
                  <a:gd name="adj" fmla="val 11429"/>
                </a:avLst>
              </a:prstGeom>
              <a:solidFill>
                <a:srgbClr val="FFFFFF"/>
              </a:solidFill>
              <a:ln w="14288">
                <a:solidFill>
                  <a:srgbClr val="E3E9ED"/>
                </a:solidFill>
              </a:ln>
            </p:spPr>
          </p:sp>
          <p:sp>
            <p:nvSpPr>
              <p:cNvPr id="39" name="Ellipse 39"/>
              <p:cNvSpPr/>
              <p:nvPr/>
            </p:nvSpPr>
            <p:spPr>
              <a:xfrm>
                <a:off x="6962775" y="1743075"/>
                <a:ext cx="476250" cy="47625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</p:sp>
          <p:grpSp>
            <p:nvGrpSpPr>
              <p:cNvPr id="43" name="Group 43"/>
              <p:cNvGrpSpPr/>
              <p:nvPr/>
            </p:nvGrpSpPr>
            <p:grpSpPr>
              <a:xfrm>
                <a:off x="7086598" y="1859919"/>
                <a:ext cx="235561" cy="242531"/>
                <a:chOff x="7086598" y="1859919"/>
                <a:chExt cx="235561" cy="242531"/>
              </a:xfrm>
            </p:grpSpPr>
            <p:sp>
              <p:nvSpPr>
                <p:cNvPr id="40" name="Freeform 40"/>
                <p:cNvSpPr/>
                <p:nvPr/>
              </p:nvSpPr>
              <p:spPr>
                <a:xfrm>
                  <a:off x="7158038" y="1938338"/>
                  <a:ext cx="85725" cy="8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25" h="85725">
                      <a:moveTo>
                        <a:pt x="0" y="85725"/>
                      </a:moveTo>
                      <a:lnTo>
                        <a:pt x="85725" y="0"/>
                      </a:ln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41" name="Freeform 41"/>
                <p:cNvSpPr/>
                <p:nvPr/>
              </p:nvSpPr>
              <p:spPr>
                <a:xfrm>
                  <a:off x="7186612" y="1859919"/>
                  <a:ext cx="135547" cy="1355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5547" h="135568">
                      <a:moveTo>
                        <a:pt x="0" y="35556"/>
                      </a:moveTo>
                      <a:lnTo>
                        <a:pt x="6615" y="27898"/>
                      </a:lnTo>
                      <a:cubicBezTo>
                        <a:pt x="34517" y="0"/>
                        <a:pt x="79751" y="3"/>
                        <a:pt x="107649" y="27905"/>
                      </a:cubicBezTo>
                      <a:cubicBezTo>
                        <a:pt x="135547" y="55807"/>
                        <a:pt x="135544" y="101041"/>
                        <a:pt x="107642" y="128939"/>
                      </a:cubicBezTo>
                      <a:lnTo>
                        <a:pt x="100012" y="135568"/>
                      </a:ln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42" name="Freeform 42"/>
                <p:cNvSpPr/>
                <p:nvPr/>
              </p:nvSpPr>
              <p:spPr>
                <a:xfrm>
                  <a:off x="7086598" y="1966912"/>
                  <a:ext cx="128590" cy="1355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8590" h="135538">
                      <a:moveTo>
                        <a:pt x="128590" y="100012"/>
                      </a:moveTo>
                      <a:lnTo>
                        <a:pt x="122917" y="107642"/>
                      </a:lnTo>
                      <a:cubicBezTo>
                        <a:pt x="94707" y="135538"/>
                        <a:pt x="49301" y="135538"/>
                        <a:pt x="21090" y="107642"/>
                      </a:cubicBezTo>
                      <a:cubicBezTo>
                        <a:pt x="7595" y="94298"/>
                        <a:pt x="0" y="76108"/>
                        <a:pt x="0" y="57129"/>
                      </a:cubicBezTo>
                      <a:cubicBezTo>
                        <a:pt x="0" y="38149"/>
                        <a:pt x="7595" y="19960"/>
                        <a:pt x="21090" y="6615"/>
                      </a:cubicBezTo>
                      <a:lnTo>
                        <a:pt x="28577" y="0"/>
                      </a:ln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</p:grpSp>
          <p:sp>
            <p:nvSpPr>
              <p:cNvPr id="44" name="TextBox 44"/>
              <p:cNvSpPr txBox="1"/>
              <p:nvPr/>
            </p:nvSpPr>
            <p:spPr>
              <a:xfrm>
                <a:off x="7594282" y="1801416"/>
                <a:ext cx="718744" cy="2566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1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对接原理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7595616" y="2077402"/>
                <a:ext cx="130403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AA8B3"/>
                    </a:solidFill>
                    <a:latin typeface="+mn-lt"/>
                    <a:ea typeface="+mn-ea"/>
                    <a:cs typeface="+mn-cs"/>
                  </a:rPr>
                  <a:t>结构互补 + 能量匹配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6966585" y="2374106"/>
                <a:ext cx="302691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把肽段对接到受体口袋，搜索最优结合构象，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6966585" y="2602706"/>
                <a:ext cx="214488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以结合能 / 打分量化结合强度。</a:t>
                </a:r>
              </a:p>
            </p:txBody>
          </p:sp>
        </p:grpSp>
        <p:grpSp>
          <p:nvGrpSpPr>
            <p:cNvPr id="64" name="Group 64"/>
            <p:cNvGrpSpPr/>
            <p:nvPr/>
          </p:nvGrpSpPr>
          <p:grpSpPr>
            <a:xfrm>
              <a:off x="6743700" y="3009900"/>
              <a:ext cx="4876800" cy="1371600"/>
              <a:chOff x="6743700" y="3009900"/>
              <a:chExt cx="4876800" cy="1371600"/>
            </a:xfrm>
          </p:grpSpPr>
          <p:sp>
            <p:nvSpPr>
              <p:cNvPr id="49" name="Rectangle 49"/>
              <p:cNvSpPr/>
              <p:nvPr/>
            </p:nvSpPr>
            <p:spPr>
              <a:xfrm>
                <a:off x="6781800" y="3048000"/>
                <a:ext cx="4838700" cy="1333500"/>
              </a:xfrm>
              <a:prstGeom prst="roundRect">
                <a:avLst>
                  <a:gd name="adj" fmla="val 11429"/>
                </a:avLst>
              </a:prstGeom>
              <a:solidFill>
                <a:srgbClr val="F0DECF"/>
              </a:solidFill>
              <a:ln>
                <a:noFill/>
              </a:ln>
            </p:spPr>
          </p:sp>
          <p:sp>
            <p:nvSpPr>
              <p:cNvPr id="50" name="Rectangle 50"/>
              <p:cNvSpPr/>
              <p:nvPr/>
            </p:nvSpPr>
            <p:spPr>
              <a:xfrm>
                <a:off x="6743700" y="3009900"/>
                <a:ext cx="4838700" cy="1333500"/>
              </a:xfrm>
              <a:prstGeom prst="roundRect">
                <a:avLst>
                  <a:gd name="adj" fmla="val 11429"/>
                </a:avLst>
              </a:prstGeom>
              <a:solidFill>
                <a:srgbClr val="FBE9DD"/>
              </a:solidFill>
              <a:ln w="14288">
                <a:solidFill>
                  <a:srgbClr val="F0DECF"/>
                </a:solidFill>
              </a:ln>
            </p:spPr>
          </p:sp>
          <p:sp>
            <p:nvSpPr>
              <p:cNvPr id="51" name="Ellipse 51"/>
              <p:cNvSpPr/>
              <p:nvPr/>
            </p:nvSpPr>
            <p:spPr>
              <a:xfrm>
                <a:off x="6962775" y="3228975"/>
                <a:ext cx="476250" cy="476250"/>
              </a:xfrm>
              <a:prstGeom prst="ellipse">
                <a:avLst/>
              </a:prstGeom>
              <a:solidFill>
                <a:srgbClr val="F5D9C6"/>
              </a:solidFill>
              <a:ln>
                <a:noFill/>
              </a:ln>
            </p:spPr>
          </p:sp>
          <p:grpSp>
            <p:nvGrpSpPr>
              <p:cNvPr id="59" name="Group 59"/>
              <p:cNvGrpSpPr/>
              <p:nvPr/>
            </p:nvGrpSpPr>
            <p:grpSpPr>
              <a:xfrm>
                <a:off x="7072312" y="3328319"/>
                <a:ext cx="266701" cy="276894"/>
                <a:chOff x="7072312" y="3328319"/>
                <a:chExt cx="266701" cy="276894"/>
              </a:xfrm>
            </p:grpSpPr>
            <p:sp>
              <p:nvSpPr>
                <p:cNvPr id="52" name="Freeform 52"/>
                <p:cNvSpPr/>
                <p:nvPr/>
              </p:nvSpPr>
              <p:spPr>
                <a:xfrm>
                  <a:off x="7158038" y="3424238"/>
                  <a:ext cx="85725" cy="8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25" h="85725">
                      <a:moveTo>
                        <a:pt x="0" y="42862"/>
                      </a:moveTo>
                      <a:cubicBezTo>
                        <a:pt x="0" y="66535"/>
                        <a:pt x="19190" y="85725"/>
                        <a:pt x="42862" y="85725"/>
                      </a:cubicBezTo>
                      <a:cubicBezTo>
                        <a:pt x="66535" y="85725"/>
                        <a:pt x="85725" y="66535"/>
                        <a:pt x="85725" y="42862"/>
                      </a:cubicBezTo>
                      <a:cubicBezTo>
                        <a:pt x="85725" y="19190"/>
                        <a:pt x="66535" y="0"/>
                        <a:pt x="42862" y="0"/>
                      </a:cubicBezTo>
                      <a:cubicBezTo>
                        <a:pt x="19190" y="0"/>
                        <a:pt x="0" y="19190"/>
                        <a:pt x="0" y="42862"/>
                      </a:cubicBezTo>
                    </a:path>
                  </a:pathLst>
                </a:custGeom>
                <a:noFill/>
                <a:ln w="28575">
                  <a:solidFill>
                    <a:schemeClr val="accent3"/>
                  </a:solidFill>
                </a:ln>
              </p:spPr>
            </p:sp>
            <p:sp>
              <p:nvSpPr>
                <p:cNvPr id="53" name="Freeform 53"/>
                <p:cNvSpPr/>
                <p:nvPr/>
              </p:nvSpPr>
              <p:spPr>
                <a:xfrm>
                  <a:off x="7200900" y="3595688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43"/>
                      </a:lnTo>
                    </a:path>
                  </a:pathLst>
                </a:custGeom>
                <a:noFill/>
                <a:ln w="28575">
                  <a:solidFill>
                    <a:schemeClr val="accent3"/>
                  </a:solidFill>
                </a:ln>
              </p:spPr>
            </p:sp>
            <p:sp>
              <p:nvSpPr>
                <p:cNvPr id="54" name="Freeform 54"/>
                <p:cNvSpPr/>
                <p:nvPr/>
              </p:nvSpPr>
              <p:spPr>
                <a:xfrm>
                  <a:off x="7072312" y="3424238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43"/>
                      </a:lnTo>
                    </a:path>
                  </a:pathLst>
                </a:custGeom>
                <a:noFill/>
                <a:ln w="28575">
                  <a:solidFill>
                    <a:schemeClr val="accent3"/>
                  </a:solidFill>
                </a:ln>
              </p:spPr>
            </p:sp>
            <p:sp>
              <p:nvSpPr>
                <p:cNvPr id="55" name="Freeform 55"/>
                <p:cNvSpPr/>
                <p:nvPr/>
              </p:nvSpPr>
              <p:spPr>
                <a:xfrm>
                  <a:off x="7329488" y="3424238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43"/>
                      </a:lnTo>
                    </a:path>
                  </a:pathLst>
                </a:custGeom>
                <a:noFill/>
                <a:ln w="28575">
                  <a:solidFill>
                    <a:schemeClr val="accent3"/>
                  </a:solidFill>
                </a:ln>
              </p:spPr>
            </p:sp>
            <p:sp>
              <p:nvSpPr>
                <p:cNvPr id="56" name="Freeform 56"/>
                <p:cNvSpPr/>
                <p:nvPr/>
              </p:nvSpPr>
              <p:spPr>
                <a:xfrm>
                  <a:off x="7072312" y="3481388"/>
                  <a:ext cx="71438" cy="1014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438" h="101441">
                      <a:moveTo>
                        <a:pt x="71438" y="101441"/>
                      </a:moveTo>
                      <a:cubicBezTo>
                        <a:pt x="31808" y="82112"/>
                        <a:pt x="4846" y="43825"/>
                        <a:pt x="0" y="0"/>
                      </a:cubicBezTo>
                    </a:path>
                  </a:pathLst>
                </a:custGeom>
                <a:noFill/>
                <a:ln w="28575">
                  <a:solidFill>
                    <a:schemeClr val="accent3"/>
                  </a:solidFill>
                </a:ln>
              </p:spPr>
            </p:sp>
            <p:sp>
              <p:nvSpPr>
                <p:cNvPr id="57" name="Freeform 57"/>
                <p:cNvSpPr/>
                <p:nvPr/>
              </p:nvSpPr>
              <p:spPr>
                <a:xfrm>
                  <a:off x="7258050" y="3481388"/>
                  <a:ext cx="71438" cy="1014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438" h="101441">
                      <a:moveTo>
                        <a:pt x="0" y="101441"/>
                      </a:moveTo>
                      <a:cubicBezTo>
                        <a:pt x="39630" y="82112"/>
                        <a:pt x="66592" y="43825"/>
                        <a:pt x="71438" y="0"/>
                      </a:cubicBezTo>
                    </a:path>
                  </a:pathLst>
                </a:custGeom>
                <a:noFill/>
                <a:ln w="28575">
                  <a:solidFill>
                    <a:schemeClr val="accent3"/>
                  </a:solidFill>
                </a:ln>
              </p:spPr>
            </p:sp>
            <p:sp>
              <p:nvSpPr>
                <p:cNvPr id="58" name="Freeform 58"/>
                <p:cNvSpPr/>
                <p:nvPr/>
              </p:nvSpPr>
              <p:spPr>
                <a:xfrm>
                  <a:off x="7118032" y="3328319"/>
                  <a:ext cx="162878" cy="387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2878" h="38768">
                      <a:moveTo>
                        <a:pt x="0" y="38768"/>
                      </a:moveTo>
                      <a:cubicBezTo>
                        <a:pt x="47372" y="0"/>
                        <a:pt x="115506" y="0"/>
                        <a:pt x="162878" y="38768"/>
                      </a:cubicBezTo>
                    </a:path>
                  </a:pathLst>
                </a:custGeom>
                <a:noFill/>
                <a:ln w="28575">
                  <a:solidFill>
                    <a:schemeClr val="accent3"/>
                  </a:solidFill>
                </a:ln>
              </p:spPr>
            </p:sp>
          </p:grpSp>
          <p:sp>
            <p:nvSpPr>
              <p:cNvPr id="60" name="TextBox 60"/>
              <p:cNvSpPr txBox="1"/>
              <p:nvPr/>
            </p:nvSpPr>
            <p:spPr>
              <a:xfrm>
                <a:off x="7594282" y="3287316"/>
                <a:ext cx="1071448" cy="2566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1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关键相互作用</a:t>
                </a: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7595616" y="3563302"/>
                <a:ext cx="118388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C68A66"/>
                    </a:solidFill>
                    <a:latin typeface="+mn-lt"/>
                    <a:ea typeface="+mn-ea"/>
                    <a:cs typeface="+mn-cs"/>
                  </a:rPr>
                  <a:t>氢键 / 疏水 / 盐桥</a:t>
                </a: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6966585" y="3860006"/>
                <a:ext cx="299798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腐乳案例 DFEGDV 的 D 与 Arg277 形成关键</a:t>
                </a:r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6966585" y="4088606"/>
                <a:ext cx="166994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盐桥，提供机制层证据。</a:t>
                </a:r>
              </a:p>
            </p:txBody>
          </p:sp>
        </p:grpSp>
        <p:grpSp>
          <p:nvGrpSpPr>
            <p:cNvPr id="82" name="Group 82"/>
            <p:cNvGrpSpPr/>
            <p:nvPr/>
          </p:nvGrpSpPr>
          <p:grpSpPr>
            <a:xfrm>
              <a:off x="6743700" y="4495800"/>
              <a:ext cx="4838700" cy="1371600"/>
              <a:chOff x="6743700" y="4495800"/>
              <a:chExt cx="4838700" cy="1371600"/>
            </a:xfrm>
          </p:grpSpPr>
          <p:sp>
            <p:nvSpPr>
              <p:cNvPr id="65" name="Rectangle 65"/>
              <p:cNvSpPr/>
              <p:nvPr/>
            </p:nvSpPr>
            <p:spPr>
              <a:xfrm>
                <a:off x="6743700" y="4495800"/>
                <a:ext cx="4838700" cy="1371600"/>
              </a:xfrm>
              <a:prstGeom prst="roundRect">
                <a:avLst>
                  <a:gd name="adj" fmla="val 11111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66" name="Ellipse 66"/>
              <p:cNvSpPr/>
              <p:nvPr/>
            </p:nvSpPr>
            <p:spPr>
              <a:xfrm>
                <a:off x="6962775" y="4714875"/>
                <a:ext cx="476250" cy="476250"/>
              </a:xfrm>
              <a:prstGeom prst="ellipse">
                <a:avLst/>
              </a:prstGeom>
              <a:solidFill>
                <a:srgbClr val="123A5A"/>
              </a:solidFill>
              <a:ln>
                <a:noFill/>
              </a:ln>
            </p:spPr>
          </p:sp>
          <p:grpSp>
            <p:nvGrpSpPr>
              <p:cNvPr id="77" name="Group 77"/>
              <p:cNvGrpSpPr/>
              <p:nvPr/>
            </p:nvGrpSpPr>
            <p:grpSpPr>
              <a:xfrm>
                <a:off x="7072312" y="4824412"/>
                <a:ext cx="257175" cy="257175"/>
                <a:chOff x="7072312" y="4824412"/>
                <a:chExt cx="257175" cy="257175"/>
              </a:xfrm>
            </p:grpSpPr>
            <p:sp>
              <p:nvSpPr>
                <p:cNvPr id="67" name="Freeform 67"/>
                <p:cNvSpPr/>
                <p:nvPr/>
              </p:nvSpPr>
              <p:spPr>
                <a:xfrm>
                  <a:off x="7100888" y="4852988"/>
                  <a:ext cx="200025" cy="200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200025">
                      <a:moveTo>
                        <a:pt x="0" y="14288"/>
                      </a:moveTo>
                      <a:cubicBezTo>
                        <a:pt x="0" y="6397"/>
                        <a:pt x="6397" y="0"/>
                        <a:pt x="14288" y="0"/>
                      </a:cubicBezTo>
                      <a:lnTo>
                        <a:pt x="185738" y="0"/>
                      </a:lnTo>
                      <a:cubicBezTo>
                        <a:pt x="193628" y="0"/>
                        <a:pt x="200025" y="6397"/>
                        <a:pt x="200025" y="14288"/>
                      </a:cubicBezTo>
                      <a:lnTo>
                        <a:pt x="200025" y="185738"/>
                      </a:lnTo>
                      <a:cubicBezTo>
                        <a:pt x="200025" y="193628"/>
                        <a:pt x="193628" y="200025"/>
                        <a:pt x="185738" y="200025"/>
                      </a:cubicBezTo>
                      <a:lnTo>
                        <a:pt x="14288" y="200025"/>
                      </a:lnTo>
                      <a:cubicBezTo>
                        <a:pt x="6397" y="200025"/>
                        <a:pt x="0" y="193628"/>
                        <a:pt x="0" y="185738"/>
                      </a:cubicBezTo>
                      <a:lnTo>
                        <a:pt x="0" y="14288"/>
                      </a:lnTo>
                    </a:path>
                  </a:pathLst>
                </a:custGeom>
                <a:noFill/>
                <a:ln w="28575">
                  <a:solidFill>
                    <a:srgbClr val="2FB3A8"/>
                  </a:solidFill>
                </a:ln>
              </p:spPr>
            </p:sp>
            <p:sp>
              <p:nvSpPr>
                <p:cNvPr id="68" name="Freeform 68"/>
                <p:cNvSpPr/>
                <p:nvPr/>
              </p:nvSpPr>
              <p:spPr>
                <a:xfrm>
                  <a:off x="7158038" y="4910138"/>
                  <a:ext cx="85725" cy="8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25" h="85725">
                      <a:moveTo>
                        <a:pt x="0" y="0"/>
                      </a:moveTo>
                      <a:lnTo>
                        <a:pt x="85725" y="0"/>
                      </a:lnTo>
                      <a:lnTo>
                        <a:pt x="85725" y="85725"/>
                      </a:lnTo>
                      <a:lnTo>
                        <a:pt x="0" y="85725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28575">
                  <a:solidFill>
                    <a:srgbClr val="2FB3A8"/>
                  </a:solidFill>
                </a:ln>
              </p:spPr>
            </p:sp>
            <p:sp>
              <p:nvSpPr>
                <p:cNvPr id="69" name="Freeform 69"/>
                <p:cNvSpPr/>
                <p:nvPr/>
              </p:nvSpPr>
              <p:spPr>
                <a:xfrm>
                  <a:off x="7072312" y="4924425"/>
                  <a:ext cx="2857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" h="9525">
                      <a:moveTo>
                        <a:pt x="0" y="0"/>
                      </a:moveTo>
                      <a:lnTo>
                        <a:pt x="28575" y="0"/>
                      </a:lnTo>
                    </a:path>
                  </a:pathLst>
                </a:custGeom>
                <a:noFill/>
                <a:ln w="28575">
                  <a:solidFill>
                    <a:srgbClr val="2FB3A8"/>
                  </a:solidFill>
                </a:ln>
              </p:spPr>
            </p:sp>
            <p:sp>
              <p:nvSpPr>
                <p:cNvPr id="70" name="Freeform 70"/>
                <p:cNvSpPr/>
                <p:nvPr/>
              </p:nvSpPr>
              <p:spPr>
                <a:xfrm>
                  <a:off x="7072312" y="4981575"/>
                  <a:ext cx="2857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" h="9525">
                      <a:moveTo>
                        <a:pt x="0" y="0"/>
                      </a:moveTo>
                      <a:lnTo>
                        <a:pt x="28575" y="0"/>
                      </a:lnTo>
                    </a:path>
                  </a:pathLst>
                </a:custGeom>
                <a:noFill/>
                <a:ln w="28575">
                  <a:solidFill>
                    <a:srgbClr val="2FB3A8"/>
                  </a:solidFill>
                </a:ln>
              </p:spPr>
            </p:sp>
            <p:sp>
              <p:nvSpPr>
                <p:cNvPr id="71" name="Freeform 71"/>
                <p:cNvSpPr/>
                <p:nvPr/>
              </p:nvSpPr>
              <p:spPr>
                <a:xfrm>
                  <a:off x="7172325" y="4824412"/>
                  <a:ext cx="9525" cy="2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8575">
                      <a:moveTo>
                        <a:pt x="0" y="0"/>
                      </a:moveTo>
                      <a:lnTo>
                        <a:pt x="0" y="28575"/>
                      </a:lnTo>
                    </a:path>
                  </a:pathLst>
                </a:custGeom>
                <a:noFill/>
                <a:ln w="28575">
                  <a:solidFill>
                    <a:srgbClr val="2FB3A8"/>
                  </a:solidFill>
                </a:ln>
              </p:spPr>
            </p:sp>
            <p:sp>
              <p:nvSpPr>
                <p:cNvPr id="72" name="Freeform 72"/>
                <p:cNvSpPr/>
                <p:nvPr/>
              </p:nvSpPr>
              <p:spPr>
                <a:xfrm>
                  <a:off x="7229475" y="4824412"/>
                  <a:ext cx="9525" cy="2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8575">
                      <a:moveTo>
                        <a:pt x="0" y="0"/>
                      </a:moveTo>
                      <a:lnTo>
                        <a:pt x="0" y="28575"/>
                      </a:lnTo>
                    </a:path>
                  </a:pathLst>
                </a:custGeom>
                <a:noFill/>
                <a:ln w="28575">
                  <a:solidFill>
                    <a:srgbClr val="2FB3A8"/>
                  </a:solidFill>
                </a:ln>
              </p:spPr>
            </p:sp>
            <p:sp>
              <p:nvSpPr>
                <p:cNvPr id="73" name="Freeform 73"/>
                <p:cNvSpPr/>
                <p:nvPr/>
              </p:nvSpPr>
              <p:spPr>
                <a:xfrm>
                  <a:off x="7300912" y="4924425"/>
                  <a:ext cx="2857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" h="9525">
                      <a:moveTo>
                        <a:pt x="28575" y="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28575">
                  <a:solidFill>
                    <a:srgbClr val="2FB3A8"/>
                  </a:solidFill>
                </a:ln>
              </p:spPr>
            </p:sp>
            <p:sp>
              <p:nvSpPr>
                <p:cNvPr id="74" name="Freeform 74"/>
                <p:cNvSpPr/>
                <p:nvPr/>
              </p:nvSpPr>
              <p:spPr>
                <a:xfrm>
                  <a:off x="7300912" y="4981575"/>
                  <a:ext cx="2857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" h="9525">
                      <a:moveTo>
                        <a:pt x="28575" y="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28575">
                  <a:solidFill>
                    <a:srgbClr val="2FB3A8"/>
                  </a:solidFill>
                </a:ln>
              </p:spPr>
            </p:sp>
            <p:sp>
              <p:nvSpPr>
                <p:cNvPr id="75" name="Freeform 75"/>
                <p:cNvSpPr/>
                <p:nvPr/>
              </p:nvSpPr>
              <p:spPr>
                <a:xfrm>
                  <a:off x="7229475" y="5053012"/>
                  <a:ext cx="9525" cy="2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8575">
                      <a:moveTo>
                        <a:pt x="0" y="28575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28575">
                  <a:solidFill>
                    <a:srgbClr val="2FB3A8"/>
                  </a:solidFill>
                </a:ln>
              </p:spPr>
            </p:sp>
            <p:sp>
              <p:nvSpPr>
                <p:cNvPr id="76" name="Freeform 76"/>
                <p:cNvSpPr/>
                <p:nvPr/>
              </p:nvSpPr>
              <p:spPr>
                <a:xfrm>
                  <a:off x="7172325" y="5053012"/>
                  <a:ext cx="9525" cy="2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8575">
                      <a:moveTo>
                        <a:pt x="0" y="28575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28575">
                  <a:solidFill>
                    <a:srgbClr val="2FB3A8"/>
                  </a:solidFill>
                </a:ln>
              </p:spPr>
            </p:sp>
          </p:grpSp>
          <p:sp>
            <p:nvSpPr>
              <p:cNvPr id="78" name="TextBox 78"/>
              <p:cNvSpPr txBox="1"/>
              <p:nvPr/>
            </p:nvSpPr>
            <p:spPr>
              <a:xfrm>
                <a:off x="7594282" y="4773216"/>
                <a:ext cx="895096" cy="2566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1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工具与局限</a:t>
                </a:r>
              </a:p>
            </p:txBody>
          </p:sp>
          <p:sp>
            <p:nvSpPr>
              <p:cNvPr id="79" name="TextBox 79"/>
              <p:cNvSpPr txBox="1"/>
              <p:nvPr/>
            </p:nvSpPr>
            <p:spPr>
              <a:xfrm>
                <a:off x="6966585" y="5136356"/>
                <a:ext cx="303772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DCE8F2"/>
                    </a:solidFill>
                    <a:latin typeface="+mn-lt"/>
                    <a:ea typeface="+mn-ea"/>
                    <a:cs typeface="+mn-cs"/>
                  </a:rPr>
                  <a:t>AutoDock 经典对接；VmmScore 用 ML 优化</a:t>
                </a:r>
              </a:p>
            </p:txBody>
          </p:sp>
          <p:sp>
            <p:nvSpPr>
              <p:cNvPr id="80" name="TextBox 80"/>
              <p:cNvSpPr txBox="1"/>
              <p:nvPr/>
            </p:nvSpPr>
            <p:spPr>
              <a:xfrm>
                <a:off x="6966585" y="5364956"/>
                <a:ext cx="295907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DCE8F2"/>
                    </a:solidFill>
                    <a:latin typeface="+mn-lt"/>
                    <a:ea typeface="+mn-ea"/>
                    <a:cs typeface="+mn-cs"/>
                  </a:rPr>
                  <a:t>打分函数加速；经典力场对接/动力学昂贵，</a:t>
                </a:r>
              </a:p>
            </p:txBody>
          </p:sp>
          <p:sp>
            <p:nvSpPr>
              <p:cNvPr id="81" name="TextBox 81"/>
              <p:cNvSpPr txBox="1"/>
              <p:nvPr/>
            </p:nvSpPr>
            <p:spPr>
              <a:xfrm>
                <a:off x="6966585" y="5593556"/>
                <a:ext cx="1872157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b="1" dirty="0">
                    <a:solidFill>
                      <a:srgbClr val="2FB3A8"/>
                    </a:solidFill>
                    <a:latin typeface="+mn-lt"/>
                    <a:ea typeface="+mn-ea"/>
                    <a:cs typeface="+mn-cs"/>
                  </a:rPr>
                  <a:t>ML 打分正成为提效方向。</a:t>
                </a:r>
              </a:p>
            </p:txBody>
          </p:sp>
        </p:grpSp>
      </p:grpSp>
      <p:grpSp>
        <p:nvGrpSpPr>
          <p:cNvPr id="87" name="Group 87"/>
          <p:cNvGrpSpPr/>
          <p:nvPr/>
        </p:nvGrpSpPr>
        <p:grpSpPr>
          <a:xfrm>
            <a:off x="604647" y="6438900"/>
            <a:ext cx="10982706" cy="294989"/>
            <a:chOff x="604647" y="6438900"/>
            <a:chExt cx="10982706" cy="294989"/>
          </a:xfrm>
        </p:grpSpPr>
        <p:sp>
          <p:nvSpPr>
            <p:cNvPr id="84" name="Line 84"/>
            <p:cNvSpPr/>
            <p:nvPr/>
          </p:nvSpPr>
          <p:spPr>
            <a:xfrm>
              <a:off x="609600" y="6438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4288">
              <a:solidFill>
                <a:srgbClr val="DDE4EA"/>
              </a:solidFill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604647" y="6543199"/>
              <a:ext cx="891654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A3B2BF"/>
                  </a:solidFill>
                  <a:latin typeface="+mn-lt"/>
                  <a:ea typeface="+mn-ea"/>
                  <a:cs typeface="+mn-cs"/>
                </a:rPr>
                <a:t>来源：腐乳鲜味肽研究（Food Chemistry 2025，DFEGDV–Arg277 盐桥）；Mlp4Umami/VmmScore（Comput Biol Med 2024）；T1R1/T1R3 机制综述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11135490" y="6543199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A3B2BF"/>
                  </a:solidFill>
                  <a:latin typeface="+mn-lt"/>
                  <a:ea typeface="+mn-ea"/>
                  <a:cs typeface="+mn-cs"/>
                </a:rPr>
                <a:t>13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8170" y="515302"/>
            <a:ext cx="5840716" cy="843915"/>
            <a:chOff x="598170" y="515302"/>
            <a:chExt cx="5840716" cy="843915"/>
          </a:xfrm>
        </p:grpSpPr>
        <p:sp>
          <p:nvSpPr>
            <p:cNvPr id="2" name="TextBox 2"/>
            <p:cNvSpPr txBox="1"/>
            <p:nvPr/>
          </p:nvSpPr>
          <p:spPr>
            <a:xfrm>
              <a:off x="604266" y="515302"/>
              <a:ext cx="21821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22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 · 模型进展、工具与应用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609600" y="762000"/>
              <a:ext cx="457200" cy="47625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98170" y="919162"/>
              <a:ext cx="584071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案例：从腐乳发酵中「算」出 5 条新鲜味肽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609600" y="1524000"/>
            <a:ext cx="11010900" cy="1295400"/>
            <a:chOff x="609600" y="1524000"/>
            <a:chExt cx="11010900" cy="1295400"/>
          </a:xfrm>
        </p:grpSpPr>
        <p:grpSp>
          <p:nvGrpSpPr>
            <p:cNvPr id="14" name="Group 14"/>
            <p:cNvGrpSpPr/>
            <p:nvPr/>
          </p:nvGrpSpPr>
          <p:grpSpPr>
            <a:xfrm>
              <a:off x="609600" y="1524000"/>
              <a:ext cx="2571750" cy="1295400"/>
              <a:chOff x="609600" y="1524000"/>
              <a:chExt cx="2571750" cy="1295400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647700" y="1562100"/>
                <a:ext cx="2533650" cy="1257300"/>
              </a:xfrm>
              <a:prstGeom prst="roundRect">
                <a:avLst>
                  <a:gd name="adj" fmla="val 12121"/>
                </a:avLst>
              </a:prstGeom>
              <a:solidFill>
                <a:srgbClr val="E3E9ED"/>
              </a:solidFill>
              <a:ln>
                <a:noFill/>
              </a:ln>
            </p:spPr>
          </p:sp>
          <p:sp>
            <p:nvSpPr>
              <p:cNvPr id="7" name="Rectangle 7"/>
              <p:cNvSpPr/>
              <p:nvPr/>
            </p:nvSpPr>
            <p:spPr>
              <a:xfrm>
                <a:off x="609600" y="1524000"/>
                <a:ext cx="2533650" cy="1257300"/>
              </a:xfrm>
              <a:prstGeom prst="roundRect">
                <a:avLst>
                  <a:gd name="adj" fmla="val 12121"/>
                </a:avLst>
              </a:prstGeom>
              <a:solidFill>
                <a:srgbClr val="FFFFFF"/>
              </a:solidFill>
              <a:ln w="14288">
                <a:solidFill>
                  <a:srgbClr val="E3E9ED"/>
                </a:solidFill>
              </a:ln>
            </p:spPr>
          </p:sp>
          <p:sp>
            <p:nvSpPr>
              <p:cNvPr id="8" name="Ellipse 8"/>
              <p:cNvSpPr/>
              <p:nvPr/>
            </p:nvSpPr>
            <p:spPr>
              <a:xfrm>
                <a:off x="876300" y="1752600"/>
                <a:ext cx="381000" cy="381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017549" y="1878806"/>
                <a:ext cx="9850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384173" y="1767364"/>
                <a:ext cx="874522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肽组学监测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385506" y="2005251"/>
                <a:ext cx="1368074" cy="19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10" dirty="0">
                    <a:solidFill>
                      <a:srgbClr val="9AA8B3"/>
                    </a:solidFill>
                    <a:latin typeface="+mn-lt"/>
                    <a:ea typeface="+mn-ea"/>
                    <a:cs typeface="+mn-cs"/>
                  </a:rPr>
                  <a:t>Food Chemistry 2025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832676" y="2301954"/>
                <a:ext cx="1302324" cy="2126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9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腐乳 0–90 天发酵，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832676" y="2530554"/>
                <a:ext cx="1581122" cy="2126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9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前 60 天为呈鲜关键窗口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3251994" y="2062162"/>
              <a:ext cx="144462" cy="123825"/>
              <a:chOff x="3251994" y="2062162"/>
              <a:chExt cx="144462" cy="123825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3251994" y="2124075"/>
                <a:ext cx="14446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44462" h="9525">
                    <a:moveTo>
                      <a:pt x="0" y="0"/>
                    </a:moveTo>
                    <a:lnTo>
                      <a:pt x="144462" y="0"/>
                    </a:lnTo>
                  </a:path>
                </a:pathLst>
              </a:custGeom>
              <a:noFill/>
              <a:ln w="20637">
                <a:solidFill>
                  <a:srgbClr val="9AA8B3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3334543" y="2124075"/>
                <a:ext cx="61912" cy="61912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61912">
                    <a:moveTo>
                      <a:pt x="0" y="61912"/>
                    </a:moveTo>
                    <a:lnTo>
                      <a:pt x="61912" y="0"/>
                    </a:lnTo>
                  </a:path>
                </a:pathLst>
              </a:custGeom>
              <a:noFill/>
              <a:ln w="20637">
                <a:solidFill>
                  <a:srgbClr val="9AA8B3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3334543" y="2062162"/>
                <a:ext cx="61912" cy="61912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61912">
                    <a:moveTo>
                      <a:pt x="0" y="0"/>
                    </a:moveTo>
                    <a:lnTo>
                      <a:pt x="61912" y="61912"/>
                    </a:lnTo>
                  </a:path>
                </a:pathLst>
              </a:custGeom>
              <a:noFill/>
              <a:ln w="20637">
                <a:solidFill>
                  <a:srgbClr val="9AA8B3"/>
                </a:solidFill>
              </a:ln>
            </p:spPr>
          </p:sp>
        </p:grpSp>
        <p:grpSp>
          <p:nvGrpSpPr>
            <p:cNvPr id="27" name="Group 27"/>
            <p:cNvGrpSpPr/>
            <p:nvPr/>
          </p:nvGrpSpPr>
          <p:grpSpPr>
            <a:xfrm>
              <a:off x="3543300" y="1524000"/>
              <a:ext cx="2571750" cy="1295400"/>
              <a:chOff x="3543300" y="1524000"/>
              <a:chExt cx="2571750" cy="129540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3581400" y="1562100"/>
                <a:ext cx="2533650" cy="1257300"/>
              </a:xfrm>
              <a:prstGeom prst="roundRect">
                <a:avLst>
                  <a:gd name="adj" fmla="val 12121"/>
                </a:avLst>
              </a:prstGeom>
              <a:solidFill>
                <a:srgbClr val="E3E9ED"/>
              </a:solidFill>
              <a:ln>
                <a:noFill/>
              </a:ln>
            </p:spPr>
          </p:sp>
          <p:sp>
            <p:nvSpPr>
              <p:cNvPr id="20" name="Rectangle 20"/>
              <p:cNvSpPr/>
              <p:nvPr/>
            </p:nvSpPr>
            <p:spPr>
              <a:xfrm>
                <a:off x="3543300" y="1524000"/>
                <a:ext cx="2533650" cy="1257300"/>
              </a:xfrm>
              <a:prstGeom prst="roundRect">
                <a:avLst>
                  <a:gd name="adj" fmla="val 12121"/>
                </a:avLst>
              </a:prstGeom>
              <a:solidFill>
                <a:srgbClr val="FFFFFF"/>
              </a:solidFill>
              <a:ln w="14288">
                <a:solidFill>
                  <a:srgbClr val="CFE4E1"/>
                </a:solidFill>
              </a:ln>
            </p:spPr>
          </p:sp>
          <p:sp>
            <p:nvSpPr>
              <p:cNvPr id="21" name="Ellipse 21"/>
              <p:cNvSpPr/>
              <p:nvPr/>
            </p:nvSpPr>
            <p:spPr>
              <a:xfrm>
                <a:off x="3810000" y="1752600"/>
                <a:ext cx="381000" cy="381000"/>
              </a:xfrm>
              <a:prstGeom prst="ellipse">
                <a:avLst/>
              </a:prstGeom>
              <a:solidFill>
                <a:srgbClr val="DFF0EE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3951249" y="1878806"/>
                <a:ext cx="9850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4317873" y="1767364"/>
                <a:ext cx="104683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机器学习筛选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319206" y="2005251"/>
                <a:ext cx="962050" cy="19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10" dirty="0">
                    <a:solidFill>
                      <a:srgbClr val="9AA8B3"/>
                    </a:solidFill>
                    <a:latin typeface="+mn-lt"/>
                    <a:ea typeface="+mn-ea"/>
                    <a:cs typeface="+mn-cs"/>
                  </a:rPr>
                  <a:t>随机森林等模型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3766376" y="2301954"/>
                <a:ext cx="1368355" cy="2126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9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筛出 637 条候选肽，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3766376" y="2530554"/>
                <a:ext cx="1206946" cy="2126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9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模型准确率约 89%</a:t>
                </a: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6185694" y="2062162"/>
              <a:ext cx="144462" cy="123825"/>
              <a:chOff x="6185694" y="2062162"/>
              <a:chExt cx="144462" cy="123825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6185694" y="2124075"/>
                <a:ext cx="14446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44462" h="9525">
                    <a:moveTo>
                      <a:pt x="0" y="0"/>
                    </a:moveTo>
                    <a:lnTo>
                      <a:pt x="144462" y="0"/>
                    </a:lnTo>
                  </a:path>
                </a:pathLst>
              </a:custGeom>
              <a:noFill/>
              <a:ln w="20637">
                <a:solidFill>
                  <a:srgbClr val="9AA8B3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6268243" y="2124075"/>
                <a:ext cx="61912" cy="61912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61912">
                    <a:moveTo>
                      <a:pt x="0" y="61912"/>
                    </a:moveTo>
                    <a:lnTo>
                      <a:pt x="61912" y="0"/>
                    </a:lnTo>
                  </a:path>
                </a:pathLst>
              </a:custGeom>
              <a:noFill/>
              <a:ln w="20637">
                <a:solidFill>
                  <a:srgbClr val="9AA8B3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6268243" y="2062162"/>
                <a:ext cx="61912" cy="61912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61912">
                    <a:moveTo>
                      <a:pt x="0" y="0"/>
                    </a:moveTo>
                    <a:lnTo>
                      <a:pt x="61912" y="61912"/>
                    </a:lnTo>
                  </a:path>
                </a:pathLst>
              </a:custGeom>
              <a:noFill/>
              <a:ln w="20637">
                <a:solidFill>
                  <a:srgbClr val="9AA8B3"/>
                </a:solidFill>
              </a:ln>
            </p:spPr>
          </p:sp>
        </p:grpSp>
        <p:grpSp>
          <p:nvGrpSpPr>
            <p:cNvPr id="40" name="Group 40"/>
            <p:cNvGrpSpPr/>
            <p:nvPr/>
          </p:nvGrpSpPr>
          <p:grpSpPr>
            <a:xfrm>
              <a:off x="6477000" y="1524000"/>
              <a:ext cx="2571750" cy="1295400"/>
              <a:chOff x="6477000" y="1524000"/>
              <a:chExt cx="2571750" cy="1295400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6515100" y="1562100"/>
                <a:ext cx="2533650" cy="1257300"/>
              </a:xfrm>
              <a:prstGeom prst="roundRect">
                <a:avLst>
                  <a:gd name="adj" fmla="val 12121"/>
                </a:avLst>
              </a:prstGeom>
              <a:solidFill>
                <a:srgbClr val="E3E9ED"/>
              </a:solidFill>
              <a:ln>
                <a:noFill/>
              </a:ln>
            </p:spPr>
          </p:sp>
          <p:sp>
            <p:nvSpPr>
              <p:cNvPr id="33" name="Rectangle 33"/>
              <p:cNvSpPr/>
              <p:nvPr/>
            </p:nvSpPr>
            <p:spPr>
              <a:xfrm>
                <a:off x="6477000" y="1524000"/>
                <a:ext cx="2533650" cy="1257300"/>
              </a:xfrm>
              <a:prstGeom prst="roundRect">
                <a:avLst>
                  <a:gd name="adj" fmla="val 12121"/>
                </a:avLst>
              </a:prstGeom>
              <a:solidFill>
                <a:srgbClr val="FFFFFF"/>
              </a:solidFill>
              <a:ln w="14288">
                <a:solidFill>
                  <a:srgbClr val="E3E9ED"/>
                </a:solidFill>
              </a:ln>
            </p:spPr>
          </p:sp>
          <p:sp>
            <p:nvSpPr>
              <p:cNvPr id="34" name="Ellipse 34"/>
              <p:cNvSpPr/>
              <p:nvPr/>
            </p:nvSpPr>
            <p:spPr>
              <a:xfrm>
                <a:off x="6743700" y="1752600"/>
                <a:ext cx="381000" cy="381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6884949" y="1878806"/>
                <a:ext cx="9850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7251573" y="1767364"/>
                <a:ext cx="702208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分子对接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7252906" y="2005251"/>
                <a:ext cx="1051839" cy="19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10" dirty="0">
                    <a:solidFill>
                      <a:srgbClr val="9AA8B3"/>
                    </a:solidFill>
                    <a:latin typeface="+mn-lt"/>
                    <a:ea typeface="+mn-ea"/>
                    <a:cs typeface="+mn-cs"/>
                  </a:rPr>
                  <a:t>T1R1/T1R3 受体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6700076" y="2301954"/>
                <a:ext cx="1184935" cy="2126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9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按结合能打分锁定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6700076" y="2530554"/>
                <a:ext cx="1162925" cy="2126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9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5 条高结合力新肽</a:t>
                </a:r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>
              <a:off x="9119394" y="2062162"/>
              <a:ext cx="144462" cy="123825"/>
              <a:chOff x="9119394" y="2062162"/>
              <a:chExt cx="144462" cy="123825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9119394" y="2124075"/>
                <a:ext cx="14446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44462" h="9525">
                    <a:moveTo>
                      <a:pt x="0" y="0"/>
                    </a:moveTo>
                    <a:lnTo>
                      <a:pt x="144462" y="0"/>
                    </a:lnTo>
                  </a:path>
                </a:pathLst>
              </a:custGeom>
              <a:noFill/>
              <a:ln w="20637">
                <a:solidFill>
                  <a:schemeClr val="accent3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9201943" y="2124075"/>
                <a:ext cx="61912" cy="61912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61912">
                    <a:moveTo>
                      <a:pt x="0" y="61912"/>
                    </a:moveTo>
                    <a:lnTo>
                      <a:pt x="61912" y="0"/>
                    </a:lnTo>
                  </a:path>
                </a:pathLst>
              </a:custGeom>
              <a:noFill/>
              <a:ln w="20637">
                <a:solidFill>
                  <a:schemeClr val="accent3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9201943" y="2062162"/>
                <a:ext cx="61912" cy="61912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61912">
                    <a:moveTo>
                      <a:pt x="0" y="0"/>
                    </a:moveTo>
                    <a:lnTo>
                      <a:pt x="61912" y="61912"/>
                    </a:lnTo>
                  </a:path>
                </a:pathLst>
              </a:custGeom>
              <a:noFill/>
              <a:ln w="20637">
                <a:solidFill>
                  <a:schemeClr val="accent3"/>
                </a:solidFill>
              </a:ln>
            </p:spPr>
          </p:sp>
        </p:grpSp>
        <p:grpSp>
          <p:nvGrpSpPr>
            <p:cNvPr id="53" name="Group 53"/>
            <p:cNvGrpSpPr/>
            <p:nvPr/>
          </p:nvGrpSpPr>
          <p:grpSpPr>
            <a:xfrm>
              <a:off x="9410700" y="1524000"/>
              <a:ext cx="2209800" cy="1295400"/>
              <a:chOff x="9410700" y="1524000"/>
              <a:chExt cx="2209800" cy="1295400"/>
            </a:xfrm>
          </p:grpSpPr>
          <p:sp>
            <p:nvSpPr>
              <p:cNvPr id="45" name="Rectangle 45"/>
              <p:cNvSpPr/>
              <p:nvPr/>
            </p:nvSpPr>
            <p:spPr>
              <a:xfrm>
                <a:off x="9448800" y="1562100"/>
                <a:ext cx="2171700" cy="1257300"/>
              </a:xfrm>
              <a:prstGeom prst="roundRect">
                <a:avLst>
                  <a:gd name="adj" fmla="val 12121"/>
                </a:avLst>
              </a:prstGeom>
              <a:solidFill>
                <a:srgbClr val="F0DECF"/>
              </a:solidFill>
              <a:ln>
                <a:noFill/>
              </a:ln>
            </p:spPr>
          </p:sp>
          <p:sp>
            <p:nvSpPr>
              <p:cNvPr id="46" name="Rectangle 46"/>
              <p:cNvSpPr/>
              <p:nvPr/>
            </p:nvSpPr>
            <p:spPr>
              <a:xfrm>
                <a:off x="9410700" y="1524000"/>
                <a:ext cx="2171700" cy="1257300"/>
              </a:xfrm>
              <a:prstGeom prst="roundRect">
                <a:avLst>
                  <a:gd name="adj" fmla="val 12121"/>
                </a:avLst>
              </a:prstGeom>
              <a:solidFill>
                <a:srgbClr val="FBE9DD"/>
              </a:solidFill>
              <a:ln w="14288">
                <a:solidFill>
                  <a:srgbClr val="F0DECF"/>
                </a:solidFill>
              </a:ln>
            </p:spPr>
          </p:sp>
          <p:sp>
            <p:nvSpPr>
              <p:cNvPr id="47" name="Ellipse 47"/>
              <p:cNvSpPr/>
              <p:nvPr/>
            </p:nvSpPr>
            <p:spPr>
              <a:xfrm>
                <a:off x="9677400" y="1752600"/>
                <a:ext cx="381000" cy="381000"/>
              </a:xfrm>
              <a:prstGeom prst="ellipse">
                <a:avLst/>
              </a:prstGeom>
              <a:solidFill>
                <a:srgbClr val="F5D9C6"/>
              </a:solidFill>
              <a:ln>
                <a:noFill/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9818649" y="1878806"/>
                <a:ext cx="9850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b="1" dirty="0">
                    <a:solidFill>
                      <a:srgbClr val="B5663A"/>
                    </a:solidFill>
                    <a:latin typeface="+mn-lt"/>
                    <a:ea typeface="+mn-ea"/>
                    <a:cs typeface="+mn-cs"/>
                  </a:rPr>
                  <a:t>4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10185273" y="1767364"/>
                <a:ext cx="702208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b="1" dirty="0">
                    <a:solidFill>
                      <a:srgbClr val="B5663A"/>
                    </a:solidFill>
                    <a:latin typeface="+mn-lt"/>
                    <a:ea typeface="+mn-ea"/>
                    <a:cs typeface="+mn-cs"/>
                  </a:rPr>
                  <a:t>感官验证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10186606" y="2005251"/>
                <a:ext cx="982445" cy="19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10" dirty="0">
                    <a:solidFill>
                      <a:srgbClr val="C68A66"/>
                    </a:solidFill>
                    <a:latin typeface="+mn-lt"/>
                    <a:ea typeface="+mn-ea"/>
                    <a:cs typeface="+mn-cs"/>
                  </a:rPr>
                  <a:t>合成 + 人工评定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9633776" y="2301954"/>
                <a:ext cx="1643416" cy="2126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9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阈值 0.22–0.38 mmol/L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9633776" y="2530554"/>
                <a:ext cx="1313398" cy="2126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9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鲜度达 MSG 3–5 倍</a:t>
                </a:r>
              </a:p>
            </p:txBody>
          </p:sp>
        </p:grpSp>
      </p:grpSp>
      <p:grpSp>
        <p:nvGrpSpPr>
          <p:cNvPr id="73" name="Group 73"/>
          <p:cNvGrpSpPr/>
          <p:nvPr/>
        </p:nvGrpSpPr>
        <p:grpSpPr>
          <a:xfrm>
            <a:off x="609600" y="2952750"/>
            <a:ext cx="11010900" cy="914400"/>
            <a:chOff x="609600" y="2952750"/>
            <a:chExt cx="11010900" cy="914400"/>
          </a:xfrm>
        </p:grpSpPr>
        <p:grpSp>
          <p:nvGrpSpPr>
            <p:cNvPr id="60" name="Group 60"/>
            <p:cNvGrpSpPr/>
            <p:nvPr/>
          </p:nvGrpSpPr>
          <p:grpSpPr>
            <a:xfrm>
              <a:off x="609600" y="2952750"/>
              <a:ext cx="3543300" cy="914400"/>
              <a:chOff x="609600" y="2952750"/>
              <a:chExt cx="3543300" cy="914400"/>
            </a:xfrm>
          </p:grpSpPr>
          <p:sp>
            <p:nvSpPr>
              <p:cNvPr id="55" name="Rectangle 55"/>
              <p:cNvSpPr/>
              <p:nvPr/>
            </p:nvSpPr>
            <p:spPr>
              <a:xfrm>
                <a:off x="647700" y="2990850"/>
                <a:ext cx="3505200" cy="876300"/>
              </a:xfrm>
              <a:prstGeom prst="roundRect">
                <a:avLst>
                  <a:gd name="adj" fmla="val 17391"/>
                </a:avLst>
              </a:prstGeom>
              <a:solidFill>
                <a:srgbClr val="E3E9ED"/>
              </a:solidFill>
              <a:ln>
                <a:noFill/>
              </a:ln>
            </p:spPr>
          </p:sp>
          <p:sp>
            <p:nvSpPr>
              <p:cNvPr id="56" name="Rectangle 56"/>
              <p:cNvSpPr/>
              <p:nvPr/>
            </p:nvSpPr>
            <p:spPr>
              <a:xfrm>
                <a:off x="609600" y="2952750"/>
                <a:ext cx="3505200" cy="876300"/>
              </a:xfrm>
              <a:prstGeom prst="roundRect">
                <a:avLst>
                  <a:gd name="adj" fmla="val 17391"/>
                </a:avLst>
              </a:prstGeom>
              <a:solidFill>
                <a:srgbClr val="FFFFFF"/>
              </a:solidFill>
              <a:ln w="14288">
                <a:solidFill>
                  <a:srgbClr val="CFE4E1"/>
                </a:solidFill>
              </a:ln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864108" y="3188970"/>
                <a:ext cx="584134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637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1899094" y="3227308"/>
                <a:ext cx="1100800" cy="2273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6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ML 筛出候选肽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1899856" y="3491151"/>
                <a:ext cx="1832234" cy="19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1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30%+ 源自 11 种大豆蛋白位点</a:t>
                </a:r>
              </a:p>
            </p:txBody>
          </p:sp>
        </p:grpSp>
        <p:grpSp>
          <p:nvGrpSpPr>
            <p:cNvPr id="66" name="Group 66"/>
            <p:cNvGrpSpPr/>
            <p:nvPr/>
          </p:nvGrpSpPr>
          <p:grpSpPr>
            <a:xfrm>
              <a:off x="4343400" y="2952750"/>
              <a:ext cx="3543300" cy="914400"/>
              <a:chOff x="4343400" y="2952750"/>
              <a:chExt cx="3543300" cy="914400"/>
            </a:xfrm>
          </p:grpSpPr>
          <p:sp>
            <p:nvSpPr>
              <p:cNvPr id="61" name="Rectangle 61"/>
              <p:cNvSpPr/>
              <p:nvPr/>
            </p:nvSpPr>
            <p:spPr>
              <a:xfrm>
                <a:off x="4381500" y="2990850"/>
                <a:ext cx="3505200" cy="876300"/>
              </a:xfrm>
              <a:prstGeom prst="roundRect">
                <a:avLst>
                  <a:gd name="adj" fmla="val 17391"/>
                </a:avLst>
              </a:prstGeom>
              <a:solidFill>
                <a:srgbClr val="F0DECF"/>
              </a:solidFill>
              <a:ln>
                <a:noFill/>
              </a:ln>
            </p:spPr>
          </p:sp>
          <p:sp>
            <p:nvSpPr>
              <p:cNvPr id="62" name="Rectangle 62"/>
              <p:cNvSpPr/>
              <p:nvPr/>
            </p:nvSpPr>
            <p:spPr>
              <a:xfrm>
                <a:off x="4343400" y="2952750"/>
                <a:ext cx="3505200" cy="876300"/>
              </a:xfrm>
              <a:prstGeom prst="roundRect">
                <a:avLst>
                  <a:gd name="adj" fmla="val 17391"/>
                </a:avLst>
              </a:prstGeom>
              <a:solidFill>
                <a:srgbClr val="FBE9DD"/>
              </a:solidFill>
              <a:ln w="14288">
                <a:solidFill>
                  <a:srgbClr val="F0DECF"/>
                </a:solidFill>
              </a:ln>
            </p:spPr>
          </p:sp>
          <p:sp>
            <p:nvSpPr>
              <p:cNvPr id="63" name="TextBox 63"/>
              <p:cNvSpPr txBox="1"/>
              <p:nvPr/>
            </p:nvSpPr>
            <p:spPr>
              <a:xfrm>
                <a:off x="4597908" y="3188970"/>
                <a:ext cx="210967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5</a:t>
                </a: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5137594" y="3227308"/>
                <a:ext cx="1573403" cy="2273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6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对接锁定并验证的新肽</a:t>
                </a: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5138356" y="3491151"/>
                <a:ext cx="1682671" cy="19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1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预测 → 对接 → 感官三轨一致</a:t>
                </a:r>
              </a:p>
            </p:txBody>
          </p:sp>
        </p:grpSp>
        <p:grpSp>
          <p:nvGrpSpPr>
            <p:cNvPr id="72" name="Group 72"/>
            <p:cNvGrpSpPr/>
            <p:nvPr/>
          </p:nvGrpSpPr>
          <p:grpSpPr>
            <a:xfrm>
              <a:off x="8077200" y="2952750"/>
              <a:ext cx="3543300" cy="914400"/>
              <a:chOff x="8077200" y="2952750"/>
              <a:chExt cx="3543300" cy="914400"/>
            </a:xfrm>
          </p:grpSpPr>
          <p:sp>
            <p:nvSpPr>
              <p:cNvPr id="67" name="Rectangle 67"/>
              <p:cNvSpPr/>
              <p:nvPr/>
            </p:nvSpPr>
            <p:spPr>
              <a:xfrm>
                <a:off x="8115300" y="2990850"/>
                <a:ext cx="3505200" cy="876300"/>
              </a:xfrm>
              <a:prstGeom prst="roundRect">
                <a:avLst>
                  <a:gd name="adj" fmla="val 17391"/>
                </a:avLst>
              </a:prstGeom>
              <a:solidFill>
                <a:srgbClr val="E3E9ED"/>
              </a:solidFill>
              <a:ln>
                <a:noFill/>
              </a:ln>
            </p:spPr>
          </p:sp>
          <p:sp>
            <p:nvSpPr>
              <p:cNvPr id="68" name="Rectangle 68"/>
              <p:cNvSpPr/>
              <p:nvPr/>
            </p:nvSpPr>
            <p:spPr>
              <a:xfrm>
                <a:off x="8077200" y="2952750"/>
                <a:ext cx="3505200" cy="876300"/>
              </a:xfrm>
              <a:prstGeom prst="roundRect">
                <a:avLst>
                  <a:gd name="adj" fmla="val 17391"/>
                </a:avLst>
              </a:prstGeom>
              <a:solidFill>
                <a:srgbClr val="FFFFFF"/>
              </a:solidFill>
              <a:ln w="14288">
                <a:solidFill>
                  <a:srgbClr val="E3E9ED"/>
                </a:solidFill>
              </a:ln>
            </p:spPr>
          </p:sp>
          <p:sp>
            <p:nvSpPr>
              <p:cNvPr id="69" name="TextBox 69"/>
              <p:cNvSpPr txBox="1"/>
              <p:nvPr/>
            </p:nvSpPr>
            <p:spPr>
              <a:xfrm>
                <a:off x="8331708" y="3188970"/>
                <a:ext cx="770717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3–5×</a:t>
                </a:r>
              </a:p>
            </p:txBody>
          </p:sp>
          <p:sp>
            <p:nvSpPr>
              <p:cNvPr id="70" name="TextBox 70"/>
              <p:cNvSpPr txBox="1"/>
              <p:nvPr/>
            </p:nvSpPr>
            <p:spPr>
              <a:xfrm>
                <a:off x="9423844" y="3227308"/>
                <a:ext cx="1571046" cy="2273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6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相对 MSG 的鲜味强度</a:t>
                </a:r>
              </a:p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9424606" y="3491151"/>
                <a:ext cx="1419718" cy="19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1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阈值低至 0.22 mmol/L</a:t>
                </a:r>
              </a:p>
            </p:txBody>
          </p:sp>
        </p:grpSp>
      </p:grpSp>
      <p:grpSp>
        <p:nvGrpSpPr>
          <p:cNvPr id="90" name="Group 90"/>
          <p:cNvGrpSpPr/>
          <p:nvPr/>
        </p:nvGrpSpPr>
        <p:grpSpPr>
          <a:xfrm>
            <a:off x="609600" y="4019550"/>
            <a:ext cx="6705600" cy="1752600"/>
            <a:chOff x="609600" y="4019550"/>
            <a:chExt cx="6705600" cy="1752600"/>
          </a:xfrm>
        </p:grpSpPr>
        <p:grpSp>
          <p:nvGrpSpPr>
            <p:cNvPr id="89" name="Group 89"/>
            <p:cNvGrpSpPr/>
            <p:nvPr/>
          </p:nvGrpSpPr>
          <p:grpSpPr>
            <a:xfrm>
              <a:off x="609600" y="4019550"/>
              <a:ext cx="6705600" cy="1752600"/>
              <a:chOff x="609600" y="4019550"/>
              <a:chExt cx="6705600" cy="1752600"/>
            </a:xfrm>
          </p:grpSpPr>
          <p:sp>
            <p:nvSpPr>
              <p:cNvPr id="74" name="Rectangle 74"/>
              <p:cNvSpPr/>
              <p:nvPr/>
            </p:nvSpPr>
            <p:spPr>
              <a:xfrm>
                <a:off x="647700" y="4057650"/>
                <a:ext cx="6667500" cy="1714500"/>
              </a:xfrm>
              <a:prstGeom prst="roundRect">
                <a:avLst>
                  <a:gd name="adj" fmla="val 8889"/>
                </a:avLst>
              </a:prstGeom>
              <a:solidFill>
                <a:srgbClr val="E3E9ED"/>
              </a:solidFill>
              <a:ln>
                <a:noFill/>
              </a:ln>
            </p:spPr>
          </p:sp>
          <p:sp>
            <p:nvSpPr>
              <p:cNvPr id="75" name="Rectangle 75"/>
              <p:cNvSpPr/>
              <p:nvPr/>
            </p:nvSpPr>
            <p:spPr>
              <a:xfrm>
                <a:off x="609600" y="4019550"/>
                <a:ext cx="6667500" cy="1714500"/>
              </a:xfrm>
              <a:prstGeom prst="roundRect">
                <a:avLst>
                  <a:gd name="adj" fmla="val 8889"/>
                </a:avLst>
              </a:prstGeom>
              <a:solidFill>
                <a:srgbClr val="FFFFFF"/>
              </a:solidFill>
              <a:ln w="14288">
                <a:solidFill>
                  <a:srgbClr val="DDE6EC"/>
                </a:solidFill>
              </a:ln>
            </p:spPr>
          </p:sp>
          <p:sp>
            <p:nvSpPr>
              <p:cNvPr id="76" name="TextBox 76"/>
              <p:cNvSpPr txBox="1"/>
              <p:nvPr/>
            </p:nvSpPr>
            <p:spPr>
              <a:xfrm>
                <a:off x="831723" y="4205764"/>
                <a:ext cx="1889880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5 条感官确证的新鲜味肽</a:t>
                </a:r>
              </a:p>
            </p:txBody>
          </p:sp>
          <p:sp>
            <p:nvSpPr>
              <p:cNvPr id="77" name="Rectangle 77"/>
              <p:cNvSpPr/>
              <p:nvPr/>
            </p:nvSpPr>
            <p:spPr>
              <a:xfrm>
                <a:off x="838200" y="4457700"/>
                <a:ext cx="6210300" cy="285750"/>
              </a:xfrm>
              <a:prstGeom prst="roundRect">
                <a:avLst>
                  <a:gd name="adj" fmla="val 30000"/>
                </a:avLst>
              </a:prstGeom>
              <a:solidFill>
                <a:srgbClr val="F0F5F9"/>
              </a:solidFill>
              <a:ln>
                <a:noFill/>
              </a:ln>
            </p:spPr>
          </p:sp>
          <p:sp>
            <p:nvSpPr>
              <p:cNvPr id="78" name="TextBox 78"/>
              <p:cNvSpPr txBox="1"/>
              <p:nvPr/>
            </p:nvSpPr>
            <p:spPr>
              <a:xfrm>
                <a:off x="1061276" y="4540329"/>
                <a:ext cx="744728" cy="2126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90" b="1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验证肽序列</a:t>
                </a:r>
              </a:p>
            </p:txBody>
          </p:sp>
          <p:sp>
            <p:nvSpPr>
              <p:cNvPr id="79" name="TextBox 79"/>
              <p:cNvSpPr txBox="1"/>
              <p:nvPr/>
            </p:nvSpPr>
            <p:spPr>
              <a:xfrm>
                <a:off x="5328476" y="4540329"/>
                <a:ext cx="304521" cy="2126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90" b="1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长度</a:t>
                </a:r>
              </a:p>
            </p:txBody>
          </p:sp>
          <p:grpSp>
            <p:nvGrpSpPr>
              <p:cNvPr id="88" name="Group 88"/>
              <p:cNvGrpSpPr/>
              <p:nvPr/>
            </p:nvGrpSpPr>
            <p:grpSpPr>
              <a:xfrm>
                <a:off x="838200" y="4880610"/>
                <a:ext cx="6210300" cy="825246"/>
                <a:chOff x="838200" y="4880610"/>
                <a:chExt cx="6210300" cy="825246"/>
              </a:xfrm>
            </p:grpSpPr>
            <p:sp>
              <p:nvSpPr>
                <p:cNvPr id="80" name="TextBox 80"/>
                <p:cNvSpPr txBox="1"/>
                <p:nvPr/>
              </p:nvSpPr>
              <p:spPr>
                <a:xfrm>
                  <a:off x="1060704" y="4880610"/>
                  <a:ext cx="603626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b="1" dirty="0">
                      <a:solidFill>
                        <a:schemeClr val="accent1"/>
                      </a:solidFill>
                      <a:latin typeface="Consolas"/>
                      <a:ea typeface="Consolas"/>
                      <a:cs typeface="Consolas"/>
                    </a:rPr>
                    <a:t>DFEGDV</a:t>
                  </a:r>
                </a:p>
              </p:txBody>
            </p:sp>
            <p:sp>
              <p:nvSpPr>
                <p:cNvPr id="81" name="TextBox 81"/>
                <p:cNvSpPr txBox="1"/>
                <p:nvPr/>
              </p:nvSpPr>
              <p:spPr>
                <a:xfrm>
                  <a:off x="5327904" y="4880610"/>
                  <a:ext cx="311048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6 肽</a:t>
                  </a:r>
                </a:p>
              </p:txBody>
            </p:sp>
            <p:sp>
              <p:nvSpPr>
                <p:cNvPr id="82" name="Line 82"/>
                <p:cNvSpPr/>
                <p:nvPr/>
              </p:nvSpPr>
              <p:spPr>
                <a:xfrm>
                  <a:off x="838200" y="5124450"/>
                  <a:ext cx="62103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10300" h="9525">
                      <a:moveTo>
                        <a:pt x="0" y="0"/>
                      </a:moveTo>
                      <a:lnTo>
                        <a:pt x="6210300" y="0"/>
                      </a:lnTo>
                    </a:path>
                  </a:pathLst>
                </a:custGeom>
                <a:noFill/>
                <a:ln w="14288">
                  <a:solidFill>
                    <a:srgbClr val="F2F5F8"/>
                  </a:solidFill>
                </a:ln>
              </p:spPr>
            </p:sp>
            <p:sp>
              <p:nvSpPr>
                <p:cNvPr id="83" name="TextBox 83"/>
                <p:cNvSpPr txBox="1"/>
                <p:nvPr/>
              </p:nvSpPr>
              <p:spPr>
                <a:xfrm>
                  <a:off x="1060704" y="5185410"/>
                  <a:ext cx="899343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b="1" dirty="0">
                      <a:solidFill>
                        <a:schemeClr val="accent1"/>
                      </a:solidFill>
                      <a:latin typeface="Consolas"/>
                      <a:ea typeface="Consolas"/>
                      <a:cs typeface="Consolas"/>
                    </a:rPr>
                    <a:t>GRGPTVTDP</a:t>
                  </a:r>
                </a:p>
              </p:txBody>
            </p:sp>
            <p:sp>
              <p:nvSpPr>
                <p:cNvPr id="84" name="TextBox 84"/>
                <p:cNvSpPr txBox="1"/>
                <p:nvPr/>
              </p:nvSpPr>
              <p:spPr>
                <a:xfrm>
                  <a:off x="5327904" y="5185410"/>
                  <a:ext cx="311048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9 肽</a:t>
                  </a:r>
                </a:p>
              </p:txBody>
            </p:sp>
            <p:sp>
              <p:nvSpPr>
                <p:cNvPr id="85" name="Line 85"/>
                <p:cNvSpPr/>
                <p:nvPr/>
              </p:nvSpPr>
              <p:spPr>
                <a:xfrm>
                  <a:off x="838200" y="5410200"/>
                  <a:ext cx="62103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10300" h="9525">
                      <a:moveTo>
                        <a:pt x="0" y="0"/>
                      </a:moveTo>
                      <a:lnTo>
                        <a:pt x="6210300" y="0"/>
                      </a:lnTo>
                    </a:path>
                  </a:pathLst>
                </a:custGeom>
                <a:noFill/>
                <a:ln w="14288">
                  <a:solidFill>
                    <a:srgbClr val="F2F5F8"/>
                  </a:solidFill>
                </a:ln>
              </p:spPr>
            </p:sp>
            <p:sp>
              <p:nvSpPr>
                <p:cNvPr id="86" name="TextBox 86"/>
                <p:cNvSpPr txBox="1"/>
                <p:nvPr/>
              </p:nvSpPr>
              <p:spPr>
                <a:xfrm>
                  <a:off x="1060704" y="5471160"/>
                  <a:ext cx="899343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b="1" dirty="0">
                      <a:solidFill>
                        <a:schemeClr val="accent1"/>
                      </a:solidFill>
                      <a:latin typeface="Consolas"/>
                      <a:ea typeface="Consolas"/>
                      <a:cs typeface="Consolas"/>
                    </a:rPr>
                    <a:t>NDDRDSYNL</a:t>
                  </a:r>
                </a:p>
              </p:txBody>
            </p:sp>
            <p:sp>
              <p:nvSpPr>
                <p:cNvPr id="87" name="TextBox 87"/>
                <p:cNvSpPr txBox="1"/>
                <p:nvPr/>
              </p:nvSpPr>
              <p:spPr>
                <a:xfrm>
                  <a:off x="5327904" y="5471160"/>
                  <a:ext cx="311048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9 肽</a:t>
                  </a:r>
                </a:p>
              </p:txBody>
            </p:sp>
          </p:grpSp>
        </p:grpSp>
      </p:grpSp>
      <p:grpSp>
        <p:nvGrpSpPr>
          <p:cNvPr id="101" name="Group 101"/>
          <p:cNvGrpSpPr/>
          <p:nvPr/>
        </p:nvGrpSpPr>
        <p:grpSpPr>
          <a:xfrm>
            <a:off x="7543800" y="4019550"/>
            <a:ext cx="4038600" cy="1714500"/>
            <a:chOff x="7543800" y="4019550"/>
            <a:chExt cx="4038600" cy="1714500"/>
          </a:xfrm>
        </p:grpSpPr>
        <p:sp>
          <p:nvSpPr>
            <p:cNvPr id="91" name="Rectangle 91"/>
            <p:cNvSpPr/>
            <p:nvPr/>
          </p:nvSpPr>
          <p:spPr>
            <a:xfrm>
              <a:off x="7543800" y="4019550"/>
              <a:ext cx="4038600" cy="1714500"/>
            </a:xfrm>
            <a:prstGeom prst="roundRect">
              <a:avLst>
                <a:gd name="adj" fmla="val 8889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2" name="Rectangle 92"/>
            <p:cNvSpPr/>
            <p:nvPr/>
          </p:nvSpPr>
          <p:spPr>
            <a:xfrm>
              <a:off x="7543800" y="4019550"/>
              <a:ext cx="57150" cy="17145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grpSp>
          <p:nvGrpSpPr>
            <p:cNvPr id="96" name="Group 96"/>
            <p:cNvGrpSpPr/>
            <p:nvPr/>
          </p:nvGrpSpPr>
          <p:grpSpPr>
            <a:xfrm>
              <a:off x="7896223" y="4309008"/>
              <a:ext cx="196302" cy="202110"/>
              <a:chOff x="7896223" y="4309008"/>
              <a:chExt cx="196302" cy="202110"/>
            </a:xfrm>
          </p:grpSpPr>
          <p:sp>
            <p:nvSpPr>
              <p:cNvPr id="93" name="Freeform 93"/>
              <p:cNvSpPr/>
              <p:nvPr/>
            </p:nvSpPr>
            <p:spPr>
              <a:xfrm>
                <a:off x="7955756" y="4374356"/>
                <a:ext cx="71438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71438">
                    <a:moveTo>
                      <a:pt x="0" y="71438"/>
                    </a:moveTo>
                    <a:lnTo>
                      <a:pt x="71438" y="0"/>
                    </a:lnTo>
                  </a:path>
                </a:pathLst>
              </a:custGeom>
              <a:noFill/>
              <a:ln w="23812">
                <a:solidFill>
                  <a:srgbClr val="2FB3A8"/>
                </a:solidFill>
              </a:ln>
            </p:spPr>
          </p:sp>
          <p:sp>
            <p:nvSpPr>
              <p:cNvPr id="94" name="Freeform 94"/>
              <p:cNvSpPr/>
              <p:nvPr/>
            </p:nvSpPr>
            <p:spPr>
              <a:xfrm>
                <a:off x="7979569" y="4309008"/>
                <a:ext cx="112956" cy="112974"/>
              </a:xfrm>
              <a:custGeom>
                <a:avLst/>
                <a:gdLst/>
                <a:ahLst/>
                <a:cxnLst/>
                <a:rect l="l" t="t" r="r" b="b"/>
                <a:pathLst>
                  <a:path w="112956" h="112974">
                    <a:moveTo>
                      <a:pt x="0" y="29630"/>
                    </a:moveTo>
                    <a:lnTo>
                      <a:pt x="5513" y="23248"/>
                    </a:lnTo>
                    <a:cubicBezTo>
                      <a:pt x="28764" y="0"/>
                      <a:pt x="66459" y="3"/>
                      <a:pt x="89708" y="23254"/>
                    </a:cubicBezTo>
                    <a:cubicBezTo>
                      <a:pt x="112956" y="46506"/>
                      <a:pt x="112953" y="84201"/>
                      <a:pt x="89702" y="107449"/>
                    </a:cubicBezTo>
                    <a:lnTo>
                      <a:pt x="83344" y="112974"/>
                    </a:lnTo>
                  </a:path>
                </a:pathLst>
              </a:custGeom>
              <a:noFill/>
              <a:ln w="23812">
                <a:solidFill>
                  <a:srgbClr val="2FB3A8"/>
                </a:solidFill>
              </a:ln>
            </p:spPr>
          </p:sp>
          <p:sp>
            <p:nvSpPr>
              <p:cNvPr id="95" name="Freeform 95"/>
              <p:cNvSpPr/>
              <p:nvPr/>
            </p:nvSpPr>
            <p:spPr>
              <a:xfrm>
                <a:off x="7896223" y="4398169"/>
                <a:ext cx="107158" cy="112949"/>
              </a:xfrm>
              <a:custGeom>
                <a:avLst/>
                <a:gdLst/>
                <a:ahLst/>
                <a:cxnLst/>
                <a:rect l="l" t="t" r="r" b="b"/>
                <a:pathLst>
                  <a:path w="107158" h="112949">
                    <a:moveTo>
                      <a:pt x="107158" y="83344"/>
                    </a:moveTo>
                    <a:lnTo>
                      <a:pt x="102431" y="89702"/>
                    </a:lnTo>
                    <a:cubicBezTo>
                      <a:pt x="78922" y="112949"/>
                      <a:pt x="41084" y="112949"/>
                      <a:pt x="17575" y="89702"/>
                    </a:cubicBezTo>
                    <a:cubicBezTo>
                      <a:pt x="6329" y="78581"/>
                      <a:pt x="0" y="63423"/>
                      <a:pt x="0" y="47607"/>
                    </a:cubicBezTo>
                    <a:cubicBezTo>
                      <a:pt x="0" y="31791"/>
                      <a:pt x="6329" y="16633"/>
                      <a:pt x="17575" y="5513"/>
                    </a:cubicBezTo>
                    <a:lnTo>
                      <a:pt x="23814" y="0"/>
                    </a:lnTo>
                  </a:path>
                </a:pathLst>
              </a:custGeom>
              <a:noFill/>
              <a:ln w="23812">
                <a:solidFill>
                  <a:srgbClr val="2FB3A8"/>
                </a:solidFill>
              </a:ln>
            </p:spPr>
          </p:sp>
        </p:grpSp>
        <p:sp>
          <p:nvSpPr>
            <p:cNvPr id="97" name="TextBox 97"/>
            <p:cNvSpPr txBox="1"/>
            <p:nvPr/>
          </p:nvSpPr>
          <p:spPr>
            <a:xfrm>
              <a:off x="8242173" y="433911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机制亮点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7842885" y="4698206"/>
              <a:ext cx="27757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0904" indent="-120904">
                <a:buClr>
                  <a:srgbClr val="DCE8F2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rgbClr val="DCE8F2"/>
                  </a:solidFill>
                  <a:latin typeface="+mn-lt"/>
                  <a:ea typeface="+mn-ea"/>
                  <a:cs typeface="+mn-cs"/>
                </a:rPr>
                <a:t>酸性残基 D 与受体 Arg277 形成盐桥，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7995285" y="492680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DCE8F2"/>
                  </a:solidFill>
                  <a:latin typeface="+mn-lt"/>
                  <a:ea typeface="+mn-ea"/>
                  <a:cs typeface="+mn-cs"/>
                </a:rPr>
                <a:t>是结合与呈鲜的关键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7842885" y="5288756"/>
              <a:ext cx="23362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6949" indent="-126949">
                <a:buClr>
                  <a:srgbClr val="2FB3A8"/>
                </a:buClr>
                <a:buSzTx/>
                <a:buFontTx/>
                <a:buChar char="•"/>
              </a:pPr>
              <a:r>
                <a:rPr lang="zh-CN" sz="1120" b="1" dirty="0">
                  <a:solidFill>
                    <a:srgbClr val="2FB3A8"/>
                  </a:solidFill>
                  <a:latin typeface="+mn-lt"/>
                  <a:ea typeface="+mn-ea"/>
                  <a:cs typeface="+mn-cs"/>
                </a:rPr>
                <a:t>完整跑通「预测—验证」双轨闭环</a:t>
              </a:r>
            </a:p>
          </p:txBody>
        </p:sp>
      </p:grpSp>
      <p:grpSp>
        <p:nvGrpSpPr>
          <p:cNvPr id="103" name="Group 103"/>
          <p:cNvGrpSpPr/>
          <p:nvPr/>
        </p:nvGrpSpPr>
        <p:grpSpPr>
          <a:xfrm>
            <a:off x="833056" y="5872401"/>
            <a:ext cx="8076931" cy="198025"/>
            <a:chOff x="833056" y="5872401"/>
            <a:chExt cx="8076931" cy="198025"/>
          </a:xfrm>
        </p:grpSpPr>
        <p:sp>
          <p:nvSpPr>
            <p:cNvPr id="102" name="TextBox 102"/>
            <p:cNvSpPr txBox="1"/>
            <p:nvPr/>
          </p:nvSpPr>
          <p:spPr>
            <a:xfrm>
              <a:off x="833056" y="5872401"/>
              <a:ext cx="8076931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dirty="0">
                  <a:solidFill>
                    <a:srgbClr val="A3B2BF"/>
                  </a:solidFill>
                  <a:latin typeface="+mn-lt"/>
                  <a:ea typeface="+mn-ea"/>
                  <a:cs typeface="+mn-cs"/>
                </a:rPr>
                <a:t>注：RVPAGTTY、SDNFEY 同属对接锁定 5 肽；该研究证明计算筛选可把湿实验工作量压缩到极小，且结果被对接与感官双重证实</a:t>
              </a:r>
            </a:p>
          </p:txBody>
        </p:sp>
      </p:grpSp>
      <p:grpSp>
        <p:nvGrpSpPr>
          <p:cNvPr id="107" name="Group 107"/>
          <p:cNvGrpSpPr/>
          <p:nvPr/>
        </p:nvGrpSpPr>
        <p:grpSpPr>
          <a:xfrm>
            <a:off x="604647" y="6438900"/>
            <a:ext cx="10982706" cy="294989"/>
            <a:chOff x="604647" y="6438900"/>
            <a:chExt cx="10982706" cy="294989"/>
          </a:xfrm>
        </p:grpSpPr>
        <p:sp>
          <p:nvSpPr>
            <p:cNvPr id="104" name="Line 104"/>
            <p:cNvSpPr/>
            <p:nvPr/>
          </p:nvSpPr>
          <p:spPr>
            <a:xfrm>
              <a:off x="609600" y="6438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4288">
              <a:solidFill>
                <a:srgbClr val="DDE4EA"/>
              </a:solidFill>
            </a:ln>
          </p:spPr>
        </p:sp>
        <p:sp>
          <p:nvSpPr>
            <p:cNvPr id="105" name="TextBox 105"/>
            <p:cNvSpPr txBox="1"/>
            <p:nvPr/>
          </p:nvSpPr>
          <p:spPr>
            <a:xfrm>
              <a:off x="604647" y="6543199"/>
              <a:ext cx="62511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A3B2BF"/>
                  </a:solidFill>
                  <a:latin typeface="+mn-lt"/>
                  <a:ea typeface="+mn-ea"/>
                  <a:cs typeface="+mn-cs"/>
                </a:rPr>
                <a:t>来源：腐乳鲜味肽虚拟筛选研究（Food Chemistry 2025；肽序列、阈值与鲜度数据引自该研究公开报道）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11135490" y="6543199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A3B2BF"/>
                  </a:solidFill>
                  <a:latin typeface="+mn-lt"/>
                  <a:ea typeface="+mn-ea"/>
                  <a:cs typeface="+mn-cs"/>
                </a:rPr>
                <a:t>14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8170" y="515302"/>
            <a:ext cx="5172075" cy="843915"/>
            <a:chOff x="598170" y="515302"/>
            <a:chExt cx="5172075" cy="843915"/>
          </a:xfrm>
        </p:grpSpPr>
        <p:sp>
          <p:nvSpPr>
            <p:cNvPr id="2" name="TextBox 2"/>
            <p:cNvSpPr txBox="1"/>
            <p:nvPr/>
          </p:nvSpPr>
          <p:spPr>
            <a:xfrm>
              <a:off x="604266" y="515302"/>
              <a:ext cx="13239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22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05 · 挑战与展望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609600" y="762000"/>
              <a:ext cx="457200" cy="47625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98170" y="919162"/>
              <a:ext cx="517207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未来：从「预测鲜味」到「设计鲜味」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667500" y="1485900"/>
            <a:ext cx="4953000" cy="3924300"/>
            <a:chOff x="6667500" y="1485900"/>
            <a:chExt cx="4953000" cy="3924300"/>
          </a:xfrm>
        </p:grpSpPr>
        <p:sp>
          <p:nvSpPr>
            <p:cNvPr id="6" name="Rectangle 6"/>
            <p:cNvSpPr/>
            <p:nvPr/>
          </p:nvSpPr>
          <p:spPr>
            <a:xfrm>
              <a:off x="6705600" y="1524000"/>
              <a:ext cx="4914900" cy="3886200"/>
            </a:xfrm>
            <a:prstGeom prst="roundRect">
              <a:avLst>
                <a:gd name="adj" fmla="val 4902"/>
              </a:avLst>
            </a:prstGeom>
            <a:solidFill>
              <a:srgbClr val="E3E9ED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667500" y="1485900"/>
              <a:ext cx="4914900" cy="3886200"/>
            </a:xfrm>
            <a:prstGeom prst="roundRect">
              <a:avLst>
                <a:gd name="adj" fmla="val 4902"/>
              </a:avLst>
            </a:prstGeom>
            <a:solidFill>
              <a:srgbClr val="FFFFFF"/>
            </a:solidFill>
            <a:ln w="14288">
              <a:solidFill>
                <a:srgbClr val="DDE6EC"/>
              </a:solidFill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58000" y="2192482"/>
              <a:ext cx="4533900" cy="2473036"/>
            </a:xfrm>
            <a:prstGeom prst="rect">
              <a:avLst/>
            </a:prstGeom>
          </p:spPr>
        </p:pic>
      </p:grpSp>
      <p:grpSp>
        <p:nvGrpSpPr>
          <p:cNvPr id="44" name="Group 44"/>
          <p:cNvGrpSpPr/>
          <p:nvPr/>
        </p:nvGrpSpPr>
        <p:grpSpPr>
          <a:xfrm>
            <a:off x="609600" y="1485900"/>
            <a:ext cx="5753100" cy="2914650"/>
            <a:chOff x="609600" y="1485900"/>
            <a:chExt cx="5753100" cy="2914650"/>
          </a:xfrm>
        </p:grpSpPr>
        <p:grpSp>
          <p:nvGrpSpPr>
            <p:cNvPr id="19" name="Group 19"/>
            <p:cNvGrpSpPr/>
            <p:nvPr/>
          </p:nvGrpSpPr>
          <p:grpSpPr>
            <a:xfrm>
              <a:off x="609600" y="1485900"/>
              <a:ext cx="5753100" cy="895350"/>
              <a:chOff x="609600" y="1485900"/>
              <a:chExt cx="5753100" cy="89535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647700" y="1524000"/>
                <a:ext cx="5715000" cy="857250"/>
              </a:xfrm>
              <a:prstGeom prst="roundRect">
                <a:avLst>
                  <a:gd name="adj" fmla="val 17778"/>
                </a:avLst>
              </a:prstGeom>
              <a:solidFill>
                <a:srgbClr val="E3E9ED"/>
              </a:solidFill>
              <a:ln>
                <a:noFill/>
              </a:ln>
            </p:spPr>
          </p:sp>
          <p:sp>
            <p:nvSpPr>
              <p:cNvPr id="11" name="Rectangle 11"/>
              <p:cNvSpPr/>
              <p:nvPr/>
            </p:nvSpPr>
            <p:spPr>
              <a:xfrm>
                <a:off x="609600" y="1485900"/>
                <a:ext cx="5715000" cy="857250"/>
              </a:xfrm>
              <a:prstGeom prst="roundRect">
                <a:avLst>
                  <a:gd name="adj" fmla="val 17778"/>
                </a:avLst>
              </a:prstGeom>
              <a:solidFill>
                <a:srgbClr val="FFFFFF"/>
              </a:solidFill>
              <a:ln w="14288">
                <a:solidFill>
                  <a:srgbClr val="F0DECF"/>
                </a:solidFill>
              </a:ln>
            </p:spPr>
          </p:sp>
          <p:sp>
            <p:nvSpPr>
              <p:cNvPr id="12" name="Ellipse 12"/>
              <p:cNvSpPr/>
              <p:nvPr/>
            </p:nvSpPr>
            <p:spPr>
              <a:xfrm>
                <a:off x="847725" y="1695450"/>
                <a:ext cx="438150" cy="438150"/>
              </a:xfrm>
              <a:prstGeom prst="ellipse">
                <a:avLst/>
              </a:prstGeom>
              <a:solidFill>
                <a:srgbClr val="FBE9DD"/>
              </a:solidFill>
              <a:ln>
                <a:noFill/>
              </a:ln>
            </p:spPr>
          </p:sp>
          <p:grpSp>
            <p:nvGrpSpPr>
              <p:cNvPr id="16" name="Group 16"/>
              <p:cNvGrpSpPr/>
              <p:nvPr/>
            </p:nvGrpSpPr>
            <p:grpSpPr>
              <a:xfrm>
                <a:off x="930714" y="1788598"/>
                <a:ext cx="272162" cy="233823"/>
                <a:chOff x="930714" y="1788598"/>
                <a:chExt cx="272162" cy="233823"/>
              </a:xfrm>
            </p:grpSpPr>
            <p:sp>
              <p:nvSpPr>
                <p:cNvPr id="13" name="Freeform 13"/>
                <p:cNvSpPr/>
                <p:nvPr/>
              </p:nvSpPr>
              <p:spPr>
                <a:xfrm>
                  <a:off x="1066800" y="1874044"/>
                  <a:ext cx="9525" cy="53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53975">
                      <a:moveTo>
                        <a:pt x="0" y="0"/>
                      </a:moveTo>
                      <a:lnTo>
                        <a:pt x="0" y="53975"/>
                      </a:lnTo>
                    </a:path>
                  </a:pathLst>
                </a:custGeom>
                <a:noFill/>
                <a:ln w="26988">
                  <a:solidFill>
                    <a:schemeClr val="accent3"/>
                  </a:solidFill>
                </a:ln>
              </p:spPr>
            </p:sp>
            <p:sp>
              <p:nvSpPr>
                <p:cNvPr id="14" name="Freeform 14"/>
                <p:cNvSpPr/>
                <p:nvPr/>
              </p:nvSpPr>
              <p:spPr>
                <a:xfrm>
                  <a:off x="930714" y="1788598"/>
                  <a:ext cx="272162" cy="2338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2162" h="233823">
                      <a:moveTo>
                        <a:pt x="113997" y="12458"/>
                      </a:moveTo>
                      <a:lnTo>
                        <a:pt x="4616" y="195083"/>
                      </a:lnTo>
                      <a:cubicBezTo>
                        <a:pt x="28" y="203029"/>
                        <a:pt x="0" y="212812"/>
                        <a:pt x="4543" y="220785"/>
                      </a:cubicBezTo>
                      <a:cubicBezTo>
                        <a:pt x="9086" y="228757"/>
                        <a:pt x="17517" y="233720"/>
                        <a:pt x="26692" y="233823"/>
                      </a:cubicBezTo>
                      <a:lnTo>
                        <a:pt x="245480" y="233823"/>
                      </a:lnTo>
                      <a:cubicBezTo>
                        <a:pt x="254651" y="233717"/>
                        <a:pt x="263078" y="228756"/>
                        <a:pt x="267620" y="220788"/>
                      </a:cubicBezTo>
                      <a:cubicBezTo>
                        <a:pt x="272162" y="212820"/>
                        <a:pt x="272138" y="203041"/>
                        <a:pt x="267556" y="195096"/>
                      </a:cubicBezTo>
                      <a:lnTo>
                        <a:pt x="158176" y="12444"/>
                      </a:lnTo>
                      <a:cubicBezTo>
                        <a:pt x="153495" y="4719"/>
                        <a:pt x="145119" y="0"/>
                        <a:pt x="136086" y="0"/>
                      </a:cubicBezTo>
                      <a:cubicBezTo>
                        <a:pt x="127054" y="0"/>
                        <a:pt x="118677" y="4719"/>
                        <a:pt x="113997" y="12444"/>
                      </a:cubicBezTo>
                    </a:path>
                  </a:pathLst>
                </a:custGeom>
                <a:noFill/>
                <a:ln w="26988">
                  <a:solidFill>
                    <a:schemeClr val="accent3"/>
                  </a:solidFill>
                </a:ln>
              </p:spPr>
            </p:sp>
            <p:sp>
              <p:nvSpPr>
                <p:cNvPr id="15" name="Freeform 15"/>
                <p:cNvSpPr/>
                <p:nvPr/>
              </p:nvSpPr>
              <p:spPr>
                <a:xfrm>
                  <a:off x="1066800" y="1968501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135" y="0"/>
                      </a:lnTo>
                    </a:path>
                  </a:pathLst>
                </a:custGeom>
                <a:noFill/>
                <a:ln w="26988">
                  <a:solidFill>
                    <a:schemeClr val="accent3"/>
                  </a:solidFill>
                </a:ln>
              </p:spPr>
            </p:sp>
          </p:grpSp>
          <p:sp>
            <p:nvSpPr>
              <p:cNvPr id="17" name="TextBox 17"/>
              <p:cNvSpPr txBox="1"/>
              <p:nvPr/>
            </p:nvSpPr>
            <p:spPr>
              <a:xfrm>
                <a:off x="1441323" y="1729264"/>
                <a:ext cx="1908404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数据规模小、类别不平衡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442085" y="2031206"/>
                <a:ext cx="363001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标注肽仅数百条且评价口径不一，跨数据集泛化受限。</a:t>
                </a: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609600" y="2495550"/>
              <a:ext cx="5753100" cy="895350"/>
              <a:chOff x="609600" y="2495550"/>
              <a:chExt cx="5753100" cy="895350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647700" y="2533650"/>
                <a:ext cx="5715000" cy="857250"/>
              </a:xfrm>
              <a:prstGeom prst="roundRect">
                <a:avLst>
                  <a:gd name="adj" fmla="val 17778"/>
                </a:avLst>
              </a:prstGeom>
              <a:solidFill>
                <a:srgbClr val="E3E9ED"/>
              </a:solidFill>
              <a:ln>
                <a:noFill/>
              </a:ln>
            </p:spPr>
          </p:sp>
          <p:sp>
            <p:nvSpPr>
              <p:cNvPr id="21" name="Rectangle 21"/>
              <p:cNvSpPr/>
              <p:nvPr/>
            </p:nvSpPr>
            <p:spPr>
              <a:xfrm>
                <a:off x="609600" y="2495550"/>
                <a:ext cx="5715000" cy="857250"/>
              </a:xfrm>
              <a:prstGeom prst="roundRect">
                <a:avLst>
                  <a:gd name="adj" fmla="val 17778"/>
                </a:avLst>
              </a:prstGeom>
              <a:solidFill>
                <a:srgbClr val="FFFFFF"/>
              </a:solidFill>
              <a:ln w="14288">
                <a:solidFill>
                  <a:srgbClr val="F0DECF"/>
                </a:solidFill>
              </a:ln>
            </p:spPr>
          </p:sp>
          <p:sp>
            <p:nvSpPr>
              <p:cNvPr id="22" name="Ellipse 22"/>
              <p:cNvSpPr/>
              <p:nvPr/>
            </p:nvSpPr>
            <p:spPr>
              <a:xfrm>
                <a:off x="847725" y="2705100"/>
                <a:ext cx="438150" cy="438150"/>
              </a:xfrm>
              <a:prstGeom prst="ellipse">
                <a:avLst/>
              </a:prstGeom>
              <a:solidFill>
                <a:srgbClr val="FBE9DD"/>
              </a:solidFill>
              <a:ln>
                <a:noFill/>
              </a:ln>
            </p:spPr>
          </p:sp>
          <p:grpSp>
            <p:nvGrpSpPr>
              <p:cNvPr id="29" name="Group 29"/>
              <p:cNvGrpSpPr/>
              <p:nvPr/>
            </p:nvGrpSpPr>
            <p:grpSpPr>
              <a:xfrm>
                <a:off x="945356" y="2802731"/>
                <a:ext cx="242888" cy="242888"/>
                <a:chOff x="945356" y="2802731"/>
                <a:chExt cx="242888" cy="242888"/>
              </a:xfrm>
            </p:grpSpPr>
            <p:sp>
              <p:nvSpPr>
                <p:cNvPr id="23" name="Freeform 23"/>
                <p:cNvSpPr/>
                <p:nvPr/>
              </p:nvSpPr>
              <p:spPr>
                <a:xfrm>
                  <a:off x="1066800" y="2937669"/>
                  <a:ext cx="94456" cy="107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456" h="107950">
                      <a:moveTo>
                        <a:pt x="47228" y="0"/>
                      </a:moveTo>
                      <a:cubicBezTo>
                        <a:pt x="21145" y="0"/>
                        <a:pt x="0" y="21145"/>
                        <a:pt x="0" y="47228"/>
                      </a:cubicBezTo>
                      <a:lnTo>
                        <a:pt x="0" y="60722"/>
                      </a:lnTo>
                      <a:cubicBezTo>
                        <a:pt x="0" y="86805"/>
                        <a:pt x="21145" y="107950"/>
                        <a:pt x="47228" y="107950"/>
                      </a:cubicBezTo>
                      <a:cubicBezTo>
                        <a:pt x="73312" y="107950"/>
                        <a:pt x="94456" y="86805"/>
                        <a:pt x="94456" y="60722"/>
                      </a:cubicBezTo>
                      <a:lnTo>
                        <a:pt x="94456" y="36433"/>
                      </a:lnTo>
                    </a:path>
                  </a:pathLst>
                </a:custGeom>
                <a:noFill/>
                <a:ln w="26988">
                  <a:solidFill>
                    <a:schemeClr val="accent3"/>
                  </a:solidFill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972344" y="2937669"/>
                  <a:ext cx="94456" cy="107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456" h="107950">
                      <a:moveTo>
                        <a:pt x="47228" y="0"/>
                      </a:moveTo>
                      <a:cubicBezTo>
                        <a:pt x="73312" y="0"/>
                        <a:pt x="94456" y="21145"/>
                        <a:pt x="94456" y="47228"/>
                      </a:cubicBezTo>
                      <a:lnTo>
                        <a:pt x="94456" y="60722"/>
                      </a:lnTo>
                      <a:cubicBezTo>
                        <a:pt x="94456" y="86805"/>
                        <a:pt x="73312" y="107950"/>
                        <a:pt x="47228" y="107950"/>
                      </a:cubicBezTo>
                      <a:cubicBezTo>
                        <a:pt x="21145" y="107950"/>
                        <a:pt x="0" y="86805"/>
                        <a:pt x="0" y="60722"/>
                      </a:cubicBezTo>
                      <a:lnTo>
                        <a:pt x="0" y="36433"/>
                      </a:lnTo>
                    </a:path>
                  </a:pathLst>
                </a:custGeom>
                <a:noFill/>
                <a:ln w="26988">
                  <a:solidFill>
                    <a:schemeClr val="accent3"/>
                  </a:solidFill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1134269" y="2883694"/>
                  <a:ext cx="53975" cy="944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975" h="94456">
                      <a:moveTo>
                        <a:pt x="6747" y="94456"/>
                      </a:moveTo>
                      <a:cubicBezTo>
                        <a:pt x="32830" y="94456"/>
                        <a:pt x="53975" y="73312"/>
                        <a:pt x="53975" y="47228"/>
                      </a:cubicBezTo>
                      <a:cubicBezTo>
                        <a:pt x="53975" y="21145"/>
                        <a:pt x="32830" y="0"/>
                        <a:pt x="6747" y="0"/>
                      </a:cubicBezTo>
                      <a:lnTo>
                        <a:pt x="0" y="0"/>
                      </a:lnTo>
                    </a:path>
                  </a:pathLst>
                </a:custGeom>
                <a:noFill/>
                <a:ln w="26988">
                  <a:solidFill>
                    <a:schemeClr val="accent3"/>
                  </a:solidFill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1066800" y="2802731"/>
                  <a:ext cx="94456" cy="85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456" h="85011">
                      <a:moveTo>
                        <a:pt x="94456" y="85011"/>
                      </a:moveTo>
                      <a:lnTo>
                        <a:pt x="94456" y="47228"/>
                      </a:lnTo>
                      <a:cubicBezTo>
                        <a:pt x="94456" y="21145"/>
                        <a:pt x="73312" y="0"/>
                        <a:pt x="47228" y="0"/>
                      </a:cubicBezTo>
                      <a:cubicBezTo>
                        <a:pt x="21145" y="0"/>
                        <a:pt x="0" y="21145"/>
                        <a:pt x="0" y="47228"/>
                      </a:cubicBezTo>
                    </a:path>
                  </a:pathLst>
                </a:custGeom>
                <a:noFill/>
                <a:ln w="26988">
                  <a:solidFill>
                    <a:schemeClr val="accent3"/>
                  </a:solidFill>
                </a:ln>
              </p:spPr>
            </p:sp>
            <p:sp>
              <p:nvSpPr>
                <p:cNvPr id="27" name="Freeform 27"/>
                <p:cNvSpPr/>
                <p:nvPr/>
              </p:nvSpPr>
              <p:spPr>
                <a:xfrm>
                  <a:off x="945356" y="2883694"/>
                  <a:ext cx="53975" cy="944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975" h="94456">
                      <a:moveTo>
                        <a:pt x="47228" y="94456"/>
                      </a:moveTo>
                      <a:cubicBezTo>
                        <a:pt x="21145" y="94456"/>
                        <a:pt x="0" y="73312"/>
                        <a:pt x="0" y="47228"/>
                      </a:cubicBezTo>
                      <a:cubicBezTo>
                        <a:pt x="0" y="21145"/>
                        <a:pt x="21145" y="0"/>
                        <a:pt x="47228" y="0"/>
                      </a:cubicBezTo>
                      <a:lnTo>
                        <a:pt x="53975" y="0"/>
                      </a:lnTo>
                    </a:path>
                  </a:pathLst>
                </a:custGeom>
                <a:noFill/>
                <a:ln w="26988">
                  <a:solidFill>
                    <a:schemeClr val="accent3"/>
                  </a:solidFill>
                </a:ln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972344" y="2802731"/>
                  <a:ext cx="94456" cy="1821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456" h="182166">
                      <a:moveTo>
                        <a:pt x="0" y="85011"/>
                      </a:moveTo>
                      <a:lnTo>
                        <a:pt x="0" y="47228"/>
                      </a:lnTo>
                      <a:cubicBezTo>
                        <a:pt x="0" y="21145"/>
                        <a:pt x="21145" y="0"/>
                        <a:pt x="47228" y="0"/>
                      </a:cubicBezTo>
                      <a:cubicBezTo>
                        <a:pt x="73312" y="0"/>
                        <a:pt x="94456" y="21145"/>
                        <a:pt x="94456" y="47228"/>
                      </a:cubicBezTo>
                      <a:lnTo>
                        <a:pt x="94456" y="182166"/>
                      </a:lnTo>
                    </a:path>
                  </a:pathLst>
                </a:custGeom>
                <a:noFill/>
                <a:ln w="26988">
                  <a:solidFill>
                    <a:schemeClr val="accent3"/>
                  </a:solidFill>
                </a:ln>
              </p:spPr>
            </p:sp>
          </p:grpSp>
          <p:sp>
            <p:nvSpPr>
              <p:cNvPr id="30" name="TextBox 30"/>
              <p:cNvSpPr txBox="1"/>
              <p:nvPr/>
            </p:nvSpPr>
            <p:spPr>
              <a:xfrm>
                <a:off x="1441323" y="2738914"/>
                <a:ext cx="104683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可解释性仍浅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1442085" y="3040856"/>
                <a:ext cx="393156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注意力能定位关键残基，但机制解释仍需对接与实验补强。</a:t>
                </a: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609600" y="3505200"/>
              <a:ext cx="5753100" cy="895350"/>
              <a:chOff x="609600" y="3505200"/>
              <a:chExt cx="5753100" cy="895350"/>
            </a:xfrm>
          </p:grpSpPr>
          <p:sp>
            <p:nvSpPr>
              <p:cNvPr id="33" name="Rectangle 33"/>
              <p:cNvSpPr/>
              <p:nvPr/>
            </p:nvSpPr>
            <p:spPr>
              <a:xfrm>
                <a:off x="647700" y="3543300"/>
                <a:ext cx="5715000" cy="857250"/>
              </a:xfrm>
              <a:prstGeom prst="roundRect">
                <a:avLst>
                  <a:gd name="adj" fmla="val 17778"/>
                </a:avLst>
              </a:prstGeom>
              <a:solidFill>
                <a:srgbClr val="E3E9ED"/>
              </a:solidFill>
              <a:ln>
                <a:noFill/>
              </a:ln>
            </p:spPr>
          </p:sp>
          <p:sp>
            <p:nvSpPr>
              <p:cNvPr id="34" name="Rectangle 34"/>
              <p:cNvSpPr/>
              <p:nvPr/>
            </p:nvSpPr>
            <p:spPr>
              <a:xfrm>
                <a:off x="609600" y="3505200"/>
                <a:ext cx="5715000" cy="857250"/>
              </a:xfrm>
              <a:prstGeom prst="roundRect">
                <a:avLst>
                  <a:gd name="adj" fmla="val 17778"/>
                </a:avLst>
              </a:prstGeom>
              <a:solidFill>
                <a:srgbClr val="FFFFFF"/>
              </a:solidFill>
              <a:ln w="14288">
                <a:solidFill>
                  <a:srgbClr val="F0DECF"/>
                </a:solidFill>
              </a:ln>
            </p:spPr>
          </p:sp>
          <p:sp>
            <p:nvSpPr>
              <p:cNvPr id="35" name="Ellipse 35"/>
              <p:cNvSpPr/>
              <p:nvPr/>
            </p:nvSpPr>
            <p:spPr>
              <a:xfrm>
                <a:off x="847725" y="3714750"/>
                <a:ext cx="438150" cy="438150"/>
              </a:xfrm>
              <a:prstGeom prst="ellipse">
                <a:avLst/>
              </a:prstGeom>
              <a:solidFill>
                <a:srgbClr val="FBE9DD"/>
              </a:solidFill>
              <a:ln>
                <a:noFill/>
              </a:ln>
            </p:spPr>
          </p:sp>
          <p:grpSp>
            <p:nvGrpSpPr>
              <p:cNvPr id="40" name="Group 40"/>
              <p:cNvGrpSpPr/>
              <p:nvPr/>
            </p:nvGrpSpPr>
            <p:grpSpPr>
              <a:xfrm>
                <a:off x="945356" y="3825875"/>
                <a:ext cx="242889" cy="225426"/>
                <a:chOff x="945356" y="3825875"/>
                <a:chExt cx="242889" cy="225426"/>
              </a:xfrm>
            </p:grpSpPr>
            <p:sp>
              <p:nvSpPr>
                <p:cNvPr id="36" name="Freeform 36"/>
                <p:cNvSpPr/>
                <p:nvPr/>
              </p:nvSpPr>
              <p:spPr>
                <a:xfrm>
                  <a:off x="945356" y="3933825"/>
                  <a:ext cx="80963" cy="107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963" h="107950">
                      <a:moveTo>
                        <a:pt x="0" y="13494"/>
                      </a:moveTo>
                      <a:cubicBezTo>
                        <a:pt x="0" y="6041"/>
                        <a:pt x="6041" y="0"/>
                        <a:pt x="13494" y="0"/>
                      </a:cubicBezTo>
                      <a:lnTo>
                        <a:pt x="67469" y="0"/>
                      </a:lnTo>
                      <a:cubicBezTo>
                        <a:pt x="74921" y="0"/>
                        <a:pt x="80963" y="6041"/>
                        <a:pt x="80963" y="13494"/>
                      </a:cubicBezTo>
                      <a:lnTo>
                        <a:pt x="80963" y="94456"/>
                      </a:lnTo>
                      <a:cubicBezTo>
                        <a:pt x="80963" y="101909"/>
                        <a:pt x="74921" y="107950"/>
                        <a:pt x="67469" y="107950"/>
                      </a:cubicBezTo>
                      <a:lnTo>
                        <a:pt x="13494" y="107950"/>
                      </a:lnTo>
                      <a:cubicBezTo>
                        <a:pt x="6041" y="107950"/>
                        <a:pt x="0" y="101909"/>
                        <a:pt x="0" y="94456"/>
                      </a:cubicBezTo>
                      <a:lnTo>
                        <a:pt x="0" y="13494"/>
                      </a:lnTo>
                    </a:path>
                  </a:pathLst>
                </a:custGeom>
                <a:noFill/>
                <a:ln w="26988">
                  <a:solidFill>
                    <a:schemeClr val="accent3"/>
                  </a:solidFill>
                </a:ln>
              </p:spPr>
            </p:sp>
            <p:sp>
              <p:nvSpPr>
                <p:cNvPr id="37" name="Freeform 37"/>
                <p:cNvSpPr/>
                <p:nvPr/>
              </p:nvSpPr>
              <p:spPr>
                <a:xfrm>
                  <a:off x="1107282" y="3879850"/>
                  <a:ext cx="80963" cy="161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963" h="161925">
                      <a:moveTo>
                        <a:pt x="0" y="13494"/>
                      </a:moveTo>
                      <a:cubicBezTo>
                        <a:pt x="0" y="6041"/>
                        <a:pt x="6041" y="0"/>
                        <a:pt x="13494" y="0"/>
                      </a:cubicBezTo>
                      <a:lnTo>
                        <a:pt x="67469" y="0"/>
                      </a:lnTo>
                      <a:cubicBezTo>
                        <a:pt x="74921" y="0"/>
                        <a:pt x="80963" y="6041"/>
                        <a:pt x="80963" y="13494"/>
                      </a:cubicBezTo>
                      <a:lnTo>
                        <a:pt x="80963" y="148432"/>
                      </a:lnTo>
                      <a:cubicBezTo>
                        <a:pt x="80963" y="155884"/>
                        <a:pt x="74921" y="161925"/>
                        <a:pt x="67469" y="161925"/>
                      </a:cubicBezTo>
                      <a:lnTo>
                        <a:pt x="13494" y="161925"/>
                      </a:lnTo>
                      <a:cubicBezTo>
                        <a:pt x="6041" y="161925"/>
                        <a:pt x="0" y="155884"/>
                        <a:pt x="0" y="148432"/>
                      </a:cubicBezTo>
                      <a:lnTo>
                        <a:pt x="0" y="13494"/>
                      </a:lnTo>
                    </a:path>
                  </a:pathLst>
                </a:custGeom>
                <a:noFill/>
                <a:ln w="26988">
                  <a:solidFill>
                    <a:schemeClr val="accent3"/>
                  </a:solidFill>
                </a:ln>
              </p:spPr>
            </p:sp>
            <p:sp>
              <p:nvSpPr>
                <p:cNvPr id="38" name="Freeform 38"/>
                <p:cNvSpPr/>
                <p:nvPr/>
              </p:nvSpPr>
              <p:spPr>
                <a:xfrm>
                  <a:off x="1026319" y="3825875"/>
                  <a:ext cx="80963" cy="2159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963" h="215901">
                      <a:moveTo>
                        <a:pt x="0" y="13494"/>
                      </a:moveTo>
                      <a:cubicBezTo>
                        <a:pt x="0" y="6041"/>
                        <a:pt x="6041" y="0"/>
                        <a:pt x="13494" y="0"/>
                      </a:cubicBezTo>
                      <a:lnTo>
                        <a:pt x="67469" y="0"/>
                      </a:lnTo>
                      <a:cubicBezTo>
                        <a:pt x="74921" y="0"/>
                        <a:pt x="80963" y="6041"/>
                        <a:pt x="80963" y="13494"/>
                      </a:cubicBezTo>
                      <a:lnTo>
                        <a:pt x="80963" y="202407"/>
                      </a:lnTo>
                      <a:cubicBezTo>
                        <a:pt x="80963" y="209859"/>
                        <a:pt x="74921" y="215901"/>
                        <a:pt x="67469" y="215901"/>
                      </a:cubicBezTo>
                      <a:lnTo>
                        <a:pt x="13494" y="215901"/>
                      </a:lnTo>
                      <a:cubicBezTo>
                        <a:pt x="6041" y="215901"/>
                        <a:pt x="0" y="209859"/>
                        <a:pt x="0" y="202407"/>
                      </a:cubicBezTo>
                      <a:lnTo>
                        <a:pt x="0" y="13494"/>
                      </a:lnTo>
                    </a:path>
                  </a:pathLst>
                </a:custGeom>
                <a:noFill/>
                <a:ln w="26988">
                  <a:solidFill>
                    <a:schemeClr val="accent3"/>
                  </a:solidFill>
                </a:ln>
              </p:spPr>
            </p:sp>
            <p:sp>
              <p:nvSpPr>
                <p:cNvPr id="39" name="Freeform 39"/>
                <p:cNvSpPr/>
                <p:nvPr/>
              </p:nvSpPr>
              <p:spPr>
                <a:xfrm>
                  <a:off x="958850" y="4041776"/>
                  <a:ext cx="188913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8913" h="9525">
                      <a:moveTo>
                        <a:pt x="0" y="0"/>
                      </a:moveTo>
                      <a:lnTo>
                        <a:pt x="188913" y="0"/>
                      </a:lnTo>
                    </a:path>
                  </a:pathLst>
                </a:custGeom>
                <a:noFill/>
                <a:ln w="26988">
                  <a:solidFill>
                    <a:schemeClr val="accent3"/>
                  </a:solidFill>
                </a:ln>
              </p:spPr>
            </p:sp>
          </p:grpSp>
          <p:sp>
            <p:nvSpPr>
              <p:cNvPr id="41" name="TextBox 41"/>
              <p:cNvSpPr txBox="1"/>
              <p:nvPr/>
            </p:nvSpPr>
            <p:spPr>
              <a:xfrm>
                <a:off x="1441323" y="3748564"/>
                <a:ext cx="156377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从分类走向定量泛化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1442085" y="4050506"/>
                <a:ext cx="3328467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阈值、强度、增鲜协同等定量回归问题尚待突破。</a:t>
                </a:r>
              </a:p>
            </p:txBody>
          </p:sp>
        </p:grpSp>
      </p:grpSp>
      <p:grpSp>
        <p:nvGrpSpPr>
          <p:cNvPr id="53" name="Group 53"/>
          <p:cNvGrpSpPr/>
          <p:nvPr/>
        </p:nvGrpSpPr>
        <p:grpSpPr>
          <a:xfrm>
            <a:off x="609600" y="4552950"/>
            <a:ext cx="5715000" cy="1162050"/>
            <a:chOff x="609600" y="4552950"/>
            <a:chExt cx="5715000" cy="1162050"/>
          </a:xfrm>
        </p:grpSpPr>
        <p:sp>
          <p:nvSpPr>
            <p:cNvPr id="45" name="Rectangle 45"/>
            <p:cNvSpPr/>
            <p:nvPr/>
          </p:nvSpPr>
          <p:spPr>
            <a:xfrm>
              <a:off x="609600" y="4552950"/>
              <a:ext cx="5715000" cy="1162050"/>
            </a:xfrm>
            <a:prstGeom prst="roundRect">
              <a:avLst>
                <a:gd name="adj" fmla="val 13115"/>
              </a:avLst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912019" y="4836319"/>
              <a:ext cx="214312" cy="214313"/>
              <a:chOff x="912019" y="4836319"/>
              <a:chExt cx="214312" cy="214313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912019" y="4836319"/>
                <a:ext cx="214312" cy="107156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107156">
                    <a:moveTo>
                      <a:pt x="0" y="107156"/>
                    </a:moveTo>
                    <a:lnTo>
                      <a:pt x="11906" y="107156"/>
                    </a:lnTo>
                    <a:moveTo>
                      <a:pt x="107156" y="0"/>
                    </a:moveTo>
                    <a:lnTo>
                      <a:pt x="107156" y="11906"/>
                    </a:lnTo>
                    <a:moveTo>
                      <a:pt x="202406" y="107156"/>
                    </a:moveTo>
                    <a:lnTo>
                      <a:pt x="214312" y="107156"/>
                    </a:lnTo>
                    <a:moveTo>
                      <a:pt x="30956" y="30956"/>
                    </a:moveTo>
                    <a:lnTo>
                      <a:pt x="39291" y="39291"/>
                    </a:lnTo>
                    <a:moveTo>
                      <a:pt x="183356" y="30956"/>
                    </a:moveTo>
                    <a:lnTo>
                      <a:pt x="175022" y="39291"/>
                    </a:lnTo>
                  </a:path>
                </a:pathLst>
              </a:custGeom>
              <a:noFill/>
              <a:ln w="23812">
                <a:solidFill>
                  <a:srgbClr val="2FB3A8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954596" y="4883944"/>
                <a:ext cx="129159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129159" h="166688">
                    <a:moveTo>
                      <a:pt x="28861" y="107156"/>
                    </a:moveTo>
                    <a:cubicBezTo>
                      <a:pt x="8361" y="91782"/>
                      <a:pt x="0" y="65015"/>
                      <a:pt x="8103" y="40706"/>
                    </a:cubicBezTo>
                    <a:cubicBezTo>
                      <a:pt x="16206" y="16397"/>
                      <a:pt x="38955" y="0"/>
                      <a:pt x="64579" y="0"/>
                    </a:cubicBezTo>
                    <a:cubicBezTo>
                      <a:pt x="90203" y="0"/>
                      <a:pt x="112953" y="16397"/>
                      <a:pt x="121056" y="40706"/>
                    </a:cubicBezTo>
                    <a:cubicBezTo>
                      <a:pt x="129159" y="65015"/>
                      <a:pt x="120797" y="91782"/>
                      <a:pt x="100298" y="107156"/>
                    </a:cubicBezTo>
                    <a:cubicBezTo>
                      <a:pt x="90870" y="116489"/>
                      <a:pt x="86449" y="129752"/>
                      <a:pt x="88392" y="142875"/>
                    </a:cubicBezTo>
                    <a:cubicBezTo>
                      <a:pt x="88392" y="156026"/>
                      <a:pt x="77731" y="166688"/>
                      <a:pt x="64579" y="166688"/>
                    </a:cubicBezTo>
                    <a:cubicBezTo>
                      <a:pt x="51428" y="166688"/>
                      <a:pt x="40767" y="156026"/>
                      <a:pt x="40767" y="142875"/>
                    </a:cubicBezTo>
                    <a:cubicBezTo>
                      <a:pt x="42710" y="129752"/>
                      <a:pt x="38288" y="116489"/>
                      <a:pt x="28861" y="107156"/>
                    </a:cubicBezTo>
                  </a:path>
                </a:pathLst>
              </a:custGeom>
              <a:noFill/>
              <a:ln w="23812">
                <a:solidFill>
                  <a:srgbClr val="2FB3A8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991791" y="5003006"/>
                <a:ext cx="54769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4769" h="9525">
                    <a:moveTo>
                      <a:pt x="0" y="0"/>
                    </a:moveTo>
                    <a:lnTo>
                      <a:pt x="54769" y="0"/>
                    </a:lnTo>
                  </a:path>
                </a:pathLst>
              </a:custGeom>
              <a:noFill/>
              <a:ln w="23812">
                <a:solidFill>
                  <a:srgbClr val="2FB3A8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1269873" y="487251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展望方向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70585" y="5174456"/>
              <a:ext cx="44814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0904" indent="-120904">
                <a:buClr>
                  <a:srgbClr val="DCE8F2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rgbClr val="DCE8F2"/>
                  </a:solidFill>
                  <a:latin typeface="+mn-lt"/>
                  <a:ea typeface="+mn-ea"/>
                  <a:cs typeface="+mn-cs"/>
                </a:rPr>
                <a:t>多任务 / 多味觉学习，AI 从头设计鲜味肽（模块替换已验证）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70585" y="5441156"/>
              <a:ext cx="42183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0904" indent="-120904">
                <a:buClr>
                  <a:srgbClr val="DCE8F2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rgbClr val="DCE8F2"/>
                  </a:solidFill>
                  <a:latin typeface="+mn-lt"/>
                  <a:ea typeface="+mn-ea"/>
                  <a:cs typeface="+mn-cs"/>
                </a:rPr>
                <a:t>预测—对接—验证闭环自动化；服务低钠调味品与副产物高值化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6667500" y="5562600"/>
            <a:ext cx="4914900" cy="552450"/>
            <a:chOff x="6667500" y="5562600"/>
            <a:chExt cx="4914900" cy="552450"/>
          </a:xfrm>
        </p:grpSpPr>
        <p:sp>
          <p:nvSpPr>
            <p:cNvPr id="54" name="Rectangle 54"/>
            <p:cNvSpPr/>
            <p:nvPr/>
          </p:nvSpPr>
          <p:spPr>
            <a:xfrm>
              <a:off x="6667500" y="5562600"/>
              <a:ext cx="4914900" cy="552450"/>
            </a:xfrm>
            <a:prstGeom prst="roundRect">
              <a:avLst>
                <a:gd name="adj" fmla="val 27586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6667500" y="5562600"/>
              <a:ext cx="57150" cy="5524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504709" y="5771912"/>
              <a:ext cx="3392881" cy="242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4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筛选从月到秒 · 准确率 &gt;90% · 双轨范式已成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604647" y="6438900"/>
            <a:ext cx="10982706" cy="294989"/>
            <a:chOff x="604647" y="6438900"/>
            <a:chExt cx="10982706" cy="294989"/>
          </a:xfrm>
        </p:grpSpPr>
        <p:sp>
          <p:nvSpPr>
            <p:cNvPr id="58" name="Line 58"/>
            <p:cNvSpPr/>
            <p:nvPr/>
          </p:nvSpPr>
          <p:spPr>
            <a:xfrm>
              <a:off x="609600" y="6438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4288">
              <a:solidFill>
                <a:srgbClr val="DDE4EA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04647" y="6543199"/>
              <a:ext cx="751501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A3B2BF"/>
                  </a:solidFill>
                  <a:latin typeface="+mn-lt"/>
                  <a:ea typeface="+mn-ea"/>
                  <a:cs typeface="+mn-cs"/>
                </a:rPr>
                <a:t>来源：Food Chemistry 2025（模块替换、0.9398）；VirtuousMultiTaste（npj Sci Food 2024）；iUP-BERT（Foods 2022）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135490" y="6543199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A3B2BF"/>
                  </a:solidFill>
                  <a:latin typeface="+mn-lt"/>
                  <a:ea typeface="+mn-ea"/>
                  <a:cs typeface="+mn-cs"/>
                </a:rPr>
                <a:t>15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umami_peptide_ml_pro">
  <a:themeElements>
    <a:clrScheme name="umami_peptide_ml_pro">
      <a:dk1>
        <a:srgbClr val="273742"/>
      </a:dk1>
      <a:lt1>
        <a:srgbClr val="F4F6F7"/>
      </a:lt1>
      <a:dk2>
        <a:srgbClr val="1F497D"/>
      </a:dk2>
      <a:lt2>
        <a:srgbClr val="F4F6F7"/>
      </a:lt2>
      <a:accent1>
        <a:srgbClr val="0B2C47"/>
      </a:accent1>
      <a:accent2>
        <a:srgbClr val="0E8F86"/>
      </a:accent2>
      <a:accent3>
        <a:srgbClr val="E8743B"/>
      </a:accent3>
      <a:accent4>
        <a:srgbClr val="0B2C47"/>
      </a:accent4>
      <a:accent5>
        <a:srgbClr val="6B7C8A"/>
      </a:accent5>
      <a:accent6>
        <a:srgbClr val="E8EFF5"/>
      </a:accent6>
      <a:hlink>
        <a:srgbClr val="0E8F86"/>
      </a:hlink>
      <a:folHlink>
        <a:srgbClr val="E8743B"/>
      </a:folHlink>
    </a:clrScheme>
    <a:fontScheme name="umami_peptide_ml_pro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ami_peptide_ml_pr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umami_peptide_ml_pro">
  <a:themeElements>
    <a:clrScheme name="umami_peptide_ml_pro">
      <a:dk1>
        <a:srgbClr val="273742"/>
      </a:dk1>
      <a:lt1>
        <a:srgbClr val="F4F6F7"/>
      </a:lt1>
      <a:dk2>
        <a:srgbClr val="1F497D"/>
      </a:dk2>
      <a:lt2>
        <a:srgbClr val="F4F6F7"/>
      </a:lt2>
      <a:accent1>
        <a:srgbClr val="0B2C47"/>
      </a:accent1>
      <a:accent2>
        <a:srgbClr val="0E8F86"/>
      </a:accent2>
      <a:accent3>
        <a:srgbClr val="E8743B"/>
      </a:accent3>
      <a:accent4>
        <a:srgbClr val="0B2C47"/>
      </a:accent4>
      <a:accent5>
        <a:srgbClr val="6B7C8A"/>
      </a:accent5>
      <a:accent6>
        <a:srgbClr val="E8EFF5"/>
      </a:accent6>
      <a:hlink>
        <a:srgbClr val="0E8F86"/>
      </a:hlink>
      <a:folHlink>
        <a:srgbClr val="E8743B"/>
      </a:folHlink>
    </a:clrScheme>
    <a:fontScheme name="umami_peptide_ml_pro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ami_peptide_ml_pr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2026-08-29T01:46:43Z</dcterms:created>
  <dcterms:modified xsi:type="dcterms:W3CDTF">2026-08-29T01:46:43Z</dcterms:modified>
  <cp:category/>
  <cp:contentStatus/>
</cp:coreProperties>
</file>