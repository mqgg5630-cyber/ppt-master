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xlsx" ContentType="application/vnd.openxmlformats-officedocument.spreadsheetml.sheet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charts/chart1201.xml" ContentType="application/vnd.openxmlformats-officedocument.drawingml.chart+xml"/>
  <Override PartName="/ppt/charts/chart301.xml" ContentType="application/vnd.openxmlformats-officedocument.drawingml.chart+xml"/>
  <Override PartName="/ppt/charts/chart801.xml" ContentType="application/vnd.openxmlformats-officedocument.drawingml.chart+xml"/>
  <Override PartName="/ppt/charts/chart901.xml" ContentType="application/vnd.openxmlformats-officedocument.drawingml.char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  <Relationship Id="rId22" Type="http://schemas.openxmlformats.org/officeDocument/2006/relationships/notesMaster" Target="notesMasters/notesMaster1.xml"/>
</Relationships>
</file>

<file path=ppt/charts/_rels/chart301.xml.rels><?xml version="1.0" encoding="UTF-8" standalone="yes"?>
<Relationships xmlns="http://schemas.openxmlformats.org/package/2006/relationships">
<Relationship Id="rId1" Type="http://schemas.openxmlformats.org/officeDocument/2006/relationships/package" Target="../embeddings/Microsoft_Excel_Sheet301.xlsx"/>
</Relationships>
</file>

<file path=ppt/charts/_rels/chart801.xml.rels><?xml version="1.0" encoding="UTF-8" standalone="yes"?>
<Relationships xmlns="http://schemas.openxmlformats.org/package/2006/relationships">
<Relationship Id="rId1" Type="http://schemas.openxmlformats.org/officeDocument/2006/relationships/package" Target="../embeddings/Microsoft_Excel_Sheet801.xlsx"/>
</Relationships>
</file>

<file path=ppt/charts/_rels/chart901.xml.rels><?xml version="1.0" encoding="UTF-8" standalone="yes"?>
<Relationships xmlns="http://schemas.openxmlformats.org/package/2006/relationships">
<Relationship Id="rId1" Type="http://schemas.openxmlformats.org/officeDocument/2006/relationships/package" Target="../embeddings/Microsoft_Excel_Sheet901.xlsx"/>
</Relationships>
</file>

<file path=ppt/charts/_rels/chart1201.xml.rels><?xml version="1.0" encoding="UTF-8" standalone="yes"?>
<Relationships xmlns="http://schemas.openxmlformats.org/package/2006/relationships">
<Relationship Id="rId1" Type="http://schemas.openxmlformats.org/officeDocument/2006/relationships/package" Target="../embeddings/Microsoft_Excel_Sheet1201.xlsx"/>
</Relationships>
</file>

<file path=ppt/charts/chart30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传统湿实验</c:v>
                </c:pt>
              </c:strCache>
            </c:strRef>
          </c:tx>
          <c:spPr>
            <a:solidFill>
              <a:srgbClr val="4472C4"/>
            </a:solidFill>
            <a:ln>
              <a:solidFill>
                <a:srgbClr val="4472C4"/>
              </a:solidFill>
            </a:ln>
          </c:spPr>
          <c:invertIfNegative val="0"/>
          <c:dPt>
            <c:idx val="0"/>
            <c:invertIfNegative val="0"/>
            <c:spPr>
              <a:solidFill>
                <a:schemeClr val="accent3"/>
              </a:solidFill>
              <a:ln>
                <a:solidFill>
                  <a:schemeClr val="accent3"/>
                </a:solidFill>
              </a:ln>
            </c:spPr>
          </c:dPt>
          <c:dPt>
            <c:idx val="1"/>
            <c:invertIfNegative val="0"/>
            <c:spPr>
              <a:solidFill>
                <a:schemeClr val="accent3"/>
              </a:solidFill>
              <a:ln>
                <a:solidFill>
                  <a:schemeClr val="accent3"/>
                </a:solidFill>
              </a:ln>
            </c:spPr>
          </c:dPt>
          <c:dPt>
            <c:idx val="2"/>
            <c:invertIfNegative val="0"/>
            <c:spPr>
              <a:solidFill>
                <a:schemeClr val="accent3"/>
              </a:solidFill>
              <a:ln>
                <a:solidFill>
                  <a:schemeClr val="accent3"/>
                </a:solidFill>
              </a:ln>
            </c:spPr>
          </c:dPt>
          <c:cat>
            <c:strRef>
              <c:f>Sheet1!$A$2:$A$4</c:f>
              <c:strCache>
                <c:ptCount val="3"/>
                <c:pt idx="0">
                  <c:v>通量</c:v>
                </c:pt>
                <c:pt idx="1">
                  <c:v>成本</c:v>
                </c:pt>
                <c:pt idx="2">
                  <c:v>耗时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90</c:v>
                </c:pt>
                <c:pt idx="2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ML 虚拟筛选</c:v>
                </c:pt>
              </c:strCache>
            </c:strRef>
          </c:tx>
          <c:spPr>
            <a:solidFill>
              <a:srgbClr val="ED7D31"/>
            </a:solidFill>
            <a:ln>
              <a:solidFill>
                <a:srgbClr val="ED7D31"/>
              </a:solidFill>
            </a:ln>
          </c:spPr>
          <c:invertIfNegative val="0"/>
          <c:dPt>
            <c:idx val="0"/>
            <c:invertIfNegative val="0"/>
            <c:spPr>
              <a:solidFill>
                <a:schemeClr val="accent2"/>
              </a:solidFill>
              <a:ln>
                <a:solidFill>
                  <a:schemeClr val="accent2"/>
                </a:solidFill>
              </a:ln>
            </c:spPr>
          </c:dPt>
          <c:dPt>
            <c:idx val="1"/>
            <c:invertIfNegative val="0"/>
            <c:spPr>
              <a:solidFill>
                <a:schemeClr val="accent2"/>
              </a:solidFill>
              <a:ln>
                <a:solidFill>
                  <a:schemeClr val="accent2"/>
                </a:solidFill>
              </a:ln>
            </c:spPr>
          </c:dPt>
          <c:dPt>
            <c:idx val="2"/>
            <c:invertIfNegative val="0"/>
            <c:spPr>
              <a:solidFill>
                <a:schemeClr val="accent2"/>
              </a:solidFill>
              <a:ln>
                <a:solidFill>
                  <a:schemeClr val="accent2"/>
                </a:solidFill>
              </a:ln>
            </c:spPr>
          </c:dPt>
          <c:cat>
            <c:strRef>
              <c:f>Sheet1!$A$2:$A$4</c:f>
              <c:strCache>
                <c:ptCount val="3"/>
                <c:pt idx="0">
                  <c:v>通量</c:v>
                </c:pt>
                <c:pt idx="1">
                  <c:v>成本</c:v>
                </c:pt>
                <c:pt idx="2">
                  <c:v>耗时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95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</c:ser>
        <c:gapWidth val="150"/>
        <c:axId val="2068027336"/>
        <c:axId val="2113994440"/>
      </c:barChart>
      <c:catAx>
        <c:axId val="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 w="9525" cap="flat" cmpd="sng" algn="ctr">
            <a:solidFill>
              <a:srgbClr val="DDE6EC"/>
            </a:solidFill>
            <a:round/>
          </a:ln>
        </c:spPr>
        <c:txPr>
          <a:bodyPr/>
          <a:lstStyle/>
          <a:p>
            <a:pPr>
              <a:defRPr lang="zh-CN" sz="1800">
                <a:solidFill>
                  <a:srgbClr val="6B7C8A"/>
                </a:solidFill>
                <a:latin typeface="Arial"/>
                <a:ea typeface="Microsoft YaHei"/>
                <a:cs typeface="Arial"/>
              </a:defRPr>
            </a:pPr>
            <a:endParaRPr lang="zh-CN"/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D9DED8"/>
              </a:solidFill>
              <a:round/>
            </a:ln>
          </c:spPr>
        </c:majorGridlines>
        <c:majorTickMark val="out"/>
        <c:minorTickMark val="none"/>
        <c:tickLblPos val="nextTo"/>
        <c:spPr>
          <a:ln w="9525" cap="flat" cmpd="sng" algn="ctr">
            <a:solidFill>
              <a:srgbClr val="DDE6EC"/>
            </a:solidFill>
            <a:round/>
          </a:ln>
        </c:spPr>
        <c:txPr>
          <a:bodyPr/>
          <a:lstStyle/>
          <a:p>
            <a:pPr>
              <a:defRPr lang="zh-CN" sz="1800">
                <a:solidFill>
                  <a:srgbClr val="6B7C8A"/>
                </a:solidFill>
                <a:latin typeface="Arial"/>
                <a:ea typeface="Microsoft YaHei"/>
                <a:cs typeface="Arial"/>
              </a:defRPr>
            </a:pPr>
            <a:endParaRPr lang="zh-CN"/>
          </a:p>
        </c:txPr>
        <c:crossAx val="2068027336"/>
        <c:crosses val="autoZero"/>
      </c:valAx>
      <c:spPr>
        <a:noFill/>
        <a:ln>
          <a:noFill/>
        </a:ln>
      </c:spPr>
    </c:plotArea>
    <c:plotVisOnly val="1"/>
    <c:dispBlanksAs val="gap"/>
  </c:chart>
  <c:spPr>
    <a:solidFill>
      <a:srgbClr val="E3E9ED"/>
    </a:solidFill>
    <a:ln>
      <a:noFill/>
    </a:ln>
  </c:spPr>
  <c:txPr>
    <a:bodyPr/>
    <a:lstStyle/>
    <a:p>
      <a:pPr>
        <a:defRPr lang="zh-CN" sz="1800">
          <a:solidFill>
            <a:srgbClr val="6B7C8A"/>
          </a:solidFill>
          <a:latin typeface="Arial"/>
          <a:ea typeface="Microsoft YaHei"/>
          <a:cs typeface="Arial"/>
        </a:defRPr>
      </a:pPr>
      <a:endParaRPr lang="zh-CN"/>
    </a:p>
  </c:txPr>
  <c:externalData r:id="rId1">
    <c:autoUpdate val="0"/>
  </c:externalData>
</c:chartSpace>
</file>

<file path=ppt/charts/chart80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代表能力（示意）</c:v>
                </c:pt>
              </c:strCache>
            </c:strRef>
          </c:tx>
          <c:spPr>
            <a:solidFill>
              <a:srgbClr val="4472C4"/>
            </a:solidFill>
            <a:ln>
              <a:solidFill>
                <a:srgbClr val="4472C4"/>
              </a:solidFill>
            </a:ln>
          </c:spPr>
          <c:invertIfNegative val="0"/>
          <c:dPt>
            <c:idx val="0"/>
            <c:invertIfNegative val="0"/>
            <c:spPr>
              <a:solidFill>
                <a:srgbClr val="8FB3CC"/>
              </a:solidFill>
              <a:ln>
                <a:solidFill>
                  <a:srgbClr val="8FB3CC"/>
                </a:solidFill>
              </a:ln>
            </c:spPr>
          </c:dPt>
          <c:dPt>
            <c:idx val="1"/>
            <c:invertIfNegative val="0"/>
            <c:spPr>
              <a:solidFill>
                <a:srgbClr val="4F86B2"/>
              </a:solidFill>
              <a:ln>
                <a:solidFill>
                  <a:srgbClr val="4F86B2"/>
                </a:solidFill>
              </a:ln>
            </c:spPr>
          </c:dPt>
          <c:dPt>
            <c:idx val="2"/>
            <c:invertIfNegative val="0"/>
            <c:spPr>
              <a:solidFill>
                <a:schemeClr val="accent2"/>
              </a:solidFill>
              <a:ln>
                <a:solidFill>
                  <a:schemeClr val="accent2"/>
                </a:solidFill>
              </a:ln>
            </c:spPr>
          </c:dPt>
          <c:cat>
            <c:strRef>
              <c:f>Sheet1!$A$2:$A$4</c:f>
              <c:strCache>
                <c:ptCount val="3"/>
                <c:pt idx="0">
                  <c:v>第一代 传统ML</c:v>
                </c:pt>
                <c:pt idx="1">
                  <c:v>第二代 深度学习</c:v>
                </c:pt>
                <c:pt idx="2">
                  <c:v>第三代 预训练大模型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0.83</c:v>
                </c:pt>
                <c:pt idx="1">
                  <c:v>0.91</c:v>
                </c:pt>
                <c:pt idx="2">
                  <c:v>0.94</c:v>
                </c:pt>
              </c:numCache>
            </c:numRef>
          </c:val>
        </c:ser>
        <c:gapWidth val="150"/>
        <c:axId val="2068027336"/>
        <c:axId val="2113994440"/>
      </c:barChart>
      <c:catAx>
        <c:axId val="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 w="9525" cap="flat" cmpd="sng" algn="ctr">
            <a:solidFill>
              <a:schemeClr val="accent2"/>
            </a:solidFill>
            <a:round/>
          </a:ln>
        </c:spPr>
        <c:txPr>
          <a:bodyPr/>
          <a:lstStyle/>
          <a:p>
            <a:pPr>
              <a:defRPr lang="zh-CN" sz="1800">
                <a:solidFill>
                  <a:schemeClr val="accent1"/>
                </a:solidFill>
                <a:latin typeface="Arial"/>
                <a:ea typeface="Microsoft YaHei"/>
                <a:cs typeface="Arial"/>
              </a:defRPr>
            </a:pPr>
            <a:endParaRPr lang="zh-CN"/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DDE6EC"/>
              </a:solidFill>
              <a:round/>
            </a:ln>
          </c:spPr>
        </c:majorGridlines>
        <c:majorTickMark val="out"/>
        <c:minorTickMark val="none"/>
        <c:tickLblPos val="nextTo"/>
        <c:spPr>
          <a:ln w="9525" cap="flat" cmpd="sng" algn="ctr">
            <a:solidFill>
              <a:schemeClr val="accent2"/>
            </a:solidFill>
            <a:round/>
          </a:ln>
        </c:spPr>
        <c:txPr>
          <a:bodyPr/>
          <a:lstStyle/>
          <a:p>
            <a:pPr>
              <a:defRPr lang="zh-CN" sz="1800">
                <a:solidFill>
                  <a:schemeClr val="accent1"/>
                </a:solidFill>
                <a:latin typeface="Arial"/>
                <a:ea typeface="Microsoft YaHei"/>
                <a:cs typeface="Arial"/>
              </a:defRPr>
            </a:pPr>
            <a:endParaRPr lang="zh-CN"/>
          </a:p>
        </c:txPr>
        <c:crossAx val="2068027336"/>
        <c:crosses val="autoZero"/>
      </c:valAx>
      <c:spPr>
        <a:noFill/>
        <a:ln>
          <a:noFill/>
        </a:ln>
      </c:spPr>
    </c:plotArea>
    <c:plotVisOnly val="1"/>
    <c:dispBlanksAs val="gap"/>
  </c:chart>
  <c:spPr>
    <a:solidFill>
      <a:srgbClr val="E3E9ED"/>
    </a:solidFill>
    <a:ln>
      <a:noFill/>
    </a:ln>
  </c:spPr>
  <c:txPr>
    <a:bodyPr/>
    <a:lstStyle/>
    <a:p>
      <a:pPr>
        <a:defRPr lang="zh-CN" sz="1800">
          <a:solidFill>
            <a:schemeClr val="accent1"/>
          </a:solidFill>
          <a:latin typeface="Arial"/>
          <a:ea typeface="Microsoft YaHei"/>
          <a:cs typeface="Arial"/>
        </a:defRPr>
      </a:pPr>
      <a:endParaRPr lang="zh-CN"/>
    </a:p>
  </c:txPr>
  <c:externalData r:id="rId1">
    <c:autoUpdate val="0"/>
  </c:externalData>
</c:chartSpace>
</file>

<file path=ppt/charts/chart90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关注权重（示意）</c:v>
                </c:pt>
              </c:strCache>
            </c:strRef>
          </c:tx>
          <c:dPt>
            <c:idx val="0"/>
            <c:spPr>
              <a:solidFill>
                <a:schemeClr val="accent2"/>
              </a:solidFill>
              <a:ln>
                <a:solidFill>
                  <a:schemeClr val="accent2"/>
                </a:solidFill>
              </a:ln>
            </c:spPr>
          </c:dPt>
          <c:dPt>
            <c:idx val="1"/>
            <c:spPr>
              <a:solidFill>
                <a:schemeClr val="accent3"/>
              </a:solidFill>
              <a:ln>
                <a:solidFill>
                  <a:schemeClr val="accent3"/>
                </a:solidFill>
              </a:ln>
            </c:spPr>
          </c:dPt>
          <c:dPt>
            <c:idx val="2"/>
            <c:spPr>
              <a:solidFill>
                <a:srgbClr val="4F86B2"/>
              </a:solidFill>
              <a:ln>
                <a:solidFill>
                  <a:srgbClr val="4F86B2"/>
                </a:solidFill>
              </a:ln>
            </c:spPr>
          </c:dPt>
          <c:dPt>
            <c:idx val="3"/>
            <c:spPr>
              <a:solidFill>
                <a:srgbClr val="B7C3CD"/>
              </a:solidFill>
              <a:ln>
                <a:solidFill>
                  <a:srgbClr val="B7C3CD"/>
                </a:solidFill>
              </a:ln>
            </c:spPr>
          </c:dPt>
          <c:cat>
            <c:strRef>
              <c:f>Sheet1!$A$2:$A$5</c:f>
              <c:strCache>
                <c:ptCount val="4"/>
                <c:pt idx="0">
                  <c:v>ACC</c:v>
                </c:pt>
                <c:pt idx="1">
                  <c:v>MCC</c:v>
                </c:pt>
                <c:pt idx="2">
                  <c:v>Sn</c:v>
                </c:pt>
                <c:pt idx="3">
                  <c:v>BACC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</c:ser>
        <c:firstSliceAng val="0"/>
        <c:holeSize val="75"/>
      </c:doughnutChart>
      <c:spPr>
        <a:noFill/>
        <a:ln>
          <a:noFill/>
        </a:ln>
      </c:spPr>
    </c:plotArea>
    <c:plotVisOnly val="1"/>
    <c:dispBlanksAs val="gap"/>
  </c:chart>
  <c:spPr>
    <a:solidFill>
      <a:srgbClr val="E3E9ED"/>
    </a:solidFill>
    <a:ln>
      <a:noFill/>
    </a:ln>
  </c:spPr>
  <c:txPr>
    <a:bodyPr/>
    <a:lstStyle/>
    <a:p>
      <a:pPr>
        <a:defRPr lang="zh-CN" sz="1800">
          <a:solidFill>
            <a:schemeClr val="accent1"/>
          </a:solidFill>
          <a:latin typeface="Arial"/>
          <a:ea typeface="Microsoft YaHei"/>
          <a:cs typeface="Arial"/>
        </a:defRPr>
      </a:pPr>
      <a:endParaRPr lang="zh-CN"/>
    </a:p>
  </c:txPr>
  <c:externalData r:id="rId1">
    <c:autoUpdate val="0"/>
  </c:externalData>
</c:chartSpace>
</file>

<file path=ppt/charts/chart120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ACC</c:v>
                </c:pt>
              </c:strCache>
            </c:strRef>
          </c:tx>
          <c:spPr>
            <a:solidFill>
              <a:srgbClr val="4472C4"/>
            </a:solidFill>
            <a:ln>
              <a:solidFill>
                <a:srgbClr val="4472C4"/>
              </a:solidFill>
            </a:ln>
          </c:spPr>
          <c:invertIfNegative val="0"/>
          <c:dPt>
            <c:idx val="0"/>
            <c:invertIfNegative val="0"/>
            <c:spPr>
              <a:solidFill>
                <a:srgbClr val="8FB3CC"/>
              </a:solidFill>
              <a:ln>
                <a:solidFill>
                  <a:srgbClr val="8FB3CC"/>
                </a:solidFill>
              </a:ln>
            </c:spPr>
          </c:dPt>
          <c:dPt>
            <c:idx val="1"/>
            <c:invertIfNegative val="0"/>
            <c:spPr>
              <a:solidFill>
                <a:srgbClr val="8FB3CC"/>
              </a:solidFill>
              <a:ln>
                <a:solidFill>
                  <a:srgbClr val="8FB3CC"/>
                </a:solidFill>
              </a:ln>
            </c:spPr>
          </c:dPt>
          <c:dPt>
            <c:idx val="2"/>
            <c:invertIfNegative val="0"/>
            <c:spPr>
              <a:solidFill>
                <a:srgbClr val="4F86B2"/>
              </a:solidFill>
              <a:ln>
                <a:solidFill>
                  <a:srgbClr val="4F86B2"/>
                </a:solidFill>
              </a:ln>
            </c:spPr>
          </c:dPt>
          <c:dPt>
            <c:idx val="3"/>
            <c:invertIfNegative val="0"/>
            <c:spPr>
              <a:solidFill>
                <a:srgbClr val="4F86B2"/>
              </a:solidFill>
              <a:ln>
                <a:solidFill>
                  <a:srgbClr val="4F86B2"/>
                </a:solidFill>
              </a:ln>
            </c:spPr>
          </c:dPt>
          <c:dPt>
            <c:idx val="4"/>
            <c:invertIfNegative val="0"/>
            <c:spPr>
              <a:solidFill>
                <a:schemeClr val="accent2"/>
              </a:solidFill>
              <a:ln>
                <a:solidFill>
                  <a:schemeClr val="accent2"/>
                </a:solidFill>
              </a:ln>
            </c:spPr>
          </c:dPt>
          <c:dPt>
            <c:idx val="5"/>
            <c:invertIfNegative val="0"/>
            <c:spPr>
              <a:solidFill>
                <a:schemeClr val="accent3"/>
              </a:solidFill>
              <a:ln>
                <a:solidFill>
                  <a:schemeClr val="accent3"/>
                </a:solidFill>
              </a:ln>
            </c:spPr>
          </c:dPt>
          <c:cat>
            <c:strRef>
              <c:f>Sheet1!$A$2:$A$7</c:f>
              <c:strCache>
                <c:ptCount val="6"/>
                <c:pt idx="0">
                  <c:v>iUmami-SCM</c:v>
                </c:pt>
                <c:pt idx="1">
                  <c:v>UMPred-FRL</c:v>
                </c:pt>
                <c:pt idx="2">
                  <c:v>iUP-BERT</c:v>
                </c:pt>
                <c:pt idx="3">
                  <c:v>Umami-MRNN</c:v>
                </c:pt>
                <c:pt idx="4">
                  <c:v>Umami-BERT</c:v>
                </c:pt>
                <c:pt idx="5">
                  <c:v>2025 对比DL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0.824</c:v>
                </c:pt>
                <c:pt idx="1">
                  <c:v>0.888</c:v>
                </c:pt>
                <c:pt idx="2">
                  <c:v>0.905</c:v>
                </c:pt>
                <c:pt idx="3">
                  <c:v>0.905</c:v>
                </c:pt>
                <c:pt idx="4">
                  <c:v>0.932</c:v>
                </c:pt>
                <c:pt idx="5">
                  <c:v>0.94</c:v>
                </c:pt>
              </c:numCache>
            </c:numRef>
          </c:val>
        </c:ser>
        <c:dLbls>
          <c:txPr>
            <a:bodyPr/>
            <a:lstStyle/>
            <a:p>
              <a:pPr>
                <a:defRPr lang="zh-CN" sz="1800">
                  <a:solidFill>
                    <a:srgbClr val="6B7C8A"/>
                  </a:solidFill>
                  <a:latin typeface="Arial"/>
                  <a:ea typeface="Microsoft YaHei"/>
                  <a:cs typeface="Arial"/>
                </a:defRPr>
              </a:pPr>
              <a:endParaRPr lang="zh-CN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 cap="flat" cmpd="sng" algn="ctr">
            <a:solidFill>
              <a:schemeClr val="accent3"/>
            </a:solidFill>
            <a:round/>
          </a:ln>
        </c:spPr>
        <c:txPr>
          <a:bodyPr/>
          <a:lstStyle/>
          <a:p>
            <a:pPr>
              <a:defRPr lang="zh-CN" sz="1800">
                <a:solidFill>
                  <a:srgbClr val="6B7C8A"/>
                </a:solidFill>
                <a:latin typeface="Arial"/>
                <a:ea typeface="Microsoft YaHei"/>
                <a:cs typeface="Arial"/>
              </a:defRPr>
            </a:pPr>
            <a:endParaRPr lang="zh-CN"/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DDE6EC"/>
              </a:solidFill>
              <a:round/>
            </a:ln>
          </c:spPr>
        </c:majorGridlines>
        <c:majorTickMark val="out"/>
        <c:minorTickMark val="none"/>
        <c:tickLblPos val="nextTo"/>
        <c:spPr>
          <a:ln w="9525" cap="flat" cmpd="sng" algn="ctr">
            <a:solidFill>
              <a:schemeClr val="accent3"/>
            </a:solidFill>
            <a:round/>
          </a:ln>
        </c:spPr>
        <c:txPr>
          <a:bodyPr/>
          <a:lstStyle/>
          <a:p>
            <a:pPr>
              <a:defRPr lang="zh-CN" sz="1800">
                <a:solidFill>
                  <a:srgbClr val="6B7C8A"/>
                </a:solidFill>
                <a:latin typeface="Arial"/>
                <a:ea typeface="Microsoft YaHei"/>
                <a:cs typeface="Arial"/>
              </a:defRPr>
            </a:pPr>
            <a:endParaRPr lang="zh-CN"/>
          </a:p>
        </c:txPr>
        <c:crossAx val="2068027336"/>
        <c:crosses val="autoZero"/>
      </c:valAx>
      <c:spPr>
        <a:noFill/>
        <a:ln>
          <a:noFill/>
        </a:ln>
      </c:spPr>
    </c:plotArea>
    <c:plotVisOnly val="1"/>
    <c:dispBlanksAs val="gap"/>
  </c:chart>
  <c:spPr>
    <a:solidFill>
      <a:srgbClr val="E3E9ED"/>
    </a:solidFill>
    <a:ln>
      <a:noFill/>
    </a:ln>
  </c:spPr>
  <c:txPr>
    <a:bodyPr/>
    <a:lstStyle/>
    <a:p>
      <a:pPr>
        <a:defRPr lang="zh-CN" sz="1800">
          <a:solidFill>
            <a:srgbClr val="6B7C8A"/>
          </a:solidFill>
          <a:latin typeface="Arial"/>
          <a:ea typeface="Microsoft YaHei"/>
          <a:cs typeface="Arial"/>
        </a:defRPr>
      </a:pPr>
      <a:endParaRPr lang="zh-CN"/>
    </a:p>
  </c:txPr>
  <c:externalData r:id="rId1">
    <c:autoUpdate val="0"/>
  </c:externalData>
</c:chartSpace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各位老师、同学好。今天我汇报的题目是《机器学习筛选鲜味肽》。鲜味是国际公认的第五种基本味觉，鲜味肽是能被 T1R1/T1R3 受体识别的短肽，也是新型调味品开发的热点。过去鲜味肽的发现高度依赖分离纯化和人工感官评价，成本高、周期长。而现在，机器学习让我们可以先在计算机里对成千上万条肽快速打分，再把最有希望的少数候选交给湿实验。目前主流模型预测准确率已经超过 90%，单条肽打分只需毫秒。下面我将从背景、技术路线、模型进展、应用案例和展望五个部分展开。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首先看鲜味肽是什么。鲜味感知主要依靠舌面的 T1R1/T1R3 异源二聚体受体，它属于 C 类 G 蛋白偶联受体，图中示意了一条肽链结合到受体 Venus flytrap 结构域的过程，橙色标记的就是酸性氨基酸 D 天冬氨酸和 E 谷氨酸。鲜味肽通常是 2 到 8 个氨基酸的短肽，分子量小于 3000 道尔顿，序列上普遍富含 D、E，A、S、G 等残基起协同作用；2025 年发表在 Food Chemistry 的可解释深度学习工作还识别出 D、E、Q、K、R 是关键残基。鲜味肽在肉、海鲜、菌菇，以及腐乳、酱油等大豆发酵食品中含量丰富，谷氨酸与 IMP、GMP 等 5′ 核苷酸还有协同增鲜效应。它的应用价值在于低钠健康调味品、发酵风味调控和蛋白副产物高值化，部分鲜味肽的鲜味强度可以达到味精的数倍。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传统鲜味肽筛选为什么难？这一页给出了答案。传统湿实验要走五步：蛋白水解、分离纯化、LC-MS 质谱鉴定、人工合成、最后人工感官评价。一条蛋白可以酶解出成百上千条肽，而每一条都要合成、评测，单条肽验证以周计，成本高、通量极低，大量鲜味肽因此被漏掉。图右侧的定性对比显示，机器学习虚拟筛选在通量上大幅领先，在成本和耗时上则显著下降。关键的转变是「先算后验」：计算先行富集候选，把湿实验集中到最有希望的少数肽上。这就是机器学习介入鲜味肽研究的根本动因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是全局技术路线。干实验侧共五步：第一步数据收集，从味肽数据库和文献中获取已标注的鲜味肽；第二步虚拟酶解，按照蛋白酶切规则在计算机中把蛋白序列切成候选短肽库；第三步特征编码，把氨基酸序列转换成数值向量；第四步是核心——模型预测，用 SVM、随机森林或 BERT 等模型对每条肽打呈鲜概率分；第五步分子对接，模拟肽与 T1R1/T1R3 受体的结合模式。第六步进入湿实验：合成肽并做感官评价确证。大家注意底部的回注箭头——验证结果会回流为新的训练数据，形成数据飞轮，模型随研究推进持续改进。本质上，我们把「这条肽鲜不鲜」转化为一个监督学习二分类问题：f 序列映射到呈鲜概率。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具体看数据基础。正样本主要来自两个渠道：一是 BioPEP-UWM、BIOPEP 等味肽数据库，收录经实验验证的呈味肽序列；二是实验文献中经感官评价确证的肽，标签最可靠。负样本多取无鲜味或苦味肽，并严格控制类别平衡。候选库则靠虚拟酶解批量扩充：如左下示意，用 ExPASy PeptideCutter 这类工具，按胰蛋白酶、胃蛋白酶的酶切位点规则，把 UniProt 蛋白序列切成大量 2 到 8 肽。右侧是候选肽的逐级过滤：先卡长度和分子量，再用 PeptideRanker 以 0.5 概率阈值初筛生物活性，然后做毒性、致敏性、肠道稳定性等安全性过滤，最后评估吸收和半衰期等 ADMET 性质，得到高质量候选肽库。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数据规模的增长是模型进步的燃料，这张表列了三代基准数据集。最早的 UMP442 含 140 条鲜味肽、302 条非鲜味肽，iUmami-SCM 和 UMPred-FRL 都在其上评测；UMP499 扩充到 212 条正样本、287 条负样本，Umami-MRNN 使用；Umami-BERT 进一步整合出 UMP789。两张说明卡强调两点：第一，数据扩充直接支撑性能提升；第二，鲜味肽是少数类，模型若「全猜负类」也能虚高准确率，所以 iUP-BERT 等工作用 SMOTE 过采样合成少数类样本，显著提升了灵敏度。需要说明各研究划分训练测试集的方式不同，跨数据集比较要看趋势。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模型不能直接读字母序列，必须先编码。顶部展示转换过程：一条 E-G-D-S-E-R 六肽被映射成数十到数千维的数值向量。编码有两条路线。左侧是手工特征，依赖专家经验：AAC 氨基酸组成 20 维、DPC 二肽组成 400 维、PAAC/APAAC 拟氨基酸组成、CTD 组成转换分布特征，以及电荷、疏水性、pKa 等理化描述符，VirtuousUmami 还使用 Mordred 二维分子描述符。手工特征可解释但存在噪声和冗余。右侧是当前主流的深度表征：BERT/Transformer 先在海量蛋白序列上预训练，再把每个残基映射为带上下文语义的高维嵌入，两阶段微调后端到端学习，注意力权重还能定位关键残基，代表是 iUP-BERT 和 Umami-BERT。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算法本身经历三代。图中横向条带表示代表能力逐级提升：第一代传统机器学习，包括 SVM、随机森林、极端随机树、KNN、逻辑回归、偏最小二乘、GBDT，搭配手工特征，代表是 iUmami-SCM 和 UMPred-FRL；第二代深度学习，MLP、CNN、RNN/LSTM 自动学习特征，代表是 Umami-MRNN，用 MLP 加 RNN 达到 90.5% 准确率；第三代预训练大模型，BERT/Transformer 两阶段预训练加对比学习，iUP-BERT、Umami-BERT 和 2025 年的对比学习模型都属此类，准确率达到 0.94，且注意力可解释。底部是集成学习范例 UMPred-FRL：6 种算法配 7 种编码，独立测试集 ACC 0.888、MCC 0.735、灵敏度 0.786、平衡准确率 0.860，是传统路线的高峰。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模型好在哪里，不能只看一个数字。左侧甜甜圈示意五类指标要交叉考察：ACC 准确率最直观，但类别不平衡时会被多数类带偏；MCC 相关系数在 -1 到 1 之间、综合混淆矩阵，对不平衡数据最稳健；Sn 灵敏度即召回率，表示鲜味肽被找出的比例——漏筛等于漏掉一条新肽，筛选阶段尤其关键，iUP-BERT 相对前代灵敏度提升 13.6 到 25 个百分点，主要归功于 SMOTE；此外还有 BACC 平衡准确率和 auROC。底部深色条是验证协议：10 折交叉验证用于调参，独立测试集用于报告指标，分子对接提供机制证据，最后合成加感官评价确证。必须强调：比较模型要在同一独立测试集上，且指标高不等于感官呈鲜。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把代表性工作放到时间线上看脉络更清晰。2020 年 iUmami-SCM 用 SCM 评分卡，准确率 0.824，是首个专用预测器；2021 年 UMPred-FRL 集成 6 算法 7 编码，提升到 0.888；2022 年出现两个重要工作，iUP-BERT 把 BERT 嵌入与 SMOTE、SVM 结合，灵敏度大幅领先，同年 VirtuousUmami 用 Mordred 描述符做通用味觉预测并开源；2023 年 Umami-MRNN 达到 90.5%，Umami-BERT 两阶段架构在平衡集上达到 93.2%，还能用注意力做解释；2024 年 VmmScore/Mlp4Umami 把深度学习预测与分子对接打分一体化；2025 年对比学习模型准确率 0.9398，超越已有模型 2 到 9 个百分点。方法和数据双轮驱动，研究重心从「分得准」转向「可解释、可对接、可验证」。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这些模型大多提供免费工具，左边表格汇总了六个：iUmami-SCM 的 Web 服务器、UMPred-FRL 的 pmlabstack 服务器、iUP-BERT 在 aibiochem.net 的服务器、Umami-BERT 带注意力解释的服务器，以及两个开源方案——VirtuousUmami 在 GitHub 开源、支持 SMILES/FASTA/InChI 多种输入，VmmScore/Mlp4Umami 提供预测对接一体管线。配套资源还有 BIOPEP-UWM 肽库和 PeptideRanker 活性初筛。右侧深色卡是快速上手三步：第一步准备 FASTA 序列，第二步粘贴到服务器即可返回呈鲜概率和排名，第三步把高置信肽送对接和感官验证。本地部署开源工具还能对自建肽库做批量筛选，完全零成本起步。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这张柱状图汇总六个模型的准确率，纵轴从 0.80 起并标注了断裂轴，请大家注意差异被放大。iUmami-SCM 0.824，UMPred-FRL 0.888，iUP-BERT 约 0.91，Umami-MRNN 0.905，Umami-BERT 平衡集 0.932、非平衡集 95.0%，2025 年对比学习模型 0.94。橙色虚线是 90% 参考线——深度学习一代已稳定站上。右侧三个 KPI：最高准确率 94%、五年提升约 12 个百分点、MCC 最高达到 0.85。要说明的是，这些数字来自各文献各自测试集，口径不同，不能简单横向排名；但趋势非常明确：模型已足够准确，足以作为湿实验的前置过滤器。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光有分类分数还不够，分子对接提供机制层证据。左图示意肽段嵌入受体结合口袋：橙色是酸性残基 D，它与受体的 Arg277 残基形成关键盐桥——这在腐乳研究中被证实是 DFEGDV 等肽结合的核心；绿色虚线表示与口袋内其他残基的氢键网络。对接的原理是结构互补加能量匹配，搜索肽在口袋中的最优构象并以结合能打分。传统上用 AutoDock 等工具，但力场计算昂贵；VmmScore/Mlp4Umami 的思路是用机器学习优化对接打分函数来加速。对接回答的问题从「模型觉得它鲜」推进到「它为什么能结合受体」，让预测结果更可信，也为肽的改造设计指明位点。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一个完整跑通双轨范式的案例是 2025 年 Food Chemistry 的腐乳研究。流程四步：其一，肽组学追踪腐乳 0 到 90 天发酵，发现前 60 天是呈鲜关键窗口；其二，用随机森林等模型从肽库中筛出 637 条候选肽，模型准确率约 89%，其中 30% 以上来自 11 种大豆蛋白的特定位点；其三，分子对接按结合能锁定 5 条高结合力新肽；其四，合成后感官评价确证，阈值低至 0.22 到 0.38 毫摩尔每升，鲜味强度达到味精的 3 到 5 倍。表中是这五条肽：DFEGDV、GRGPTVTDP、NDDRDSYNL、RVPAGTTY、SDNFEY。机制上 D 残基与 Arg277 的盐桥是结合关键。这个案例证明：计算筛选把湿实验工作量压缩到极小，且预测、对接、感官三轨结果一致。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最后是挑战与展望。当前局限有三：数据规模小、标注仅数百条且口径不一，跨数据集泛化受限；可解释性仍浅，注意力虽能定位残基但机制解释有待补强；能力上还停留在「鲜不鲜」的分类，阈值、强度、增鲜协同等定量回归问题尚未突破。展望方向令人振奋：多任务多味觉学习、AI 从头设计鲜味肽——2025 年工作中的模块替换策略已经验证了这种设计思路；预测、对接、验证闭环走向自动化，并服务低钠调味品开发和蛋白副产物高值化。总结三句话：筛选周期从月缩短到秒，准确率站上 90%，「计算预测加实验验证」双轨范式已经成型。我们正从预测鲜味，走向设计鲜味。我的汇报到此结束，谢谢大家，欢迎提问。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umami_18pt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umami_18pt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1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fb86fb5edcbfdd6c.png"/>
  <Relationship Id="rId3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chart" Target="../charts/chart301.xml"/>
  <Relationship Id="rId3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chart" Target="../charts/chart801.xml"/>
  <Relationship Id="rId3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chart" Target="../charts/chart901.xml"/>
  <Relationship Id="rId3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chart" Target="../charts/chart1201.xml"/>
  <Relationship Id="rId3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4d09971e2249f37b.png"/>
  <Relationship Id="rId3" Type="http://schemas.openxmlformats.org/officeDocument/2006/relationships/notesSlide" Target="../notesSlides/notesSlide15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2"/>
          <p:cNvGrpSpPr/>
          <p:nvPr/>
        </p:nvGrpSpPr>
        <p:grpSpPr>
          <a:xfrm>
            <a:off x="381000" y="-1333500"/>
            <a:ext cx="12763500" cy="8572500"/>
            <a:chOff x="381000" y="-1333500"/>
            <a:chExt cx="12763500" cy="8572500"/>
          </a:xfrm>
        </p:grpSpPr>
        <p:sp>
          <p:nvSpPr>
            <p:cNvPr id="2" name="Ellipse 2"/>
            <p:cNvSpPr/>
            <p:nvPr/>
          </p:nvSpPr>
          <p:spPr>
            <a:xfrm>
              <a:off x="8953500" y="-571500"/>
              <a:ext cx="3429000" cy="3429000"/>
            </a:xfrm>
            <a:prstGeom prst="ellipse">
              <a:avLst/>
            </a:prstGeom>
            <a:noFill/>
            <a:ln w="19050">
              <a:solidFill>
                <a:srgbClr val="143E60"/>
              </a:solidFill>
            </a:ln>
          </p:spPr>
        </p:sp>
        <p:sp>
          <p:nvSpPr>
            <p:cNvPr id="3" name="Ellipse 3"/>
            <p:cNvSpPr/>
            <p:nvPr/>
          </p:nvSpPr>
          <p:spPr>
            <a:xfrm>
              <a:off x="8191500" y="-1333500"/>
              <a:ext cx="4953000" cy="4953000"/>
            </a:xfrm>
            <a:prstGeom prst="ellipse">
              <a:avLst/>
            </a:prstGeom>
            <a:noFill/>
            <a:ln w="14288">
              <a:solidFill>
                <a:srgbClr val="103658"/>
              </a:solidFill>
            </a:ln>
          </p:spPr>
        </p:sp>
        <p:sp>
          <p:nvSpPr>
            <p:cNvPr id="4" name="Ellipse 4"/>
            <p:cNvSpPr/>
            <p:nvPr/>
          </p:nvSpPr>
          <p:spPr>
            <a:xfrm>
              <a:off x="381000" y="4953000"/>
              <a:ext cx="2286000" cy="2286000"/>
            </a:xfrm>
            <a:prstGeom prst="ellipse">
              <a:avLst/>
            </a:prstGeom>
            <a:noFill/>
            <a:ln w="19050">
              <a:solidFill>
                <a:srgbClr val="143E60"/>
              </a:solidFill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1685925" y="733425"/>
              <a:ext cx="5010150" cy="5391150"/>
              <a:chOff x="1685925" y="733425"/>
              <a:chExt cx="5010150" cy="5391150"/>
            </a:xfrm>
          </p:grpSpPr>
          <p:sp>
            <p:nvSpPr>
              <p:cNvPr id="5" name="Ellipse 5"/>
              <p:cNvSpPr/>
              <p:nvPr/>
            </p:nvSpPr>
            <p:spPr>
              <a:xfrm>
                <a:off x="2247900" y="1104900"/>
                <a:ext cx="76200" cy="76200"/>
              </a:xfrm>
              <a:prstGeom prst="ellipse">
                <a:avLst/>
              </a:prstGeom>
              <a:solidFill>
                <a:srgbClr val="2FB3A8">
                  <a:alpha val="70000"/>
                </a:srgbClr>
              </a:solidFill>
              <a:ln>
                <a:noFill/>
              </a:ln>
            </p:spPr>
          </p:sp>
          <p:sp>
            <p:nvSpPr>
              <p:cNvPr id="6" name="Ellipse 6"/>
              <p:cNvSpPr/>
              <p:nvPr/>
            </p:nvSpPr>
            <p:spPr>
              <a:xfrm>
                <a:off x="3114675" y="885825"/>
                <a:ext cx="57150" cy="57150"/>
              </a:xfrm>
              <a:prstGeom prst="ellipse">
                <a:avLst/>
              </a:prstGeom>
              <a:solidFill>
                <a:srgbClr val="2FB3A8">
                  <a:alpha val="70000"/>
                </a:srgbClr>
              </a:solidFill>
              <a:ln>
                <a:noFill/>
              </a:ln>
            </p:spPr>
          </p:sp>
          <p:sp>
            <p:nvSpPr>
              <p:cNvPr id="7" name="Ellipse 7"/>
              <p:cNvSpPr/>
              <p:nvPr/>
            </p:nvSpPr>
            <p:spPr>
              <a:xfrm>
                <a:off x="1685925" y="1685925"/>
                <a:ext cx="57150" cy="57150"/>
              </a:xfrm>
              <a:prstGeom prst="ellipse">
                <a:avLst/>
              </a:prstGeom>
              <a:solidFill>
                <a:srgbClr val="2FB3A8">
                  <a:alpha val="70000"/>
                </a:srgbClr>
              </a:solidFill>
              <a:ln>
                <a:noFill/>
              </a:ln>
            </p:spPr>
          </p:sp>
          <p:sp>
            <p:nvSpPr>
              <p:cNvPr id="8" name="Ellipse 8"/>
              <p:cNvSpPr/>
              <p:nvPr/>
            </p:nvSpPr>
            <p:spPr>
              <a:xfrm>
                <a:off x="6067425" y="733425"/>
                <a:ext cx="57150" cy="57150"/>
              </a:xfrm>
              <a:prstGeom prst="ellipse">
                <a:avLst/>
              </a:prstGeom>
              <a:solidFill>
                <a:srgbClr val="2FB3A8">
                  <a:alpha val="70000"/>
                </a:srgbClr>
              </a:solidFill>
              <a:ln>
                <a:noFill/>
              </a:ln>
            </p:spPr>
          </p:sp>
          <p:sp>
            <p:nvSpPr>
              <p:cNvPr id="9" name="Ellipse 9"/>
              <p:cNvSpPr/>
              <p:nvPr/>
            </p:nvSpPr>
            <p:spPr>
              <a:xfrm>
                <a:off x="5295900" y="1295400"/>
                <a:ext cx="76200" cy="76200"/>
              </a:xfrm>
              <a:prstGeom prst="ellipse">
                <a:avLst/>
              </a:prstGeom>
              <a:solidFill>
                <a:srgbClr val="2FB3A8">
                  <a:alpha val="70000"/>
                </a:srgbClr>
              </a:solidFill>
              <a:ln>
                <a:noFill/>
              </a:ln>
            </p:spPr>
          </p:sp>
          <p:sp>
            <p:nvSpPr>
              <p:cNvPr id="10" name="Ellipse 10"/>
              <p:cNvSpPr/>
              <p:nvPr/>
            </p:nvSpPr>
            <p:spPr>
              <a:xfrm>
                <a:off x="6638925" y="6067425"/>
                <a:ext cx="57150" cy="57150"/>
              </a:xfrm>
              <a:prstGeom prst="ellipse">
                <a:avLst/>
              </a:prstGeom>
              <a:solidFill>
                <a:srgbClr val="2FB3A8">
                  <a:alpha val="70000"/>
                </a:srgbClr>
              </a:solidFill>
              <a:ln>
                <a:noFill/>
              </a:ln>
            </p:spPr>
          </p:sp>
        </p:grpSp>
      </p:grpSp>
      <p:grpSp>
        <p:nvGrpSpPr>
          <p:cNvPr id="16" name="Group 16"/>
          <p:cNvGrpSpPr/>
          <p:nvPr/>
        </p:nvGrpSpPr>
        <p:grpSpPr>
          <a:xfrm>
            <a:off x="6286500" y="895350"/>
            <a:ext cx="5391150" cy="4057650"/>
            <a:chOff x="6286500" y="895350"/>
            <a:chExt cx="5391150" cy="4057650"/>
          </a:xfrm>
        </p:grpSpPr>
        <p:sp>
          <p:nvSpPr>
            <p:cNvPr id="13" name="Rectangle 13"/>
            <p:cNvSpPr/>
            <p:nvPr/>
          </p:nvSpPr>
          <p:spPr>
            <a:xfrm>
              <a:off x="6343650" y="952500"/>
              <a:ext cx="5334000" cy="4000500"/>
            </a:xfrm>
            <a:prstGeom prst="roundRect">
              <a:avLst>
                <a:gd name="adj" fmla="val 5714"/>
              </a:avLst>
            </a:prstGeom>
            <a:solidFill>
              <a:srgbClr val="072238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6286500" y="895350"/>
              <a:ext cx="5334000" cy="4000500"/>
            </a:xfrm>
            <a:prstGeom prst="roundRect">
              <a:avLst>
                <a:gd name="adj" fmla="val 5714"/>
              </a:avLst>
            </a:prstGeom>
            <a:solidFill>
              <a:srgbClr val="FFFFFF"/>
            </a:solidFill>
            <a:ln>
              <a:noFill/>
            </a:ln>
          </p:spPr>
        </p:sp>
        <p:pic>
          <p:nvPicPr>
            <p:cNvPr id="15" name="Image 1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515100" y="1565564"/>
              <a:ext cx="4876800" cy="2660073"/>
            </a:xfrm>
            <a:prstGeom prst="rect">
              <a:avLst/>
            </a:prstGeom>
          </p:spPr>
        </p:pic>
      </p:grpSp>
      <p:grpSp>
        <p:nvGrpSpPr>
          <p:cNvPr id="20" name="Group 20"/>
          <p:cNvGrpSpPr/>
          <p:nvPr/>
        </p:nvGrpSpPr>
        <p:grpSpPr>
          <a:xfrm>
            <a:off x="609600" y="1181100"/>
            <a:ext cx="3959329" cy="453009"/>
            <a:chOff x="609600" y="1181100"/>
            <a:chExt cx="3959329" cy="453009"/>
          </a:xfrm>
        </p:grpSpPr>
        <p:sp>
          <p:nvSpPr>
            <p:cNvPr id="17" name="Rectangle 17"/>
            <p:cNvSpPr/>
            <p:nvPr/>
          </p:nvSpPr>
          <p:spPr>
            <a:xfrm>
              <a:off x="609600" y="1181100"/>
              <a:ext cx="3543300" cy="4191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819150" y="1333500"/>
              <a:ext cx="114300" cy="1143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057656" y="1282065"/>
              <a:ext cx="351127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风味化学 × 生物信息 × 机器学习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90550" y="2078355"/>
            <a:ext cx="3972763" cy="2054924"/>
            <a:chOff x="590550" y="2078355"/>
            <a:chExt cx="3972763" cy="2054924"/>
          </a:xfrm>
        </p:grpSpPr>
        <p:sp>
          <p:nvSpPr>
            <p:cNvPr id="21" name="TextBox 21"/>
            <p:cNvSpPr txBox="1"/>
            <p:nvPr/>
          </p:nvSpPr>
          <p:spPr>
            <a:xfrm>
              <a:off x="590550" y="2078355"/>
              <a:ext cx="2784348" cy="990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机器学习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90550" y="2897505"/>
              <a:ext cx="3470910" cy="990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筛选</a:t>
              </a:r>
              <a:r>
                <a:rPr lang="zh-CN" sz="5100" b="1" dirty="0">
                  <a:solidFill>
                    <a:srgbClr val="2FB3A8"/>
                  </a:solidFill>
                  <a:latin typeface="+mn-lt"/>
                  <a:ea typeface="+mn-ea"/>
                  <a:cs typeface="+mn-cs"/>
                </a:rPr>
                <a:t>鲜味肽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18744" y="3751898"/>
              <a:ext cx="394456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AEBFD0"/>
                  </a:solidFill>
                  <a:latin typeface="+mn-lt"/>
                  <a:ea typeface="+mn-ea"/>
                  <a:cs typeface="+mn-cs"/>
                </a:rPr>
                <a:t>AI 驱动的鲜味肽高通量虚拟筛选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09600" y="4305300"/>
            <a:ext cx="5524500" cy="1066800"/>
            <a:chOff x="609600" y="4305300"/>
            <a:chExt cx="5524500" cy="1066800"/>
          </a:xfrm>
        </p:grpSpPr>
        <p:grpSp>
          <p:nvGrpSpPr>
            <p:cNvPr id="29" name="Group 29"/>
            <p:cNvGrpSpPr/>
            <p:nvPr/>
          </p:nvGrpSpPr>
          <p:grpSpPr>
            <a:xfrm>
              <a:off x="609600" y="4305300"/>
              <a:ext cx="1714500" cy="1066800"/>
              <a:chOff x="609600" y="4305300"/>
              <a:chExt cx="1714500" cy="1066800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609600" y="4305300"/>
                <a:ext cx="1714500" cy="1066800"/>
              </a:xfrm>
              <a:prstGeom prst="roundRect">
                <a:avLst>
                  <a:gd name="adj" fmla="val 14286"/>
                </a:avLst>
              </a:prstGeom>
              <a:solidFill>
                <a:srgbClr val="123A5A"/>
              </a:solidFill>
              <a:ln>
                <a:noFill/>
              </a:ln>
            </p:spPr>
          </p:sp>
          <p:sp>
            <p:nvSpPr>
              <p:cNvPr id="26" name="Rectangle 26"/>
              <p:cNvSpPr/>
              <p:nvPr/>
            </p:nvSpPr>
            <p:spPr>
              <a:xfrm>
                <a:off x="609600" y="4305300"/>
                <a:ext cx="57150" cy="1066800"/>
              </a:xfrm>
              <a:prstGeom prst="roundRect">
                <a:avLst>
                  <a:gd name="adj" fmla="val 50000"/>
                </a:avLst>
              </a:prstGeom>
              <a:solidFill>
                <a:srgbClr val="2FB3A8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826008" y="4617720"/>
                <a:ext cx="83856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2FB3A8"/>
                    </a:solidFill>
                    <a:latin typeface="+mn-lt"/>
                    <a:ea typeface="+mn-ea"/>
                    <a:cs typeface="+mn-cs"/>
                  </a:rPr>
                  <a:t>&gt;90%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29056" y="5006340"/>
                <a:ext cx="122986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AEBFD0"/>
                    </a:solidFill>
                    <a:latin typeface="+mn-lt"/>
                    <a:ea typeface="+mn-ea"/>
                    <a:cs typeface="+mn-cs"/>
                  </a:rPr>
                  <a:t>预测准确率</a:t>
                </a: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2514600" y="4305300"/>
              <a:ext cx="1714500" cy="1066800"/>
              <a:chOff x="2514600" y="4305300"/>
              <a:chExt cx="1714500" cy="1066800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2514600" y="4305300"/>
                <a:ext cx="1714500" cy="1066800"/>
              </a:xfrm>
              <a:prstGeom prst="roundRect">
                <a:avLst>
                  <a:gd name="adj" fmla="val 14286"/>
                </a:avLst>
              </a:prstGeom>
              <a:solidFill>
                <a:srgbClr val="123A5A"/>
              </a:solidFill>
              <a:ln>
                <a:noFill/>
              </a:ln>
            </p:spPr>
          </p:sp>
          <p:sp>
            <p:nvSpPr>
              <p:cNvPr id="31" name="Rectangle 31"/>
              <p:cNvSpPr/>
              <p:nvPr/>
            </p:nvSpPr>
            <p:spPr>
              <a:xfrm>
                <a:off x="2514600" y="4305300"/>
                <a:ext cx="57150" cy="1066800"/>
              </a:xfrm>
              <a:prstGeom prst="roundRect">
                <a:avLst>
                  <a:gd name="adj" fmla="val 50000"/>
                </a:avLst>
              </a:prstGeom>
              <a:solidFill>
                <a:srgbClr val="F2994A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2730627" y="4609624"/>
                <a:ext cx="1026719" cy="4840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80" b="1" dirty="0">
                    <a:solidFill>
                      <a:srgbClr val="F2994A"/>
                    </a:solidFill>
                    <a:latin typeface="+mn-lt"/>
                    <a:ea typeface="+mn-ea"/>
                    <a:cs typeface="+mn-cs"/>
                  </a:rPr>
                  <a:t>毫秒级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2734056" y="5006340"/>
                <a:ext cx="122986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AEBFD0"/>
                    </a:solidFill>
                    <a:latin typeface="+mn-lt"/>
                    <a:ea typeface="+mn-ea"/>
                    <a:cs typeface="+mn-cs"/>
                  </a:rPr>
                  <a:t>单条肽打分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4419600" y="4305300"/>
              <a:ext cx="1714500" cy="1066800"/>
              <a:chOff x="4419600" y="4305300"/>
              <a:chExt cx="1714500" cy="1066800"/>
            </a:xfrm>
          </p:grpSpPr>
          <p:sp>
            <p:nvSpPr>
              <p:cNvPr id="35" name="Rectangle 35"/>
              <p:cNvSpPr/>
              <p:nvPr/>
            </p:nvSpPr>
            <p:spPr>
              <a:xfrm>
                <a:off x="4419600" y="4305300"/>
                <a:ext cx="1714500" cy="1066800"/>
              </a:xfrm>
              <a:prstGeom prst="roundRect">
                <a:avLst>
                  <a:gd name="adj" fmla="val 14286"/>
                </a:avLst>
              </a:prstGeom>
              <a:solidFill>
                <a:srgbClr val="123A5A"/>
              </a:solidFill>
              <a:ln>
                <a:noFill/>
              </a:ln>
            </p:spPr>
          </p:sp>
          <p:sp>
            <p:nvSpPr>
              <p:cNvPr id="36" name="Rectangle 36"/>
              <p:cNvSpPr/>
              <p:nvPr/>
            </p:nvSpPr>
            <p:spPr>
              <a:xfrm>
                <a:off x="4419600" y="4305300"/>
                <a:ext cx="57150" cy="1066800"/>
              </a:xfrm>
              <a:prstGeom prst="roundRect">
                <a:avLst>
                  <a:gd name="adj" fmla="val 50000"/>
                </a:avLst>
              </a:prstGeom>
              <a:solidFill>
                <a:srgbClr val="8FB8DE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4635627" y="4609624"/>
                <a:ext cx="692861" cy="4840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80" b="1" dirty="0">
                    <a:solidFill>
                      <a:srgbClr val="8FB8DE"/>
                    </a:solidFill>
                    <a:latin typeface="+mn-lt"/>
                    <a:ea typeface="+mn-ea"/>
                    <a:cs typeface="+mn-cs"/>
                  </a:rPr>
                  <a:t>万级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4639056" y="5006340"/>
                <a:ext cx="147218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AEBFD0"/>
                    </a:solidFill>
                    <a:latin typeface="+mn-lt"/>
                    <a:ea typeface="+mn-ea"/>
                    <a:cs typeface="+mn-cs"/>
                  </a:rPr>
                  <a:t>候选一次筛完</a:t>
                </a:r>
              </a:p>
            </p:txBody>
          </p:sp>
        </p:grpSp>
      </p:grpSp>
      <p:grpSp>
        <p:nvGrpSpPr>
          <p:cNvPr id="43" name="Group 43"/>
          <p:cNvGrpSpPr/>
          <p:nvPr/>
        </p:nvGrpSpPr>
        <p:grpSpPr>
          <a:xfrm>
            <a:off x="600456" y="6057900"/>
            <a:ext cx="5305044" cy="500634"/>
            <a:chOff x="600456" y="6057900"/>
            <a:chExt cx="5305044" cy="500634"/>
          </a:xfrm>
        </p:grpSpPr>
        <p:sp>
          <p:nvSpPr>
            <p:cNvPr id="41" name="Line 41"/>
            <p:cNvSpPr/>
            <p:nvPr/>
          </p:nvSpPr>
          <p:spPr>
            <a:xfrm>
              <a:off x="609600" y="6057900"/>
              <a:ext cx="5295900" cy="9525"/>
            </a:xfrm>
            <a:custGeom>
              <a:avLst/>
              <a:gdLst/>
              <a:ahLst/>
              <a:cxnLst/>
              <a:rect l="l" t="t" r="r" b="b"/>
              <a:pathLst>
                <a:path w="5295900" h="9525">
                  <a:moveTo>
                    <a:pt x="0" y="0"/>
                  </a:moveTo>
                  <a:lnTo>
                    <a:pt x="5295900" y="0"/>
                  </a:lnTo>
                </a:path>
              </a:pathLst>
            </a:custGeom>
            <a:noFill/>
            <a:ln w="14288">
              <a:solidFill>
                <a:srgbClr val="244A6E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00456" y="6206490"/>
              <a:ext cx="227182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AEBFD0"/>
                  </a:solidFill>
                  <a:latin typeface="+mn-lt"/>
                  <a:ea typeface="+mn-ea"/>
                  <a:cs typeface="+mn-cs"/>
                </a:rPr>
                <a:t>汇报人 / 单位 / 日期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4360" y="472440"/>
            <a:ext cx="6088380" cy="1047750"/>
            <a:chOff x="594360" y="472440"/>
            <a:chExt cx="6088380" cy="1047750"/>
          </a:xfrm>
        </p:grpSpPr>
        <p:sp>
          <p:nvSpPr>
            <p:cNvPr id="2" name="TextBox 2"/>
            <p:cNvSpPr txBox="1"/>
            <p:nvPr/>
          </p:nvSpPr>
          <p:spPr>
            <a:xfrm>
              <a:off x="600456" y="472440"/>
              <a:ext cx="198407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 · 背景与问题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609600" y="819150"/>
              <a:ext cx="457200" cy="5715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94360" y="933450"/>
              <a:ext cx="608838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鲜味肽：第五种味觉背后的小分子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09600" y="1562100"/>
            <a:ext cx="6781800" cy="1314450"/>
            <a:chOff x="609600" y="1562100"/>
            <a:chExt cx="6781800" cy="1314450"/>
          </a:xfrm>
        </p:grpSpPr>
        <p:sp>
          <p:nvSpPr>
            <p:cNvPr id="6" name="Rectangle 6"/>
            <p:cNvSpPr/>
            <p:nvPr/>
          </p:nvSpPr>
          <p:spPr>
            <a:xfrm>
              <a:off x="647700" y="1600200"/>
              <a:ext cx="6743700" cy="1276350"/>
            </a:xfrm>
            <a:prstGeom prst="roundRect">
              <a:avLst>
                <a:gd name="adj" fmla="val 11940"/>
              </a:avLst>
            </a:prstGeom>
            <a:solidFill>
              <a:srgbClr val="E3E9ED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562100"/>
              <a:ext cx="6743700" cy="1276350"/>
            </a:xfrm>
            <a:prstGeom prst="roundRect">
              <a:avLst>
                <a:gd name="adj" fmla="val 11940"/>
              </a:avLst>
            </a:prstGeom>
            <a:solidFill>
              <a:srgbClr val="FFFFFF"/>
            </a:solidFill>
            <a:ln w="14288">
              <a:solidFill>
                <a:srgbClr val="E3E9ED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609600" y="1562100"/>
              <a:ext cx="76200" cy="11811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04494" y="1770698"/>
              <a:ext cx="159486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什么是鲜味肽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05256" y="2186940"/>
              <a:ext cx="579181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由 T1R1/T1R3 受体感知、能赋予食品鲜味的短肽，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05256" y="2491740"/>
              <a:ext cx="44858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多为 2–8 肽，分子量通常小于 </a:t>
              </a:r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3000 Da</a:t>
              </a: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7620000" y="1562100"/>
            <a:ext cx="4000500" cy="4286250"/>
            <a:chOff x="7620000" y="1562100"/>
            <a:chExt cx="4000500" cy="4286250"/>
          </a:xfrm>
        </p:grpSpPr>
        <p:sp>
          <p:nvSpPr>
            <p:cNvPr id="13" name="Rectangle 13"/>
            <p:cNvSpPr/>
            <p:nvPr/>
          </p:nvSpPr>
          <p:spPr>
            <a:xfrm>
              <a:off x="7658100" y="1600200"/>
              <a:ext cx="3962400" cy="4248150"/>
            </a:xfrm>
            <a:prstGeom prst="roundRect">
              <a:avLst>
                <a:gd name="adj" fmla="val 3846"/>
              </a:avLst>
            </a:prstGeom>
            <a:solidFill>
              <a:srgbClr val="E3E9ED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620000" y="1562100"/>
              <a:ext cx="3962400" cy="4248150"/>
            </a:xfrm>
            <a:prstGeom prst="roundRect">
              <a:avLst>
                <a:gd name="adj" fmla="val 3846"/>
              </a:avLst>
            </a:prstGeom>
            <a:solidFill>
              <a:srgbClr val="FFFFFF"/>
            </a:solidFill>
            <a:ln w="14288">
              <a:solidFill>
                <a:srgbClr val="DDE6EC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839456" y="1767840"/>
              <a:ext cx="304650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肽链结合 T1R1/T1R3 受体</a:t>
              </a:r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8172450" y="2647950"/>
              <a:ext cx="2857500" cy="2343150"/>
              <a:chOff x="8172450" y="2647950"/>
              <a:chExt cx="2857500" cy="234315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8172450" y="2647950"/>
                <a:ext cx="781050" cy="2343150"/>
              </a:xfrm>
              <a:custGeom>
                <a:avLst/>
                <a:gdLst/>
                <a:ahLst/>
                <a:cxnLst/>
                <a:rect l="l" t="t" r="r" b="b"/>
                <a:pathLst>
                  <a:path w="781050" h="2343150">
                    <a:moveTo>
                      <a:pt x="781050" y="2343150"/>
                    </a:moveTo>
                    <a:lnTo>
                      <a:pt x="781050" y="895350"/>
                    </a:lnTo>
                    <a:cubicBezTo>
                      <a:pt x="781050" y="628650"/>
                      <a:pt x="666750" y="425450"/>
                      <a:pt x="438150" y="285750"/>
                    </a:cubicBezTo>
                    <a:lnTo>
                      <a:pt x="0" y="0"/>
                    </a:lnTo>
                  </a:path>
                </a:pathLst>
              </a:custGeom>
              <a:noFill/>
              <a:ln w="104775" cap="rnd">
                <a:solidFill>
                  <a:schemeClr val="accent2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10248900" y="2647950"/>
                <a:ext cx="781050" cy="2343150"/>
              </a:xfrm>
              <a:custGeom>
                <a:avLst/>
                <a:gdLst/>
                <a:ahLst/>
                <a:cxnLst/>
                <a:rect l="l" t="t" r="r" b="b"/>
                <a:pathLst>
                  <a:path w="781050" h="2343150">
                    <a:moveTo>
                      <a:pt x="0" y="2343150"/>
                    </a:moveTo>
                    <a:lnTo>
                      <a:pt x="0" y="895350"/>
                    </a:lnTo>
                    <a:cubicBezTo>
                      <a:pt x="0" y="628650"/>
                      <a:pt x="114300" y="425450"/>
                      <a:pt x="342900" y="285750"/>
                    </a:cubicBezTo>
                    <a:lnTo>
                      <a:pt x="781050" y="0"/>
                    </a:lnTo>
                  </a:path>
                </a:pathLst>
              </a:custGeom>
              <a:noFill/>
              <a:ln w="104775" cap="rnd">
                <a:solidFill>
                  <a:schemeClr val="accent2"/>
                </a:solidFill>
              </a:ln>
            </p:spPr>
          </p:sp>
        </p:grpSp>
        <p:sp>
          <p:nvSpPr>
            <p:cNvPr id="19" name="Ellipse 19"/>
            <p:cNvSpPr/>
            <p:nvPr/>
          </p:nvSpPr>
          <p:spPr>
            <a:xfrm>
              <a:off x="8810625" y="5000625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10106025" y="5000625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7677150" y="2095500"/>
              <a:ext cx="3028950" cy="1028700"/>
              <a:chOff x="7677150" y="2095500"/>
              <a:chExt cx="3028950" cy="1028700"/>
            </a:xfrm>
          </p:grpSpPr>
          <p:sp>
            <p:nvSpPr>
              <p:cNvPr id="21" name="Line 21"/>
              <p:cNvSpPr/>
              <p:nvPr/>
            </p:nvSpPr>
            <p:spPr>
              <a:xfrm>
                <a:off x="7962900" y="2343150"/>
                <a:ext cx="342900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209550">
                    <a:moveTo>
                      <a:pt x="0" y="0"/>
                    </a:moveTo>
                    <a:lnTo>
                      <a:pt x="342900" y="209550"/>
                    </a:lnTo>
                  </a:path>
                </a:pathLst>
              </a:custGeom>
              <a:noFill/>
              <a:ln w="47625">
                <a:solidFill>
                  <a:srgbClr val="C7D2DB"/>
                </a:solidFill>
              </a:ln>
            </p:spPr>
          </p:sp>
          <p:sp>
            <p:nvSpPr>
              <p:cNvPr id="22" name="Line 22"/>
              <p:cNvSpPr/>
              <p:nvPr/>
            </p:nvSpPr>
            <p:spPr>
              <a:xfrm>
                <a:off x="8629650" y="2724150"/>
                <a:ext cx="3810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171450">
                    <a:moveTo>
                      <a:pt x="0" y="0"/>
                    </a:moveTo>
                    <a:lnTo>
                      <a:pt x="381000" y="171450"/>
                    </a:lnTo>
                  </a:path>
                </a:pathLst>
              </a:custGeom>
              <a:noFill/>
              <a:ln w="47625">
                <a:solidFill>
                  <a:srgbClr val="C7D2DB"/>
                </a:solidFill>
              </a:ln>
            </p:spPr>
          </p:sp>
          <p:sp>
            <p:nvSpPr>
              <p:cNvPr id="23" name="Line 23"/>
              <p:cNvSpPr/>
              <p:nvPr/>
            </p:nvSpPr>
            <p:spPr>
              <a:xfrm>
                <a:off x="9353550" y="2876550"/>
                <a:ext cx="36195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361950" h="133350">
                    <a:moveTo>
                      <a:pt x="0" y="133350"/>
                    </a:moveTo>
                    <a:lnTo>
                      <a:pt x="361950" y="0"/>
                    </a:lnTo>
                  </a:path>
                </a:pathLst>
              </a:custGeom>
              <a:noFill/>
              <a:ln w="47625">
                <a:solidFill>
                  <a:srgbClr val="C7D2DB"/>
                </a:solidFill>
              </a:ln>
            </p:spPr>
          </p:sp>
          <p:sp>
            <p:nvSpPr>
              <p:cNvPr id="24" name="Line 24"/>
              <p:cNvSpPr/>
              <p:nvPr/>
            </p:nvSpPr>
            <p:spPr>
              <a:xfrm>
                <a:off x="10058400" y="2571750"/>
                <a:ext cx="3429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190500">
                    <a:moveTo>
                      <a:pt x="0" y="190500"/>
                    </a:moveTo>
                    <a:lnTo>
                      <a:pt x="342900" y="0"/>
                    </a:lnTo>
                  </a:path>
                </a:pathLst>
              </a:custGeom>
              <a:noFill/>
              <a:ln w="47625">
                <a:solidFill>
                  <a:srgbClr val="C7D2DB"/>
                </a:solidFill>
              </a:ln>
            </p:spPr>
          </p:sp>
          <p:sp>
            <p:nvSpPr>
              <p:cNvPr id="25" name="Ellipse 25"/>
              <p:cNvSpPr/>
              <p:nvPr/>
            </p:nvSpPr>
            <p:spPr>
              <a:xfrm>
                <a:off x="7677150" y="2095500"/>
                <a:ext cx="342900" cy="342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26" name="Ellipse 26"/>
              <p:cNvSpPr/>
              <p:nvPr/>
            </p:nvSpPr>
            <p:spPr>
              <a:xfrm>
                <a:off x="8286750" y="2457450"/>
                <a:ext cx="342900" cy="342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7" name="Ellipse 27"/>
              <p:cNvSpPr/>
              <p:nvPr/>
            </p:nvSpPr>
            <p:spPr>
              <a:xfrm>
                <a:off x="9010650" y="2781300"/>
                <a:ext cx="342900" cy="342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28" name="Ellipse 28"/>
              <p:cNvSpPr/>
              <p:nvPr/>
            </p:nvSpPr>
            <p:spPr>
              <a:xfrm>
                <a:off x="9715500" y="2647950"/>
                <a:ext cx="342900" cy="3429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9" name="Ellipse 29"/>
              <p:cNvSpPr/>
              <p:nvPr/>
            </p:nvSpPr>
            <p:spPr>
              <a:xfrm>
                <a:off x="10363200" y="2324100"/>
                <a:ext cx="342900" cy="342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31" name="Line 31"/>
            <p:cNvSpPr/>
            <p:nvPr/>
          </p:nvSpPr>
          <p:spPr>
            <a:xfrm>
              <a:off x="9010650" y="3124200"/>
              <a:ext cx="171450" cy="285750"/>
            </a:xfrm>
            <a:custGeom>
              <a:avLst/>
              <a:gdLst/>
              <a:ahLst/>
              <a:cxnLst/>
              <a:rect l="l" t="t" r="r" b="b"/>
              <a:pathLst>
                <a:path w="171450" h="285750">
                  <a:moveTo>
                    <a:pt x="171450" y="0"/>
                  </a:moveTo>
                  <a:lnTo>
                    <a:pt x="0" y="285750"/>
                  </a:lnTo>
                </a:path>
              </a:pathLst>
            </a:custGeom>
            <a:noFill/>
            <a:ln w="23812">
              <a:solidFill>
                <a:schemeClr val="accent3"/>
              </a:solidFill>
              <a:custDash>
                <a:ds d="200000" sp="160000"/>
              </a:custDash>
            </a:ln>
          </p:spPr>
        </p:sp>
        <p:sp>
          <p:nvSpPr>
            <p:cNvPr id="32" name="Line 32"/>
            <p:cNvSpPr/>
            <p:nvPr/>
          </p:nvSpPr>
          <p:spPr>
            <a:xfrm>
              <a:off x="9886950" y="2990850"/>
              <a:ext cx="304800" cy="381000"/>
            </a:xfrm>
            <a:custGeom>
              <a:avLst/>
              <a:gdLst/>
              <a:ahLst/>
              <a:cxnLst/>
              <a:rect l="l" t="t" r="r" b="b"/>
              <a:pathLst>
                <a:path w="304800" h="381000">
                  <a:moveTo>
                    <a:pt x="0" y="0"/>
                  </a:moveTo>
                  <a:lnTo>
                    <a:pt x="304800" y="381000"/>
                  </a:lnTo>
                </a:path>
              </a:pathLst>
            </a:custGeom>
            <a:noFill/>
            <a:ln w="23812">
              <a:solidFill>
                <a:schemeClr val="accent3"/>
              </a:solidFill>
              <a:custDash>
                <a:ds d="200000" sp="160000"/>
              </a:custDash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83460" y="3463290"/>
              <a:ext cx="22354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氢键 / 盐桥相互作用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7848600" y="4000500"/>
              <a:ext cx="3505200" cy="9525"/>
            </a:xfrm>
            <a:custGeom>
              <a:avLst/>
              <a:gdLst/>
              <a:ahLst/>
              <a:cxnLst/>
              <a:rect l="l" t="t" r="r" b="b"/>
              <a:pathLst>
                <a:path w="3505200" h="9525">
                  <a:moveTo>
                    <a:pt x="0" y="0"/>
                  </a:moveTo>
                  <a:lnTo>
                    <a:pt x="3505200" y="0"/>
                  </a:lnTo>
                </a:path>
              </a:pathLst>
            </a:custGeom>
            <a:noFill/>
            <a:ln w="14288">
              <a:solidFill>
                <a:srgbClr val="EEF2F5"/>
              </a:solidFill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7905750" y="4244340"/>
              <a:ext cx="1953006" cy="1190244"/>
              <a:chOff x="7905750" y="4244340"/>
              <a:chExt cx="1953006" cy="1190244"/>
            </a:xfrm>
          </p:grpSpPr>
          <p:sp>
            <p:nvSpPr>
              <p:cNvPr id="35" name="Ellipse 35"/>
              <p:cNvSpPr/>
              <p:nvPr/>
            </p:nvSpPr>
            <p:spPr>
              <a:xfrm>
                <a:off x="7905750" y="4286250"/>
                <a:ext cx="152400" cy="152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8144256" y="4244340"/>
                <a:ext cx="169529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酸性残基 D / E</a:t>
                </a:r>
              </a:p>
            </p:txBody>
          </p:sp>
          <p:sp>
            <p:nvSpPr>
              <p:cNvPr id="37" name="Ellipse 37"/>
              <p:cNvSpPr/>
              <p:nvPr/>
            </p:nvSpPr>
            <p:spPr>
              <a:xfrm>
                <a:off x="7905750" y="4705350"/>
                <a:ext cx="152400" cy="152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8144256" y="4663440"/>
                <a:ext cx="171450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其他氨基酸残基</a:t>
                </a:r>
              </a:p>
            </p:txBody>
          </p:sp>
          <p:sp>
            <p:nvSpPr>
              <p:cNvPr id="39" name="Ellipse 39"/>
              <p:cNvSpPr/>
              <p:nvPr/>
            </p:nvSpPr>
            <p:spPr>
              <a:xfrm>
                <a:off x="7905750" y="5124450"/>
                <a:ext cx="152400" cy="152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8144256" y="5082540"/>
                <a:ext cx="161848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A / S / G 协同</a:t>
                </a:r>
              </a:p>
            </p:txBody>
          </p:sp>
        </p:grpSp>
      </p:grpSp>
      <p:grpSp>
        <p:nvGrpSpPr>
          <p:cNvPr id="90" name="Group 90"/>
          <p:cNvGrpSpPr/>
          <p:nvPr/>
        </p:nvGrpSpPr>
        <p:grpSpPr>
          <a:xfrm>
            <a:off x="609600" y="2971800"/>
            <a:ext cx="6781800" cy="2919984"/>
            <a:chOff x="609600" y="2971800"/>
            <a:chExt cx="6781800" cy="2919984"/>
          </a:xfrm>
        </p:grpSpPr>
        <p:grpSp>
          <p:nvGrpSpPr>
            <p:cNvPr id="60" name="Group 60"/>
            <p:cNvGrpSpPr/>
            <p:nvPr/>
          </p:nvGrpSpPr>
          <p:grpSpPr>
            <a:xfrm>
              <a:off x="609600" y="2971800"/>
              <a:ext cx="2171700" cy="2919984"/>
              <a:chOff x="609600" y="2971800"/>
              <a:chExt cx="2171700" cy="2919984"/>
            </a:xfrm>
          </p:grpSpPr>
          <p:sp>
            <p:nvSpPr>
              <p:cNvPr id="43" name="Rectangle 43"/>
              <p:cNvSpPr/>
              <p:nvPr/>
            </p:nvSpPr>
            <p:spPr>
              <a:xfrm>
                <a:off x="647700" y="3009900"/>
                <a:ext cx="2133600" cy="2819400"/>
              </a:xfrm>
              <a:prstGeom prst="roundRect">
                <a:avLst>
                  <a:gd name="adj" fmla="val 7143"/>
                </a:avLst>
              </a:prstGeom>
              <a:solidFill>
                <a:srgbClr val="E3E9ED"/>
              </a:solidFill>
              <a:ln>
                <a:noFill/>
              </a:ln>
            </p:spPr>
          </p:sp>
          <p:sp>
            <p:nvSpPr>
              <p:cNvPr id="44" name="Rectangle 44"/>
              <p:cNvSpPr/>
              <p:nvPr/>
            </p:nvSpPr>
            <p:spPr>
              <a:xfrm>
                <a:off x="609600" y="2971800"/>
                <a:ext cx="2133600" cy="2819400"/>
              </a:xfrm>
              <a:prstGeom prst="roundRect">
                <a:avLst>
                  <a:gd name="adj" fmla="val 7143"/>
                </a:avLst>
              </a:prstGeom>
              <a:solidFill>
                <a:srgbClr val="FFFFFF"/>
              </a:solidFill>
              <a:ln w="14288">
                <a:solidFill>
                  <a:srgbClr val="E3E9ED"/>
                </a:solidFill>
              </a:ln>
            </p:spPr>
          </p:sp>
          <p:sp>
            <p:nvSpPr>
              <p:cNvPr id="45" name="Ellipse 45"/>
              <p:cNvSpPr/>
              <p:nvPr/>
            </p:nvSpPr>
            <p:spPr>
              <a:xfrm>
                <a:off x="800100" y="3219450"/>
                <a:ext cx="495300" cy="495300"/>
              </a:xfrm>
              <a:prstGeom prst="ellipse">
                <a:avLst/>
              </a:prstGeom>
              <a:solidFill>
                <a:srgbClr val="DFF0EE"/>
              </a:solidFill>
              <a:ln>
                <a:noFill/>
              </a:ln>
            </p:spPr>
          </p:sp>
          <p:grpSp>
            <p:nvGrpSpPr>
              <p:cNvPr id="53" name="Group 53"/>
              <p:cNvGrpSpPr/>
              <p:nvPr/>
            </p:nvGrpSpPr>
            <p:grpSpPr>
              <a:xfrm>
                <a:off x="919162" y="3328319"/>
                <a:ext cx="266701" cy="276894"/>
                <a:chOff x="919162" y="3328319"/>
                <a:chExt cx="266701" cy="276894"/>
              </a:xfrm>
            </p:grpSpPr>
            <p:sp>
              <p:nvSpPr>
                <p:cNvPr id="46" name="Freeform 46"/>
                <p:cNvSpPr/>
                <p:nvPr/>
              </p:nvSpPr>
              <p:spPr>
                <a:xfrm>
                  <a:off x="1004888" y="3424238"/>
                  <a:ext cx="85725" cy="8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5" h="85725">
                      <a:moveTo>
                        <a:pt x="0" y="42862"/>
                      </a:moveTo>
                      <a:cubicBezTo>
                        <a:pt x="0" y="66535"/>
                        <a:pt x="19190" y="85725"/>
                        <a:pt x="42862" y="85725"/>
                      </a:cubicBezTo>
                      <a:cubicBezTo>
                        <a:pt x="66535" y="85725"/>
                        <a:pt x="85725" y="66535"/>
                        <a:pt x="85725" y="42862"/>
                      </a:cubicBezTo>
                      <a:cubicBezTo>
                        <a:pt x="85725" y="19190"/>
                        <a:pt x="66535" y="0"/>
                        <a:pt x="42862" y="0"/>
                      </a:cubicBezTo>
                      <a:cubicBezTo>
                        <a:pt x="19190" y="0"/>
                        <a:pt x="0" y="19190"/>
                        <a:pt x="0" y="42862"/>
                      </a:cubicBezTo>
                    </a:path>
                  </a:pathLst>
                </a:custGeom>
                <a:noFill/>
                <a:ln w="28575">
                  <a:solidFill>
                    <a:schemeClr val="accent2"/>
                  </a:solidFill>
                </a:ln>
              </p:spPr>
            </p:sp>
            <p:sp>
              <p:nvSpPr>
                <p:cNvPr id="47" name="Freeform 47"/>
                <p:cNvSpPr/>
                <p:nvPr/>
              </p:nvSpPr>
              <p:spPr>
                <a:xfrm>
                  <a:off x="1047750" y="3595688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43"/>
                      </a:lnTo>
                    </a:path>
                  </a:pathLst>
                </a:custGeom>
                <a:noFill/>
                <a:ln w="28575">
                  <a:solidFill>
                    <a:schemeClr val="accent2"/>
                  </a:solidFill>
                </a:ln>
              </p:spPr>
            </p:sp>
            <p:sp>
              <p:nvSpPr>
                <p:cNvPr id="48" name="Freeform 48"/>
                <p:cNvSpPr/>
                <p:nvPr/>
              </p:nvSpPr>
              <p:spPr>
                <a:xfrm>
                  <a:off x="919162" y="3424238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43"/>
                      </a:lnTo>
                    </a:path>
                  </a:pathLst>
                </a:custGeom>
                <a:noFill/>
                <a:ln w="28575">
                  <a:solidFill>
                    <a:schemeClr val="accent2"/>
                  </a:solidFill>
                </a:ln>
              </p:spPr>
            </p:sp>
            <p:sp>
              <p:nvSpPr>
                <p:cNvPr id="49" name="Freeform 49"/>
                <p:cNvSpPr/>
                <p:nvPr/>
              </p:nvSpPr>
              <p:spPr>
                <a:xfrm>
                  <a:off x="1176338" y="3424238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43"/>
                      </a:lnTo>
                    </a:path>
                  </a:pathLst>
                </a:custGeom>
                <a:noFill/>
                <a:ln w="28575">
                  <a:solidFill>
                    <a:schemeClr val="accent2"/>
                  </a:solidFill>
                </a:ln>
              </p:spPr>
            </p:sp>
            <p:sp>
              <p:nvSpPr>
                <p:cNvPr id="50" name="Freeform 50"/>
                <p:cNvSpPr/>
                <p:nvPr/>
              </p:nvSpPr>
              <p:spPr>
                <a:xfrm>
                  <a:off x="919162" y="3481388"/>
                  <a:ext cx="71438" cy="1014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438" h="101441">
                      <a:moveTo>
                        <a:pt x="71438" y="101441"/>
                      </a:moveTo>
                      <a:cubicBezTo>
                        <a:pt x="31808" y="82112"/>
                        <a:pt x="4846" y="43825"/>
                        <a:pt x="0" y="0"/>
                      </a:cubicBezTo>
                    </a:path>
                  </a:pathLst>
                </a:custGeom>
                <a:noFill/>
                <a:ln w="28575">
                  <a:solidFill>
                    <a:schemeClr val="accent2"/>
                  </a:solidFill>
                </a:ln>
              </p:spPr>
            </p:sp>
            <p:sp>
              <p:nvSpPr>
                <p:cNvPr id="51" name="Freeform 51"/>
                <p:cNvSpPr/>
                <p:nvPr/>
              </p:nvSpPr>
              <p:spPr>
                <a:xfrm>
                  <a:off x="1104900" y="3481388"/>
                  <a:ext cx="71438" cy="1014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438" h="101441">
                      <a:moveTo>
                        <a:pt x="0" y="101441"/>
                      </a:moveTo>
                      <a:cubicBezTo>
                        <a:pt x="39630" y="82112"/>
                        <a:pt x="66592" y="43825"/>
                        <a:pt x="71438" y="0"/>
                      </a:cubicBezTo>
                    </a:path>
                  </a:pathLst>
                </a:custGeom>
                <a:noFill/>
                <a:ln w="28575">
                  <a:solidFill>
                    <a:schemeClr val="accent2"/>
                  </a:solidFill>
                </a:ln>
              </p:spPr>
            </p:sp>
            <p:sp>
              <p:nvSpPr>
                <p:cNvPr id="52" name="Freeform 52"/>
                <p:cNvSpPr/>
                <p:nvPr/>
              </p:nvSpPr>
              <p:spPr>
                <a:xfrm>
                  <a:off x="964882" y="3328319"/>
                  <a:ext cx="162878" cy="387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2878" h="38768">
                      <a:moveTo>
                        <a:pt x="0" y="38768"/>
                      </a:moveTo>
                      <a:cubicBezTo>
                        <a:pt x="47372" y="0"/>
                        <a:pt x="115506" y="0"/>
                        <a:pt x="162878" y="38768"/>
                      </a:cubicBezTo>
                    </a:path>
                  </a:pathLst>
                </a:custGeom>
                <a:noFill/>
                <a:ln w="28575">
                  <a:solidFill>
                    <a:schemeClr val="accent2"/>
                  </a:solidFill>
                </a:ln>
              </p:spPr>
            </p:sp>
          </p:grpSp>
          <p:sp>
            <p:nvSpPr>
              <p:cNvPr id="54" name="TextBox 54"/>
              <p:cNvSpPr txBox="1"/>
              <p:nvPr/>
            </p:nvSpPr>
            <p:spPr>
              <a:xfrm>
                <a:off x="828294" y="3847148"/>
                <a:ext cx="1332357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序列有规律</a:t>
                </a:r>
              </a:p>
            </p:txBody>
          </p:sp>
          <p:sp>
            <p:nvSpPr>
              <p:cNvPr id="55" name="Line 55"/>
              <p:cNvSpPr/>
              <p:nvPr/>
            </p:nvSpPr>
            <p:spPr>
              <a:xfrm>
                <a:off x="838200" y="4210050"/>
                <a:ext cx="1676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76400" h="9525">
                    <a:moveTo>
                      <a:pt x="0" y="0"/>
                    </a:moveTo>
                    <a:lnTo>
                      <a:pt x="1676400" y="0"/>
                    </a:lnTo>
                  </a:path>
                </a:pathLst>
              </a:custGeom>
              <a:noFill/>
              <a:ln w="14288">
                <a:solidFill>
                  <a:srgbClr val="EEF2F5"/>
                </a:solidFill>
              </a:ln>
            </p:spPr>
          </p:sp>
          <p:sp>
            <p:nvSpPr>
              <p:cNvPr id="56" name="TextBox 56"/>
              <p:cNvSpPr txBox="1"/>
              <p:nvPr/>
            </p:nvSpPr>
            <p:spPr>
              <a:xfrm>
                <a:off x="829056" y="4434840"/>
                <a:ext cx="140086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富含 D、E；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829056" y="4777740"/>
                <a:ext cx="179771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A、S、G 协同。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829056" y="5253990"/>
                <a:ext cx="9875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关键残基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829056" y="5539740"/>
                <a:ext cx="133685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D/E/Q/K/R</a:t>
                </a:r>
              </a:p>
            </p:txBody>
          </p:sp>
        </p:grpSp>
        <p:grpSp>
          <p:nvGrpSpPr>
            <p:cNvPr id="75" name="Group 75"/>
            <p:cNvGrpSpPr/>
            <p:nvPr/>
          </p:nvGrpSpPr>
          <p:grpSpPr>
            <a:xfrm>
              <a:off x="2914650" y="2971800"/>
              <a:ext cx="2176272" cy="2919984"/>
              <a:chOff x="2914650" y="2971800"/>
              <a:chExt cx="2176272" cy="2919984"/>
            </a:xfrm>
          </p:grpSpPr>
          <p:sp>
            <p:nvSpPr>
              <p:cNvPr id="61" name="Rectangle 61"/>
              <p:cNvSpPr/>
              <p:nvPr/>
            </p:nvSpPr>
            <p:spPr>
              <a:xfrm>
                <a:off x="2952750" y="3009900"/>
                <a:ext cx="2133600" cy="2819400"/>
              </a:xfrm>
              <a:prstGeom prst="roundRect">
                <a:avLst>
                  <a:gd name="adj" fmla="val 7143"/>
                </a:avLst>
              </a:prstGeom>
              <a:solidFill>
                <a:srgbClr val="E3E9ED"/>
              </a:solidFill>
              <a:ln>
                <a:noFill/>
              </a:ln>
            </p:spPr>
          </p:sp>
          <p:sp>
            <p:nvSpPr>
              <p:cNvPr id="62" name="Rectangle 62"/>
              <p:cNvSpPr/>
              <p:nvPr/>
            </p:nvSpPr>
            <p:spPr>
              <a:xfrm>
                <a:off x="2914650" y="2971800"/>
                <a:ext cx="2133600" cy="2819400"/>
              </a:xfrm>
              <a:prstGeom prst="roundRect">
                <a:avLst>
                  <a:gd name="adj" fmla="val 7143"/>
                </a:avLst>
              </a:prstGeom>
              <a:solidFill>
                <a:srgbClr val="FFFFFF"/>
              </a:solidFill>
              <a:ln w="14288">
                <a:solidFill>
                  <a:srgbClr val="E3E9ED"/>
                </a:solidFill>
              </a:ln>
            </p:spPr>
          </p:sp>
          <p:sp>
            <p:nvSpPr>
              <p:cNvPr id="63" name="Ellipse 63"/>
              <p:cNvSpPr/>
              <p:nvPr/>
            </p:nvSpPr>
            <p:spPr>
              <a:xfrm>
                <a:off x="3105150" y="3219450"/>
                <a:ext cx="495300" cy="495300"/>
              </a:xfrm>
              <a:prstGeom prst="ellipse">
                <a:avLst/>
              </a:prstGeom>
              <a:solidFill>
                <a:srgbClr val="FBE9DD"/>
              </a:solidFill>
              <a:ln>
                <a:noFill/>
              </a:ln>
            </p:spPr>
          </p:sp>
          <p:grpSp>
            <p:nvGrpSpPr>
              <p:cNvPr id="68" name="Group 68"/>
              <p:cNvGrpSpPr/>
              <p:nvPr/>
            </p:nvGrpSpPr>
            <p:grpSpPr>
              <a:xfrm>
                <a:off x="3224212" y="3352800"/>
                <a:ext cx="257175" cy="242887"/>
                <a:chOff x="3224212" y="3352800"/>
                <a:chExt cx="257175" cy="242887"/>
              </a:xfrm>
            </p:grpSpPr>
            <p:sp>
              <p:nvSpPr>
                <p:cNvPr id="64" name="Freeform 64"/>
                <p:cNvSpPr/>
                <p:nvPr/>
              </p:nvSpPr>
              <p:spPr>
                <a:xfrm>
                  <a:off x="3224212" y="3452812"/>
                  <a:ext cx="257175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175" h="142875">
                      <a:moveTo>
                        <a:pt x="14288" y="0"/>
                      </a:moveTo>
                      <a:lnTo>
                        <a:pt x="242888" y="0"/>
                      </a:lnTo>
                      <a:cubicBezTo>
                        <a:pt x="250778" y="0"/>
                        <a:pt x="257175" y="6397"/>
                        <a:pt x="257175" y="14288"/>
                      </a:cubicBezTo>
                      <a:lnTo>
                        <a:pt x="257175" y="21431"/>
                      </a:lnTo>
                      <a:cubicBezTo>
                        <a:pt x="257175" y="42862"/>
                        <a:pt x="221213" y="101055"/>
                        <a:pt x="200025" y="114300"/>
                      </a:cubicBezTo>
                      <a:lnTo>
                        <a:pt x="200025" y="128588"/>
                      </a:lnTo>
                      <a:cubicBezTo>
                        <a:pt x="200025" y="136478"/>
                        <a:pt x="193628" y="142875"/>
                        <a:pt x="185738" y="142875"/>
                      </a:cubicBezTo>
                      <a:lnTo>
                        <a:pt x="71438" y="142875"/>
                      </a:lnTo>
                      <a:cubicBezTo>
                        <a:pt x="63547" y="142875"/>
                        <a:pt x="57150" y="136478"/>
                        <a:pt x="57150" y="128588"/>
                      </a:cubicBezTo>
                      <a:lnTo>
                        <a:pt x="57150" y="114300"/>
                      </a:lnTo>
                      <a:cubicBezTo>
                        <a:pt x="33047" y="99241"/>
                        <a:pt x="0" y="42862"/>
                        <a:pt x="0" y="21431"/>
                      </a:cubicBezTo>
                      <a:lnTo>
                        <a:pt x="0" y="14288"/>
                      </a:lnTo>
                      <a:cubicBezTo>
                        <a:pt x="0" y="6397"/>
                        <a:pt x="6397" y="0"/>
                        <a:pt x="14288" y="0"/>
                      </a:cubicBezTo>
                    </a:path>
                  </a:pathLst>
                </a:custGeom>
                <a:noFill/>
                <a:ln w="28575">
                  <a:solidFill>
                    <a:schemeClr val="accent3"/>
                  </a:solidFill>
                </a:ln>
              </p:spPr>
            </p:sp>
            <p:sp>
              <p:nvSpPr>
                <p:cNvPr id="65" name="Freeform 65"/>
                <p:cNvSpPr/>
                <p:nvPr/>
              </p:nvSpPr>
              <p:spPr>
                <a:xfrm>
                  <a:off x="3338276" y="3352800"/>
                  <a:ext cx="14524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524" h="57150">
                      <a:moveTo>
                        <a:pt x="14524" y="0"/>
                      </a:moveTo>
                      <a:cubicBezTo>
                        <a:pt x="5344" y="6589"/>
                        <a:pt x="0" y="17278"/>
                        <a:pt x="237" y="28575"/>
                      </a:cubicBezTo>
                      <a:cubicBezTo>
                        <a:pt x="0" y="39872"/>
                        <a:pt x="5344" y="50561"/>
                        <a:pt x="14524" y="57150"/>
                      </a:cubicBezTo>
                    </a:path>
                  </a:pathLst>
                </a:custGeom>
                <a:noFill/>
                <a:ln w="28575">
                  <a:solidFill>
                    <a:schemeClr val="accent3"/>
                  </a:solidFill>
                </a:ln>
              </p:spPr>
            </p:sp>
            <p:sp>
              <p:nvSpPr>
                <p:cNvPr id="66" name="Freeform 66"/>
                <p:cNvSpPr/>
                <p:nvPr/>
              </p:nvSpPr>
              <p:spPr>
                <a:xfrm>
                  <a:off x="3395426" y="3352800"/>
                  <a:ext cx="14524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524" h="57150">
                      <a:moveTo>
                        <a:pt x="14524" y="0"/>
                      </a:moveTo>
                      <a:cubicBezTo>
                        <a:pt x="5344" y="6589"/>
                        <a:pt x="0" y="17278"/>
                        <a:pt x="237" y="28575"/>
                      </a:cubicBezTo>
                      <a:cubicBezTo>
                        <a:pt x="0" y="39872"/>
                        <a:pt x="5344" y="50561"/>
                        <a:pt x="14524" y="57150"/>
                      </a:cubicBezTo>
                    </a:path>
                  </a:pathLst>
                </a:custGeom>
                <a:noFill/>
                <a:ln w="28575">
                  <a:solidFill>
                    <a:schemeClr val="accent3"/>
                  </a:solidFill>
                </a:ln>
              </p:spPr>
            </p:sp>
            <p:sp>
              <p:nvSpPr>
                <p:cNvPr id="67" name="Freeform 67"/>
                <p:cNvSpPr/>
                <p:nvPr/>
              </p:nvSpPr>
              <p:spPr>
                <a:xfrm>
                  <a:off x="3281126" y="3352800"/>
                  <a:ext cx="14524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524" h="57150">
                      <a:moveTo>
                        <a:pt x="14524" y="0"/>
                      </a:moveTo>
                      <a:cubicBezTo>
                        <a:pt x="5344" y="6589"/>
                        <a:pt x="0" y="17278"/>
                        <a:pt x="237" y="28575"/>
                      </a:cubicBezTo>
                      <a:cubicBezTo>
                        <a:pt x="0" y="39872"/>
                        <a:pt x="5344" y="50561"/>
                        <a:pt x="14524" y="57150"/>
                      </a:cubicBezTo>
                    </a:path>
                  </a:pathLst>
                </a:custGeom>
                <a:noFill/>
                <a:ln w="28575">
                  <a:solidFill>
                    <a:schemeClr val="accent3"/>
                  </a:solidFill>
                </a:ln>
              </p:spPr>
            </p:sp>
          </p:grpSp>
          <p:sp>
            <p:nvSpPr>
              <p:cNvPr id="69" name="TextBox 69"/>
              <p:cNvSpPr txBox="1"/>
              <p:nvPr/>
            </p:nvSpPr>
            <p:spPr>
              <a:xfrm>
                <a:off x="3133344" y="3847148"/>
                <a:ext cx="1332357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来源很广泛</a:t>
                </a:r>
              </a:p>
            </p:txBody>
          </p:sp>
          <p:sp>
            <p:nvSpPr>
              <p:cNvPr id="70" name="Line 70"/>
              <p:cNvSpPr/>
              <p:nvPr/>
            </p:nvSpPr>
            <p:spPr>
              <a:xfrm>
                <a:off x="3143250" y="4210050"/>
                <a:ext cx="1676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76400" h="9525">
                    <a:moveTo>
                      <a:pt x="0" y="0"/>
                    </a:moveTo>
                    <a:lnTo>
                      <a:pt x="1676400" y="0"/>
                    </a:lnTo>
                  </a:path>
                </a:pathLst>
              </a:custGeom>
              <a:noFill/>
              <a:ln w="14288">
                <a:solidFill>
                  <a:srgbClr val="EEF2F5"/>
                </a:solidFill>
              </a:ln>
            </p:spPr>
          </p:sp>
          <p:sp>
            <p:nvSpPr>
              <p:cNvPr id="71" name="TextBox 71"/>
              <p:cNvSpPr txBox="1"/>
              <p:nvPr/>
            </p:nvSpPr>
            <p:spPr>
              <a:xfrm>
                <a:off x="3134106" y="4434840"/>
                <a:ext cx="195681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肉、海鲜、菌菇，</a:t>
                </a:r>
              </a:p>
            </p:txBody>
          </p:sp>
          <p:sp>
            <p:nvSpPr>
              <p:cNvPr id="72" name="TextBox 72"/>
              <p:cNvSpPr txBox="1"/>
              <p:nvPr/>
            </p:nvSpPr>
            <p:spPr>
              <a:xfrm>
                <a:off x="3134106" y="4777740"/>
                <a:ext cx="171450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腐乳、酱油等。</a:t>
                </a:r>
              </a:p>
            </p:txBody>
          </p:sp>
          <p:sp>
            <p:nvSpPr>
              <p:cNvPr id="73" name="TextBox 73"/>
              <p:cNvSpPr txBox="1"/>
              <p:nvPr/>
            </p:nvSpPr>
            <p:spPr>
              <a:xfrm>
                <a:off x="3134106" y="5253990"/>
                <a:ext cx="166969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谷氨酸与 IMP/</a:t>
                </a:r>
              </a:p>
            </p:txBody>
          </p:sp>
          <p:sp>
            <p:nvSpPr>
              <p:cNvPr id="74" name="TextBox 74"/>
              <p:cNvSpPr txBox="1"/>
              <p:nvPr/>
            </p:nvSpPr>
            <p:spPr>
              <a:xfrm>
                <a:off x="3134106" y="5539740"/>
                <a:ext cx="159288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GMP 协同增鲜</a:t>
                </a:r>
              </a:p>
            </p:txBody>
          </p:sp>
        </p:grpSp>
        <p:grpSp>
          <p:nvGrpSpPr>
            <p:cNvPr id="89" name="Group 89"/>
            <p:cNvGrpSpPr/>
            <p:nvPr/>
          </p:nvGrpSpPr>
          <p:grpSpPr>
            <a:xfrm>
              <a:off x="5219700" y="2971800"/>
              <a:ext cx="2171700" cy="2919984"/>
              <a:chOff x="5219700" y="2971800"/>
              <a:chExt cx="2171700" cy="2919984"/>
            </a:xfrm>
          </p:grpSpPr>
          <p:sp>
            <p:nvSpPr>
              <p:cNvPr id="76" name="Rectangle 76"/>
              <p:cNvSpPr/>
              <p:nvPr/>
            </p:nvSpPr>
            <p:spPr>
              <a:xfrm>
                <a:off x="5257800" y="3009900"/>
                <a:ext cx="2133600" cy="2819400"/>
              </a:xfrm>
              <a:prstGeom prst="roundRect">
                <a:avLst>
                  <a:gd name="adj" fmla="val 7143"/>
                </a:avLst>
              </a:prstGeom>
              <a:solidFill>
                <a:srgbClr val="E3E9ED"/>
              </a:solidFill>
              <a:ln>
                <a:noFill/>
              </a:ln>
            </p:spPr>
          </p:sp>
          <p:sp>
            <p:nvSpPr>
              <p:cNvPr id="77" name="Rectangle 77"/>
              <p:cNvSpPr/>
              <p:nvPr/>
            </p:nvSpPr>
            <p:spPr>
              <a:xfrm>
                <a:off x="5219700" y="2971800"/>
                <a:ext cx="2133600" cy="2819400"/>
              </a:xfrm>
              <a:prstGeom prst="roundRect">
                <a:avLst>
                  <a:gd name="adj" fmla="val 7143"/>
                </a:avLst>
              </a:prstGeom>
              <a:solidFill>
                <a:srgbClr val="FFFFFF"/>
              </a:solidFill>
              <a:ln w="14288">
                <a:solidFill>
                  <a:srgbClr val="E3E9ED"/>
                </a:solidFill>
              </a:ln>
            </p:spPr>
          </p:sp>
          <p:sp>
            <p:nvSpPr>
              <p:cNvPr id="78" name="Ellipse 78"/>
              <p:cNvSpPr/>
              <p:nvPr/>
            </p:nvSpPr>
            <p:spPr>
              <a:xfrm>
                <a:off x="5410200" y="3219450"/>
                <a:ext cx="495300" cy="4953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</p:sp>
          <p:grpSp>
            <p:nvGrpSpPr>
              <p:cNvPr id="82" name="Group 82"/>
              <p:cNvGrpSpPr/>
              <p:nvPr/>
            </p:nvGrpSpPr>
            <p:grpSpPr>
              <a:xfrm>
                <a:off x="5570727" y="3338512"/>
                <a:ext cx="174245" cy="257175"/>
                <a:chOff x="5570727" y="3338512"/>
                <a:chExt cx="174245" cy="257175"/>
              </a:xfrm>
            </p:grpSpPr>
            <p:sp>
              <p:nvSpPr>
                <p:cNvPr id="79" name="Freeform 79"/>
                <p:cNvSpPr/>
                <p:nvPr/>
              </p:nvSpPr>
              <p:spPr>
                <a:xfrm>
                  <a:off x="5614988" y="3338512"/>
                  <a:ext cx="857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5" h="9525">
                      <a:moveTo>
                        <a:pt x="0" y="0"/>
                      </a:moveTo>
                      <a:lnTo>
                        <a:pt x="85725" y="0"/>
                      </a:ln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80" name="Freeform 80"/>
                <p:cNvSpPr/>
                <p:nvPr/>
              </p:nvSpPr>
              <p:spPr>
                <a:xfrm>
                  <a:off x="5629275" y="3424238"/>
                  <a:ext cx="571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9525">
                      <a:moveTo>
                        <a:pt x="0" y="0"/>
                      </a:moveTo>
                      <a:lnTo>
                        <a:pt x="57150" y="0"/>
                      </a:ln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81" name="Freeform 81"/>
                <p:cNvSpPr/>
                <p:nvPr/>
              </p:nvSpPr>
              <p:spPr>
                <a:xfrm>
                  <a:off x="5570727" y="3338512"/>
                  <a:ext cx="174245" cy="257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245" h="257175">
                      <a:moveTo>
                        <a:pt x="58548" y="0"/>
                      </a:moveTo>
                      <a:lnTo>
                        <a:pt x="58548" y="85725"/>
                      </a:lnTo>
                      <a:lnTo>
                        <a:pt x="1398" y="242888"/>
                      </a:lnTo>
                      <a:cubicBezTo>
                        <a:pt x="0" y="245699"/>
                        <a:pt x="4" y="249004"/>
                        <a:pt x="1408" y="251812"/>
                      </a:cubicBezTo>
                      <a:cubicBezTo>
                        <a:pt x="2812" y="254620"/>
                        <a:pt x="5454" y="256606"/>
                        <a:pt x="8541" y="257175"/>
                      </a:cubicBezTo>
                      <a:lnTo>
                        <a:pt x="165704" y="257175"/>
                      </a:lnTo>
                      <a:cubicBezTo>
                        <a:pt x="168792" y="256606"/>
                        <a:pt x="171433" y="254620"/>
                        <a:pt x="172837" y="251812"/>
                      </a:cubicBezTo>
                      <a:cubicBezTo>
                        <a:pt x="174241" y="249004"/>
                        <a:pt x="174245" y="245699"/>
                        <a:pt x="172848" y="242888"/>
                      </a:cubicBezTo>
                      <a:lnTo>
                        <a:pt x="115698" y="85725"/>
                      </a:lnTo>
                      <a:lnTo>
                        <a:pt x="115698" y="0"/>
                      </a:ln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</p:grpSp>
          <p:sp>
            <p:nvSpPr>
              <p:cNvPr id="83" name="TextBox 83"/>
              <p:cNvSpPr txBox="1"/>
              <p:nvPr/>
            </p:nvSpPr>
            <p:spPr>
              <a:xfrm>
                <a:off x="5438394" y="3847148"/>
                <a:ext cx="1332357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应用价值高</a:t>
                </a:r>
              </a:p>
            </p:txBody>
          </p:sp>
          <p:sp>
            <p:nvSpPr>
              <p:cNvPr id="84" name="Line 84"/>
              <p:cNvSpPr/>
              <p:nvPr/>
            </p:nvSpPr>
            <p:spPr>
              <a:xfrm>
                <a:off x="5448300" y="4210050"/>
                <a:ext cx="1676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76400" h="9525">
                    <a:moveTo>
                      <a:pt x="0" y="0"/>
                    </a:moveTo>
                    <a:lnTo>
                      <a:pt x="1676400" y="0"/>
                    </a:lnTo>
                  </a:path>
                </a:pathLst>
              </a:custGeom>
              <a:noFill/>
              <a:ln w="14288">
                <a:solidFill>
                  <a:srgbClr val="EEF2F5"/>
                </a:solidFill>
              </a:ln>
            </p:spPr>
          </p:sp>
          <p:sp>
            <p:nvSpPr>
              <p:cNvPr id="85" name="TextBox 85"/>
              <p:cNvSpPr txBox="1"/>
              <p:nvPr/>
            </p:nvSpPr>
            <p:spPr>
              <a:xfrm>
                <a:off x="5439156" y="4434840"/>
                <a:ext cx="147218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低钠调味品、</a:t>
                </a:r>
              </a:p>
            </p:txBody>
          </p:sp>
          <p:sp>
            <p:nvSpPr>
              <p:cNvPr id="86" name="TextBox 86"/>
              <p:cNvSpPr txBox="1"/>
              <p:nvPr/>
            </p:nvSpPr>
            <p:spPr>
              <a:xfrm>
                <a:off x="5439156" y="4777740"/>
                <a:ext cx="171450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副产物高值化。</a:t>
                </a:r>
              </a:p>
            </p:txBody>
          </p:sp>
          <p:sp>
            <p:nvSpPr>
              <p:cNvPr id="87" name="TextBox 87"/>
              <p:cNvSpPr txBox="1"/>
              <p:nvPr/>
            </p:nvSpPr>
            <p:spPr>
              <a:xfrm>
                <a:off x="5439156" y="5253990"/>
                <a:ext cx="122986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部分肽鲜度</a:t>
                </a:r>
              </a:p>
            </p:txBody>
          </p:sp>
          <p:sp>
            <p:nvSpPr>
              <p:cNvPr id="88" name="TextBox 88"/>
              <p:cNvSpPr txBox="1"/>
              <p:nvPr/>
            </p:nvSpPr>
            <p:spPr>
              <a:xfrm>
                <a:off x="5439156" y="5539740"/>
                <a:ext cx="122986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达味精数倍</a:t>
                </a:r>
              </a:p>
            </p:txBody>
          </p:sp>
        </p:grpSp>
      </p:grpSp>
      <p:sp>
        <p:nvSpPr>
          <p:cNvPr id="91" name="TextBox 91"/>
          <p:cNvSpPr txBox="1"/>
          <p:nvPr/>
        </p:nvSpPr>
        <p:spPr>
          <a:xfrm>
            <a:off x="10761497" y="6473190"/>
            <a:ext cx="8300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800" dirty="0">
                <a:solidFill>
                  <a:srgbClr val="A3B2BF"/>
                </a:solidFill>
                <a:latin typeface="+mn-lt"/>
                <a:ea typeface="+mn-ea"/>
                <a:cs typeface="+mn-cs"/>
              </a:rPr>
              <a:t>02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4360" y="472440"/>
            <a:ext cx="3665220" cy="1047750"/>
            <a:chOff x="594360" y="472440"/>
            <a:chExt cx="3665220" cy="1047750"/>
          </a:xfrm>
        </p:grpSpPr>
        <p:sp>
          <p:nvSpPr>
            <p:cNvPr id="2" name="TextBox 2"/>
            <p:cNvSpPr txBox="1"/>
            <p:nvPr/>
          </p:nvSpPr>
          <p:spPr>
            <a:xfrm>
              <a:off x="600456" y="472440"/>
              <a:ext cx="198407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 · 背景与问题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609600" y="819150"/>
              <a:ext cx="457200" cy="5715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94360" y="933450"/>
              <a:ext cx="366522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传统筛选的三大瓶颈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09600" y="1619250"/>
            <a:ext cx="11010900" cy="1371600"/>
            <a:chOff x="609600" y="1619250"/>
            <a:chExt cx="11010900" cy="1371600"/>
          </a:xfrm>
        </p:grpSpPr>
        <p:sp>
          <p:nvSpPr>
            <p:cNvPr id="6" name="Rectangle 6"/>
            <p:cNvSpPr/>
            <p:nvPr/>
          </p:nvSpPr>
          <p:spPr>
            <a:xfrm>
              <a:off x="647700" y="1657350"/>
              <a:ext cx="10972800" cy="1333500"/>
            </a:xfrm>
            <a:prstGeom prst="roundRect">
              <a:avLst>
                <a:gd name="adj" fmla="val 11429"/>
              </a:avLst>
            </a:prstGeom>
            <a:solidFill>
              <a:srgbClr val="E3E9ED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10972800" cy="1333500"/>
            </a:xfrm>
            <a:prstGeom prst="roundRect">
              <a:avLst>
                <a:gd name="adj" fmla="val 11429"/>
              </a:avLst>
            </a:prstGeom>
            <a:solidFill>
              <a:srgbClr val="FFFFFF"/>
            </a:solidFill>
            <a:ln w="14288">
              <a:solidFill>
                <a:srgbClr val="E3E9ED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04494" y="1827848"/>
              <a:ext cx="185737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传统湿实验流程</a:t>
              </a:r>
            </a:p>
          </p:txBody>
        </p:sp>
        <p:grpSp>
          <p:nvGrpSpPr>
            <p:cNvPr id="40" name="Group 40"/>
            <p:cNvGrpSpPr/>
            <p:nvPr/>
          </p:nvGrpSpPr>
          <p:grpSpPr>
            <a:xfrm>
              <a:off x="914400" y="2209800"/>
              <a:ext cx="9601200" cy="571500"/>
              <a:chOff x="914400" y="2209800"/>
              <a:chExt cx="9601200" cy="571500"/>
            </a:xfrm>
          </p:grpSpPr>
          <p:grpSp>
            <p:nvGrpSpPr>
              <p:cNvPr id="11" name="Group 11"/>
              <p:cNvGrpSpPr/>
              <p:nvPr/>
            </p:nvGrpSpPr>
            <p:grpSpPr>
              <a:xfrm>
                <a:off x="914400" y="2209800"/>
                <a:ext cx="1600200" cy="571500"/>
                <a:chOff x="914400" y="2209800"/>
                <a:chExt cx="1600200" cy="571500"/>
              </a:xfrm>
            </p:grpSpPr>
            <p:sp>
              <p:nvSpPr>
                <p:cNvPr id="9" name="Rectangle 9"/>
                <p:cNvSpPr/>
                <p:nvPr/>
              </p:nvSpPr>
              <p:spPr>
                <a:xfrm>
                  <a:off x="914400" y="2209800"/>
                  <a:ext cx="1600200" cy="571500"/>
                </a:xfrm>
                <a:prstGeom prst="roundRect">
                  <a:avLst>
                    <a:gd name="adj" fmla="val 20000"/>
                  </a:avLst>
                </a:prstGeom>
                <a:solidFill>
                  <a:schemeClr val="accent6"/>
                </a:solidFill>
                <a:ln>
                  <a:noFill/>
                </a:ln>
              </p:spPr>
            </p:sp>
            <p:sp>
              <p:nvSpPr>
                <p:cNvPr id="10" name="TextBox 10"/>
                <p:cNvSpPr txBox="1"/>
                <p:nvPr/>
              </p:nvSpPr>
              <p:spPr>
                <a:xfrm>
                  <a:off x="1220724" y="2377440"/>
                  <a:ext cx="987552" cy="3520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800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rPr>
                    <a:t>蛋白水解</a:t>
                  </a:r>
                </a:p>
              </p:txBody>
            </p:sp>
          </p:grpSp>
          <p:grpSp>
            <p:nvGrpSpPr>
              <p:cNvPr id="15" name="Group 15"/>
              <p:cNvGrpSpPr/>
              <p:nvPr/>
            </p:nvGrpSpPr>
            <p:grpSpPr>
              <a:xfrm>
                <a:off x="2593181" y="2414588"/>
                <a:ext cx="166688" cy="142875"/>
                <a:chOff x="2593181" y="2414588"/>
                <a:chExt cx="166688" cy="142875"/>
              </a:xfrm>
            </p:grpSpPr>
            <p:sp>
              <p:nvSpPr>
                <p:cNvPr id="12" name="Freeform 12"/>
                <p:cNvSpPr/>
                <p:nvPr/>
              </p:nvSpPr>
              <p:spPr>
                <a:xfrm>
                  <a:off x="2593181" y="2486025"/>
                  <a:ext cx="166688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688" h="9525">
                      <a:moveTo>
                        <a:pt x="0" y="0"/>
                      </a:moveTo>
                      <a:lnTo>
                        <a:pt x="166688" y="0"/>
                      </a:lnTo>
                    </a:path>
                  </a:pathLst>
                </a:custGeom>
                <a:noFill/>
                <a:ln w="23812">
                  <a:solidFill>
                    <a:srgbClr val="9AA8B3"/>
                  </a:solidFill>
                </a:ln>
              </p:spPr>
            </p:sp>
            <p:sp>
              <p:nvSpPr>
                <p:cNvPr id="13" name="Freeform 13"/>
                <p:cNvSpPr/>
                <p:nvPr/>
              </p:nvSpPr>
              <p:spPr>
                <a:xfrm>
                  <a:off x="2688431" y="2486025"/>
                  <a:ext cx="71438" cy="71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438" h="71438">
                      <a:moveTo>
                        <a:pt x="0" y="71438"/>
                      </a:moveTo>
                      <a:lnTo>
                        <a:pt x="71438" y="0"/>
                      </a:lnTo>
                    </a:path>
                  </a:pathLst>
                </a:custGeom>
                <a:noFill/>
                <a:ln w="23812">
                  <a:solidFill>
                    <a:srgbClr val="9AA8B3"/>
                  </a:solidFill>
                </a:ln>
              </p:spPr>
            </p:sp>
            <p:sp>
              <p:nvSpPr>
                <p:cNvPr id="14" name="Freeform 14"/>
                <p:cNvSpPr/>
                <p:nvPr/>
              </p:nvSpPr>
              <p:spPr>
                <a:xfrm>
                  <a:off x="2688431" y="2414588"/>
                  <a:ext cx="71438" cy="71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438" h="71438">
                      <a:moveTo>
                        <a:pt x="0" y="0"/>
                      </a:moveTo>
                      <a:lnTo>
                        <a:pt x="71438" y="71438"/>
                      </a:lnTo>
                    </a:path>
                  </a:pathLst>
                </a:custGeom>
                <a:noFill/>
                <a:ln w="23812">
                  <a:solidFill>
                    <a:srgbClr val="9AA8B3"/>
                  </a:solidFill>
                </a:ln>
              </p:spPr>
            </p:sp>
          </p:grpSp>
          <p:grpSp>
            <p:nvGrpSpPr>
              <p:cNvPr id="18" name="Group 18"/>
              <p:cNvGrpSpPr/>
              <p:nvPr/>
            </p:nvGrpSpPr>
            <p:grpSpPr>
              <a:xfrm>
                <a:off x="2857500" y="2209800"/>
                <a:ext cx="1600200" cy="571500"/>
                <a:chOff x="2857500" y="2209800"/>
                <a:chExt cx="1600200" cy="571500"/>
              </a:xfrm>
            </p:grpSpPr>
            <p:sp>
              <p:nvSpPr>
                <p:cNvPr id="16" name="Rectangle 16"/>
                <p:cNvSpPr/>
                <p:nvPr/>
              </p:nvSpPr>
              <p:spPr>
                <a:xfrm>
                  <a:off x="2857500" y="2209800"/>
                  <a:ext cx="1600200" cy="571500"/>
                </a:xfrm>
                <a:prstGeom prst="roundRect">
                  <a:avLst>
                    <a:gd name="adj" fmla="val 20000"/>
                  </a:avLst>
                </a:prstGeom>
                <a:solidFill>
                  <a:schemeClr val="accent6"/>
                </a:solidFill>
                <a:ln>
                  <a:noFill/>
                </a:ln>
              </p:spPr>
            </p:sp>
            <p:sp>
              <p:nvSpPr>
                <p:cNvPr id="17" name="TextBox 17"/>
                <p:cNvSpPr txBox="1"/>
                <p:nvPr/>
              </p:nvSpPr>
              <p:spPr>
                <a:xfrm>
                  <a:off x="3163824" y="2377440"/>
                  <a:ext cx="987552" cy="3520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800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rPr>
                    <a:t>分离纯化</a:t>
                  </a:r>
                </a:p>
              </p:txBody>
            </p:sp>
          </p:grpSp>
          <p:grpSp>
            <p:nvGrpSpPr>
              <p:cNvPr id="22" name="Group 22"/>
              <p:cNvGrpSpPr/>
              <p:nvPr/>
            </p:nvGrpSpPr>
            <p:grpSpPr>
              <a:xfrm>
                <a:off x="4536281" y="2414588"/>
                <a:ext cx="166688" cy="142875"/>
                <a:chOff x="4536281" y="2414588"/>
                <a:chExt cx="166688" cy="142875"/>
              </a:xfrm>
            </p:grpSpPr>
            <p:sp>
              <p:nvSpPr>
                <p:cNvPr id="19" name="Freeform 19"/>
                <p:cNvSpPr/>
                <p:nvPr/>
              </p:nvSpPr>
              <p:spPr>
                <a:xfrm>
                  <a:off x="4536281" y="2486025"/>
                  <a:ext cx="166688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688" h="9525">
                      <a:moveTo>
                        <a:pt x="0" y="0"/>
                      </a:moveTo>
                      <a:lnTo>
                        <a:pt x="166688" y="0"/>
                      </a:lnTo>
                    </a:path>
                  </a:pathLst>
                </a:custGeom>
                <a:noFill/>
                <a:ln w="23812">
                  <a:solidFill>
                    <a:srgbClr val="9AA8B3"/>
                  </a:solidFill>
                </a:ln>
              </p:spPr>
            </p:sp>
            <p:sp>
              <p:nvSpPr>
                <p:cNvPr id="20" name="Freeform 20"/>
                <p:cNvSpPr/>
                <p:nvPr/>
              </p:nvSpPr>
              <p:spPr>
                <a:xfrm>
                  <a:off x="4631531" y="2486025"/>
                  <a:ext cx="71438" cy="71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438" h="71438">
                      <a:moveTo>
                        <a:pt x="0" y="71438"/>
                      </a:moveTo>
                      <a:lnTo>
                        <a:pt x="71438" y="0"/>
                      </a:lnTo>
                    </a:path>
                  </a:pathLst>
                </a:custGeom>
                <a:noFill/>
                <a:ln w="23812">
                  <a:solidFill>
                    <a:srgbClr val="9AA8B3"/>
                  </a:solidFill>
                </a:ln>
              </p:spPr>
            </p:sp>
            <p:sp>
              <p:nvSpPr>
                <p:cNvPr id="21" name="Freeform 21"/>
                <p:cNvSpPr/>
                <p:nvPr/>
              </p:nvSpPr>
              <p:spPr>
                <a:xfrm>
                  <a:off x="4631531" y="2414588"/>
                  <a:ext cx="71438" cy="71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438" h="71438">
                      <a:moveTo>
                        <a:pt x="0" y="0"/>
                      </a:moveTo>
                      <a:lnTo>
                        <a:pt x="71438" y="71438"/>
                      </a:lnTo>
                    </a:path>
                  </a:pathLst>
                </a:custGeom>
                <a:noFill/>
                <a:ln w="23812">
                  <a:solidFill>
                    <a:srgbClr val="9AA8B3"/>
                  </a:solidFill>
                </a:ln>
              </p:spPr>
            </p:sp>
          </p:grpSp>
          <p:grpSp>
            <p:nvGrpSpPr>
              <p:cNvPr id="25" name="Group 25"/>
              <p:cNvGrpSpPr/>
              <p:nvPr/>
            </p:nvGrpSpPr>
            <p:grpSpPr>
              <a:xfrm>
                <a:off x="4800600" y="2209800"/>
                <a:ext cx="1714500" cy="571500"/>
                <a:chOff x="4800600" y="2209800"/>
                <a:chExt cx="1714500" cy="571500"/>
              </a:xfrm>
            </p:grpSpPr>
            <p:sp>
              <p:nvSpPr>
                <p:cNvPr id="23" name="Rectangle 23"/>
                <p:cNvSpPr/>
                <p:nvPr/>
              </p:nvSpPr>
              <p:spPr>
                <a:xfrm>
                  <a:off x="4800600" y="2209800"/>
                  <a:ext cx="1714500" cy="571500"/>
                </a:xfrm>
                <a:prstGeom prst="roundRect">
                  <a:avLst>
                    <a:gd name="adj" fmla="val 20000"/>
                  </a:avLst>
                </a:prstGeom>
                <a:solidFill>
                  <a:schemeClr val="accent6"/>
                </a:solidFill>
                <a:ln>
                  <a:noFill/>
                </a:ln>
              </p:spPr>
            </p:sp>
            <p:sp>
              <p:nvSpPr>
                <p:cNvPr id="24" name="TextBox 24"/>
                <p:cNvSpPr txBox="1"/>
                <p:nvPr/>
              </p:nvSpPr>
              <p:spPr>
                <a:xfrm>
                  <a:off x="4976622" y="2377440"/>
                  <a:ext cx="1362456" cy="3520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800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rPr>
                    <a:t>LC-MS 鉴定</a:t>
                  </a:r>
                </a:p>
              </p:txBody>
            </p:sp>
          </p:grpSp>
          <p:grpSp>
            <p:nvGrpSpPr>
              <p:cNvPr id="29" name="Group 29"/>
              <p:cNvGrpSpPr/>
              <p:nvPr/>
            </p:nvGrpSpPr>
            <p:grpSpPr>
              <a:xfrm>
                <a:off x="6593681" y="2414588"/>
                <a:ext cx="166688" cy="142875"/>
                <a:chOff x="6593681" y="2414588"/>
                <a:chExt cx="166688" cy="142875"/>
              </a:xfrm>
            </p:grpSpPr>
            <p:sp>
              <p:nvSpPr>
                <p:cNvPr id="26" name="Freeform 26"/>
                <p:cNvSpPr/>
                <p:nvPr/>
              </p:nvSpPr>
              <p:spPr>
                <a:xfrm>
                  <a:off x="6593681" y="2486025"/>
                  <a:ext cx="166688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688" h="9525">
                      <a:moveTo>
                        <a:pt x="0" y="0"/>
                      </a:moveTo>
                      <a:lnTo>
                        <a:pt x="166688" y="0"/>
                      </a:lnTo>
                    </a:path>
                  </a:pathLst>
                </a:custGeom>
                <a:noFill/>
                <a:ln w="23812">
                  <a:solidFill>
                    <a:srgbClr val="9AA8B3"/>
                  </a:solidFill>
                </a:ln>
              </p:spPr>
            </p:sp>
            <p:sp>
              <p:nvSpPr>
                <p:cNvPr id="27" name="Freeform 27"/>
                <p:cNvSpPr/>
                <p:nvPr/>
              </p:nvSpPr>
              <p:spPr>
                <a:xfrm>
                  <a:off x="6688931" y="2486025"/>
                  <a:ext cx="71438" cy="71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438" h="71438">
                      <a:moveTo>
                        <a:pt x="0" y="71438"/>
                      </a:moveTo>
                      <a:lnTo>
                        <a:pt x="71438" y="0"/>
                      </a:lnTo>
                    </a:path>
                  </a:pathLst>
                </a:custGeom>
                <a:noFill/>
                <a:ln w="23812">
                  <a:solidFill>
                    <a:srgbClr val="9AA8B3"/>
                  </a:solidFill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6688931" y="2414588"/>
                  <a:ext cx="71438" cy="71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438" h="71438">
                      <a:moveTo>
                        <a:pt x="0" y="0"/>
                      </a:moveTo>
                      <a:lnTo>
                        <a:pt x="71438" y="71438"/>
                      </a:lnTo>
                    </a:path>
                  </a:pathLst>
                </a:custGeom>
                <a:noFill/>
                <a:ln w="23812">
                  <a:solidFill>
                    <a:srgbClr val="9AA8B3"/>
                  </a:solidFill>
                </a:ln>
              </p:spPr>
            </p:sp>
          </p:grpSp>
          <p:grpSp>
            <p:nvGrpSpPr>
              <p:cNvPr id="32" name="Group 32"/>
              <p:cNvGrpSpPr/>
              <p:nvPr/>
            </p:nvGrpSpPr>
            <p:grpSpPr>
              <a:xfrm>
                <a:off x="6858000" y="2209800"/>
                <a:ext cx="1600200" cy="571500"/>
                <a:chOff x="6858000" y="2209800"/>
                <a:chExt cx="1600200" cy="571500"/>
              </a:xfrm>
            </p:grpSpPr>
            <p:sp>
              <p:nvSpPr>
                <p:cNvPr id="30" name="Rectangle 30"/>
                <p:cNvSpPr/>
                <p:nvPr/>
              </p:nvSpPr>
              <p:spPr>
                <a:xfrm>
                  <a:off x="6858000" y="2209800"/>
                  <a:ext cx="1600200" cy="571500"/>
                </a:xfrm>
                <a:prstGeom prst="roundRect">
                  <a:avLst>
                    <a:gd name="adj" fmla="val 20000"/>
                  </a:avLst>
                </a:prstGeom>
                <a:solidFill>
                  <a:schemeClr val="accent6"/>
                </a:solidFill>
                <a:ln>
                  <a:noFill/>
                </a:ln>
              </p:spPr>
            </p:sp>
            <p:sp>
              <p:nvSpPr>
                <p:cNvPr id="31" name="TextBox 31"/>
                <p:cNvSpPr txBox="1"/>
                <p:nvPr/>
              </p:nvSpPr>
              <p:spPr>
                <a:xfrm>
                  <a:off x="7164324" y="2377440"/>
                  <a:ext cx="987552" cy="3520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800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rPr>
                    <a:t>人工合成</a:t>
                  </a:r>
                </a:p>
              </p:txBody>
            </p:sp>
          </p:grpSp>
          <p:grpSp>
            <p:nvGrpSpPr>
              <p:cNvPr id="36" name="Group 36"/>
              <p:cNvGrpSpPr/>
              <p:nvPr/>
            </p:nvGrpSpPr>
            <p:grpSpPr>
              <a:xfrm>
                <a:off x="8536781" y="2414588"/>
                <a:ext cx="166688" cy="142875"/>
                <a:chOff x="8536781" y="2414588"/>
                <a:chExt cx="166688" cy="142875"/>
              </a:xfrm>
            </p:grpSpPr>
            <p:sp>
              <p:nvSpPr>
                <p:cNvPr id="33" name="Freeform 33"/>
                <p:cNvSpPr/>
                <p:nvPr/>
              </p:nvSpPr>
              <p:spPr>
                <a:xfrm>
                  <a:off x="8536781" y="2486025"/>
                  <a:ext cx="166688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688" h="9525">
                      <a:moveTo>
                        <a:pt x="0" y="0"/>
                      </a:moveTo>
                      <a:lnTo>
                        <a:pt x="166688" y="0"/>
                      </a:lnTo>
                    </a:path>
                  </a:pathLst>
                </a:custGeom>
                <a:noFill/>
                <a:ln w="23812">
                  <a:solidFill>
                    <a:schemeClr val="accent3"/>
                  </a:solidFill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8632031" y="2486025"/>
                  <a:ext cx="71438" cy="71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438" h="71438">
                      <a:moveTo>
                        <a:pt x="0" y="71438"/>
                      </a:moveTo>
                      <a:lnTo>
                        <a:pt x="71438" y="0"/>
                      </a:lnTo>
                    </a:path>
                  </a:pathLst>
                </a:custGeom>
                <a:noFill/>
                <a:ln w="23812">
                  <a:solidFill>
                    <a:schemeClr val="accent3"/>
                  </a:solidFill>
                </a:ln>
              </p:spPr>
            </p:sp>
            <p:sp>
              <p:nvSpPr>
                <p:cNvPr id="35" name="Freeform 35"/>
                <p:cNvSpPr/>
                <p:nvPr/>
              </p:nvSpPr>
              <p:spPr>
                <a:xfrm>
                  <a:off x="8632031" y="2414588"/>
                  <a:ext cx="71438" cy="71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438" h="71438">
                      <a:moveTo>
                        <a:pt x="0" y="0"/>
                      </a:moveTo>
                      <a:lnTo>
                        <a:pt x="71438" y="71438"/>
                      </a:lnTo>
                    </a:path>
                  </a:pathLst>
                </a:custGeom>
                <a:noFill/>
                <a:ln w="23812">
                  <a:solidFill>
                    <a:schemeClr val="accent3"/>
                  </a:solidFill>
                </a:ln>
              </p:spPr>
            </p:sp>
          </p:grpSp>
          <p:grpSp>
            <p:nvGrpSpPr>
              <p:cNvPr id="39" name="Group 39"/>
              <p:cNvGrpSpPr/>
              <p:nvPr/>
            </p:nvGrpSpPr>
            <p:grpSpPr>
              <a:xfrm>
                <a:off x="8801100" y="2209800"/>
                <a:ext cx="1714500" cy="571500"/>
                <a:chOff x="8801100" y="2209800"/>
                <a:chExt cx="1714500" cy="571500"/>
              </a:xfrm>
            </p:grpSpPr>
            <p:sp>
              <p:nvSpPr>
                <p:cNvPr id="37" name="Rectangle 37"/>
                <p:cNvSpPr/>
                <p:nvPr/>
              </p:nvSpPr>
              <p:spPr>
                <a:xfrm>
                  <a:off x="8801100" y="2209800"/>
                  <a:ext cx="1714500" cy="571500"/>
                </a:xfrm>
                <a:prstGeom prst="roundRect">
                  <a:avLst>
                    <a:gd name="adj" fmla="val 20000"/>
                  </a:avLst>
                </a:prstGeom>
                <a:solidFill>
                  <a:srgbClr val="FBE9DD"/>
                </a:solidFill>
                <a:ln>
                  <a:noFill/>
                </a:ln>
              </p:spPr>
            </p:sp>
            <p:sp>
              <p:nvSpPr>
                <p:cNvPr id="38" name="TextBox 38"/>
                <p:cNvSpPr txBox="1"/>
                <p:nvPr/>
              </p:nvSpPr>
              <p:spPr>
                <a:xfrm>
                  <a:off x="8922258" y="2377440"/>
                  <a:ext cx="1472184" cy="3520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800" b="1" dirty="0">
                      <a:solidFill>
                        <a:srgbClr val="B5663A"/>
                      </a:solidFill>
                      <a:latin typeface="+mn-lt"/>
                      <a:ea typeface="+mn-ea"/>
                      <a:cs typeface="+mn-cs"/>
                    </a:rPr>
                    <a:t>人工感官评价</a:t>
                  </a:r>
                </a:p>
              </p:txBody>
            </p:sp>
          </p:grpSp>
        </p:grpSp>
      </p:grpSp>
      <p:grpSp>
        <p:nvGrpSpPr>
          <p:cNvPr id="71" name="Group 71"/>
          <p:cNvGrpSpPr/>
          <p:nvPr/>
        </p:nvGrpSpPr>
        <p:grpSpPr>
          <a:xfrm>
            <a:off x="609600" y="3162300"/>
            <a:ext cx="6781800" cy="2500884"/>
            <a:chOff x="609600" y="3162300"/>
            <a:chExt cx="6781800" cy="2500884"/>
          </a:xfrm>
        </p:grpSpPr>
        <p:grpSp>
          <p:nvGrpSpPr>
            <p:cNvPr id="50" name="Group 50"/>
            <p:cNvGrpSpPr/>
            <p:nvPr/>
          </p:nvGrpSpPr>
          <p:grpSpPr>
            <a:xfrm>
              <a:off x="609600" y="3162300"/>
              <a:ext cx="6781800" cy="786384"/>
              <a:chOff x="609600" y="3162300"/>
              <a:chExt cx="6781800" cy="786384"/>
            </a:xfrm>
          </p:grpSpPr>
          <p:sp>
            <p:nvSpPr>
              <p:cNvPr id="42" name="Rectangle 42"/>
              <p:cNvSpPr/>
              <p:nvPr/>
            </p:nvSpPr>
            <p:spPr>
              <a:xfrm>
                <a:off x="647700" y="3200400"/>
                <a:ext cx="6743700" cy="742950"/>
              </a:xfrm>
              <a:prstGeom prst="roundRect">
                <a:avLst>
                  <a:gd name="adj" fmla="val 20513"/>
                </a:avLst>
              </a:prstGeom>
              <a:solidFill>
                <a:srgbClr val="F0DECF"/>
              </a:solidFill>
              <a:ln>
                <a:noFill/>
              </a:ln>
            </p:spPr>
          </p:sp>
          <p:sp>
            <p:nvSpPr>
              <p:cNvPr id="43" name="Rectangle 43"/>
              <p:cNvSpPr/>
              <p:nvPr/>
            </p:nvSpPr>
            <p:spPr>
              <a:xfrm>
                <a:off x="609600" y="3162300"/>
                <a:ext cx="6743700" cy="742950"/>
              </a:xfrm>
              <a:prstGeom prst="roundRect">
                <a:avLst>
                  <a:gd name="adj" fmla="val 20513"/>
                </a:avLst>
              </a:prstGeom>
              <a:solidFill>
                <a:srgbClr val="FBE9DD"/>
              </a:solidFill>
              <a:ln w="14288">
                <a:solidFill>
                  <a:srgbClr val="F0DECF"/>
                </a:solidFill>
              </a:ln>
            </p:spPr>
          </p:sp>
          <p:sp>
            <p:nvSpPr>
              <p:cNvPr id="44" name="Ellipse 44"/>
              <p:cNvSpPr/>
              <p:nvPr/>
            </p:nvSpPr>
            <p:spPr>
              <a:xfrm>
                <a:off x="800100" y="3305175"/>
                <a:ext cx="457200" cy="457200"/>
              </a:xfrm>
              <a:prstGeom prst="ellipse">
                <a:avLst/>
              </a:prstGeom>
              <a:solidFill>
                <a:srgbClr val="F5D9C6"/>
              </a:solidFill>
              <a:ln>
                <a:noFill/>
              </a:ln>
            </p:spPr>
          </p:sp>
          <p:grpSp>
            <p:nvGrpSpPr>
              <p:cNvPr id="47" name="Group 47"/>
              <p:cNvGrpSpPr/>
              <p:nvPr/>
            </p:nvGrpSpPr>
            <p:grpSpPr>
              <a:xfrm>
                <a:off x="900112" y="3405188"/>
                <a:ext cx="257175" cy="257175"/>
                <a:chOff x="900112" y="3405188"/>
                <a:chExt cx="257175" cy="257175"/>
              </a:xfrm>
            </p:grpSpPr>
            <p:sp>
              <p:nvSpPr>
                <p:cNvPr id="45" name="Freeform 45"/>
                <p:cNvSpPr/>
                <p:nvPr/>
              </p:nvSpPr>
              <p:spPr>
                <a:xfrm>
                  <a:off x="900112" y="3405188"/>
                  <a:ext cx="257175" cy="257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175" h="257175">
                      <a:moveTo>
                        <a:pt x="0" y="128588"/>
                      </a:moveTo>
                      <a:cubicBezTo>
                        <a:pt x="0" y="199604"/>
                        <a:pt x="57571" y="257175"/>
                        <a:pt x="128588" y="257175"/>
                      </a:cubicBezTo>
                      <a:cubicBezTo>
                        <a:pt x="199604" y="257175"/>
                        <a:pt x="257175" y="199604"/>
                        <a:pt x="257175" y="128588"/>
                      </a:cubicBezTo>
                      <a:cubicBezTo>
                        <a:pt x="257175" y="57571"/>
                        <a:pt x="199604" y="0"/>
                        <a:pt x="128588" y="0"/>
                      </a:cubicBezTo>
                      <a:cubicBezTo>
                        <a:pt x="57571" y="0"/>
                        <a:pt x="0" y="57571"/>
                        <a:pt x="0" y="128588"/>
                      </a:cubicBezTo>
                    </a:path>
                  </a:pathLst>
                </a:custGeom>
                <a:noFill/>
                <a:ln w="28575">
                  <a:solidFill>
                    <a:schemeClr val="accent3"/>
                  </a:solidFill>
                </a:ln>
              </p:spPr>
            </p:sp>
            <p:sp>
              <p:nvSpPr>
                <p:cNvPr id="46" name="Freeform 46"/>
                <p:cNvSpPr/>
                <p:nvPr/>
              </p:nvSpPr>
              <p:spPr>
                <a:xfrm>
                  <a:off x="1028700" y="3462338"/>
                  <a:ext cx="42862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862" h="114300">
                      <a:moveTo>
                        <a:pt x="0" y="0"/>
                      </a:moveTo>
                      <a:lnTo>
                        <a:pt x="0" y="71438"/>
                      </a:lnTo>
                      <a:lnTo>
                        <a:pt x="42862" y="114300"/>
                      </a:lnTo>
                    </a:path>
                  </a:pathLst>
                </a:custGeom>
                <a:noFill/>
                <a:ln w="28575">
                  <a:solidFill>
                    <a:schemeClr val="accent3"/>
                  </a:solidFill>
                </a:ln>
              </p:spPr>
            </p:sp>
          </p:grpSp>
          <p:sp>
            <p:nvSpPr>
              <p:cNvPr id="48" name="TextBox 48"/>
              <p:cNvSpPr txBox="1"/>
              <p:nvPr/>
            </p:nvSpPr>
            <p:spPr>
              <a:xfrm>
                <a:off x="1437894" y="3275648"/>
                <a:ext cx="807339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b="1" dirty="0">
                    <a:solidFill>
                      <a:srgbClr val="B5663A"/>
                    </a:solidFill>
                    <a:latin typeface="+mn-lt"/>
                    <a:ea typeface="+mn-ea"/>
                    <a:cs typeface="+mn-cs"/>
                  </a:rPr>
                  <a:t>周期长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1438656" y="3596640"/>
                <a:ext cx="559155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单条肽验证以「周」计，一条蛋白可酶解出上千条肽</a:t>
                </a:r>
              </a:p>
            </p:txBody>
          </p:sp>
        </p:grpSp>
        <p:grpSp>
          <p:nvGrpSpPr>
            <p:cNvPr id="60" name="Group 60"/>
            <p:cNvGrpSpPr/>
            <p:nvPr/>
          </p:nvGrpSpPr>
          <p:grpSpPr>
            <a:xfrm>
              <a:off x="609600" y="4019550"/>
              <a:ext cx="6781800" cy="786384"/>
              <a:chOff x="609600" y="4019550"/>
              <a:chExt cx="6781800" cy="786384"/>
            </a:xfrm>
          </p:grpSpPr>
          <p:sp>
            <p:nvSpPr>
              <p:cNvPr id="51" name="Rectangle 51"/>
              <p:cNvSpPr/>
              <p:nvPr/>
            </p:nvSpPr>
            <p:spPr>
              <a:xfrm>
                <a:off x="647700" y="4057650"/>
                <a:ext cx="6743700" cy="742950"/>
              </a:xfrm>
              <a:prstGeom prst="roundRect">
                <a:avLst>
                  <a:gd name="adj" fmla="val 20513"/>
                </a:avLst>
              </a:prstGeom>
              <a:solidFill>
                <a:srgbClr val="F0DECF"/>
              </a:solidFill>
              <a:ln>
                <a:noFill/>
              </a:ln>
            </p:spPr>
          </p:sp>
          <p:sp>
            <p:nvSpPr>
              <p:cNvPr id="52" name="Rectangle 52"/>
              <p:cNvSpPr/>
              <p:nvPr/>
            </p:nvSpPr>
            <p:spPr>
              <a:xfrm>
                <a:off x="609600" y="4019550"/>
                <a:ext cx="6743700" cy="742950"/>
              </a:xfrm>
              <a:prstGeom prst="roundRect">
                <a:avLst>
                  <a:gd name="adj" fmla="val 20513"/>
                </a:avLst>
              </a:prstGeom>
              <a:solidFill>
                <a:srgbClr val="FBE9DD"/>
              </a:solidFill>
              <a:ln w="14288">
                <a:solidFill>
                  <a:srgbClr val="F0DECF"/>
                </a:solidFill>
              </a:ln>
            </p:spPr>
          </p:sp>
          <p:sp>
            <p:nvSpPr>
              <p:cNvPr id="53" name="Ellipse 53"/>
              <p:cNvSpPr/>
              <p:nvPr/>
            </p:nvSpPr>
            <p:spPr>
              <a:xfrm>
                <a:off x="800100" y="4162425"/>
                <a:ext cx="457200" cy="457200"/>
              </a:xfrm>
              <a:prstGeom prst="ellipse">
                <a:avLst/>
              </a:prstGeom>
              <a:solidFill>
                <a:srgbClr val="F5D9C6"/>
              </a:solidFill>
              <a:ln>
                <a:noFill/>
              </a:ln>
            </p:spPr>
          </p:sp>
          <p:grpSp>
            <p:nvGrpSpPr>
              <p:cNvPr id="57" name="Group 57"/>
              <p:cNvGrpSpPr/>
              <p:nvPr/>
            </p:nvGrpSpPr>
            <p:grpSpPr>
              <a:xfrm>
                <a:off x="900112" y="4262438"/>
                <a:ext cx="257175" cy="257175"/>
                <a:chOff x="900112" y="4262438"/>
                <a:chExt cx="257175" cy="257175"/>
              </a:xfrm>
            </p:grpSpPr>
            <p:sp>
              <p:nvSpPr>
                <p:cNvPr id="54" name="Freeform 54"/>
                <p:cNvSpPr/>
                <p:nvPr/>
              </p:nvSpPr>
              <p:spPr>
                <a:xfrm>
                  <a:off x="900112" y="4262438"/>
                  <a:ext cx="257175" cy="257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175" h="257175">
                      <a:moveTo>
                        <a:pt x="0" y="128588"/>
                      </a:moveTo>
                      <a:cubicBezTo>
                        <a:pt x="0" y="199604"/>
                        <a:pt x="57571" y="257175"/>
                        <a:pt x="128588" y="257175"/>
                      </a:cubicBezTo>
                      <a:cubicBezTo>
                        <a:pt x="199604" y="257175"/>
                        <a:pt x="257175" y="199604"/>
                        <a:pt x="257175" y="128588"/>
                      </a:cubicBezTo>
                      <a:cubicBezTo>
                        <a:pt x="257175" y="57571"/>
                        <a:pt x="199604" y="0"/>
                        <a:pt x="128588" y="0"/>
                      </a:cubicBezTo>
                      <a:cubicBezTo>
                        <a:pt x="57571" y="0"/>
                        <a:pt x="0" y="57571"/>
                        <a:pt x="0" y="128588"/>
                      </a:cubicBezTo>
                    </a:path>
                  </a:pathLst>
                </a:custGeom>
                <a:noFill/>
                <a:ln w="28575">
                  <a:solidFill>
                    <a:schemeClr val="accent3"/>
                  </a:solidFill>
                </a:ln>
              </p:spPr>
            </p:sp>
            <p:sp>
              <p:nvSpPr>
                <p:cNvPr id="55" name="Freeform 55"/>
                <p:cNvSpPr/>
                <p:nvPr/>
              </p:nvSpPr>
              <p:spPr>
                <a:xfrm>
                  <a:off x="985838" y="4333520"/>
                  <a:ext cx="85725" cy="115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5" h="115011">
                      <a:moveTo>
                        <a:pt x="82868" y="14643"/>
                      </a:moveTo>
                      <a:cubicBezTo>
                        <a:pt x="77594" y="5494"/>
                        <a:pt x="67704" y="0"/>
                        <a:pt x="57150" y="355"/>
                      </a:cubicBezTo>
                      <a:lnTo>
                        <a:pt x="28575" y="355"/>
                      </a:lnTo>
                      <a:cubicBezTo>
                        <a:pt x="12793" y="355"/>
                        <a:pt x="0" y="13149"/>
                        <a:pt x="0" y="28930"/>
                      </a:cubicBezTo>
                      <a:cubicBezTo>
                        <a:pt x="0" y="44712"/>
                        <a:pt x="12793" y="57505"/>
                        <a:pt x="28575" y="57505"/>
                      </a:cubicBezTo>
                      <a:lnTo>
                        <a:pt x="57150" y="57505"/>
                      </a:lnTo>
                      <a:cubicBezTo>
                        <a:pt x="72932" y="57505"/>
                        <a:pt x="85725" y="70299"/>
                        <a:pt x="85725" y="86080"/>
                      </a:cubicBezTo>
                      <a:cubicBezTo>
                        <a:pt x="85725" y="101862"/>
                        <a:pt x="72932" y="114655"/>
                        <a:pt x="57150" y="114655"/>
                      </a:cubicBezTo>
                      <a:lnTo>
                        <a:pt x="28575" y="114655"/>
                      </a:lnTo>
                      <a:cubicBezTo>
                        <a:pt x="18021" y="115011"/>
                        <a:pt x="8131" y="109516"/>
                        <a:pt x="2857" y="100368"/>
                      </a:cubicBezTo>
                    </a:path>
                  </a:pathLst>
                </a:custGeom>
                <a:noFill/>
                <a:ln w="28575">
                  <a:solidFill>
                    <a:schemeClr val="accent3"/>
                  </a:solidFill>
                </a:ln>
              </p:spPr>
            </p:sp>
            <p:sp>
              <p:nvSpPr>
                <p:cNvPr id="56" name="Freeform 56"/>
                <p:cNvSpPr/>
                <p:nvPr/>
              </p:nvSpPr>
              <p:spPr>
                <a:xfrm>
                  <a:off x="1028700" y="4319588"/>
                  <a:ext cx="9525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42875">
                      <a:moveTo>
                        <a:pt x="0" y="0"/>
                      </a:moveTo>
                      <a:lnTo>
                        <a:pt x="0" y="142875"/>
                      </a:lnTo>
                    </a:path>
                  </a:pathLst>
                </a:custGeom>
                <a:noFill/>
                <a:ln w="28575">
                  <a:solidFill>
                    <a:schemeClr val="accent3"/>
                  </a:solidFill>
                </a:ln>
              </p:spPr>
            </p:sp>
          </p:grpSp>
          <p:sp>
            <p:nvSpPr>
              <p:cNvPr id="58" name="TextBox 58"/>
              <p:cNvSpPr txBox="1"/>
              <p:nvPr/>
            </p:nvSpPr>
            <p:spPr>
              <a:xfrm>
                <a:off x="1437894" y="4132898"/>
                <a:ext cx="807339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b="1" dirty="0">
                    <a:solidFill>
                      <a:srgbClr val="B5663A"/>
                    </a:solidFill>
                    <a:latin typeface="+mn-lt"/>
                    <a:ea typeface="+mn-ea"/>
                    <a:cs typeface="+mn-cs"/>
                  </a:rPr>
                  <a:t>成本高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1438656" y="4453890"/>
                <a:ext cx="437997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合成与感官都很贵，只能验证极少数候选</a:t>
                </a:r>
              </a:p>
            </p:txBody>
          </p:sp>
        </p:grpSp>
        <p:grpSp>
          <p:nvGrpSpPr>
            <p:cNvPr id="70" name="Group 70"/>
            <p:cNvGrpSpPr/>
            <p:nvPr/>
          </p:nvGrpSpPr>
          <p:grpSpPr>
            <a:xfrm>
              <a:off x="609600" y="4876800"/>
              <a:ext cx="6781800" cy="786384"/>
              <a:chOff x="609600" y="4876800"/>
              <a:chExt cx="6781800" cy="786384"/>
            </a:xfrm>
          </p:grpSpPr>
          <p:sp>
            <p:nvSpPr>
              <p:cNvPr id="61" name="Rectangle 61"/>
              <p:cNvSpPr/>
              <p:nvPr/>
            </p:nvSpPr>
            <p:spPr>
              <a:xfrm>
                <a:off x="647700" y="4914900"/>
                <a:ext cx="6743700" cy="742950"/>
              </a:xfrm>
              <a:prstGeom prst="roundRect">
                <a:avLst>
                  <a:gd name="adj" fmla="val 20513"/>
                </a:avLst>
              </a:prstGeom>
              <a:solidFill>
                <a:srgbClr val="F0DECF"/>
              </a:solidFill>
              <a:ln>
                <a:noFill/>
              </a:ln>
            </p:spPr>
          </p:sp>
          <p:sp>
            <p:nvSpPr>
              <p:cNvPr id="62" name="Rectangle 62"/>
              <p:cNvSpPr/>
              <p:nvPr/>
            </p:nvSpPr>
            <p:spPr>
              <a:xfrm>
                <a:off x="609600" y="4876800"/>
                <a:ext cx="6743700" cy="742950"/>
              </a:xfrm>
              <a:prstGeom prst="roundRect">
                <a:avLst>
                  <a:gd name="adj" fmla="val 20513"/>
                </a:avLst>
              </a:prstGeom>
              <a:solidFill>
                <a:srgbClr val="FBE9DD"/>
              </a:solidFill>
              <a:ln w="14288">
                <a:solidFill>
                  <a:srgbClr val="F0DECF"/>
                </a:solidFill>
              </a:ln>
            </p:spPr>
          </p:sp>
          <p:sp>
            <p:nvSpPr>
              <p:cNvPr id="63" name="Ellipse 63"/>
              <p:cNvSpPr/>
              <p:nvPr/>
            </p:nvSpPr>
            <p:spPr>
              <a:xfrm>
                <a:off x="800100" y="5019675"/>
                <a:ext cx="457200" cy="457200"/>
              </a:xfrm>
              <a:prstGeom prst="ellipse">
                <a:avLst/>
              </a:prstGeom>
              <a:solidFill>
                <a:srgbClr val="F5D9C6"/>
              </a:solidFill>
              <a:ln>
                <a:noFill/>
              </a:ln>
            </p:spPr>
          </p:sp>
          <p:grpSp>
            <p:nvGrpSpPr>
              <p:cNvPr id="67" name="Group 67"/>
              <p:cNvGrpSpPr/>
              <p:nvPr/>
            </p:nvGrpSpPr>
            <p:grpSpPr>
              <a:xfrm>
                <a:off x="884609" y="5114941"/>
                <a:ext cx="288171" cy="247577"/>
                <a:chOff x="884609" y="5114941"/>
                <a:chExt cx="288171" cy="247577"/>
              </a:xfrm>
            </p:grpSpPr>
            <p:sp>
              <p:nvSpPr>
                <p:cNvPr id="64" name="Freeform 64"/>
                <p:cNvSpPr/>
                <p:nvPr/>
              </p:nvSpPr>
              <p:spPr>
                <a:xfrm>
                  <a:off x="1028700" y="5205412"/>
                  <a:ext cx="9525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57150">
                      <a:moveTo>
                        <a:pt x="0" y="0"/>
                      </a:moveTo>
                      <a:lnTo>
                        <a:pt x="0" y="57150"/>
                      </a:lnTo>
                    </a:path>
                  </a:pathLst>
                </a:custGeom>
                <a:noFill/>
                <a:ln w="28575">
                  <a:solidFill>
                    <a:schemeClr val="accent3"/>
                  </a:solidFill>
                </a:ln>
              </p:spPr>
            </p:sp>
            <p:sp>
              <p:nvSpPr>
                <p:cNvPr id="65" name="Freeform 65"/>
                <p:cNvSpPr/>
                <p:nvPr/>
              </p:nvSpPr>
              <p:spPr>
                <a:xfrm>
                  <a:off x="884609" y="5114941"/>
                  <a:ext cx="288171" cy="2475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171" h="247577">
                      <a:moveTo>
                        <a:pt x="120702" y="13191"/>
                      </a:moveTo>
                      <a:lnTo>
                        <a:pt x="4888" y="206558"/>
                      </a:lnTo>
                      <a:cubicBezTo>
                        <a:pt x="30" y="214971"/>
                        <a:pt x="0" y="225330"/>
                        <a:pt x="4810" y="233771"/>
                      </a:cubicBezTo>
                      <a:cubicBezTo>
                        <a:pt x="9620" y="242213"/>
                        <a:pt x="18548" y="247468"/>
                        <a:pt x="28262" y="247577"/>
                      </a:cubicBezTo>
                      <a:lnTo>
                        <a:pt x="259920" y="247577"/>
                      </a:lnTo>
                      <a:cubicBezTo>
                        <a:pt x="269630" y="247465"/>
                        <a:pt x="278553" y="242212"/>
                        <a:pt x="283362" y="233775"/>
                      </a:cubicBezTo>
                      <a:cubicBezTo>
                        <a:pt x="288171" y="225339"/>
                        <a:pt x="288145" y="214984"/>
                        <a:pt x="283294" y="206572"/>
                      </a:cubicBezTo>
                      <a:lnTo>
                        <a:pt x="167480" y="13176"/>
                      </a:lnTo>
                      <a:cubicBezTo>
                        <a:pt x="162524" y="4996"/>
                        <a:pt x="153655" y="0"/>
                        <a:pt x="144091" y="0"/>
                      </a:cubicBezTo>
                      <a:cubicBezTo>
                        <a:pt x="134527" y="0"/>
                        <a:pt x="125658" y="4996"/>
                        <a:pt x="120702" y="13176"/>
                      </a:cubicBezTo>
                    </a:path>
                  </a:pathLst>
                </a:custGeom>
                <a:noFill/>
                <a:ln w="28575">
                  <a:solidFill>
                    <a:schemeClr val="accent3"/>
                  </a:solidFill>
                </a:ln>
              </p:spPr>
            </p:sp>
            <p:sp>
              <p:nvSpPr>
                <p:cNvPr id="66" name="Freeform 66"/>
                <p:cNvSpPr/>
                <p:nvPr/>
              </p:nvSpPr>
              <p:spPr>
                <a:xfrm>
                  <a:off x="1028700" y="5305425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143" y="0"/>
                      </a:lnTo>
                    </a:path>
                  </a:pathLst>
                </a:custGeom>
                <a:noFill/>
                <a:ln w="28575">
                  <a:solidFill>
                    <a:schemeClr val="accent3"/>
                  </a:solidFill>
                </a:ln>
              </p:spPr>
            </p:sp>
          </p:grpSp>
          <p:sp>
            <p:nvSpPr>
              <p:cNvPr id="68" name="TextBox 68"/>
              <p:cNvSpPr txBox="1"/>
              <p:nvPr/>
            </p:nvSpPr>
            <p:spPr>
              <a:xfrm>
                <a:off x="1437894" y="4990148"/>
                <a:ext cx="807339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b="1" dirty="0">
                    <a:solidFill>
                      <a:srgbClr val="B5663A"/>
                    </a:solidFill>
                    <a:latin typeface="+mn-lt"/>
                    <a:ea typeface="+mn-ea"/>
                    <a:cs typeface="+mn-cs"/>
                  </a:rPr>
                  <a:t>漏得多</a:t>
                </a:r>
              </a:p>
            </p:txBody>
          </p:sp>
          <p:sp>
            <p:nvSpPr>
              <p:cNvPr id="69" name="TextBox 69"/>
              <p:cNvSpPr txBox="1"/>
              <p:nvPr/>
            </p:nvSpPr>
            <p:spPr>
              <a:xfrm>
                <a:off x="1438656" y="5311140"/>
                <a:ext cx="365302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通量极低，大量潜在鲜味肽被漏掉</a:t>
                </a:r>
              </a:p>
            </p:txBody>
          </p:sp>
        </p:grpSp>
      </p:grpSp>
      <p:grpSp>
        <p:nvGrpSpPr>
          <p:cNvPr id="73" name="Group 73"/>
          <p:cNvGrpSpPr/>
          <p:nvPr/>
        </p:nvGrpSpPr>
        <p:grpSpPr>
          <a:xfrm>
            <a:off x="7620000" y="3162300"/>
            <a:ext cx="3962400" cy="2476500"/>
            <a:chOff x="7620000" y="3162300"/>
            <a:chExt cx="3962400" cy="2476500"/>
          </a:xfrm>
        </p:grpSpPr>
        <p:graphicFrame>
          <p:nvGraphicFramePr>
            <p:cNvPr id="72" name="pain-compare"/>
            <p:cNvGraphicFramePr>
              <a:graphicFrameLocks noGrp="1"/>
            </p:cNvGraphicFramePr>
            <p:nvPr/>
          </p:nvGraphicFramePr>
          <p:xfrm>
            <a:off x="7620000" y="3162300"/>
            <a:ext cx="3962400" cy="2476500"/>
          </p:xfrm>
          <a:graphic>
            <a:graphicData uri="http://schemas.openxmlformats.org/drawingml/2006/chart">
              <c:chart xmlns:c="http://schemas.openxmlformats.org/drawingml/2006/chart" r:id="rId2"/>
            </a:graphicData>
          </a:graphic>
        </p:graphicFrame>
      </p:grpSp>
      <p:grpSp>
        <p:nvGrpSpPr>
          <p:cNvPr id="77" name="Group 77"/>
          <p:cNvGrpSpPr/>
          <p:nvPr/>
        </p:nvGrpSpPr>
        <p:grpSpPr>
          <a:xfrm>
            <a:off x="609600" y="5810250"/>
            <a:ext cx="10972800" cy="571500"/>
            <a:chOff x="609600" y="5810250"/>
            <a:chExt cx="10972800" cy="571500"/>
          </a:xfrm>
        </p:grpSpPr>
        <p:sp>
          <p:nvSpPr>
            <p:cNvPr id="74" name="Rectangle 74"/>
            <p:cNvSpPr/>
            <p:nvPr/>
          </p:nvSpPr>
          <p:spPr>
            <a:xfrm>
              <a:off x="609600" y="5810250"/>
              <a:ext cx="10972800" cy="571500"/>
            </a:xfrm>
            <a:prstGeom prst="roundRect">
              <a:avLst>
                <a:gd name="adj" fmla="val 26667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609600" y="5810250"/>
              <a:ext cx="76200" cy="571500"/>
            </a:xfrm>
            <a:prstGeom prst="roundRect">
              <a:avLst>
                <a:gd name="adj" fmla="val 50000"/>
              </a:avLst>
            </a:prstGeom>
            <a:solidFill>
              <a:srgbClr val="2FB3A8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942594" y="5961698"/>
              <a:ext cx="819828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核心转变：</a:t>
              </a:r>
              <a:r>
                <a:rPr lang="zh-CN" sz="1950" b="1" dirty="0">
                  <a:solidFill>
                    <a:srgbClr val="2FB3A8"/>
                  </a:solidFill>
                  <a:latin typeface="+mn-lt"/>
                  <a:ea typeface="+mn-ea"/>
                  <a:cs typeface="+mn-cs"/>
                </a:rPr>
                <a:t>先算后验</a:t>
              </a:r>
              <a:r>
                <a:rPr lang="zh-CN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——计算先富集候选，湿实验集中验证少数高价值肽</a:t>
              </a:r>
            </a:p>
          </p:txBody>
        </p:sp>
      </p:grpSp>
      <p:sp>
        <p:nvSpPr>
          <p:cNvPr id="78" name="TextBox 78"/>
          <p:cNvSpPr txBox="1"/>
          <p:nvPr/>
        </p:nvSpPr>
        <p:spPr>
          <a:xfrm>
            <a:off x="10761497" y="6473190"/>
            <a:ext cx="8300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800" dirty="0">
                <a:solidFill>
                  <a:srgbClr val="A3B2BF"/>
                </a:solidFill>
                <a:latin typeface="+mn-lt"/>
                <a:ea typeface="+mn-ea"/>
                <a:cs typeface="+mn-cs"/>
              </a:rPr>
              <a:t>03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4360" y="472440"/>
            <a:ext cx="5110029" cy="1047750"/>
            <a:chOff x="594360" y="472440"/>
            <a:chExt cx="5110029" cy="1047750"/>
          </a:xfrm>
        </p:grpSpPr>
        <p:sp>
          <p:nvSpPr>
            <p:cNvPr id="2" name="TextBox 2"/>
            <p:cNvSpPr txBox="1"/>
            <p:nvPr/>
          </p:nvSpPr>
          <p:spPr>
            <a:xfrm>
              <a:off x="600456" y="472440"/>
              <a:ext cx="277160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 · 机器学习技术路线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609600" y="819150"/>
              <a:ext cx="457200" cy="5715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94360" y="933450"/>
              <a:ext cx="5110029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完整流水线：预测—验证双轨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600456" y="1710690"/>
            <a:ext cx="9438894" cy="1475994"/>
            <a:chOff x="600456" y="1710690"/>
            <a:chExt cx="9438894" cy="1475994"/>
          </a:xfrm>
        </p:grpSpPr>
        <p:sp>
          <p:nvSpPr>
            <p:cNvPr id="6" name="TextBox 6"/>
            <p:cNvSpPr txBox="1"/>
            <p:nvPr/>
          </p:nvSpPr>
          <p:spPr>
            <a:xfrm>
              <a:off x="600456" y="1710690"/>
              <a:ext cx="200709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干实验 · 计算预测</a:t>
              </a:r>
            </a:p>
          </p:txBody>
        </p:sp>
        <p:grpSp>
          <p:nvGrpSpPr>
            <p:cNvPr id="76" name="Group 76"/>
            <p:cNvGrpSpPr/>
            <p:nvPr/>
          </p:nvGrpSpPr>
          <p:grpSpPr>
            <a:xfrm>
              <a:off x="647700" y="2038350"/>
              <a:ext cx="9391650" cy="1148334"/>
              <a:chOff x="647700" y="2038350"/>
              <a:chExt cx="9391650" cy="1148334"/>
            </a:xfrm>
          </p:grpSpPr>
          <p:grpSp>
            <p:nvGrpSpPr>
              <p:cNvPr id="14" name="Group 14"/>
              <p:cNvGrpSpPr/>
              <p:nvPr/>
            </p:nvGrpSpPr>
            <p:grpSpPr>
              <a:xfrm>
                <a:off x="647700" y="2038350"/>
                <a:ext cx="1619250" cy="1148334"/>
                <a:chOff x="647700" y="2038350"/>
                <a:chExt cx="1619250" cy="1148334"/>
              </a:xfrm>
            </p:grpSpPr>
            <p:sp>
              <p:nvSpPr>
                <p:cNvPr id="7" name="Rectangle 7"/>
                <p:cNvSpPr/>
                <p:nvPr/>
              </p:nvSpPr>
              <p:spPr>
                <a:xfrm>
                  <a:off x="647700" y="2038350"/>
                  <a:ext cx="1619250" cy="1143000"/>
                </a:xfrm>
                <a:prstGeom prst="roundRect">
                  <a:avLst>
                    <a:gd name="adj" fmla="val 11667"/>
                  </a:avLst>
                </a:prstGeom>
                <a:solidFill>
                  <a:srgbClr val="DFF0EE"/>
                </a:solidFill>
                <a:ln w="14288">
                  <a:solidFill>
                    <a:schemeClr val="accent2"/>
                  </a:solidFill>
                </a:ln>
              </p:spPr>
            </p:sp>
            <p:grpSp>
              <p:nvGrpSpPr>
                <p:cNvPr id="11" name="Group 11"/>
                <p:cNvGrpSpPr/>
                <p:nvPr/>
              </p:nvGrpSpPr>
              <p:grpSpPr>
                <a:xfrm>
                  <a:off x="889000" y="2228850"/>
                  <a:ext cx="203199" cy="228600"/>
                  <a:chOff x="889000" y="2228850"/>
                  <a:chExt cx="203199" cy="228600"/>
                </a:xfrm>
              </p:grpSpPr>
              <p:sp>
                <p:nvSpPr>
                  <p:cNvPr id="8" name="Freeform 8"/>
                  <p:cNvSpPr/>
                  <p:nvPr/>
                </p:nvSpPr>
                <p:spPr>
                  <a:xfrm>
                    <a:off x="889000" y="2228850"/>
                    <a:ext cx="203199" cy="762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3199" h="76200">
                        <a:moveTo>
                          <a:pt x="0" y="38100"/>
                        </a:moveTo>
                        <a:cubicBezTo>
                          <a:pt x="0" y="59142"/>
                          <a:pt x="45488" y="76200"/>
                          <a:pt x="101600" y="76200"/>
                        </a:cubicBezTo>
                        <a:cubicBezTo>
                          <a:pt x="157712" y="76200"/>
                          <a:pt x="203199" y="59142"/>
                          <a:pt x="203199" y="38100"/>
                        </a:cubicBezTo>
                        <a:cubicBezTo>
                          <a:pt x="203199" y="17058"/>
                          <a:pt x="157712" y="0"/>
                          <a:pt x="101600" y="0"/>
                        </a:cubicBezTo>
                        <a:cubicBezTo>
                          <a:pt x="45488" y="0"/>
                          <a:pt x="0" y="17058"/>
                          <a:pt x="0" y="38100"/>
                        </a:cubicBezTo>
                      </a:path>
                    </a:pathLst>
                  </a:custGeom>
                  <a:noFill/>
                  <a:ln w="25400">
                    <a:solidFill>
                      <a:schemeClr val="accent2"/>
                    </a:solidFill>
                  </a:ln>
                </p:spPr>
              </p:sp>
              <p:sp>
                <p:nvSpPr>
                  <p:cNvPr id="9" name="Freeform 9"/>
                  <p:cNvSpPr/>
                  <p:nvPr/>
                </p:nvSpPr>
                <p:spPr>
                  <a:xfrm>
                    <a:off x="889000" y="2266950"/>
                    <a:ext cx="203199" cy="1143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3199" h="114300">
                        <a:moveTo>
                          <a:pt x="0" y="0"/>
                        </a:moveTo>
                        <a:lnTo>
                          <a:pt x="0" y="76200"/>
                        </a:lnTo>
                        <a:cubicBezTo>
                          <a:pt x="0" y="97242"/>
                          <a:pt x="45488" y="114300"/>
                          <a:pt x="101600" y="114300"/>
                        </a:cubicBezTo>
                        <a:cubicBezTo>
                          <a:pt x="157712" y="114300"/>
                          <a:pt x="203199" y="97242"/>
                          <a:pt x="203199" y="76200"/>
                        </a:cubicBezTo>
                        <a:lnTo>
                          <a:pt x="203199" y="0"/>
                        </a:lnTo>
                      </a:path>
                    </a:pathLst>
                  </a:custGeom>
                  <a:noFill/>
                  <a:ln w="25400">
                    <a:solidFill>
                      <a:schemeClr val="accent2"/>
                    </a:solidFill>
                  </a:ln>
                </p:spPr>
              </p:sp>
              <p:sp>
                <p:nvSpPr>
                  <p:cNvPr id="10" name="Freeform 10"/>
                  <p:cNvSpPr/>
                  <p:nvPr/>
                </p:nvSpPr>
                <p:spPr>
                  <a:xfrm>
                    <a:off x="889000" y="2343150"/>
                    <a:ext cx="203199" cy="1143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3199" h="114300">
                        <a:moveTo>
                          <a:pt x="0" y="0"/>
                        </a:moveTo>
                        <a:lnTo>
                          <a:pt x="0" y="76200"/>
                        </a:lnTo>
                        <a:cubicBezTo>
                          <a:pt x="0" y="97242"/>
                          <a:pt x="45488" y="114300"/>
                          <a:pt x="101600" y="114300"/>
                        </a:cubicBezTo>
                        <a:cubicBezTo>
                          <a:pt x="157712" y="114300"/>
                          <a:pt x="203199" y="97242"/>
                          <a:pt x="203199" y="76200"/>
                        </a:cubicBezTo>
                        <a:lnTo>
                          <a:pt x="203199" y="0"/>
                        </a:lnTo>
                      </a:path>
                    </a:pathLst>
                  </a:custGeom>
                  <a:noFill/>
                  <a:ln w="25400">
                    <a:solidFill>
                      <a:schemeClr val="accent2"/>
                    </a:solidFill>
                  </a:ln>
                </p:spPr>
              </p:sp>
            </p:grpSp>
            <p:sp>
              <p:nvSpPr>
                <p:cNvPr id="12" name="TextBox 12"/>
                <p:cNvSpPr txBox="1"/>
                <p:nvPr/>
              </p:nvSpPr>
              <p:spPr>
                <a:xfrm>
                  <a:off x="855415" y="2548890"/>
                  <a:ext cx="1203819" cy="3520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80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rPr>
                    <a:t>1 数据收集</a:t>
                  </a:r>
                </a:p>
              </p:txBody>
            </p:sp>
            <p:sp>
              <p:nvSpPr>
                <p:cNvPr id="13" name="TextBox 13"/>
                <p:cNvSpPr txBox="1"/>
                <p:nvPr/>
              </p:nvSpPr>
              <p:spPr>
                <a:xfrm>
                  <a:off x="703059" y="2834640"/>
                  <a:ext cx="1508531" cy="3520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8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数据库 + 文献</a:t>
                  </a:r>
                </a:p>
              </p:txBody>
            </p:sp>
          </p:grpSp>
          <p:grpSp>
            <p:nvGrpSpPr>
              <p:cNvPr id="18" name="Group 18"/>
              <p:cNvGrpSpPr/>
              <p:nvPr/>
            </p:nvGrpSpPr>
            <p:grpSpPr>
              <a:xfrm>
                <a:off x="2337594" y="2519362"/>
                <a:ext cx="144462" cy="123825"/>
                <a:chOff x="2337594" y="2519362"/>
                <a:chExt cx="144462" cy="123825"/>
              </a:xfrm>
            </p:grpSpPr>
            <p:sp>
              <p:nvSpPr>
                <p:cNvPr id="15" name="Freeform 15"/>
                <p:cNvSpPr/>
                <p:nvPr/>
              </p:nvSpPr>
              <p:spPr>
                <a:xfrm>
                  <a:off x="2337594" y="2581275"/>
                  <a:ext cx="144462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462" h="9525">
                      <a:moveTo>
                        <a:pt x="0" y="0"/>
                      </a:moveTo>
                      <a:lnTo>
                        <a:pt x="144462" y="0"/>
                      </a:lnTo>
                    </a:path>
                  </a:pathLst>
                </a:custGeom>
                <a:noFill/>
                <a:ln w="20637">
                  <a:solidFill>
                    <a:srgbClr val="9AA8B3"/>
                  </a:solidFill>
                </a:ln>
              </p:spPr>
            </p:sp>
            <p:sp>
              <p:nvSpPr>
                <p:cNvPr id="16" name="Freeform 16"/>
                <p:cNvSpPr/>
                <p:nvPr/>
              </p:nvSpPr>
              <p:spPr>
                <a:xfrm>
                  <a:off x="2420143" y="2581275"/>
                  <a:ext cx="61912" cy="619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912" h="61912">
                      <a:moveTo>
                        <a:pt x="0" y="61912"/>
                      </a:moveTo>
                      <a:lnTo>
                        <a:pt x="61912" y="0"/>
                      </a:lnTo>
                    </a:path>
                  </a:pathLst>
                </a:custGeom>
                <a:noFill/>
                <a:ln w="20637">
                  <a:solidFill>
                    <a:srgbClr val="9AA8B3"/>
                  </a:solidFill>
                </a:ln>
              </p:spPr>
            </p:sp>
            <p:sp>
              <p:nvSpPr>
                <p:cNvPr id="17" name="Freeform 17"/>
                <p:cNvSpPr/>
                <p:nvPr/>
              </p:nvSpPr>
              <p:spPr>
                <a:xfrm>
                  <a:off x="2420143" y="2519362"/>
                  <a:ext cx="61912" cy="619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912" h="61912">
                      <a:moveTo>
                        <a:pt x="0" y="0"/>
                      </a:moveTo>
                      <a:lnTo>
                        <a:pt x="61912" y="61912"/>
                      </a:lnTo>
                    </a:path>
                  </a:pathLst>
                </a:custGeom>
                <a:noFill/>
                <a:ln w="20637">
                  <a:solidFill>
                    <a:srgbClr val="9AA8B3"/>
                  </a:solidFill>
                </a:ln>
              </p:spPr>
            </p:sp>
          </p:grpSp>
          <p:grpSp>
            <p:nvGrpSpPr>
              <p:cNvPr id="26" name="Group 26"/>
              <p:cNvGrpSpPr/>
              <p:nvPr/>
            </p:nvGrpSpPr>
            <p:grpSpPr>
              <a:xfrm>
                <a:off x="2590800" y="2038350"/>
                <a:ext cx="1619250" cy="1148334"/>
                <a:chOff x="2590800" y="2038350"/>
                <a:chExt cx="1619250" cy="1148334"/>
              </a:xfrm>
            </p:grpSpPr>
            <p:sp>
              <p:nvSpPr>
                <p:cNvPr id="19" name="Rectangle 19"/>
                <p:cNvSpPr/>
                <p:nvPr/>
              </p:nvSpPr>
              <p:spPr>
                <a:xfrm>
                  <a:off x="2590800" y="2038350"/>
                  <a:ext cx="1619250" cy="1143000"/>
                </a:xfrm>
                <a:prstGeom prst="roundRect">
                  <a:avLst>
                    <a:gd name="adj" fmla="val 11667"/>
                  </a:avLst>
                </a:prstGeom>
                <a:solidFill>
                  <a:srgbClr val="DFF0EE"/>
                </a:solidFill>
                <a:ln w="14288">
                  <a:solidFill>
                    <a:schemeClr val="accent2"/>
                  </a:solidFill>
                </a:ln>
              </p:spPr>
            </p:sp>
            <p:grpSp>
              <p:nvGrpSpPr>
                <p:cNvPr id="23" name="Group 23"/>
                <p:cNvGrpSpPr/>
                <p:nvPr/>
              </p:nvGrpSpPr>
              <p:grpSpPr>
                <a:xfrm>
                  <a:off x="2819400" y="2228850"/>
                  <a:ext cx="228599" cy="228599"/>
                  <a:chOff x="2819400" y="2228850"/>
                  <a:chExt cx="228599" cy="228599"/>
                </a:xfrm>
              </p:grpSpPr>
              <p:sp>
                <p:nvSpPr>
                  <p:cNvPr id="20" name="Freeform 20"/>
                  <p:cNvSpPr/>
                  <p:nvPr/>
                </p:nvSpPr>
                <p:spPr>
                  <a:xfrm>
                    <a:off x="2819400" y="2406649"/>
                    <a:ext cx="50800" cy="508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0800" h="50800">
                        <a:moveTo>
                          <a:pt x="0" y="25400"/>
                        </a:moveTo>
                        <a:cubicBezTo>
                          <a:pt x="0" y="39428"/>
                          <a:pt x="11372" y="50800"/>
                          <a:pt x="25400" y="50800"/>
                        </a:cubicBezTo>
                        <a:cubicBezTo>
                          <a:pt x="39428" y="50800"/>
                          <a:pt x="50800" y="39428"/>
                          <a:pt x="50800" y="25400"/>
                        </a:cubicBezTo>
                        <a:cubicBezTo>
                          <a:pt x="50800" y="11372"/>
                          <a:pt x="39428" y="0"/>
                          <a:pt x="25400" y="0"/>
                        </a:cubicBezTo>
                        <a:cubicBezTo>
                          <a:pt x="11372" y="0"/>
                          <a:pt x="0" y="11372"/>
                          <a:pt x="0" y="25400"/>
                        </a:cubicBezTo>
                      </a:path>
                    </a:pathLst>
                  </a:custGeom>
                  <a:noFill/>
                  <a:ln w="25400">
                    <a:solidFill>
                      <a:schemeClr val="accent2"/>
                    </a:solidFill>
                  </a:ln>
                </p:spPr>
              </p:sp>
              <p:sp>
                <p:nvSpPr>
                  <p:cNvPr id="21" name="Freeform 21"/>
                  <p:cNvSpPr/>
                  <p:nvPr/>
                </p:nvSpPr>
                <p:spPr>
                  <a:xfrm>
                    <a:off x="2997199" y="2228850"/>
                    <a:ext cx="50800" cy="508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0800" h="50800">
                        <a:moveTo>
                          <a:pt x="25400" y="50800"/>
                        </a:moveTo>
                        <a:cubicBezTo>
                          <a:pt x="39428" y="50800"/>
                          <a:pt x="50800" y="39428"/>
                          <a:pt x="50800" y="25400"/>
                        </a:cubicBezTo>
                        <a:cubicBezTo>
                          <a:pt x="50800" y="11372"/>
                          <a:pt x="39428" y="0"/>
                          <a:pt x="25400" y="0"/>
                        </a:cubicBezTo>
                        <a:cubicBezTo>
                          <a:pt x="11372" y="0"/>
                          <a:pt x="0" y="11372"/>
                          <a:pt x="0" y="25400"/>
                        </a:cubicBezTo>
                        <a:cubicBezTo>
                          <a:pt x="0" y="39428"/>
                          <a:pt x="11372" y="50800"/>
                          <a:pt x="25400" y="50800"/>
                        </a:cubicBezTo>
                      </a:path>
                    </a:pathLst>
                  </a:custGeom>
                  <a:noFill/>
                  <a:ln w="25400">
                    <a:solidFill>
                      <a:schemeClr val="accent2"/>
                    </a:solidFill>
                  </a:ln>
                </p:spPr>
              </p:sp>
              <p:sp>
                <p:nvSpPr>
                  <p:cNvPr id="22" name="Freeform 22"/>
                  <p:cNvSpPr/>
                  <p:nvPr/>
                </p:nvSpPr>
                <p:spPr>
                  <a:xfrm>
                    <a:off x="2844800" y="2254250"/>
                    <a:ext cx="190500" cy="1778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0500" h="177800">
                        <a:moveTo>
                          <a:pt x="76200" y="177800"/>
                        </a:moveTo>
                        <a:lnTo>
                          <a:pt x="146050" y="177800"/>
                        </a:lnTo>
                        <a:cubicBezTo>
                          <a:pt x="170599" y="177800"/>
                          <a:pt x="190500" y="157899"/>
                          <a:pt x="190500" y="133350"/>
                        </a:cubicBezTo>
                        <a:cubicBezTo>
                          <a:pt x="190500" y="108801"/>
                          <a:pt x="170599" y="88900"/>
                          <a:pt x="146050" y="88900"/>
                        </a:cubicBezTo>
                        <a:lnTo>
                          <a:pt x="44450" y="88900"/>
                        </a:lnTo>
                        <a:cubicBezTo>
                          <a:pt x="19901" y="88900"/>
                          <a:pt x="0" y="68999"/>
                          <a:pt x="0" y="44450"/>
                        </a:cubicBezTo>
                        <a:cubicBezTo>
                          <a:pt x="0" y="19901"/>
                          <a:pt x="19901" y="0"/>
                          <a:pt x="44450" y="0"/>
                        </a:cubicBezTo>
                        <a:lnTo>
                          <a:pt x="101600" y="0"/>
                        </a:lnTo>
                      </a:path>
                    </a:pathLst>
                  </a:custGeom>
                  <a:noFill/>
                  <a:ln w="25400">
                    <a:solidFill>
                      <a:schemeClr val="accent2"/>
                    </a:solidFill>
                  </a:ln>
                </p:spPr>
              </p:sp>
            </p:grpSp>
            <p:sp>
              <p:nvSpPr>
                <p:cNvPr id="24" name="TextBox 24"/>
                <p:cNvSpPr txBox="1"/>
                <p:nvPr/>
              </p:nvSpPr>
              <p:spPr>
                <a:xfrm>
                  <a:off x="2798515" y="2548890"/>
                  <a:ext cx="1203819" cy="3520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80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rPr>
                    <a:t>2 虚拟酶解</a:t>
                  </a:r>
                </a:p>
              </p:txBody>
            </p:sp>
            <p:sp>
              <p:nvSpPr>
                <p:cNvPr id="25" name="TextBox 25"/>
                <p:cNvSpPr txBox="1"/>
                <p:nvPr/>
              </p:nvSpPr>
              <p:spPr>
                <a:xfrm>
                  <a:off x="2664333" y="2834640"/>
                  <a:ext cx="1472184" cy="3520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8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规则切短肽库</a:t>
                  </a:r>
                </a:p>
              </p:txBody>
            </p:sp>
          </p:grpSp>
          <p:grpSp>
            <p:nvGrpSpPr>
              <p:cNvPr id="30" name="Group 30"/>
              <p:cNvGrpSpPr/>
              <p:nvPr/>
            </p:nvGrpSpPr>
            <p:grpSpPr>
              <a:xfrm>
                <a:off x="4280694" y="2519362"/>
                <a:ext cx="144462" cy="123825"/>
                <a:chOff x="4280694" y="2519362"/>
                <a:chExt cx="144462" cy="123825"/>
              </a:xfrm>
            </p:grpSpPr>
            <p:sp>
              <p:nvSpPr>
                <p:cNvPr id="27" name="Freeform 27"/>
                <p:cNvSpPr/>
                <p:nvPr/>
              </p:nvSpPr>
              <p:spPr>
                <a:xfrm>
                  <a:off x="4280694" y="2581275"/>
                  <a:ext cx="144462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462" h="9525">
                      <a:moveTo>
                        <a:pt x="0" y="0"/>
                      </a:moveTo>
                      <a:lnTo>
                        <a:pt x="144462" y="0"/>
                      </a:lnTo>
                    </a:path>
                  </a:pathLst>
                </a:custGeom>
                <a:noFill/>
                <a:ln w="20637">
                  <a:solidFill>
                    <a:srgbClr val="9AA8B3"/>
                  </a:solidFill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4363243" y="2581275"/>
                  <a:ext cx="61912" cy="619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912" h="61912">
                      <a:moveTo>
                        <a:pt x="0" y="61912"/>
                      </a:moveTo>
                      <a:lnTo>
                        <a:pt x="61912" y="0"/>
                      </a:lnTo>
                    </a:path>
                  </a:pathLst>
                </a:custGeom>
                <a:noFill/>
                <a:ln w="20637">
                  <a:solidFill>
                    <a:srgbClr val="9AA8B3"/>
                  </a:solidFill>
                </a:ln>
              </p:spPr>
            </p:sp>
            <p:sp>
              <p:nvSpPr>
                <p:cNvPr id="29" name="Freeform 29"/>
                <p:cNvSpPr/>
                <p:nvPr/>
              </p:nvSpPr>
              <p:spPr>
                <a:xfrm>
                  <a:off x="4363243" y="2519362"/>
                  <a:ext cx="61912" cy="619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912" h="61912">
                      <a:moveTo>
                        <a:pt x="0" y="0"/>
                      </a:moveTo>
                      <a:lnTo>
                        <a:pt x="61912" y="61912"/>
                      </a:lnTo>
                    </a:path>
                  </a:pathLst>
                </a:custGeom>
                <a:noFill/>
                <a:ln w="20637">
                  <a:solidFill>
                    <a:srgbClr val="9AA8B3"/>
                  </a:solidFill>
                </a:ln>
              </p:spPr>
            </p:sp>
          </p:grpSp>
          <p:grpSp>
            <p:nvGrpSpPr>
              <p:cNvPr id="44" name="Group 44"/>
              <p:cNvGrpSpPr/>
              <p:nvPr/>
            </p:nvGrpSpPr>
            <p:grpSpPr>
              <a:xfrm>
                <a:off x="4533900" y="2038350"/>
                <a:ext cx="1619250" cy="1148334"/>
                <a:chOff x="4533900" y="2038350"/>
                <a:chExt cx="1619250" cy="1148334"/>
              </a:xfrm>
            </p:grpSpPr>
            <p:sp>
              <p:nvSpPr>
                <p:cNvPr id="31" name="Rectangle 31"/>
                <p:cNvSpPr/>
                <p:nvPr/>
              </p:nvSpPr>
              <p:spPr>
                <a:xfrm>
                  <a:off x="4533900" y="2038350"/>
                  <a:ext cx="1619250" cy="1143000"/>
                </a:xfrm>
                <a:prstGeom prst="roundRect">
                  <a:avLst>
                    <a:gd name="adj" fmla="val 11667"/>
                  </a:avLst>
                </a:prstGeom>
                <a:solidFill>
                  <a:srgbClr val="DFF0EE"/>
                </a:solidFill>
                <a:ln w="14288">
                  <a:solidFill>
                    <a:schemeClr val="accent2"/>
                  </a:solidFill>
                </a:ln>
              </p:spPr>
            </p:sp>
            <p:grpSp>
              <p:nvGrpSpPr>
                <p:cNvPr id="41" name="Group 41"/>
                <p:cNvGrpSpPr/>
                <p:nvPr/>
              </p:nvGrpSpPr>
              <p:grpSpPr>
                <a:xfrm>
                  <a:off x="4749800" y="2216150"/>
                  <a:ext cx="241299" cy="253999"/>
                  <a:chOff x="4749800" y="2216150"/>
                  <a:chExt cx="241299" cy="253999"/>
                </a:xfrm>
              </p:grpSpPr>
              <p:sp>
                <p:nvSpPr>
                  <p:cNvPr id="32" name="Freeform 32"/>
                  <p:cNvSpPr/>
                  <p:nvPr/>
                </p:nvSpPr>
                <p:spPr>
                  <a:xfrm>
                    <a:off x="4749800" y="2419349"/>
                    <a:ext cx="50800" cy="508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0800" h="50800">
                        <a:moveTo>
                          <a:pt x="50800" y="25400"/>
                        </a:moveTo>
                        <a:cubicBezTo>
                          <a:pt x="50800" y="11372"/>
                          <a:pt x="39428" y="0"/>
                          <a:pt x="25400" y="0"/>
                        </a:cubicBezTo>
                        <a:cubicBezTo>
                          <a:pt x="11372" y="0"/>
                          <a:pt x="0" y="11372"/>
                          <a:pt x="0" y="25400"/>
                        </a:cubicBezTo>
                        <a:cubicBezTo>
                          <a:pt x="0" y="39428"/>
                          <a:pt x="11372" y="50800"/>
                          <a:pt x="25400" y="50800"/>
                        </a:cubicBezTo>
                        <a:cubicBezTo>
                          <a:pt x="39428" y="50800"/>
                          <a:pt x="50800" y="39428"/>
                          <a:pt x="50800" y="25400"/>
                        </a:cubicBezTo>
                      </a:path>
                    </a:pathLst>
                  </a:custGeom>
                  <a:noFill/>
                  <a:ln w="25400">
                    <a:solidFill>
                      <a:schemeClr val="accent2"/>
                    </a:solidFill>
                  </a:ln>
                </p:spPr>
              </p:sp>
              <p:sp>
                <p:nvSpPr>
                  <p:cNvPr id="33" name="Freeform 33"/>
                  <p:cNvSpPr/>
                  <p:nvPr/>
                </p:nvSpPr>
                <p:spPr>
                  <a:xfrm>
                    <a:off x="4876800" y="2216150"/>
                    <a:ext cx="50800" cy="508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0800" h="50800">
                        <a:moveTo>
                          <a:pt x="50800" y="25400"/>
                        </a:moveTo>
                        <a:cubicBezTo>
                          <a:pt x="50800" y="11372"/>
                          <a:pt x="39428" y="0"/>
                          <a:pt x="25400" y="0"/>
                        </a:cubicBezTo>
                        <a:cubicBezTo>
                          <a:pt x="11372" y="0"/>
                          <a:pt x="0" y="11372"/>
                          <a:pt x="0" y="25400"/>
                        </a:cubicBezTo>
                        <a:cubicBezTo>
                          <a:pt x="0" y="39428"/>
                          <a:pt x="11372" y="50800"/>
                          <a:pt x="25400" y="50800"/>
                        </a:cubicBezTo>
                        <a:cubicBezTo>
                          <a:pt x="39428" y="50800"/>
                          <a:pt x="50800" y="39428"/>
                          <a:pt x="50800" y="25400"/>
                        </a:cubicBezTo>
                      </a:path>
                    </a:pathLst>
                  </a:custGeom>
                  <a:noFill/>
                  <a:ln w="25400">
                    <a:solidFill>
                      <a:schemeClr val="accent2"/>
                    </a:solidFill>
                  </a:ln>
                </p:spPr>
              </p:sp>
              <p:sp>
                <p:nvSpPr>
                  <p:cNvPr id="34" name="Freeform 34"/>
                  <p:cNvSpPr/>
                  <p:nvPr/>
                </p:nvSpPr>
                <p:spPr>
                  <a:xfrm>
                    <a:off x="4876800" y="2419349"/>
                    <a:ext cx="50800" cy="508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0800" h="50800">
                        <a:moveTo>
                          <a:pt x="50800" y="25400"/>
                        </a:moveTo>
                        <a:cubicBezTo>
                          <a:pt x="50800" y="11372"/>
                          <a:pt x="39428" y="0"/>
                          <a:pt x="25400" y="0"/>
                        </a:cubicBezTo>
                        <a:cubicBezTo>
                          <a:pt x="11372" y="0"/>
                          <a:pt x="0" y="11372"/>
                          <a:pt x="0" y="25400"/>
                        </a:cubicBezTo>
                        <a:cubicBezTo>
                          <a:pt x="0" y="39428"/>
                          <a:pt x="11372" y="50800"/>
                          <a:pt x="25400" y="50800"/>
                        </a:cubicBezTo>
                        <a:cubicBezTo>
                          <a:pt x="39428" y="50800"/>
                          <a:pt x="50800" y="39428"/>
                          <a:pt x="50800" y="25400"/>
                        </a:cubicBezTo>
                      </a:path>
                    </a:pathLst>
                  </a:custGeom>
                  <a:noFill/>
                  <a:ln w="25400">
                    <a:solidFill>
                      <a:schemeClr val="accent2"/>
                    </a:solidFill>
                  </a:ln>
                </p:spPr>
              </p:sp>
              <p:sp>
                <p:nvSpPr>
                  <p:cNvPr id="35" name="Freeform 35"/>
                  <p:cNvSpPr/>
                  <p:nvPr/>
                </p:nvSpPr>
                <p:spPr>
                  <a:xfrm>
                    <a:off x="4813300" y="2317750"/>
                    <a:ext cx="50800" cy="508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0800" h="50800">
                        <a:moveTo>
                          <a:pt x="50800" y="25400"/>
                        </a:moveTo>
                        <a:cubicBezTo>
                          <a:pt x="50800" y="11372"/>
                          <a:pt x="39428" y="0"/>
                          <a:pt x="25400" y="0"/>
                        </a:cubicBezTo>
                        <a:cubicBezTo>
                          <a:pt x="11372" y="0"/>
                          <a:pt x="0" y="11372"/>
                          <a:pt x="0" y="25400"/>
                        </a:cubicBezTo>
                        <a:cubicBezTo>
                          <a:pt x="0" y="39428"/>
                          <a:pt x="11372" y="50800"/>
                          <a:pt x="25400" y="50800"/>
                        </a:cubicBezTo>
                        <a:cubicBezTo>
                          <a:pt x="39428" y="50800"/>
                          <a:pt x="50800" y="39428"/>
                          <a:pt x="50800" y="25400"/>
                        </a:cubicBezTo>
                      </a:path>
                    </a:pathLst>
                  </a:custGeom>
                  <a:noFill/>
                  <a:ln w="25400">
                    <a:solidFill>
                      <a:schemeClr val="accent2"/>
                    </a:solidFill>
                  </a:ln>
                </p:spPr>
              </p:sp>
              <p:sp>
                <p:nvSpPr>
                  <p:cNvPr id="36" name="Freeform 36"/>
                  <p:cNvSpPr/>
                  <p:nvPr/>
                </p:nvSpPr>
                <p:spPr>
                  <a:xfrm>
                    <a:off x="4940299" y="2317750"/>
                    <a:ext cx="50800" cy="508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0800" h="50800">
                        <a:moveTo>
                          <a:pt x="50800" y="25400"/>
                        </a:moveTo>
                        <a:cubicBezTo>
                          <a:pt x="50800" y="11372"/>
                          <a:pt x="39428" y="0"/>
                          <a:pt x="25400" y="0"/>
                        </a:cubicBezTo>
                        <a:cubicBezTo>
                          <a:pt x="11372" y="0"/>
                          <a:pt x="0" y="11372"/>
                          <a:pt x="0" y="25400"/>
                        </a:cubicBezTo>
                        <a:cubicBezTo>
                          <a:pt x="0" y="39428"/>
                          <a:pt x="11372" y="50800"/>
                          <a:pt x="25400" y="50800"/>
                        </a:cubicBezTo>
                        <a:cubicBezTo>
                          <a:pt x="39428" y="50800"/>
                          <a:pt x="50800" y="39428"/>
                          <a:pt x="50800" y="25400"/>
                        </a:cubicBezTo>
                      </a:path>
                    </a:pathLst>
                  </a:custGeom>
                  <a:noFill/>
                  <a:ln w="25400">
                    <a:solidFill>
                      <a:schemeClr val="accent2"/>
                    </a:solidFill>
                  </a:ln>
                </p:spPr>
              </p:sp>
              <p:sp>
                <p:nvSpPr>
                  <p:cNvPr id="37" name="Freeform 37"/>
                  <p:cNvSpPr/>
                  <p:nvPr/>
                </p:nvSpPr>
                <p:spPr>
                  <a:xfrm>
                    <a:off x="4788636" y="2364740"/>
                    <a:ext cx="36576" cy="584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576" h="58496">
                        <a:moveTo>
                          <a:pt x="0" y="58496"/>
                        </a:moveTo>
                        <a:lnTo>
                          <a:pt x="36576" y="0"/>
                        </a:lnTo>
                      </a:path>
                    </a:pathLst>
                  </a:custGeom>
                  <a:noFill/>
                  <a:ln w="25400">
                    <a:solidFill>
                      <a:schemeClr val="accent2"/>
                    </a:solidFill>
                  </a:ln>
                </p:spPr>
              </p:sp>
              <p:sp>
                <p:nvSpPr>
                  <p:cNvPr id="38" name="Freeform 38"/>
                  <p:cNvSpPr/>
                  <p:nvPr/>
                </p:nvSpPr>
                <p:spPr>
                  <a:xfrm>
                    <a:off x="4852174" y="2263127"/>
                    <a:ext cx="36538" cy="5847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538" h="58471">
                        <a:moveTo>
                          <a:pt x="0" y="58471"/>
                        </a:moveTo>
                        <a:lnTo>
                          <a:pt x="36538" y="0"/>
                        </a:lnTo>
                      </a:path>
                    </a:pathLst>
                  </a:custGeom>
                  <a:noFill/>
                  <a:ln w="25400">
                    <a:solidFill>
                      <a:schemeClr val="accent2"/>
                    </a:solidFill>
                  </a:ln>
                </p:spPr>
              </p:sp>
              <p:sp>
                <p:nvSpPr>
                  <p:cNvPr id="39" name="Freeform 39"/>
                  <p:cNvSpPr/>
                  <p:nvPr/>
                </p:nvSpPr>
                <p:spPr>
                  <a:xfrm>
                    <a:off x="4852225" y="2364803"/>
                    <a:ext cx="36525" cy="584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525" h="58420">
                        <a:moveTo>
                          <a:pt x="0" y="0"/>
                        </a:moveTo>
                        <a:lnTo>
                          <a:pt x="36525" y="58420"/>
                        </a:lnTo>
                      </a:path>
                    </a:pathLst>
                  </a:custGeom>
                  <a:noFill/>
                  <a:ln w="25400">
                    <a:solidFill>
                      <a:schemeClr val="accent2"/>
                    </a:solidFill>
                  </a:ln>
                </p:spPr>
              </p:sp>
              <p:sp>
                <p:nvSpPr>
                  <p:cNvPr id="40" name="Freeform 40"/>
                  <p:cNvSpPr/>
                  <p:nvPr/>
                </p:nvSpPr>
                <p:spPr>
                  <a:xfrm>
                    <a:off x="4915700" y="2263140"/>
                    <a:ext cx="36589" cy="5854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589" h="58547">
                        <a:moveTo>
                          <a:pt x="0" y="0"/>
                        </a:moveTo>
                        <a:lnTo>
                          <a:pt x="36589" y="58547"/>
                        </a:lnTo>
                      </a:path>
                    </a:pathLst>
                  </a:custGeom>
                  <a:noFill/>
                  <a:ln w="25400">
                    <a:solidFill>
                      <a:schemeClr val="accent2"/>
                    </a:solidFill>
                  </a:ln>
                </p:spPr>
              </p:sp>
            </p:grpSp>
            <p:sp>
              <p:nvSpPr>
                <p:cNvPr id="42" name="TextBox 42"/>
                <p:cNvSpPr txBox="1"/>
                <p:nvPr/>
              </p:nvSpPr>
              <p:spPr>
                <a:xfrm>
                  <a:off x="4741615" y="2548890"/>
                  <a:ext cx="1203819" cy="3520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80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rPr>
                    <a:t>3 特征编码</a:t>
                  </a:r>
                </a:p>
              </p:txBody>
            </p:sp>
            <p:sp>
              <p:nvSpPr>
                <p:cNvPr id="43" name="TextBox 43"/>
                <p:cNvSpPr txBox="1"/>
                <p:nvPr/>
              </p:nvSpPr>
              <p:spPr>
                <a:xfrm>
                  <a:off x="4710417" y="2834640"/>
                  <a:ext cx="1266215" cy="3520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8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序列 → 向量</a:t>
                  </a:r>
                </a:p>
              </p:txBody>
            </p:sp>
          </p:grpSp>
          <p:grpSp>
            <p:nvGrpSpPr>
              <p:cNvPr id="48" name="Group 48"/>
              <p:cNvGrpSpPr/>
              <p:nvPr/>
            </p:nvGrpSpPr>
            <p:grpSpPr>
              <a:xfrm>
                <a:off x="6223794" y="2519362"/>
                <a:ext cx="144462" cy="123825"/>
                <a:chOff x="6223794" y="2519362"/>
                <a:chExt cx="144462" cy="123825"/>
              </a:xfrm>
            </p:grpSpPr>
            <p:sp>
              <p:nvSpPr>
                <p:cNvPr id="45" name="Freeform 45"/>
                <p:cNvSpPr/>
                <p:nvPr/>
              </p:nvSpPr>
              <p:spPr>
                <a:xfrm>
                  <a:off x="6223794" y="2581275"/>
                  <a:ext cx="144462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462" h="9525">
                      <a:moveTo>
                        <a:pt x="0" y="0"/>
                      </a:moveTo>
                      <a:lnTo>
                        <a:pt x="144462" y="0"/>
                      </a:lnTo>
                    </a:path>
                  </a:pathLst>
                </a:custGeom>
                <a:noFill/>
                <a:ln w="20637">
                  <a:solidFill>
                    <a:srgbClr val="9AA8B3"/>
                  </a:solidFill>
                </a:ln>
              </p:spPr>
            </p:sp>
            <p:sp>
              <p:nvSpPr>
                <p:cNvPr id="46" name="Freeform 46"/>
                <p:cNvSpPr/>
                <p:nvPr/>
              </p:nvSpPr>
              <p:spPr>
                <a:xfrm>
                  <a:off x="6306343" y="2581275"/>
                  <a:ext cx="61912" cy="619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912" h="61912">
                      <a:moveTo>
                        <a:pt x="0" y="61912"/>
                      </a:moveTo>
                      <a:lnTo>
                        <a:pt x="61912" y="0"/>
                      </a:lnTo>
                    </a:path>
                  </a:pathLst>
                </a:custGeom>
                <a:noFill/>
                <a:ln w="20637">
                  <a:solidFill>
                    <a:srgbClr val="9AA8B3"/>
                  </a:solidFill>
                </a:ln>
              </p:spPr>
            </p:sp>
            <p:sp>
              <p:nvSpPr>
                <p:cNvPr id="47" name="Freeform 47"/>
                <p:cNvSpPr/>
                <p:nvPr/>
              </p:nvSpPr>
              <p:spPr>
                <a:xfrm>
                  <a:off x="6306343" y="2519362"/>
                  <a:ext cx="61912" cy="619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912" h="61912">
                      <a:moveTo>
                        <a:pt x="0" y="0"/>
                      </a:moveTo>
                      <a:lnTo>
                        <a:pt x="61912" y="61912"/>
                      </a:lnTo>
                    </a:path>
                  </a:pathLst>
                </a:custGeom>
                <a:noFill/>
                <a:ln w="20637">
                  <a:solidFill>
                    <a:srgbClr val="9AA8B3"/>
                  </a:solidFill>
                </a:ln>
              </p:spPr>
            </p:sp>
          </p:grpSp>
          <p:grpSp>
            <p:nvGrpSpPr>
              <p:cNvPr id="59" name="Group 59"/>
              <p:cNvGrpSpPr/>
              <p:nvPr/>
            </p:nvGrpSpPr>
            <p:grpSpPr>
              <a:xfrm>
                <a:off x="6477000" y="2038350"/>
                <a:ext cx="1619250" cy="1148334"/>
                <a:chOff x="6477000" y="2038350"/>
                <a:chExt cx="1619250" cy="1148334"/>
              </a:xfrm>
            </p:grpSpPr>
            <p:sp>
              <p:nvSpPr>
                <p:cNvPr id="49" name="Rectangle 49"/>
                <p:cNvSpPr/>
                <p:nvPr/>
              </p:nvSpPr>
              <p:spPr>
                <a:xfrm>
                  <a:off x="6477000" y="2038350"/>
                  <a:ext cx="1619250" cy="1143000"/>
                </a:xfrm>
                <a:prstGeom prst="roundRect">
                  <a:avLst>
                    <a:gd name="adj" fmla="val 11667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</p:sp>
            <p:grpSp>
              <p:nvGrpSpPr>
                <p:cNvPr id="56" name="Group 56"/>
                <p:cNvGrpSpPr/>
                <p:nvPr/>
              </p:nvGrpSpPr>
              <p:grpSpPr>
                <a:xfrm>
                  <a:off x="6705600" y="2228850"/>
                  <a:ext cx="228599" cy="228600"/>
                  <a:chOff x="6705600" y="2228850"/>
                  <a:chExt cx="228599" cy="228600"/>
                </a:xfrm>
              </p:grpSpPr>
              <p:sp>
                <p:nvSpPr>
                  <p:cNvPr id="50" name="Freeform 50"/>
                  <p:cNvSpPr/>
                  <p:nvPr/>
                </p:nvSpPr>
                <p:spPr>
                  <a:xfrm>
                    <a:off x="6819900" y="2355850"/>
                    <a:ext cx="88900" cy="1016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8900" h="101600">
                        <a:moveTo>
                          <a:pt x="44450" y="0"/>
                        </a:moveTo>
                        <a:cubicBezTo>
                          <a:pt x="19901" y="0"/>
                          <a:pt x="0" y="19901"/>
                          <a:pt x="0" y="44450"/>
                        </a:cubicBezTo>
                        <a:lnTo>
                          <a:pt x="0" y="57150"/>
                        </a:lnTo>
                        <a:cubicBezTo>
                          <a:pt x="0" y="81699"/>
                          <a:pt x="19901" y="101600"/>
                          <a:pt x="44450" y="101600"/>
                        </a:cubicBezTo>
                        <a:cubicBezTo>
                          <a:pt x="68999" y="101600"/>
                          <a:pt x="88900" y="81699"/>
                          <a:pt x="88900" y="57150"/>
                        </a:cubicBezTo>
                        <a:lnTo>
                          <a:pt x="88900" y="34290"/>
                        </a:lnTo>
                      </a:path>
                    </a:pathLst>
                  </a:custGeom>
                  <a:noFill/>
                  <a:ln w="25400">
                    <a:solidFill>
                      <a:srgbClr val="2FB3A8"/>
                    </a:solidFill>
                  </a:ln>
                </p:spPr>
              </p:sp>
              <p:sp>
                <p:nvSpPr>
                  <p:cNvPr id="51" name="Freeform 51"/>
                  <p:cNvSpPr/>
                  <p:nvPr/>
                </p:nvSpPr>
                <p:spPr>
                  <a:xfrm>
                    <a:off x="6731000" y="2355850"/>
                    <a:ext cx="88900" cy="1016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8900" h="101600">
                        <a:moveTo>
                          <a:pt x="44450" y="0"/>
                        </a:moveTo>
                        <a:cubicBezTo>
                          <a:pt x="68999" y="0"/>
                          <a:pt x="88900" y="19901"/>
                          <a:pt x="88900" y="44450"/>
                        </a:cubicBezTo>
                        <a:lnTo>
                          <a:pt x="88900" y="57150"/>
                        </a:lnTo>
                        <a:cubicBezTo>
                          <a:pt x="88900" y="81699"/>
                          <a:pt x="68999" y="101600"/>
                          <a:pt x="44450" y="101600"/>
                        </a:cubicBezTo>
                        <a:cubicBezTo>
                          <a:pt x="19901" y="101600"/>
                          <a:pt x="0" y="81699"/>
                          <a:pt x="0" y="57150"/>
                        </a:cubicBezTo>
                        <a:lnTo>
                          <a:pt x="0" y="34290"/>
                        </a:lnTo>
                      </a:path>
                    </a:pathLst>
                  </a:custGeom>
                  <a:noFill/>
                  <a:ln w="25400">
                    <a:solidFill>
                      <a:srgbClr val="2FB3A8"/>
                    </a:solidFill>
                  </a:ln>
                </p:spPr>
              </p:sp>
              <p:sp>
                <p:nvSpPr>
                  <p:cNvPr id="52" name="Freeform 52"/>
                  <p:cNvSpPr/>
                  <p:nvPr/>
                </p:nvSpPr>
                <p:spPr>
                  <a:xfrm>
                    <a:off x="6883399" y="2305050"/>
                    <a:ext cx="50800" cy="889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0800" h="88900">
                        <a:moveTo>
                          <a:pt x="6350" y="88900"/>
                        </a:moveTo>
                        <a:cubicBezTo>
                          <a:pt x="30899" y="88900"/>
                          <a:pt x="50800" y="68999"/>
                          <a:pt x="50800" y="44450"/>
                        </a:cubicBezTo>
                        <a:cubicBezTo>
                          <a:pt x="50800" y="19901"/>
                          <a:pt x="30899" y="0"/>
                          <a:pt x="6350" y="0"/>
                        </a:cubicBezTo>
                        <a:lnTo>
                          <a:pt x="0" y="0"/>
                        </a:lnTo>
                      </a:path>
                    </a:pathLst>
                  </a:custGeom>
                  <a:noFill/>
                  <a:ln w="25400">
                    <a:solidFill>
                      <a:srgbClr val="2FB3A8"/>
                    </a:solidFill>
                  </a:ln>
                </p:spPr>
              </p:sp>
              <p:sp>
                <p:nvSpPr>
                  <p:cNvPr id="53" name="Freeform 53"/>
                  <p:cNvSpPr/>
                  <p:nvPr/>
                </p:nvSpPr>
                <p:spPr>
                  <a:xfrm>
                    <a:off x="6819900" y="2228850"/>
                    <a:ext cx="88900" cy="800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8900" h="80010">
                        <a:moveTo>
                          <a:pt x="88900" y="80010"/>
                        </a:moveTo>
                        <a:lnTo>
                          <a:pt x="88900" y="44450"/>
                        </a:lnTo>
                        <a:cubicBezTo>
                          <a:pt x="88900" y="19901"/>
                          <a:pt x="68999" y="0"/>
                          <a:pt x="44450" y="0"/>
                        </a:cubicBezTo>
                        <a:cubicBezTo>
                          <a:pt x="19901" y="0"/>
                          <a:pt x="0" y="19901"/>
                          <a:pt x="0" y="44450"/>
                        </a:cubicBezTo>
                      </a:path>
                    </a:pathLst>
                  </a:custGeom>
                  <a:noFill/>
                  <a:ln w="25400">
                    <a:solidFill>
                      <a:srgbClr val="2FB3A8"/>
                    </a:solidFill>
                  </a:ln>
                </p:spPr>
              </p:sp>
              <p:sp>
                <p:nvSpPr>
                  <p:cNvPr id="54" name="Freeform 54"/>
                  <p:cNvSpPr/>
                  <p:nvPr/>
                </p:nvSpPr>
                <p:spPr>
                  <a:xfrm>
                    <a:off x="6705600" y="2305050"/>
                    <a:ext cx="50800" cy="889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0800" h="88900">
                        <a:moveTo>
                          <a:pt x="44450" y="88900"/>
                        </a:moveTo>
                        <a:cubicBezTo>
                          <a:pt x="19901" y="88900"/>
                          <a:pt x="0" y="68999"/>
                          <a:pt x="0" y="44450"/>
                        </a:cubicBezTo>
                        <a:cubicBezTo>
                          <a:pt x="0" y="19901"/>
                          <a:pt x="19901" y="0"/>
                          <a:pt x="44450" y="0"/>
                        </a:cubicBezTo>
                        <a:lnTo>
                          <a:pt x="50800" y="0"/>
                        </a:lnTo>
                      </a:path>
                    </a:pathLst>
                  </a:custGeom>
                  <a:noFill/>
                  <a:ln w="25400">
                    <a:solidFill>
                      <a:srgbClr val="2FB3A8"/>
                    </a:solidFill>
                  </a:ln>
                </p:spPr>
              </p:sp>
              <p:sp>
                <p:nvSpPr>
                  <p:cNvPr id="55" name="Freeform 55"/>
                  <p:cNvSpPr/>
                  <p:nvPr/>
                </p:nvSpPr>
                <p:spPr>
                  <a:xfrm>
                    <a:off x="6731000" y="2228850"/>
                    <a:ext cx="88900" cy="1714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8900" h="171450">
                        <a:moveTo>
                          <a:pt x="0" y="80010"/>
                        </a:moveTo>
                        <a:lnTo>
                          <a:pt x="0" y="44450"/>
                        </a:lnTo>
                        <a:cubicBezTo>
                          <a:pt x="0" y="19901"/>
                          <a:pt x="19901" y="0"/>
                          <a:pt x="44450" y="0"/>
                        </a:cubicBezTo>
                        <a:cubicBezTo>
                          <a:pt x="68999" y="0"/>
                          <a:pt x="88900" y="19901"/>
                          <a:pt x="88900" y="44450"/>
                        </a:cubicBezTo>
                        <a:lnTo>
                          <a:pt x="88900" y="171450"/>
                        </a:lnTo>
                      </a:path>
                    </a:pathLst>
                  </a:custGeom>
                  <a:noFill/>
                  <a:ln w="25400">
                    <a:solidFill>
                      <a:srgbClr val="2FB3A8"/>
                    </a:solidFill>
                  </a:ln>
                </p:spPr>
              </p:sp>
            </p:grpSp>
            <p:sp>
              <p:nvSpPr>
                <p:cNvPr id="57" name="TextBox 57"/>
                <p:cNvSpPr txBox="1"/>
                <p:nvPr/>
              </p:nvSpPr>
              <p:spPr>
                <a:xfrm>
                  <a:off x="6684715" y="2548890"/>
                  <a:ext cx="1203819" cy="3520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800" b="1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4 模型预测</a:t>
                  </a:r>
                </a:p>
              </p:txBody>
            </p:sp>
            <p:sp>
              <p:nvSpPr>
                <p:cNvPr id="58" name="TextBox 58"/>
                <p:cNvSpPr txBox="1"/>
                <p:nvPr/>
              </p:nvSpPr>
              <p:spPr>
                <a:xfrm>
                  <a:off x="6550533" y="2834640"/>
                  <a:ext cx="1472184" cy="3520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800" dirty="0">
                      <a:solidFill>
                        <a:srgbClr val="AEBFD0"/>
                      </a:solidFill>
                      <a:latin typeface="+mn-lt"/>
                      <a:ea typeface="+mn-ea"/>
                      <a:cs typeface="+mn-cs"/>
                    </a:rPr>
                    <a:t>呈鲜概率打分</a:t>
                  </a:r>
                </a:p>
              </p:txBody>
            </p:sp>
          </p:grpSp>
          <p:grpSp>
            <p:nvGrpSpPr>
              <p:cNvPr id="63" name="Group 63"/>
              <p:cNvGrpSpPr/>
              <p:nvPr/>
            </p:nvGrpSpPr>
            <p:grpSpPr>
              <a:xfrm>
                <a:off x="8166894" y="2519362"/>
                <a:ext cx="144462" cy="123825"/>
                <a:chOff x="8166894" y="2519362"/>
                <a:chExt cx="144462" cy="123825"/>
              </a:xfrm>
            </p:grpSpPr>
            <p:sp>
              <p:nvSpPr>
                <p:cNvPr id="60" name="Freeform 60"/>
                <p:cNvSpPr/>
                <p:nvPr/>
              </p:nvSpPr>
              <p:spPr>
                <a:xfrm>
                  <a:off x="8166894" y="2581275"/>
                  <a:ext cx="144462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462" h="9525">
                      <a:moveTo>
                        <a:pt x="0" y="0"/>
                      </a:moveTo>
                      <a:lnTo>
                        <a:pt x="144462" y="0"/>
                      </a:lnTo>
                    </a:path>
                  </a:pathLst>
                </a:custGeom>
                <a:noFill/>
                <a:ln w="20637">
                  <a:solidFill>
                    <a:srgbClr val="9AA8B3"/>
                  </a:solidFill>
                </a:ln>
              </p:spPr>
            </p:sp>
            <p:sp>
              <p:nvSpPr>
                <p:cNvPr id="61" name="Freeform 61"/>
                <p:cNvSpPr/>
                <p:nvPr/>
              </p:nvSpPr>
              <p:spPr>
                <a:xfrm>
                  <a:off x="8249443" y="2581275"/>
                  <a:ext cx="61912" cy="619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912" h="61912">
                      <a:moveTo>
                        <a:pt x="0" y="61912"/>
                      </a:moveTo>
                      <a:lnTo>
                        <a:pt x="61912" y="0"/>
                      </a:lnTo>
                    </a:path>
                  </a:pathLst>
                </a:custGeom>
                <a:noFill/>
                <a:ln w="20637">
                  <a:solidFill>
                    <a:srgbClr val="9AA8B3"/>
                  </a:solidFill>
                </a:ln>
              </p:spPr>
            </p:sp>
            <p:sp>
              <p:nvSpPr>
                <p:cNvPr id="62" name="Freeform 62"/>
                <p:cNvSpPr/>
                <p:nvPr/>
              </p:nvSpPr>
              <p:spPr>
                <a:xfrm>
                  <a:off x="8249443" y="2519362"/>
                  <a:ext cx="61912" cy="619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912" h="61912">
                      <a:moveTo>
                        <a:pt x="0" y="0"/>
                      </a:moveTo>
                      <a:lnTo>
                        <a:pt x="61912" y="61912"/>
                      </a:lnTo>
                    </a:path>
                  </a:pathLst>
                </a:custGeom>
                <a:noFill/>
                <a:ln w="20637">
                  <a:solidFill>
                    <a:srgbClr val="9AA8B3"/>
                  </a:solidFill>
                </a:ln>
              </p:spPr>
            </p:sp>
          </p:grpSp>
          <p:grpSp>
            <p:nvGrpSpPr>
              <p:cNvPr id="75" name="Group 75"/>
              <p:cNvGrpSpPr/>
              <p:nvPr/>
            </p:nvGrpSpPr>
            <p:grpSpPr>
              <a:xfrm>
                <a:off x="8420100" y="2038350"/>
                <a:ext cx="1619250" cy="1148334"/>
                <a:chOff x="8420100" y="2038350"/>
                <a:chExt cx="1619250" cy="1148334"/>
              </a:xfrm>
            </p:grpSpPr>
            <p:sp>
              <p:nvSpPr>
                <p:cNvPr id="64" name="Rectangle 64"/>
                <p:cNvSpPr/>
                <p:nvPr/>
              </p:nvSpPr>
              <p:spPr>
                <a:xfrm>
                  <a:off x="8420100" y="2038350"/>
                  <a:ext cx="1619250" cy="1143000"/>
                </a:xfrm>
                <a:prstGeom prst="roundRect">
                  <a:avLst>
                    <a:gd name="adj" fmla="val 11667"/>
                  </a:avLst>
                </a:prstGeom>
                <a:solidFill>
                  <a:srgbClr val="DFF0EE"/>
                </a:solidFill>
                <a:ln w="14288">
                  <a:solidFill>
                    <a:schemeClr val="accent2"/>
                  </a:solidFill>
                </a:ln>
              </p:spPr>
            </p:sp>
            <p:grpSp>
              <p:nvGrpSpPr>
                <p:cNvPr id="72" name="Group 72"/>
                <p:cNvGrpSpPr/>
                <p:nvPr/>
              </p:nvGrpSpPr>
              <p:grpSpPr>
                <a:xfrm>
                  <a:off x="8648700" y="2219789"/>
                  <a:ext cx="238124" cy="247185"/>
                  <a:chOff x="8648700" y="2219789"/>
                  <a:chExt cx="238124" cy="247185"/>
                </a:xfrm>
              </p:grpSpPr>
              <p:sp>
                <p:nvSpPr>
                  <p:cNvPr id="65" name="Freeform 65"/>
                  <p:cNvSpPr/>
                  <p:nvPr/>
                </p:nvSpPr>
                <p:spPr>
                  <a:xfrm>
                    <a:off x="8724900" y="2305050"/>
                    <a:ext cx="76200" cy="762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6200" h="76200">
                        <a:moveTo>
                          <a:pt x="0" y="38100"/>
                        </a:moveTo>
                        <a:cubicBezTo>
                          <a:pt x="0" y="59142"/>
                          <a:pt x="17058" y="76200"/>
                          <a:pt x="38100" y="76200"/>
                        </a:cubicBezTo>
                        <a:cubicBezTo>
                          <a:pt x="59142" y="76200"/>
                          <a:pt x="76200" y="59142"/>
                          <a:pt x="76200" y="38100"/>
                        </a:cubicBezTo>
                        <a:cubicBezTo>
                          <a:pt x="76200" y="17058"/>
                          <a:pt x="59142" y="0"/>
                          <a:pt x="38100" y="0"/>
                        </a:cubicBezTo>
                        <a:cubicBezTo>
                          <a:pt x="17058" y="0"/>
                          <a:pt x="0" y="17058"/>
                          <a:pt x="0" y="38100"/>
                        </a:cubicBezTo>
                      </a:path>
                    </a:pathLst>
                  </a:custGeom>
                  <a:noFill/>
                  <a:ln w="25400">
                    <a:solidFill>
                      <a:schemeClr val="accent2"/>
                    </a:solidFill>
                  </a:ln>
                </p:spPr>
              </p:sp>
              <p:sp>
                <p:nvSpPr>
                  <p:cNvPr id="66" name="Freeform 66"/>
                  <p:cNvSpPr/>
                  <p:nvPr/>
                </p:nvSpPr>
                <p:spPr>
                  <a:xfrm>
                    <a:off x="8763000" y="2457449"/>
                    <a:ext cx="9525" cy="9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525" h="9525">
                        <a:moveTo>
                          <a:pt x="0" y="0"/>
                        </a:moveTo>
                        <a:lnTo>
                          <a:pt x="0" y="127"/>
                        </a:lnTo>
                      </a:path>
                    </a:pathLst>
                  </a:custGeom>
                  <a:noFill/>
                  <a:ln w="25400">
                    <a:solidFill>
                      <a:schemeClr val="accent2"/>
                    </a:solidFill>
                  </a:ln>
                </p:spPr>
              </p:sp>
              <p:sp>
                <p:nvSpPr>
                  <p:cNvPr id="67" name="Freeform 67"/>
                  <p:cNvSpPr/>
                  <p:nvPr/>
                </p:nvSpPr>
                <p:spPr>
                  <a:xfrm>
                    <a:off x="8648700" y="2305050"/>
                    <a:ext cx="9525" cy="9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525" h="9525">
                        <a:moveTo>
                          <a:pt x="0" y="0"/>
                        </a:moveTo>
                        <a:lnTo>
                          <a:pt x="0" y="127"/>
                        </a:lnTo>
                      </a:path>
                    </a:pathLst>
                  </a:custGeom>
                  <a:noFill/>
                  <a:ln w="25400">
                    <a:solidFill>
                      <a:schemeClr val="accent2"/>
                    </a:solidFill>
                  </a:ln>
                </p:spPr>
              </p:sp>
              <p:sp>
                <p:nvSpPr>
                  <p:cNvPr id="68" name="Freeform 68"/>
                  <p:cNvSpPr/>
                  <p:nvPr/>
                </p:nvSpPr>
                <p:spPr>
                  <a:xfrm>
                    <a:off x="8877299" y="2305050"/>
                    <a:ext cx="9525" cy="9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525" h="9525">
                        <a:moveTo>
                          <a:pt x="0" y="0"/>
                        </a:moveTo>
                        <a:lnTo>
                          <a:pt x="0" y="127"/>
                        </a:lnTo>
                      </a:path>
                    </a:pathLst>
                  </a:custGeom>
                  <a:noFill/>
                  <a:ln w="25400">
                    <a:solidFill>
                      <a:schemeClr val="accent2"/>
                    </a:solidFill>
                  </a:ln>
                </p:spPr>
              </p:sp>
              <p:sp>
                <p:nvSpPr>
                  <p:cNvPr id="69" name="Freeform 69"/>
                  <p:cNvSpPr/>
                  <p:nvPr/>
                </p:nvSpPr>
                <p:spPr>
                  <a:xfrm>
                    <a:off x="8648700" y="2355850"/>
                    <a:ext cx="63500" cy="9017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00" h="90170">
                        <a:moveTo>
                          <a:pt x="63500" y="90170"/>
                        </a:moveTo>
                        <a:cubicBezTo>
                          <a:pt x="28274" y="72988"/>
                          <a:pt x="4307" y="38956"/>
                          <a:pt x="0" y="0"/>
                        </a:cubicBezTo>
                      </a:path>
                    </a:pathLst>
                  </a:custGeom>
                  <a:noFill/>
                  <a:ln w="25400">
                    <a:solidFill>
                      <a:schemeClr val="accent2"/>
                    </a:solidFill>
                  </a:ln>
                </p:spPr>
              </p:sp>
              <p:sp>
                <p:nvSpPr>
                  <p:cNvPr id="70" name="Freeform 70"/>
                  <p:cNvSpPr/>
                  <p:nvPr/>
                </p:nvSpPr>
                <p:spPr>
                  <a:xfrm>
                    <a:off x="8813799" y="2355850"/>
                    <a:ext cx="63500" cy="9017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00" h="90170">
                        <a:moveTo>
                          <a:pt x="0" y="90170"/>
                        </a:moveTo>
                        <a:cubicBezTo>
                          <a:pt x="35226" y="72988"/>
                          <a:pt x="59193" y="38956"/>
                          <a:pt x="63500" y="0"/>
                        </a:cubicBezTo>
                      </a:path>
                    </a:pathLst>
                  </a:custGeom>
                  <a:noFill/>
                  <a:ln w="25400">
                    <a:solidFill>
                      <a:schemeClr val="accent2"/>
                    </a:solidFill>
                  </a:ln>
                </p:spPr>
              </p:sp>
              <p:sp>
                <p:nvSpPr>
                  <p:cNvPr id="71" name="Freeform 71"/>
                  <p:cNvSpPr/>
                  <p:nvPr/>
                </p:nvSpPr>
                <p:spPr>
                  <a:xfrm>
                    <a:off x="8689340" y="2219789"/>
                    <a:ext cx="144780" cy="344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4780" h="34461">
                        <a:moveTo>
                          <a:pt x="0" y="34461"/>
                        </a:moveTo>
                        <a:cubicBezTo>
                          <a:pt x="42108" y="0"/>
                          <a:pt x="102672" y="0"/>
                          <a:pt x="144780" y="34461"/>
                        </a:cubicBezTo>
                      </a:path>
                    </a:pathLst>
                  </a:custGeom>
                  <a:noFill/>
                  <a:ln w="25400">
                    <a:solidFill>
                      <a:schemeClr val="accent2"/>
                    </a:solidFill>
                  </a:ln>
                </p:spPr>
              </p:sp>
            </p:grpSp>
            <p:sp>
              <p:nvSpPr>
                <p:cNvPr id="73" name="TextBox 73"/>
                <p:cNvSpPr txBox="1"/>
                <p:nvPr/>
              </p:nvSpPr>
              <p:spPr>
                <a:xfrm>
                  <a:off x="8627815" y="2548890"/>
                  <a:ext cx="1203819" cy="3520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80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rPr>
                    <a:t>5 分子对接</a:t>
                  </a:r>
                </a:p>
              </p:txBody>
            </p:sp>
            <p:sp>
              <p:nvSpPr>
                <p:cNvPr id="74" name="TextBox 74"/>
                <p:cNvSpPr txBox="1"/>
                <p:nvPr/>
              </p:nvSpPr>
              <p:spPr>
                <a:xfrm>
                  <a:off x="8586902" y="2834640"/>
                  <a:ext cx="1285646" cy="3520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8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T1R1/T1R3</a:t>
                  </a:r>
                </a:p>
              </p:txBody>
            </p:sp>
          </p:grpSp>
        </p:grpSp>
      </p:grpSp>
      <p:grpSp>
        <p:nvGrpSpPr>
          <p:cNvPr id="84" name="Group 84"/>
          <p:cNvGrpSpPr/>
          <p:nvPr/>
        </p:nvGrpSpPr>
        <p:grpSpPr>
          <a:xfrm>
            <a:off x="1381125" y="3181350"/>
            <a:ext cx="7858125" cy="700659"/>
            <a:chOff x="1381125" y="3181350"/>
            <a:chExt cx="7858125" cy="700659"/>
          </a:xfrm>
        </p:grpSpPr>
        <p:sp>
          <p:nvSpPr>
            <p:cNvPr id="78" name="Line 78"/>
            <p:cNvSpPr/>
            <p:nvPr/>
          </p:nvSpPr>
          <p:spPr>
            <a:xfrm>
              <a:off x="9229725" y="3429000"/>
              <a:ext cx="9525" cy="228600"/>
            </a:xfrm>
            <a:custGeom>
              <a:avLst/>
              <a:gdLst/>
              <a:ahLst/>
              <a:cxnLst/>
              <a:rect l="l" t="t" r="r" b="b"/>
              <a:pathLst>
                <a:path w="9525" h="228600">
                  <a:moveTo>
                    <a:pt x="0" y="0"/>
                  </a:moveTo>
                  <a:lnTo>
                    <a:pt x="0" y="228600"/>
                  </a:lnTo>
                </a:path>
              </a:pathLst>
            </a:custGeom>
            <a:noFill/>
            <a:ln w="23812">
              <a:solidFill>
                <a:schemeClr val="accent3"/>
              </a:solidFill>
            </a:ln>
          </p:spPr>
        </p:sp>
        <p:sp>
          <p:nvSpPr>
            <p:cNvPr id="79" name="Line 79"/>
            <p:cNvSpPr/>
            <p:nvPr/>
          </p:nvSpPr>
          <p:spPr>
            <a:xfrm>
              <a:off x="1457325" y="3657600"/>
              <a:ext cx="7772400" cy="9525"/>
            </a:xfrm>
            <a:custGeom>
              <a:avLst/>
              <a:gdLst/>
              <a:ahLst/>
              <a:cxnLst/>
              <a:rect l="l" t="t" r="r" b="b"/>
              <a:pathLst>
                <a:path w="7772400" h="9525">
                  <a:moveTo>
                    <a:pt x="7772400" y="0"/>
                  </a:moveTo>
                  <a:lnTo>
                    <a:pt x="0" y="0"/>
                  </a:lnTo>
                </a:path>
              </a:pathLst>
            </a:custGeom>
            <a:noFill/>
            <a:ln w="23812">
              <a:solidFill>
                <a:schemeClr val="accent3"/>
              </a:solidFill>
            </a:ln>
          </p:spPr>
        </p:sp>
        <p:sp>
          <p:nvSpPr>
            <p:cNvPr id="80" name="Line 80"/>
            <p:cNvSpPr/>
            <p:nvPr/>
          </p:nvSpPr>
          <p:spPr>
            <a:xfrm>
              <a:off x="1457325" y="3181350"/>
              <a:ext cx="9525" cy="476250"/>
            </a:xfrm>
            <a:custGeom>
              <a:avLst/>
              <a:gdLst/>
              <a:ahLst/>
              <a:cxnLst/>
              <a:rect l="l" t="t" r="r" b="b"/>
              <a:pathLst>
                <a:path w="9525" h="476250">
                  <a:moveTo>
                    <a:pt x="0" y="476250"/>
                  </a:moveTo>
                  <a:lnTo>
                    <a:pt x="0" y="0"/>
                  </a:lnTo>
                </a:path>
              </a:pathLst>
            </a:custGeom>
            <a:noFill/>
            <a:ln w="23812">
              <a:solidFill>
                <a:schemeClr val="accent3"/>
              </a:solidFill>
            </a:ln>
          </p:spPr>
        </p:sp>
        <p:sp>
          <p:nvSpPr>
            <p:cNvPr id="81" name="Polygon 81"/>
            <p:cNvSpPr/>
            <p:nvPr/>
          </p:nvSpPr>
          <p:spPr>
            <a:xfrm>
              <a:off x="1381125" y="3181350"/>
              <a:ext cx="152400" cy="133350"/>
            </a:xfrm>
            <a:custGeom>
              <a:avLst/>
              <a:gdLst/>
              <a:ahLst/>
              <a:cxnLst/>
              <a:rect l="l" t="t" r="r" b="b"/>
              <a:pathLst>
                <a:path w="152400" h="133350">
                  <a:moveTo>
                    <a:pt x="76200" y="0"/>
                  </a:moveTo>
                  <a:lnTo>
                    <a:pt x="0" y="133350"/>
                  </a:lnTo>
                  <a:lnTo>
                    <a:pt x="152400" y="13335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82" name="Rectangle 82"/>
            <p:cNvSpPr/>
            <p:nvPr/>
          </p:nvSpPr>
          <p:spPr>
            <a:xfrm>
              <a:off x="4476750" y="3486150"/>
              <a:ext cx="2857500" cy="342900"/>
            </a:xfrm>
            <a:prstGeom prst="roundRect">
              <a:avLst>
                <a:gd name="adj" fmla="val 50000"/>
              </a:avLst>
            </a:prstGeom>
            <a:solidFill>
              <a:srgbClr val="FBE9DD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4092010" y="3529965"/>
              <a:ext cx="36269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B5663A"/>
                  </a:solidFill>
                  <a:latin typeface="+mn-lt"/>
                  <a:ea typeface="+mn-ea"/>
                  <a:cs typeface="+mn-cs"/>
                </a:rPr>
                <a:t>↺ 验证结果回流，持续扩充训练集</a:t>
              </a:r>
            </a:p>
          </p:txBody>
        </p:sp>
      </p:grpSp>
      <p:grpSp>
        <p:nvGrpSpPr>
          <p:cNvPr id="107" name="Group 107"/>
          <p:cNvGrpSpPr/>
          <p:nvPr/>
        </p:nvGrpSpPr>
        <p:grpSpPr>
          <a:xfrm>
            <a:off x="600456" y="4034790"/>
            <a:ext cx="8086344" cy="1280160"/>
            <a:chOff x="600456" y="4034790"/>
            <a:chExt cx="8086344" cy="1280160"/>
          </a:xfrm>
        </p:grpSpPr>
        <p:sp>
          <p:nvSpPr>
            <p:cNvPr id="85" name="TextBox 85"/>
            <p:cNvSpPr txBox="1"/>
            <p:nvPr/>
          </p:nvSpPr>
          <p:spPr>
            <a:xfrm>
              <a:off x="600456" y="4034790"/>
              <a:ext cx="200709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湿实验 · 实验验证</a:t>
              </a:r>
            </a:p>
          </p:txBody>
        </p:sp>
        <p:grpSp>
          <p:nvGrpSpPr>
            <p:cNvPr id="94" name="Group 94"/>
            <p:cNvGrpSpPr/>
            <p:nvPr/>
          </p:nvGrpSpPr>
          <p:grpSpPr>
            <a:xfrm>
              <a:off x="2805036" y="4362450"/>
              <a:ext cx="2962427" cy="952500"/>
              <a:chOff x="2805036" y="4362450"/>
              <a:chExt cx="2962427" cy="952500"/>
            </a:xfrm>
          </p:grpSpPr>
          <p:sp>
            <p:nvSpPr>
              <p:cNvPr id="86" name="Rectangle 86"/>
              <p:cNvSpPr/>
              <p:nvPr/>
            </p:nvSpPr>
            <p:spPr>
              <a:xfrm>
                <a:off x="2857500" y="4362450"/>
                <a:ext cx="2857500" cy="952500"/>
              </a:xfrm>
              <a:prstGeom prst="roundRect">
                <a:avLst>
                  <a:gd name="adj" fmla="val 14000"/>
                </a:avLst>
              </a:prstGeom>
              <a:solidFill>
                <a:srgbClr val="FBE9DD"/>
              </a:solidFill>
              <a:ln w="14288">
                <a:solidFill>
                  <a:schemeClr val="accent3"/>
                </a:solidFill>
              </a:ln>
            </p:spPr>
          </p:sp>
          <p:grpSp>
            <p:nvGrpSpPr>
              <p:cNvPr id="91" name="Group 91"/>
              <p:cNvGrpSpPr/>
              <p:nvPr/>
            </p:nvGrpSpPr>
            <p:grpSpPr>
              <a:xfrm>
                <a:off x="3122822" y="4631531"/>
                <a:ext cx="249470" cy="246668"/>
                <a:chOff x="3122822" y="4631531"/>
                <a:chExt cx="249470" cy="246668"/>
              </a:xfrm>
            </p:grpSpPr>
            <p:sp>
              <p:nvSpPr>
                <p:cNvPr id="87" name="Freeform 87"/>
                <p:cNvSpPr/>
                <p:nvPr/>
              </p:nvSpPr>
              <p:spPr>
                <a:xfrm>
                  <a:off x="3122822" y="4645025"/>
                  <a:ext cx="233154" cy="2331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3154" h="233174">
                      <a:moveTo>
                        <a:pt x="233154" y="54515"/>
                      </a:moveTo>
                      <a:lnTo>
                        <a:pt x="69582" y="218113"/>
                      </a:lnTo>
                      <a:cubicBezTo>
                        <a:pt x="54528" y="233171"/>
                        <a:pt x="30118" y="233174"/>
                        <a:pt x="15061" y="218120"/>
                      </a:cubicBezTo>
                      <a:cubicBezTo>
                        <a:pt x="3" y="203066"/>
                        <a:pt x="0" y="178656"/>
                        <a:pt x="15054" y="163599"/>
                      </a:cubicBezTo>
                      <a:lnTo>
                        <a:pt x="178625" y="0"/>
                      </a:lnTo>
                    </a:path>
                  </a:pathLst>
                </a:custGeom>
                <a:noFill/>
                <a:ln w="26988">
                  <a:solidFill>
                    <a:schemeClr val="accent3"/>
                  </a:solidFill>
                </a:ln>
              </p:spPr>
            </p:sp>
            <p:sp>
              <p:nvSpPr>
                <p:cNvPr id="88" name="Freeform 88"/>
                <p:cNvSpPr/>
                <p:nvPr/>
              </p:nvSpPr>
              <p:spPr>
                <a:xfrm>
                  <a:off x="3180556" y="4766469"/>
                  <a:ext cx="1079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950" h="9525">
                      <a:moveTo>
                        <a:pt x="0" y="0"/>
                      </a:moveTo>
                      <a:lnTo>
                        <a:pt x="107950" y="0"/>
                      </a:lnTo>
                    </a:path>
                  </a:pathLst>
                </a:custGeom>
                <a:noFill/>
                <a:ln w="26988">
                  <a:solidFill>
                    <a:schemeClr val="accent3"/>
                  </a:solidFill>
                </a:ln>
              </p:spPr>
            </p:sp>
            <p:sp>
              <p:nvSpPr>
                <p:cNvPr id="89" name="Freeform 89"/>
                <p:cNvSpPr/>
                <p:nvPr/>
              </p:nvSpPr>
              <p:spPr>
                <a:xfrm>
                  <a:off x="3312673" y="4793457"/>
                  <a:ext cx="59619" cy="689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619" h="68932">
                      <a:moveTo>
                        <a:pt x="29809" y="0"/>
                      </a:moveTo>
                      <a:lnTo>
                        <a:pt x="50050" y="21590"/>
                      </a:lnTo>
                      <a:cubicBezTo>
                        <a:pt x="59619" y="32440"/>
                        <a:pt x="58930" y="48905"/>
                        <a:pt x="48490" y="58918"/>
                      </a:cubicBezTo>
                      <a:cubicBezTo>
                        <a:pt x="38049" y="68932"/>
                        <a:pt x="21570" y="68932"/>
                        <a:pt x="11129" y="58918"/>
                      </a:cubicBezTo>
                      <a:cubicBezTo>
                        <a:pt x="688" y="48905"/>
                        <a:pt x="0" y="32440"/>
                        <a:pt x="9569" y="21590"/>
                      </a:cubicBezTo>
                      <a:lnTo>
                        <a:pt x="29809" y="0"/>
                      </a:lnTo>
                    </a:path>
                  </a:pathLst>
                </a:custGeom>
                <a:noFill/>
                <a:ln w="26988">
                  <a:solidFill>
                    <a:schemeClr val="accent3"/>
                  </a:solidFill>
                </a:ln>
              </p:spPr>
            </p:sp>
            <p:sp>
              <p:nvSpPr>
                <p:cNvPr id="90" name="Freeform 90"/>
                <p:cNvSpPr/>
                <p:nvPr/>
              </p:nvSpPr>
              <p:spPr>
                <a:xfrm>
                  <a:off x="3288507" y="4631531"/>
                  <a:ext cx="80963" cy="809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963" h="80963">
                      <a:moveTo>
                        <a:pt x="0" y="0"/>
                      </a:moveTo>
                      <a:lnTo>
                        <a:pt x="80963" y="80963"/>
                      </a:lnTo>
                    </a:path>
                  </a:pathLst>
                </a:custGeom>
                <a:noFill/>
                <a:ln w="26988">
                  <a:solidFill>
                    <a:schemeClr val="accent3"/>
                  </a:solidFill>
                </a:ln>
              </p:spPr>
            </p:sp>
          </p:grpSp>
          <p:sp>
            <p:nvSpPr>
              <p:cNvPr id="92" name="TextBox 92"/>
              <p:cNvSpPr txBox="1"/>
              <p:nvPr/>
            </p:nvSpPr>
            <p:spPr>
              <a:xfrm>
                <a:off x="3240418" y="4551998"/>
                <a:ext cx="2091664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9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6 合成与感官验证</a:t>
                </a:r>
              </a:p>
            </p:txBody>
          </p:sp>
          <p:sp>
            <p:nvSpPr>
              <p:cNvPr id="93" name="TextBox 93"/>
              <p:cNvSpPr txBox="1"/>
              <p:nvPr/>
            </p:nvSpPr>
            <p:spPr>
              <a:xfrm>
                <a:off x="2805036" y="4892040"/>
                <a:ext cx="296242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肽合成 → 人工感官评定确证</a:t>
                </a:r>
              </a:p>
            </p:txBody>
          </p:sp>
        </p:grpSp>
        <p:grpSp>
          <p:nvGrpSpPr>
            <p:cNvPr id="98" name="Group 98"/>
            <p:cNvGrpSpPr/>
            <p:nvPr/>
          </p:nvGrpSpPr>
          <p:grpSpPr>
            <a:xfrm>
              <a:off x="5888831" y="4776788"/>
              <a:ext cx="166688" cy="142875"/>
              <a:chOff x="5888831" y="4776788"/>
              <a:chExt cx="166688" cy="142875"/>
            </a:xfrm>
          </p:grpSpPr>
          <p:sp>
            <p:nvSpPr>
              <p:cNvPr id="95" name="Freeform 95"/>
              <p:cNvSpPr/>
              <p:nvPr/>
            </p:nvSpPr>
            <p:spPr>
              <a:xfrm>
                <a:off x="5888831" y="4848225"/>
                <a:ext cx="1666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9525">
                    <a:moveTo>
                      <a:pt x="0" y="0"/>
                    </a:moveTo>
                    <a:lnTo>
                      <a:pt x="166688" y="0"/>
                    </a:lnTo>
                  </a:path>
                </a:pathLst>
              </a:custGeom>
              <a:noFill/>
              <a:ln w="23812">
                <a:solidFill>
                  <a:schemeClr val="accent3"/>
                </a:solidFill>
              </a:ln>
            </p:spPr>
          </p:sp>
          <p:sp>
            <p:nvSpPr>
              <p:cNvPr id="96" name="Freeform 96"/>
              <p:cNvSpPr/>
              <p:nvPr/>
            </p:nvSpPr>
            <p:spPr>
              <a:xfrm>
                <a:off x="5984081" y="4848225"/>
                <a:ext cx="71438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71438">
                    <a:moveTo>
                      <a:pt x="0" y="71438"/>
                    </a:moveTo>
                    <a:lnTo>
                      <a:pt x="71438" y="0"/>
                    </a:lnTo>
                  </a:path>
                </a:pathLst>
              </a:custGeom>
              <a:noFill/>
              <a:ln w="23812">
                <a:solidFill>
                  <a:schemeClr val="accent3"/>
                </a:solidFill>
              </a:ln>
            </p:spPr>
          </p:sp>
          <p:sp>
            <p:nvSpPr>
              <p:cNvPr id="97" name="Freeform 97"/>
              <p:cNvSpPr/>
              <p:nvPr/>
            </p:nvSpPr>
            <p:spPr>
              <a:xfrm>
                <a:off x="5984081" y="4776788"/>
                <a:ext cx="71438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71438">
                    <a:moveTo>
                      <a:pt x="0" y="0"/>
                    </a:moveTo>
                    <a:lnTo>
                      <a:pt x="71438" y="71438"/>
                    </a:lnTo>
                  </a:path>
                </a:pathLst>
              </a:custGeom>
              <a:noFill/>
              <a:ln w="23812">
                <a:solidFill>
                  <a:schemeClr val="accent3"/>
                </a:solidFill>
              </a:ln>
            </p:spPr>
          </p:sp>
        </p:grpSp>
        <p:grpSp>
          <p:nvGrpSpPr>
            <p:cNvPr id="106" name="Group 106"/>
            <p:cNvGrpSpPr/>
            <p:nvPr/>
          </p:nvGrpSpPr>
          <p:grpSpPr>
            <a:xfrm>
              <a:off x="6210300" y="4362450"/>
              <a:ext cx="2476500" cy="952500"/>
              <a:chOff x="6210300" y="4362450"/>
              <a:chExt cx="2476500" cy="952500"/>
            </a:xfrm>
          </p:grpSpPr>
          <p:sp>
            <p:nvSpPr>
              <p:cNvPr id="99" name="Rectangle 99"/>
              <p:cNvSpPr/>
              <p:nvPr/>
            </p:nvSpPr>
            <p:spPr>
              <a:xfrm>
                <a:off x="6210300" y="4362450"/>
                <a:ext cx="2476500" cy="952500"/>
              </a:xfrm>
              <a:prstGeom prst="roundRect">
                <a:avLst>
                  <a:gd name="adj" fmla="val 14000"/>
                </a:avLst>
              </a:prstGeom>
              <a:solidFill>
                <a:srgbClr val="FFFFFF"/>
              </a:solidFill>
              <a:ln w="14288">
                <a:solidFill>
                  <a:srgbClr val="DDE6EC"/>
                </a:solidFill>
              </a:ln>
            </p:spPr>
          </p:sp>
          <p:grpSp>
            <p:nvGrpSpPr>
              <p:cNvPr id="103" name="Group 103"/>
              <p:cNvGrpSpPr/>
              <p:nvPr/>
            </p:nvGrpSpPr>
            <p:grpSpPr>
              <a:xfrm>
                <a:off x="6484806" y="4631531"/>
                <a:ext cx="232012" cy="241404"/>
                <a:chOff x="6484806" y="4631531"/>
                <a:chExt cx="232012" cy="241404"/>
              </a:xfrm>
            </p:grpSpPr>
            <p:sp>
              <p:nvSpPr>
                <p:cNvPr id="100" name="Freeform 100"/>
                <p:cNvSpPr/>
                <p:nvPr/>
              </p:nvSpPr>
              <p:spPr>
                <a:xfrm>
                  <a:off x="6519863" y="4631531"/>
                  <a:ext cx="161925" cy="161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925" h="161925">
                      <a:moveTo>
                        <a:pt x="0" y="80963"/>
                      </a:moveTo>
                      <a:cubicBezTo>
                        <a:pt x="0" y="125677"/>
                        <a:pt x="36248" y="161925"/>
                        <a:pt x="80963" y="161925"/>
                      </a:cubicBezTo>
                      <a:cubicBezTo>
                        <a:pt x="125677" y="161925"/>
                        <a:pt x="161925" y="125677"/>
                        <a:pt x="161925" y="80963"/>
                      </a:cubicBezTo>
                      <a:cubicBezTo>
                        <a:pt x="161925" y="36248"/>
                        <a:pt x="125677" y="0"/>
                        <a:pt x="80963" y="0"/>
                      </a:cubicBezTo>
                      <a:cubicBezTo>
                        <a:pt x="36248" y="0"/>
                        <a:pt x="0" y="36248"/>
                        <a:pt x="0" y="80963"/>
                      </a:cubicBezTo>
                    </a:path>
                  </a:pathLst>
                </a:custGeom>
                <a:noFill/>
                <a:ln w="26988">
                  <a:solidFill>
                    <a:schemeClr val="accent1"/>
                  </a:solidFill>
                </a:ln>
              </p:spPr>
            </p:sp>
            <p:sp>
              <p:nvSpPr>
                <p:cNvPr id="101" name="Freeform 101"/>
                <p:cNvSpPr/>
                <p:nvPr/>
              </p:nvSpPr>
              <p:spPr>
                <a:xfrm>
                  <a:off x="6600825" y="4752975"/>
                  <a:ext cx="115993" cy="1199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993" h="119960">
                      <a:moveTo>
                        <a:pt x="0" y="40481"/>
                      </a:moveTo>
                      <a:lnTo>
                        <a:pt x="45879" y="119960"/>
                      </a:lnTo>
                      <a:lnTo>
                        <a:pt x="67442" y="76334"/>
                      </a:lnTo>
                      <a:lnTo>
                        <a:pt x="115993" y="79465"/>
                      </a:lnTo>
                      <a:lnTo>
                        <a:pt x="70114" y="0"/>
                      </a:lnTo>
                    </a:path>
                  </a:pathLst>
                </a:custGeom>
                <a:noFill/>
                <a:ln w="26988">
                  <a:solidFill>
                    <a:schemeClr val="accent1"/>
                  </a:solidFill>
                </a:ln>
              </p:spPr>
            </p:sp>
            <p:sp>
              <p:nvSpPr>
                <p:cNvPr id="102" name="Freeform 102"/>
                <p:cNvSpPr/>
                <p:nvPr/>
              </p:nvSpPr>
              <p:spPr>
                <a:xfrm>
                  <a:off x="6484806" y="4752975"/>
                  <a:ext cx="115993" cy="1199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993" h="119946">
                      <a:moveTo>
                        <a:pt x="45879" y="0"/>
                      </a:moveTo>
                      <a:lnTo>
                        <a:pt x="0" y="79478"/>
                      </a:lnTo>
                      <a:lnTo>
                        <a:pt x="48551" y="76334"/>
                      </a:lnTo>
                      <a:lnTo>
                        <a:pt x="70114" y="119946"/>
                      </a:lnTo>
                      <a:lnTo>
                        <a:pt x="115993" y="40481"/>
                      </a:lnTo>
                    </a:path>
                  </a:pathLst>
                </a:custGeom>
                <a:noFill/>
                <a:ln w="26988">
                  <a:solidFill>
                    <a:schemeClr val="accent1"/>
                  </a:solidFill>
                </a:ln>
              </p:spPr>
            </p:sp>
          </p:grpSp>
          <p:sp>
            <p:nvSpPr>
              <p:cNvPr id="104" name="TextBox 104"/>
              <p:cNvSpPr txBox="1"/>
              <p:nvPr/>
            </p:nvSpPr>
            <p:spPr>
              <a:xfrm>
                <a:off x="6858572" y="4551998"/>
                <a:ext cx="1332357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9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新型呈味肽</a:t>
                </a:r>
              </a:p>
            </p:txBody>
          </p:sp>
          <p:sp>
            <p:nvSpPr>
              <p:cNvPr id="105" name="TextBox 105"/>
              <p:cNvSpPr txBox="1"/>
              <p:nvPr/>
            </p:nvSpPr>
            <p:spPr>
              <a:xfrm>
                <a:off x="6667500" y="4892040"/>
                <a:ext cx="171450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低钠调味品原料</a:t>
                </a:r>
              </a:p>
            </p:txBody>
          </p:sp>
        </p:grpSp>
      </p:grpSp>
      <p:grpSp>
        <p:nvGrpSpPr>
          <p:cNvPr id="112" name="Group 112"/>
          <p:cNvGrpSpPr/>
          <p:nvPr/>
        </p:nvGrpSpPr>
        <p:grpSpPr>
          <a:xfrm>
            <a:off x="609600" y="5581650"/>
            <a:ext cx="10972800" cy="869823"/>
            <a:chOff x="609600" y="5581650"/>
            <a:chExt cx="10972800" cy="869823"/>
          </a:xfrm>
        </p:grpSpPr>
        <p:sp>
          <p:nvSpPr>
            <p:cNvPr id="108" name="Rectangle 108"/>
            <p:cNvSpPr/>
            <p:nvPr/>
          </p:nvSpPr>
          <p:spPr>
            <a:xfrm>
              <a:off x="609600" y="5581650"/>
              <a:ext cx="10972800" cy="800100"/>
            </a:xfrm>
            <a:prstGeom prst="roundRect">
              <a:avLst>
                <a:gd name="adj" fmla="val 19048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9" name="Rectangle 109"/>
            <p:cNvSpPr/>
            <p:nvPr/>
          </p:nvSpPr>
          <p:spPr>
            <a:xfrm>
              <a:off x="609600" y="5581650"/>
              <a:ext cx="76200" cy="800100"/>
            </a:xfrm>
            <a:prstGeom prst="roundRect">
              <a:avLst>
                <a:gd name="adj" fmla="val 50000"/>
              </a:avLst>
            </a:prstGeom>
            <a:solidFill>
              <a:srgbClr val="2FB3A8"/>
            </a:solidFill>
            <a:ln>
              <a:noFill/>
            </a:ln>
          </p:spPr>
        </p:sp>
        <p:sp>
          <p:nvSpPr>
            <p:cNvPr id="110" name="TextBox 110"/>
            <p:cNvSpPr txBox="1"/>
            <p:nvPr/>
          </p:nvSpPr>
          <p:spPr>
            <a:xfrm>
              <a:off x="943356" y="5768340"/>
              <a:ext cx="58338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AEBFD0"/>
                  </a:solidFill>
                  <a:latin typeface="+mn-lt"/>
                  <a:ea typeface="+mn-ea"/>
                  <a:cs typeface="+mn-cs"/>
                </a:rPr>
                <a:t>数学本质：把「这条肽鲜不鲜」建模为监督学习二分类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941832" y="6040755"/>
              <a:ext cx="455587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f(肽序列 / 特征向量) → 呈鲜概率 p</a:t>
              </a:r>
            </a:p>
          </p:txBody>
        </p:sp>
      </p:grpSp>
      <p:sp>
        <p:nvSpPr>
          <p:cNvPr id="113" name="TextBox 113"/>
          <p:cNvSpPr txBox="1"/>
          <p:nvPr/>
        </p:nvSpPr>
        <p:spPr>
          <a:xfrm>
            <a:off x="10761497" y="6473190"/>
            <a:ext cx="8300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800" dirty="0">
                <a:solidFill>
                  <a:srgbClr val="A3B2BF"/>
                </a:solidFill>
                <a:latin typeface="+mn-lt"/>
                <a:ea typeface="+mn-ea"/>
                <a:cs typeface="+mn-cs"/>
              </a:rPr>
              <a:t>04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4360" y="472440"/>
            <a:ext cx="4472940" cy="1047750"/>
            <a:chOff x="594360" y="472440"/>
            <a:chExt cx="4472940" cy="1047750"/>
          </a:xfrm>
        </p:grpSpPr>
        <p:sp>
          <p:nvSpPr>
            <p:cNvPr id="2" name="TextBox 2"/>
            <p:cNvSpPr txBox="1"/>
            <p:nvPr/>
          </p:nvSpPr>
          <p:spPr>
            <a:xfrm>
              <a:off x="600456" y="472440"/>
              <a:ext cx="277160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 · 机器学习技术路线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609600" y="819150"/>
              <a:ext cx="457200" cy="5715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94360" y="933450"/>
              <a:ext cx="447294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数据层：候选肽从哪里来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599694" y="1694498"/>
            <a:ext cx="6791706" cy="2839402"/>
            <a:chOff x="599694" y="1694498"/>
            <a:chExt cx="6791706" cy="2839402"/>
          </a:xfrm>
        </p:grpSpPr>
        <p:sp>
          <p:nvSpPr>
            <p:cNvPr id="6" name="TextBox 6"/>
            <p:cNvSpPr txBox="1"/>
            <p:nvPr/>
          </p:nvSpPr>
          <p:spPr>
            <a:xfrm>
              <a:off x="599694" y="1694498"/>
              <a:ext cx="211988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标签数据三大来源</a:t>
              </a:r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609600" y="2019300"/>
              <a:ext cx="6781800" cy="800100"/>
              <a:chOff x="609600" y="2019300"/>
              <a:chExt cx="6781800" cy="800100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647700" y="2057400"/>
                <a:ext cx="6743700" cy="762000"/>
              </a:xfrm>
              <a:prstGeom prst="roundRect">
                <a:avLst>
                  <a:gd name="adj" fmla="val 17500"/>
                </a:avLst>
              </a:prstGeom>
              <a:solidFill>
                <a:srgbClr val="E3E9ED"/>
              </a:solidFill>
              <a:ln>
                <a:noFill/>
              </a:ln>
            </p:spPr>
          </p:sp>
          <p:sp>
            <p:nvSpPr>
              <p:cNvPr id="8" name="Rectangle 8"/>
              <p:cNvSpPr/>
              <p:nvPr/>
            </p:nvSpPr>
            <p:spPr>
              <a:xfrm>
                <a:off x="609600" y="2019300"/>
                <a:ext cx="6743700" cy="762000"/>
              </a:xfrm>
              <a:prstGeom prst="roundRect">
                <a:avLst>
                  <a:gd name="adj" fmla="val 17500"/>
                </a:avLst>
              </a:prstGeom>
              <a:solidFill>
                <a:srgbClr val="FFFFFF"/>
              </a:solidFill>
              <a:ln w="14288">
                <a:solidFill>
                  <a:srgbClr val="CFE4E1"/>
                </a:solidFill>
              </a:ln>
            </p:spPr>
          </p:sp>
          <p:sp>
            <p:nvSpPr>
              <p:cNvPr id="9" name="Ellipse 9"/>
              <p:cNvSpPr/>
              <p:nvPr/>
            </p:nvSpPr>
            <p:spPr>
              <a:xfrm>
                <a:off x="838200" y="2171700"/>
                <a:ext cx="457200" cy="457200"/>
              </a:xfrm>
              <a:prstGeom prst="ellipse">
                <a:avLst/>
              </a:prstGeom>
              <a:solidFill>
                <a:srgbClr val="DFF0EE"/>
              </a:solidFill>
              <a:ln>
                <a:noFill/>
              </a:ln>
            </p:spPr>
          </p:sp>
          <p:grpSp>
            <p:nvGrpSpPr>
              <p:cNvPr id="13" name="Group 13"/>
              <p:cNvGrpSpPr/>
              <p:nvPr/>
            </p:nvGrpSpPr>
            <p:grpSpPr>
              <a:xfrm>
                <a:off x="952500" y="2271712"/>
                <a:ext cx="228600" cy="257176"/>
                <a:chOff x="952500" y="2271712"/>
                <a:chExt cx="228600" cy="257176"/>
              </a:xfrm>
            </p:grpSpPr>
            <p:sp>
              <p:nvSpPr>
                <p:cNvPr id="10" name="Freeform 10"/>
                <p:cNvSpPr/>
                <p:nvPr/>
              </p:nvSpPr>
              <p:spPr>
                <a:xfrm>
                  <a:off x="952500" y="2271712"/>
                  <a:ext cx="228600" cy="8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0" h="85725">
                      <a:moveTo>
                        <a:pt x="0" y="42862"/>
                      </a:moveTo>
                      <a:cubicBezTo>
                        <a:pt x="0" y="66535"/>
                        <a:pt x="51174" y="85725"/>
                        <a:pt x="114300" y="85725"/>
                      </a:cubicBezTo>
                      <a:cubicBezTo>
                        <a:pt x="177426" y="85725"/>
                        <a:pt x="228600" y="66535"/>
                        <a:pt x="228600" y="42862"/>
                      </a:cubicBezTo>
                      <a:cubicBezTo>
                        <a:pt x="228600" y="19190"/>
                        <a:pt x="177426" y="0"/>
                        <a:pt x="114300" y="0"/>
                      </a:cubicBezTo>
                      <a:cubicBezTo>
                        <a:pt x="51174" y="0"/>
                        <a:pt x="0" y="19190"/>
                        <a:pt x="0" y="42862"/>
                      </a:cubicBezTo>
                    </a:path>
                  </a:pathLst>
                </a:custGeom>
                <a:noFill/>
                <a:ln w="28575">
                  <a:solidFill>
                    <a:schemeClr val="accent2"/>
                  </a:solidFill>
                </a:ln>
              </p:spPr>
            </p:sp>
            <p:sp>
              <p:nvSpPr>
                <p:cNvPr id="11" name="Freeform 11"/>
                <p:cNvSpPr/>
                <p:nvPr/>
              </p:nvSpPr>
              <p:spPr>
                <a:xfrm>
                  <a:off x="952500" y="2314575"/>
                  <a:ext cx="228600" cy="1285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0" h="128588">
                      <a:moveTo>
                        <a:pt x="0" y="0"/>
                      </a:moveTo>
                      <a:lnTo>
                        <a:pt x="0" y="85725"/>
                      </a:lnTo>
                      <a:cubicBezTo>
                        <a:pt x="0" y="109397"/>
                        <a:pt x="51174" y="128588"/>
                        <a:pt x="114300" y="128588"/>
                      </a:cubicBezTo>
                      <a:cubicBezTo>
                        <a:pt x="177426" y="128588"/>
                        <a:pt x="228600" y="109397"/>
                        <a:pt x="228600" y="85725"/>
                      </a:cubicBezTo>
                      <a:lnTo>
                        <a:pt x="228600" y="0"/>
                      </a:lnTo>
                    </a:path>
                  </a:pathLst>
                </a:custGeom>
                <a:noFill/>
                <a:ln w="28575">
                  <a:solidFill>
                    <a:schemeClr val="accent2"/>
                  </a:solidFill>
                </a:ln>
              </p:spPr>
            </p:sp>
            <p:sp>
              <p:nvSpPr>
                <p:cNvPr id="12" name="Freeform 12"/>
                <p:cNvSpPr/>
                <p:nvPr/>
              </p:nvSpPr>
              <p:spPr>
                <a:xfrm>
                  <a:off x="952500" y="2400300"/>
                  <a:ext cx="228600" cy="1285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0" h="128588">
                      <a:moveTo>
                        <a:pt x="0" y="0"/>
                      </a:moveTo>
                      <a:lnTo>
                        <a:pt x="0" y="85725"/>
                      </a:lnTo>
                      <a:cubicBezTo>
                        <a:pt x="0" y="109397"/>
                        <a:pt x="51174" y="128588"/>
                        <a:pt x="114300" y="128588"/>
                      </a:cubicBezTo>
                      <a:cubicBezTo>
                        <a:pt x="177426" y="128588"/>
                        <a:pt x="228600" y="109397"/>
                        <a:pt x="228600" y="85725"/>
                      </a:cubicBezTo>
                      <a:lnTo>
                        <a:pt x="228600" y="0"/>
                      </a:lnTo>
                    </a:path>
                  </a:pathLst>
                </a:custGeom>
                <a:noFill/>
                <a:ln w="28575">
                  <a:solidFill>
                    <a:schemeClr val="accent2"/>
                  </a:solidFill>
                </a:ln>
              </p:spPr>
            </p:sp>
          </p:grpSp>
          <p:sp>
            <p:nvSpPr>
              <p:cNvPr id="14" name="TextBox 14"/>
              <p:cNvSpPr txBox="1"/>
              <p:nvPr/>
            </p:nvSpPr>
            <p:spPr>
              <a:xfrm>
                <a:off x="1437894" y="2132648"/>
                <a:ext cx="1332357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味肽数据库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438656" y="2453640"/>
                <a:ext cx="466526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BIOPEP-UWM 等，收录已验证呈味肽序列</a:t>
                </a: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609600" y="2895600"/>
              <a:ext cx="6781800" cy="800100"/>
              <a:chOff x="609600" y="2895600"/>
              <a:chExt cx="6781800" cy="800100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647700" y="2933700"/>
                <a:ext cx="6743700" cy="762000"/>
              </a:xfrm>
              <a:prstGeom prst="roundRect">
                <a:avLst>
                  <a:gd name="adj" fmla="val 17500"/>
                </a:avLst>
              </a:prstGeom>
              <a:solidFill>
                <a:srgbClr val="E3E9ED"/>
              </a:solidFill>
              <a:ln>
                <a:noFill/>
              </a:ln>
            </p:spPr>
          </p:sp>
          <p:sp>
            <p:nvSpPr>
              <p:cNvPr id="18" name="Rectangle 18"/>
              <p:cNvSpPr/>
              <p:nvPr/>
            </p:nvSpPr>
            <p:spPr>
              <a:xfrm>
                <a:off x="609600" y="2895600"/>
                <a:ext cx="6743700" cy="762000"/>
              </a:xfrm>
              <a:prstGeom prst="roundRect">
                <a:avLst>
                  <a:gd name="adj" fmla="val 17500"/>
                </a:avLst>
              </a:prstGeom>
              <a:solidFill>
                <a:srgbClr val="FFFFFF"/>
              </a:solidFill>
              <a:ln w="14288">
                <a:solidFill>
                  <a:srgbClr val="CFE4E1"/>
                </a:solidFill>
              </a:ln>
            </p:spPr>
          </p:sp>
          <p:sp>
            <p:nvSpPr>
              <p:cNvPr id="19" name="Ellipse 19"/>
              <p:cNvSpPr/>
              <p:nvPr/>
            </p:nvSpPr>
            <p:spPr>
              <a:xfrm>
                <a:off x="838200" y="3048000"/>
                <a:ext cx="457200" cy="457200"/>
              </a:xfrm>
              <a:prstGeom prst="ellipse">
                <a:avLst/>
              </a:prstGeom>
              <a:solidFill>
                <a:srgbClr val="DFF0EE"/>
              </a:solidFill>
              <a:ln>
                <a:noFill/>
              </a:ln>
            </p:spPr>
          </p:sp>
          <p:grpSp>
            <p:nvGrpSpPr>
              <p:cNvPr id="25" name="Group 25"/>
              <p:cNvGrpSpPr/>
              <p:nvPr/>
            </p:nvGrpSpPr>
            <p:grpSpPr>
              <a:xfrm>
                <a:off x="966788" y="3148012"/>
                <a:ext cx="200025" cy="257175"/>
                <a:chOff x="966788" y="3148012"/>
                <a:chExt cx="200025" cy="257175"/>
              </a:xfrm>
            </p:grpSpPr>
            <p:sp>
              <p:nvSpPr>
                <p:cNvPr id="20" name="Freeform 20"/>
                <p:cNvSpPr/>
                <p:nvPr/>
              </p:nvSpPr>
              <p:spPr>
                <a:xfrm>
                  <a:off x="1095375" y="3148012"/>
                  <a:ext cx="71438" cy="71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438" h="71438">
                      <a:moveTo>
                        <a:pt x="0" y="0"/>
                      </a:moveTo>
                      <a:lnTo>
                        <a:pt x="0" y="57150"/>
                      </a:lnTo>
                      <a:cubicBezTo>
                        <a:pt x="0" y="65041"/>
                        <a:pt x="6397" y="71438"/>
                        <a:pt x="14288" y="71438"/>
                      </a:cubicBezTo>
                      <a:lnTo>
                        <a:pt x="71438" y="71438"/>
                      </a:lnTo>
                    </a:path>
                  </a:pathLst>
                </a:custGeom>
                <a:noFill/>
                <a:ln w="28575">
                  <a:solidFill>
                    <a:schemeClr val="accent2"/>
                  </a:solidFill>
                </a:ln>
              </p:spPr>
            </p:sp>
            <p:sp>
              <p:nvSpPr>
                <p:cNvPr id="21" name="Freeform 21"/>
                <p:cNvSpPr/>
                <p:nvPr/>
              </p:nvSpPr>
              <p:spPr>
                <a:xfrm>
                  <a:off x="966788" y="3148012"/>
                  <a:ext cx="200025" cy="257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257175">
                      <a:moveTo>
                        <a:pt x="171450" y="257175"/>
                      </a:moveTo>
                      <a:lnTo>
                        <a:pt x="28575" y="257175"/>
                      </a:lnTo>
                      <a:cubicBezTo>
                        <a:pt x="12793" y="257175"/>
                        <a:pt x="0" y="244382"/>
                        <a:pt x="0" y="228600"/>
                      </a:cubicBezTo>
                      <a:lnTo>
                        <a:pt x="0" y="28575"/>
                      </a:lnTo>
                      <a:cubicBezTo>
                        <a:pt x="0" y="12793"/>
                        <a:pt x="12793" y="0"/>
                        <a:pt x="28575" y="0"/>
                      </a:cubicBezTo>
                      <a:lnTo>
                        <a:pt x="128588" y="0"/>
                      </a:lnTo>
                      <a:lnTo>
                        <a:pt x="200025" y="71438"/>
                      </a:lnTo>
                      <a:lnTo>
                        <a:pt x="200025" y="228600"/>
                      </a:lnTo>
                      <a:cubicBezTo>
                        <a:pt x="200025" y="244382"/>
                        <a:pt x="187232" y="257175"/>
                        <a:pt x="171450" y="257175"/>
                      </a:cubicBezTo>
                    </a:path>
                  </a:pathLst>
                </a:custGeom>
                <a:noFill/>
                <a:ln w="28575">
                  <a:solidFill>
                    <a:schemeClr val="accent2"/>
                  </a:solidFill>
                </a:ln>
              </p:spPr>
            </p:sp>
            <p:sp>
              <p:nvSpPr>
                <p:cNvPr id="22" name="Freeform 22"/>
                <p:cNvSpPr/>
                <p:nvPr/>
              </p:nvSpPr>
              <p:spPr>
                <a:xfrm>
                  <a:off x="1023938" y="3233738"/>
                  <a:ext cx="14288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8" h="9525">
                      <a:moveTo>
                        <a:pt x="0" y="0"/>
                      </a:moveTo>
                      <a:lnTo>
                        <a:pt x="14288" y="0"/>
                      </a:lnTo>
                    </a:path>
                  </a:pathLst>
                </a:custGeom>
                <a:noFill/>
                <a:ln w="28575">
                  <a:solidFill>
                    <a:schemeClr val="accent2"/>
                  </a:solidFill>
                </a:ln>
              </p:spPr>
            </p:sp>
            <p:sp>
              <p:nvSpPr>
                <p:cNvPr id="23" name="Freeform 23"/>
                <p:cNvSpPr/>
                <p:nvPr/>
              </p:nvSpPr>
              <p:spPr>
                <a:xfrm>
                  <a:off x="1023938" y="3290888"/>
                  <a:ext cx="857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5" h="9525">
                      <a:moveTo>
                        <a:pt x="0" y="0"/>
                      </a:moveTo>
                      <a:lnTo>
                        <a:pt x="85725" y="0"/>
                      </a:lnTo>
                    </a:path>
                  </a:pathLst>
                </a:custGeom>
                <a:noFill/>
                <a:ln w="28575">
                  <a:solidFill>
                    <a:schemeClr val="accent2"/>
                  </a:solidFill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1023938" y="3348038"/>
                  <a:ext cx="857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5" h="9525">
                      <a:moveTo>
                        <a:pt x="0" y="0"/>
                      </a:moveTo>
                      <a:lnTo>
                        <a:pt x="85725" y="0"/>
                      </a:lnTo>
                    </a:path>
                  </a:pathLst>
                </a:custGeom>
                <a:noFill/>
                <a:ln w="28575">
                  <a:solidFill>
                    <a:schemeClr val="accent2"/>
                  </a:solidFill>
                </a:ln>
              </p:spPr>
            </p:sp>
          </p:grpSp>
          <p:sp>
            <p:nvSpPr>
              <p:cNvPr id="26" name="TextBox 26"/>
              <p:cNvSpPr txBox="1"/>
              <p:nvPr/>
            </p:nvSpPr>
            <p:spPr>
              <a:xfrm>
                <a:off x="1437894" y="3008948"/>
                <a:ext cx="1069848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实验文献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1438656" y="3329940"/>
                <a:ext cx="365302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经感官评价确证的肽，标签最可靠</a:t>
                </a: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609600" y="3771900"/>
              <a:ext cx="6781800" cy="762000"/>
              <a:chOff x="609600" y="3771900"/>
              <a:chExt cx="6781800" cy="762000"/>
            </a:xfrm>
          </p:grpSpPr>
          <p:sp>
            <p:nvSpPr>
              <p:cNvPr id="29" name="Rectangle 29"/>
              <p:cNvSpPr/>
              <p:nvPr/>
            </p:nvSpPr>
            <p:spPr>
              <a:xfrm>
                <a:off x="647700" y="3810000"/>
                <a:ext cx="6743700" cy="723900"/>
              </a:xfrm>
              <a:prstGeom prst="roundRect">
                <a:avLst>
                  <a:gd name="adj" fmla="val 18421"/>
                </a:avLst>
              </a:prstGeom>
              <a:solidFill>
                <a:srgbClr val="F0DECF"/>
              </a:solidFill>
              <a:ln>
                <a:noFill/>
              </a:ln>
            </p:spPr>
          </p:sp>
          <p:sp>
            <p:nvSpPr>
              <p:cNvPr id="30" name="Rectangle 30"/>
              <p:cNvSpPr/>
              <p:nvPr/>
            </p:nvSpPr>
            <p:spPr>
              <a:xfrm>
                <a:off x="609600" y="3771900"/>
                <a:ext cx="6743700" cy="723900"/>
              </a:xfrm>
              <a:prstGeom prst="roundRect">
                <a:avLst>
                  <a:gd name="adj" fmla="val 18421"/>
                </a:avLst>
              </a:prstGeom>
              <a:solidFill>
                <a:srgbClr val="FBE9DD"/>
              </a:solidFill>
              <a:ln w="14288">
                <a:solidFill>
                  <a:srgbClr val="F0DECF"/>
                </a:solidFill>
              </a:ln>
            </p:spPr>
          </p:sp>
          <p:sp>
            <p:nvSpPr>
              <p:cNvPr id="31" name="Ellipse 31"/>
              <p:cNvSpPr/>
              <p:nvPr/>
            </p:nvSpPr>
            <p:spPr>
              <a:xfrm>
                <a:off x="838200" y="3905250"/>
                <a:ext cx="457200" cy="457200"/>
              </a:xfrm>
              <a:prstGeom prst="ellipse">
                <a:avLst/>
              </a:prstGeom>
              <a:solidFill>
                <a:srgbClr val="F5D9C6"/>
              </a:solidFill>
              <a:ln>
                <a:noFill/>
              </a:ln>
            </p:spPr>
          </p:sp>
          <p:grpSp>
            <p:nvGrpSpPr>
              <p:cNvPr id="35" name="Group 35"/>
              <p:cNvGrpSpPr/>
              <p:nvPr/>
            </p:nvGrpSpPr>
            <p:grpSpPr>
              <a:xfrm>
                <a:off x="922709" y="4000516"/>
                <a:ext cx="288171" cy="247577"/>
                <a:chOff x="922709" y="4000516"/>
                <a:chExt cx="288171" cy="247577"/>
              </a:xfrm>
            </p:grpSpPr>
            <p:sp>
              <p:nvSpPr>
                <p:cNvPr id="32" name="Freeform 32"/>
                <p:cNvSpPr/>
                <p:nvPr/>
              </p:nvSpPr>
              <p:spPr>
                <a:xfrm>
                  <a:off x="1066800" y="4090988"/>
                  <a:ext cx="9525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57150">
                      <a:moveTo>
                        <a:pt x="0" y="0"/>
                      </a:moveTo>
                      <a:lnTo>
                        <a:pt x="0" y="57150"/>
                      </a:lnTo>
                    </a:path>
                  </a:pathLst>
                </a:custGeom>
                <a:noFill/>
                <a:ln w="28575">
                  <a:solidFill>
                    <a:schemeClr val="accent3"/>
                  </a:solidFill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922709" y="4000516"/>
                  <a:ext cx="288171" cy="2475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171" h="247577">
                      <a:moveTo>
                        <a:pt x="120702" y="13191"/>
                      </a:moveTo>
                      <a:lnTo>
                        <a:pt x="4888" y="206558"/>
                      </a:lnTo>
                      <a:cubicBezTo>
                        <a:pt x="30" y="214971"/>
                        <a:pt x="0" y="225330"/>
                        <a:pt x="4810" y="233771"/>
                      </a:cubicBezTo>
                      <a:cubicBezTo>
                        <a:pt x="9620" y="242213"/>
                        <a:pt x="18548" y="247468"/>
                        <a:pt x="28262" y="247577"/>
                      </a:cubicBezTo>
                      <a:lnTo>
                        <a:pt x="259920" y="247577"/>
                      </a:lnTo>
                      <a:cubicBezTo>
                        <a:pt x="269630" y="247465"/>
                        <a:pt x="278553" y="242212"/>
                        <a:pt x="283362" y="233775"/>
                      </a:cubicBezTo>
                      <a:cubicBezTo>
                        <a:pt x="288171" y="225339"/>
                        <a:pt x="288145" y="214984"/>
                        <a:pt x="283294" y="206572"/>
                      </a:cubicBezTo>
                      <a:lnTo>
                        <a:pt x="167480" y="13176"/>
                      </a:lnTo>
                      <a:cubicBezTo>
                        <a:pt x="162524" y="4996"/>
                        <a:pt x="153655" y="0"/>
                        <a:pt x="144091" y="0"/>
                      </a:cubicBezTo>
                      <a:cubicBezTo>
                        <a:pt x="134527" y="0"/>
                        <a:pt x="125658" y="4996"/>
                        <a:pt x="120702" y="13176"/>
                      </a:cubicBezTo>
                    </a:path>
                  </a:pathLst>
                </a:custGeom>
                <a:noFill/>
                <a:ln w="28575">
                  <a:solidFill>
                    <a:schemeClr val="accent3"/>
                  </a:solidFill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1066800" y="41910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143" y="0"/>
                      </a:lnTo>
                    </a:path>
                  </a:pathLst>
                </a:custGeom>
                <a:noFill/>
                <a:ln w="28575">
                  <a:solidFill>
                    <a:schemeClr val="accent3"/>
                  </a:solidFill>
                </a:ln>
              </p:spPr>
            </p:sp>
          </p:grpSp>
          <p:sp>
            <p:nvSpPr>
              <p:cNvPr id="36" name="TextBox 36"/>
              <p:cNvSpPr txBox="1"/>
              <p:nvPr/>
            </p:nvSpPr>
            <p:spPr>
              <a:xfrm>
                <a:off x="1437894" y="3866198"/>
                <a:ext cx="1332357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b="1" dirty="0">
                    <a:solidFill>
                      <a:srgbClr val="B5663A"/>
                    </a:solidFill>
                    <a:latin typeface="+mn-lt"/>
                    <a:ea typeface="+mn-ea"/>
                    <a:cs typeface="+mn-cs"/>
                  </a:rPr>
                  <a:t>负样本处理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1438656" y="4168140"/>
                <a:ext cx="393169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取无鲜 / 苦味肽，严格控制类别平衡</a:t>
                </a:r>
              </a:p>
            </p:txBody>
          </p:sp>
        </p:grpSp>
      </p:grpSp>
      <p:grpSp>
        <p:nvGrpSpPr>
          <p:cNvPr id="59" name="Group 59"/>
          <p:cNvGrpSpPr/>
          <p:nvPr/>
        </p:nvGrpSpPr>
        <p:grpSpPr>
          <a:xfrm>
            <a:off x="7620000" y="1638300"/>
            <a:ext cx="4050792" cy="2895600"/>
            <a:chOff x="7620000" y="1638300"/>
            <a:chExt cx="4050792" cy="2895600"/>
          </a:xfrm>
        </p:grpSpPr>
        <p:sp>
          <p:nvSpPr>
            <p:cNvPr id="40" name="Rectangle 40"/>
            <p:cNvSpPr/>
            <p:nvPr/>
          </p:nvSpPr>
          <p:spPr>
            <a:xfrm>
              <a:off x="7658100" y="1676400"/>
              <a:ext cx="3962400" cy="2857500"/>
            </a:xfrm>
            <a:prstGeom prst="roundRect">
              <a:avLst>
                <a:gd name="adj" fmla="val 5333"/>
              </a:avLst>
            </a:prstGeom>
            <a:solidFill>
              <a:srgbClr val="E3E9ED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7620000" y="1638300"/>
              <a:ext cx="3962400" cy="2857500"/>
            </a:xfrm>
            <a:prstGeom prst="roundRect">
              <a:avLst>
                <a:gd name="adj" fmla="val 5333"/>
              </a:avLst>
            </a:prstGeom>
            <a:solidFill>
              <a:srgbClr val="FFFFFF"/>
            </a:solidFill>
            <a:ln w="14288">
              <a:solidFill>
                <a:srgbClr val="DDE6EC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838694" y="1808798"/>
              <a:ext cx="238239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虚拟酶解扩充候选库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839456" y="2129790"/>
              <a:ext cx="38313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PeptideCutter · 胰/胃蛋白酶规则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839456" y="2586990"/>
              <a:ext cx="342351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MKWVTFISLL...（蛋白序列）</a:t>
              </a:r>
            </a:p>
          </p:txBody>
        </p:sp>
        <p:sp>
          <p:nvSpPr>
            <p:cNvPr id="45" name="Line 45"/>
            <p:cNvSpPr/>
            <p:nvPr/>
          </p:nvSpPr>
          <p:spPr>
            <a:xfrm>
              <a:off x="8191500" y="2971800"/>
              <a:ext cx="2857500" cy="9525"/>
            </a:xfrm>
            <a:custGeom>
              <a:avLst/>
              <a:gdLst/>
              <a:ahLst/>
              <a:cxnLst/>
              <a:rect l="l" t="t" r="r" b="b"/>
              <a:pathLst>
                <a:path w="2857500" h="9525">
                  <a:moveTo>
                    <a:pt x="0" y="0"/>
                  </a:moveTo>
                  <a:lnTo>
                    <a:pt x="2857500" y="0"/>
                  </a:lnTo>
                </a:path>
              </a:pathLst>
            </a:custGeom>
            <a:noFill/>
            <a:ln w="19050">
              <a:solidFill>
                <a:srgbClr val="C7D2DB"/>
              </a:solidFill>
              <a:custDash>
                <a:ds d="300000" sp="250000"/>
              </a:custDash>
            </a:ln>
          </p:spPr>
        </p:sp>
        <p:sp>
          <p:nvSpPr>
            <p:cNvPr id="46" name="Polygon 46"/>
            <p:cNvSpPr/>
            <p:nvPr/>
          </p:nvSpPr>
          <p:spPr>
            <a:xfrm>
              <a:off x="10934700" y="290512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C7D2DB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7848600" y="3200400"/>
              <a:ext cx="3352800" cy="948309"/>
              <a:chOff x="7848600" y="3200400"/>
              <a:chExt cx="3352800" cy="948309"/>
            </a:xfrm>
          </p:grpSpPr>
          <p:sp>
            <p:nvSpPr>
              <p:cNvPr id="47" name="Rectangle 47"/>
              <p:cNvSpPr/>
              <p:nvPr/>
            </p:nvSpPr>
            <p:spPr>
              <a:xfrm>
                <a:off x="7848600" y="3200400"/>
                <a:ext cx="1143000" cy="381000"/>
              </a:xfrm>
              <a:prstGeom prst="roundRect">
                <a:avLst>
                  <a:gd name="adj" fmla="val 20000"/>
                </a:avLst>
              </a:prstGeom>
              <a:solidFill>
                <a:srgbClr val="DFF0EE"/>
              </a:solidFill>
              <a:ln>
                <a:noFill/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7967381" y="3263265"/>
                <a:ext cx="90543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EGDSER</a:t>
                </a:r>
              </a:p>
            </p:txBody>
          </p:sp>
          <p:sp>
            <p:nvSpPr>
              <p:cNvPr id="49" name="Rectangle 49"/>
              <p:cNvSpPr/>
              <p:nvPr/>
            </p:nvSpPr>
            <p:spPr>
              <a:xfrm>
                <a:off x="9144000" y="3200400"/>
                <a:ext cx="952500" cy="381000"/>
              </a:xfrm>
              <a:prstGeom prst="roundRect">
                <a:avLst>
                  <a:gd name="adj" fmla="val 20000"/>
                </a:avLst>
              </a:prstGeom>
              <a:solidFill>
                <a:srgbClr val="FBE9DD"/>
              </a:solidFill>
              <a:ln>
                <a:noFill/>
              </a:ln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9315389" y="3263265"/>
                <a:ext cx="60972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DFEG</a:t>
                </a:r>
              </a:p>
            </p:txBody>
          </p:sp>
          <p:sp>
            <p:nvSpPr>
              <p:cNvPr id="51" name="Rectangle 51"/>
              <p:cNvSpPr/>
              <p:nvPr/>
            </p:nvSpPr>
            <p:spPr>
              <a:xfrm>
                <a:off x="10248900" y="3200400"/>
                <a:ext cx="952500" cy="381000"/>
              </a:xfrm>
              <a:prstGeom prst="roundRect">
                <a:avLst>
                  <a:gd name="adj" fmla="val 20000"/>
                </a:avLst>
              </a:pr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10420289" y="3263265"/>
                <a:ext cx="60972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RVPG</a:t>
                </a:r>
              </a:p>
            </p:txBody>
          </p:sp>
          <p:sp>
            <p:nvSpPr>
              <p:cNvPr id="53" name="Rectangle 53"/>
              <p:cNvSpPr/>
              <p:nvPr/>
            </p:nvSpPr>
            <p:spPr>
              <a:xfrm>
                <a:off x="7848600" y="3733800"/>
                <a:ext cx="1047750" cy="381000"/>
              </a:xfrm>
              <a:prstGeom prst="roundRect">
                <a:avLst>
                  <a:gd name="adj" fmla="val 20000"/>
                </a:avLst>
              </a:pr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54" name="TextBox 54"/>
              <p:cNvSpPr txBox="1"/>
              <p:nvPr/>
            </p:nvSpPr>
            <p:spPr>
              <a:xfrm>
                <a:off x="7919756" y="3796665"/>
                <a:ext cx="90543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SDNFEY</a:t>
                </a:r>
              </a:p>
            </p:txBody>
          </p:sp>
          <p:sp>
            <p:nvSpPr>
              <p:cNvPr id="55" name="Rectangle 55"/>
              <p:cNvSpPr/>
              <p:nvPr/>
            </p:nvSpPr>
            <p:spPr>
              <a:xfrm>
                <a:off x="9048750" y="3733800"/>
                <a:ext cx="1238250" cy="381000"/>
              </a:xfrm>
              <a:prstGeom prst="roundRect">
                <a:avLst>
                  <a:gd name="adj" fmla="val 20000"/>
                </a:avLst>
              </a:prstGeom>
              <a:solidFill>
                <a:srgbClr val="DFF0EE"/>
              </a:solidFill>
              <a:ln>
                <a:noFill/>
              </a:ln>
            </p:spPr>
          </p:sp>
          <p:sp>
            <p:nvSpPr>
              <p:cNvPr id="56" name="TextBox 56"/>
              <p:cNvSpPr txBox="1"/>
              <p:nvPr/>
            </p:nvSpPr>
            <p:spPr>
              <a:xfrm>
                <a:off x="9181368" y="3796665"/>
                <a:ext cx="97301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chemeClr val="accent1"/>
                    </a:solidFill>
                    <a:latin typeface="Consolas"/>
                    <a:ea typeface="Microsoft YaHei"/>
                    <a:cs typeface="Consolas"/>
                  </a:rPr>
                  <a:t>… 2–8 肽</a:t>
                </a:r>
              </a:p>
            </p:txBody>
          </p:sp>
        </p:grpSp>
        <p:sp>
          <p:nvSpPr>
            <p:cNvPr id="58" name="TextBox 58"/>
            <p:cNvSpPr txBox="1"/>
            <p:nvPr/>
          </p:nvSpPr>
          <p:spPr>
            <a:xfrm>
              <a:off x="7839456" y="4149090"/>
              <a:ext cx="31683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A3B2BF"/>
                  </a:solidFill>
                  <a:latin typeface="+mn-lt"/>
                  <a:ea typeface="+mn-ea"/>
                  <a:cs typeface="+mn-cs"/>
                </a:rPr>
                <a:t>按酶切位点规则切成万级短肽</a:t>
              </a:r>
            </a:p>
          </p:txBody>
        </p:sp>
      </p:grpSp>
      <p:grpSp>
        <p:nvGrpSpPr>
          <p:cNvPr id="97" name="Group 97"/>
          <p:cNvGrpSpPr/>
          <p:nvPr/>
        </p:nvGrpSpPr>
        <p:grpSpPr>
          <a:xfrm>
            <a:off x="599694" y="4780598"/>
            <a:ext cx="11020806" cy="1505902"/>
            <a:chOff x="599694" y="4780598"/>
            <a:chExt cx="11020806" cy="1505902"/>
          </a:xfrm>
        </p:grpSpPr>
        <p:sp>
          <p:nvSpPr>
            <p:cNvPr id="60" name="TextBox 60"/>
            <p:cNvSpPr txBox="1"/>
            <p:nvPr/>
          </p:nvSpPr>
          <p:spPr>
            <a:xfrm>
              <a:off x="599694" y="4780598"/>
              <a:ext cx="185737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候选肽四级过滤</a:t>
              </a:r>
            </a:p>
          </p:txBody>
        </p:sp>
        <p:grpSp>
          <p:nvGrpSpPr>
            <p:cNvPr id="66" name="Group 66"/>
            <p:cNvGrpSpPr/>
            <p:nvPr/>
          </p:nvGrpSpPr>
          <p:grpSpPr>
            <a:xfrm>
              <a:off x="647700" y="5143500"/>
              <a:ext cx="2662733" cy="1143000"/>
              <a:chOff x="647700" y="5143500"/>
              <a:chExt cx="2662733" cy="1143000"/>
            </a:xfrm>
          </p:grpSpPr>
          <p:sp>
            <p:nvSpPr>
              <p:cNvPr id="61" name="Rectangle 61"/>
              <p:cNvSpPr/>
              <p:nvPr/>
            </p:nvSpPr>
            <p:spPr>
              <a:xfrm>
                <a:off x="647700" y="5143500"/>
                <a:ext cx="2628900" cy="1143000"/>
              </a:xfrm>
              <a:prstGeom prst="roundRect">
                <a:avLst>
                  <a:gd name="adj" fmla="val 11667"/>
                </a:avLst>
              </a:prstGeom>
              <a:solidFill>
                <a:srgbClr val="FFFFFF"/>
              </a:solidFill>
              <a:ln w="14288">
                <a:solidFill>
                  <a:srgbClr val="E3E9ED"/>
                </a:solidFill>
              </a:ln>
            </p:spPr>
          </p:sp>
          <p:sp>
            <p:nvSpPr>
              <p:cNvPr id="62" name="Ellipse 62"/>
              <p:cNvSpPr/>
              <p:nvPr/>
            </p:nvSpPr>
            <p:spPr>
              <a:xfrm>
                <a:off x="819150" y="5314950"/>
                <a:ext cx="342900" cy="3429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63" name="TextBox 63"/>
              <p:cNvSpPr txBox="1"/>
              <p:nvPr/>
            </p:nvSpPr>
            <p:spPr>
              <a:xfrm>
                <a:off x="911487" y="5368290"/>
                <a:ext cx="15822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1266444" y="5352098"/>
                <a:ext cx="1649337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长度 / 分子量</a:t>
                </a: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867156" y="5730240"/>
                <a:ext cx="244327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2–8 肽，MW&lt;3000 Da</a:t>
                </a:r>
              </a:p>
            </p:txBody>
          </p:sp>
        </p:grpSp>
        <p:grpSp>
          <p:nvGrpSpPr>
            <p:cNvPr id="70" name="Group 70"/>
            <p:cNvGrpSpPr/>
            <p:nvPr/>
          </p:nvGrpSpPr>
          <p:grpSpPr>
            <a:xfrm>
              <a:off x="3347244" y="5643562"/>
              <a:ext cx="144462" cy="123825"/>
              <a:chOff x="3347244" y="5643562"/>
              <a:chExt cx="144462" cy="123825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3347244" y="5705475"/>
                <a:ext cx="14446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44462" h="9525">
                    <a:moveTo>
                      <a:pt x="0" y="0"/>
                    </a:moveTo>
                    <a:lnTo>
                      <a:pt x="144462" y="0"/>
                    </a:lnTo>
                  </a:path>
                </a:pathLst>
              </a:custGeom>
              <a:noFill/>
              <a:ln w="20637">
                <a:solidFill>
                  <a:srgbClr val="9AA8B3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3429793" y="5705475"/>
                <a:ext cx="61912" cy="61912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61912">
                    <a:moveTo>
                      <a:pt x="0" y="61912"/>
                    </a:moveTo>
                    <a:lnTo>
                      <a:pt x="61912" y="0"/>
                    </a:lnTo>
                  </a:path>
                </a:pathLst>
              </a:custGeom>
              <a:noFill/>
              <a:ln w="20637">
                <a:solidFill>
                  <a:srgbClr val="9AA8B3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3429793" y="5643562"/>
                <a:ext cx="61912" cy="61912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61912">
                    <a:moveTo>
                      <a:pt x="0" y="0"/>
                    </a:moveTo>
                    <a:lnTo>
                      <a:pt x="61912" y="61912"/>
                    </a:lnTo>
                  </a:path>
                </a:pathLst>
              </a:custGeom>
              <a:noFill/>
              <a:ln w="20637">
                <a:solidFill>
                  <a:srgbClr val="9AA8B3"/>
                </a:solidFill>
              </a:ln>
            </p:spPr>
          </p:sp>
        </p:grpSp>
        <p:grpSp>
          <p:nvGrpSpPr>
            <p:cNvPr id="76" name="Group 76"/>
            <p:cNvGrpSpPr/>
            <p:nvPr/>
          </p:nvGrpSpPr>
          <p:grpSpPr>
            <a:xfrm>
              <a:off x="3581400" y="5143500"/>
              <a:ext cx="3134194" cy="1143000"/>
              <a:chOff x="3581400" y="5143500"/>
              <a:chExt cx="3134194" cy="1143000"/>
            </a:xfrm>
          </p:grpSpPr>
          <p:sp>
            <p:nvSpPr>
              <p:cNvPr id="71" name="Rectangle 71"/>
              <p:cNvSpPr/>
              <p:nvPr/>
            </p:nvSpPr>
            <p:spPr>
              <a:xfrm>
                <a:off x="3581400" y="5143500"/>
                <a:ext cx="2628900" cy="1143000"/>
              </a:xfrm>
              <a:prstGeom prst="roundRect">
                <a:avLst>
                  <a:gd name="adj" fmla="val 11667"/>
                </a:avLst>
              </a:prstGeom>
              <a:solidFill>
                <a:srgbClr val="FFFFFF"/>
              </a:solidFill>
              <a:ln w="14288">
                <a:solidFill>
                  <a:srgbClr val="E3E9ED"/>
                </a:solidFill>
              </a:ln>
            </p:spPr>
          </p:sp>
          <p:sp>
            <p:nvSpPr>
              <p:cNvPr id="72" name="Ellipse 72"/>
              <p:cNvSpPr/>
              <p:nvPr/>
            </p:nvSpPr>
            <p:spPr>
              <a:xfrm>
                <a:off x="3752850" y="5314950"/>
                <a:ext cx="342900" cy="3429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73" name="TextBox 73"/>
              <p:cNvSpPr txBox="1"/>
              <p:nvPr/>
            </p:nvSpPr>
            <p:spPr>
              <a:xfrm>
                <a:off x="3845187" y="5368290"/>
                <a:ext cx="15822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74" name="TextBox 74"/>
              <p:cNvSpPr txBox="1"/>
              <p:nvPr/>
            </p:nvSpPr>
            <p:spPr>
              <a:xfrm>
                <a:off x="4200144" y="5352098"/>
                <a:ext cx="1594866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生物活性初筛</a:t>
                </a:r>
              </a:p>
            </p:txBody>
          </p:sp>
          <p:sp>
            <p:nvSpPr>
              <p:cNvPr id="75" name="TextBox 75"/>
              <p:cNvSpPr txBox="1"/>
              <p:nvPr/>
            </p:nvSpPr>
            <p:spPr>
              <a:xfrm>
                <a:off x="3800856" y="5730240"/>
                <a:ext cx="291473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PeptideRanker，阈值 0.5</a:t>
                </a:r>
              </a:p>
            </p:txBody>
          </p:sp>
        </p:grpSp>
        <p:grpSp>
          <p:nvGrpSpPr>
            <p:cNvPr id="80" name="Group 80"/>
            <p:cNvGrpSpPr/>
            <p:nvPr/>
          </p:nvGrpSpPr>
          <p:grpSpPr>
            <a:xfrm>
              <a:off x="6280944" y="5643562"/>
              <a:ext cx="144462" cy="123825"/>
              <a:chOff x="6280944" y="5643562"/>
              <a:chExt cx="144462" cy="123825"/>
            </a:xfrm>
          </p:grpSpPr>
          <p:sp>
            <p:nvSpPr>
              <p:cNvPr id="77" name="Freeform 77"/>
              <p:cNvSpPr/>
              <p:nvPr/>
            </p:nvSpPr>
            <p:spPr>
              <a:xfrm>
                <a:off x="6280944" y="5705475"/>
                <a:ext cx="14446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44462" h="9525">
                    <a:moveTo>
                      <a:pt x="0" y="0"/>
                    </a:moveTo>
                    <a:lnTo>
                      <a:pt x="144462" y="0"/>
                    </a:lnTo>
                  </a:path>
                </a:pathLst>
              </a:custGeom>
              <a:noFill/>
              <a:ln w="20637">
                <a:solidFill>
                  <a:srgbClr val="9AA8B3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6363493" y="5705475"/>
                <a:ext cx="61912" cy="61912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61912">
                    <a:moveTo>
                      <a:pt x="0" y="61912"/>
                    </a:moveTo>
                    <a:lnTo>
                      <a:pt x="61912" y="0"/>
                    </a:lnTo>
                  </a:path>
                </a:pathLst>
              </a:custGeom>
              <a:noFill/>
              <a:ln w="20637">
                <a:solidFill>
                  <a:srgbClr val="9AA8B3"/>
                </a:solidFill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6363493" y="5643562"/>
                <a:ext cx="61912" cy="61912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61912">
                    <a:moveTo>
                      <a:pt x="0" y="0"/>
                    </a:moveTo>
                    <a:lnTo>
                      <a:pt x="61912" y="61912"/>
                    </a:lnTo>
                  </a:path>
                </a:pathLst>
              </a:custGeom>
              <a:noFill/>
              <a:ln w="20637">
                <a:solidFill>
                  <a:srgbClr val="9AA8B3"/>
                </a:solidFill>
              </a:ln>
            </p:spPr>
          </p:sp>
        </p:grpSp>
        <p:grpSp>
          <p:nvGrpSpPr>
            <p:cNvPr id="86" name="Group 86"/>
            <p:cNvGrpSpPr/>
            <p:nvPr/>
          </p:nvGrpSpPr>
          <p:grpSpPr>
            <a:xfrm>
              <a:off x="6515100" y="5143500"/>
              <a:ext cx="2975915" cy="1143000"/>
              <a:chOff x="6515100" y="5143500"/>
              <a:chExt cx="2975915" cy="1143000"/>
            </a:xfrm>
          </p:grpSpPr>
          <p:sp>
            <p:nvSpPr>
              <p:cNvPr id="81" name="Rectangle 81"/>
              <p:cNvSpPr/>
              <p:nvPr/>
            </p:nvSpPr>
            <p:spPr>
              <a:xfrm>
                <a:off x="6515100" y="5143500"/>
                <a:ext cx="2628900" cy="1143000"/>
              </a:xfrm>
              <a:prstGeom prst="roundRect">
                <a:avLst>
                  <a:gd name="adj" fmla="val 11667"/>
                </a:avLst>
              </a:prstGeom>
              <a:solidFill>
                <a:srgbClr val="FFFFFF"/>
              </a:solidFill>
              <a:ln w="14288">
                <a:solidFill>
                  <a:srgbClr val="E3E9ED"/>
                </a:solidFill>
              </a:ln>
            </p:spPr>
          </p:sp>
          <p:sp>
            <p:nvSpPr>
              <p:cNvPr id="82" name="Ellipse 82"/>
              <p:cNvSpPr/>
              <p:nvPr/>
            </p:nvSpPr>
            <p:spPr>
              <a:xfrm>
                <a:off x="6686550" y="5314950"/>
                <a:ext cx="342900" cy="3429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83" name="TextBox 83"/>
              <p:cNvSpPr txBox="1"/>
              <p:nvPr/>
            </p:nvSpPr>
            <p:spPr>
              <a:xfrm>
                <a:off x="6778887" y="5368290"/>
                <a:ext cx="15822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84" name="TextBox 84"/>
              <p:cNvSpPr txBox="1"/>
              <p:nvPr/>
            </p:nvSpPr>
            <p:spPr>
              <a:xfrm>
                <a:off x="7133844" y="5352098"/>
                <a:ext cx="1332357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安全性过滤</a:t>
                </a:r>
              </a:p>
            </p:txBody>
          </p:sp>
          <p:sp>
            <p:nvSpPr>
              <p:cNvPr id="85" name="TextBox 85"/>
              <p:cNvSpPr txBox="1"/>
              <p:nvPr/>
            </p:nvSpPr>
            <p:spPr>
              <a:xfrm>
                <a:off x="6734556" y="5730240"/>
                <a:ext cx="275645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毒性 / 致敏 / 肠道稳定性</a:t>
                </a:r>
              </a:p>
            </p:txBody>
          </p:sp>
        </p:grpSp>
        <p:grpSp>
          <p:nvGrpSpPr>
            <p:cNvPr id="90" name="Group 90"/>
            <p:cNvGrpSpPr/>
            <p:nvPr/>
          </p:nvGrpSpPr>
          <p:grpSpPr>
            <a:xfrm>
              <a:off x="9214644" y="5643562"/>
              <a:ext cx="144462" cy="123825"/>
              <a:chOff x="9214644" y="5643562"/>
              <a:chExt cx="144462" cy="123825"/>
            </a:xfrm>
          </p:grpSpPr>
          <p:sp>
            <p:nvSpPr>
              <p:cNvPr id="87" name="Freeform 87"/>
              <p:cNvSpPr/>
              <p:nvPr/>
            </p:nvSpPr>
            <p:spPr>
              <a:xfrm>
                <a:off x="9214644" y="5705475"/>
                <a:ext cx="14446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44462" h="9525">
                    <a:moveTo>
                      <a:pt x="0" y="0"/>
                    </a:moveTo>
                    <a:lnTo>
                      <a:pt x="144462" y="0"/>
                    </a:lnTo>
                  </a:path>
                </a:pathLst>
              </a:custGeom>
              <a:noFill/>
              <a:ln w="20637">
                <a:solidFill>
                  <a:schemeClr val="accent3"/>
                </a:solidFill>
              </a:ln>
            </p:spPr>
          </p:sp>
          <p:sp>
            <p:nvSpPr>
              <p:cNvPr id="88" name="Freeform 88"/>
              <p:cNvSpPr/>
              <p:nvPr/>
            </p:nvSpPr>
            <p:spPr>
              <a:xfrm>
                <a:off x="9297193" y="5705475"/>
                <a:ext cx="61912" cy="61912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61912">
                    <a:moveTo>
                      <a:pt x="0" y="61912"/>
                    </a:moveTo>
                    <a:lnTo>
                      <a:pt x="61912" y="0"/>
                    </a:lnTo>
                  </a:path>
                </a:pathLst>
              </a:custGeom>
              <a:noFill/>
              <a:ln w="20637">
                <a:solidFill>
                  <a:schemeClr val="accent3"/>
                </a:solidFill>
              </a:ln>
            </p:spPr>
          </p:sp>
          <p:sp>
            <p:nvSpPr>
              <p:cNvPr id="89" name="Freeform 89"/>
              <p:cNvSpPr/>
              <p:nvPr/>
            </p:nvSpPr>
            <p:spPr>
              <a:xfrm>
                <a:off x="9297193" y="5643562"/>
                <a:ext cx="61912" cy="61912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61912">
                    <a:moveTo>
                      <a:pt x="0" y="0"/>
                    </a:moveTo>
                    <a:lnTo>
                      <a:pt x="61912" y="61912"/>
                    </a:lnTo>
                  </a:path>
                </a:pathLst>
              </a:custGeom>
              <a:noFill/>
              <a:ln w="20637">
                <a:solidFill>
                  <a:schemeClr val="accent3"/>
                </a:solidFill>
              </a:ln>
            </p:spPr>
          </p:sp>
        </p:grpSp>
        <p:grpSp>
          <p:nvGrpSpPr>
            <p:cNvPr id="96" name="Group 96"/>
            <p:cNvGrpSpPr/>
            <p:nvPr/>
          </p:nvGrpSpPr>
          <p:grpSpPr>
            <a:xfrm>
              <a:off x="9448800" y="5143500"/>
              <a:ext cx="2171700" cy="1143000"/>
              <a:chOff x="9448800" y="5143500"/>
              <a:chExt cx="2171700" cy="1143000"/>
            </a:xfrm>
          </p:grpSpPr>
          <p:sp>
            <p:nvSpPr>
              <p:cNvPr id="91" name="Rectangle 91"/>
              <p:cNvSpPr/>
              <p:nvPr/>
            </p:nvSpPr>
            <p:spPr>
              <a:xfrm>
                <a:off x="9448800" y="5143500"/>
                <a:ext cx="2171700" cy="1143000"/>
              </a:xfrm>
              <a:prstGeom prst="roundRect">
                <a:avLst>
                  <a:gd name="adj" fmla="val 11667"/>
                </a:avLst>
              </a:prstGeom>
              <a:solidFill>
                <a:srgbClr val="FBE9DD"/>
              </a:solidFill>
              <a:ln w="14288">
                <a:solidFill>
                  <a:srgbClr val="F0DECF"/>
                </a:solidFill>
              </a:ln>
            </p:spPr>
          </p:sp>
          <p:sp>
            <p:nvSpPr>
              <p:cNvPr id="92" name="Ellipse 92"/>
              <p:cNvSpPr/>
              <p:nvPr/>
            </p:nvSpPr>
            <p:spPr>
              <a:xfrm>
                <a:off x="9620250" y="5314950"/>
                <a:ext cx="342900" cy="342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93" name="TextBox 93"/>
              <p:cNvSpPr txBox="1"/>
              <p:nvPr/>
            </p:nvSpPr>
            <p:spPr>
              <a:xfrm>
                <a:off x="9712587" y="5368290"/>
                <a:ext cx="15822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4</a:t>
                </a:r>
              </a:p>
            </p:txBody>
          </p:sp>
          <p:sp>
            <p:nvSpPr>
              <p:cNvPr id="94" name="TextBox 94"/>
              <p:cNvSpPr txBox="1"/>
              <p:nvPr/>
            </p:nvSpPr>
            <p:spPr>
              <a:xfrm>
                <a:off x="10067544" y="5352098"/>
                <a:ext cx="1521066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b="1" dirty="0">
                    <a:solidFill>
                      <a:srgbClr val="B5663A"/>
                    </a:solidFill>
                    <a:latin typeface="+mn-lt"/>
                    <a:ea typeface="+mn-ea"/>
                    <a:cs typeface="+mn-cs"/>
                  </a:rPr>
                  <a:t>ADMET 评估</a:t>
                </a:r>
              </a:p>
            </p:txBody>
          </p:sp>
          <p:sp>
            <p:nvSpPr>
              <p:cNvPr id="95" name="TextBox 95"/>
              <p:cNvSpPr txBox="1"/>
              <p:nvPr/>
            </p:nvSpPr>
            <p:spPr>
              <a:xfrm>
                <a:off x="9668256" y="5730240"/>
                <a:ext cx="150853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吸收 / 半衰期</a:t>
                </a:r>
              </a:p>
            </p:txBody>
          </p:sp>
        </p:grpSp>
      </p:grpSp>
      <p:sp>
        <p:nvSpPr>
          <p:cNvPr id="98" name="TextBox 98"/>
          <p:cNvSpPr txBox="1"/>
          <p:nvPr/>
        </p:nvSpPr>
        <p:spPr>
          <a:xfrm>
            <a:off x="10761497" y="6473190"/>
            <a:ext cx="8300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800" dirty="0">
                <a:solidFill>
                  <a:srgbClr val="A3B2BF"/>
                </a:solidFill>
                <a:latin typeface="+mn-lt"/>
                <a:ea typeface="+mn-ea"/>
                <a:cs typeface="+mn-cs"/>
              </a:rPr>
              <a:t>05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4360" y="472440"/>
            <a:ext cx="6983882" cy="1047750"/>
            <a:chOff x="594360" y="472440"/>
            <a:chExt cx="6983882" cy="1047750"/>
          </a:xfrm>
        </p:grpSpPr>
        <p:sp>
          <p:nvSpPr>
            <p:cNvPr id="2" name="TextBox 2"/>
            <p:cNvSpPr txBox="1"/>
            <p:nvPr/>
          </p:nvSpPr>
          <p:spPr>
            <a:xfrm>
              <a:off x="600456" y="472440"/>
              <a:ext cx="277160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 · 机器学习技术路线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609600" y="819150"/>
              <a:ext cx="457200" cy="5715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94360" y="933450"/>
              <a:ext cx="698388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基准数据集：从 UMP442 到 UMP789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09600" y="1638300"/>
            <a:ext cx="7048500" cy="3314700"/>
            <a:chOff x="609600" y="1638300"/>
            <a:chExt cx="7048500" cy="3314700"/>
          </a:xfrm>
        </p:grpSpPr>
        <p:graphicFrame>
          <p:nvGraphicFramePr>
            <p:cNvPr id="6" name="dataset-table"/>
            <p:cNvGraphicFramePr>
              <a:graphicFrameLocks noGrp="1"/>
            </p:cNvGraphicFramePr>
            <p:nvPr/>
          </p:nvGraphicFramePr>
          <p:xfrm>
            <a:off x="609600" y="1638300"/>
            <a:ext cx="7048500" cy="3314700"/>
          </p:xfrm>
          <a:graphic>
            <a:graphicData uri="http://schemas.openxmlformats.org/drawingml/2006/table">
              <a:tbl>
                <a:tblPr firstRow="1" bandRow="1">
                  <a:tableStyleId>{5C22544A-7EE6-4342-B048-85BDC9FD1C3A}</a:tableStyleId>
                </a:tblPr>
                <a:tblGrid>
                  <a:gridCol w="1762125"/>
                  <a:gridCol w="1762125"/>
                  <a:gridCol w="1762125"/>
                  <a:gridCol w="1762125"/>
                </a:tblGrid>
                <a:tr h="828675">
                  <a:tc>
                    <a:txBody>
                      <a:bodyPr/>
                      <a:lstStyle/>
                      <a:p>
                        <a:pPr algn="ctr"/>
                        <a:r>
                          <a:rPr lang="zh-CN" sz="1800" b="1">
                            <a:solidFill>
                              <a:srgbClr val="FFFFFF"/>
                            </a:solidFill>
                            <a:latin typeface="Microsoft YaHei"/>
                            <a:ea typeface="Microsoft YaHei"/>
                            <a:cs typeface="Microsoft YaHei"/>
                          </a:rPr>
                          <a:t>数据集</a:t>
                        </a:r>
                      </a:p>
                    </a:txBody>
                    <a:tcPr anchor="ctr">
                      <a:solidFill>
                        <a:srgbClr val="1F4E79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zh-CN" sz="1800" b="1">
                            <a:solidFill>
                              <a:srgbClr val="FFFFFF"/>
                            </a:solidFill>
                            <a:latin typeface="Microsoft YaHei"/>
                            <a:ea typeface="Microsoft YaHei"/>
                            <a:cs typeface="Microsoft YaHei"/>
                          </a:rPr>
                          <a:t>鲜味肽</a:t>
                        </a:r>
                      </a:p>
                    </a:txBody>
                    <a:tcPr anchor="ctr">
                      <a:solidFill>
                        <a:srgbClr val="1F4E79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zh-CN" sz="1800" b="1">
                            <a:solidFill>
                              <a:srgbClr val="FFFFFF"/>
                            </a:solidFill>
                            <a:latin typeface="Microsoft YaHei"/>
                            <a:ea typeface="Microsoft YaHei"/>
                            <a:cs typeface="Microsoft YaHei"/>
                          </a:rPr>
                          <a:t>非鲜味</a:t>
                        </a:r>
                      </a:p>
                    </a:txBody>
                    <a:tcPr anchor="ctr">
                      <a:solidFill>
                        <a:srgbClr val="1F4E79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zh-CN" sz="1800" b="1">
                            <a:solidFill>
                              <a:srgbClr val="FFFFFF"/>
                            </a:solidFill>
                            <a:latin typeface="Microsoft YaHei"/>
                            <a:ea typeface="Microsoft YaHei"/>
                            <a:cs typeface="Microsoft YaHei"/>
                          </a:rPr>
                          <a:t>代表模型</a:t>
                        </a:r>
                      </a:p>
                    </a:txBody>
                    <a:tcPr anchor="ctr">
                      <a:solidFill>
                        <a:srgbClr val="1F4E79"/>
                      </a:solidFill>
                    </a:tcPr>
                  </a:tc>
                </a:tr>
                <a:tr h="828675">
                  <a:tc>
                    <a:txBody>
                      <a:bodyPr/>
                      <a:lstStyle/>
                      <a:p>
                        <a:pPr/>
                        <a:r>
                          <a:rPr lang="zh-CN" sz="1800" b="0">
                            <a:solidFill>
                              <a:srgbClr val="1F2937"/>
                            </a:solidFill>
                            <a:latin typeface="Microsoft YaHei"/>
                            <a:ea typeface="Microsoft YaHei"/>
                            <a:cs typeface="Microsoft YaHei"/>
                          </a:rPr>
                          <a:t>UMP442</a:t>
                        </a:r>
                      </a:p>
                    </a:txBody>
                    <a:tcPr anchor="ctr"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/>
                        <a:r>
                          <a:rPr lang="zh-CN" sz="1800" b="0">
                            <a:solidFill>
                              <a:srgbClr val="1F2937"/>
                            </a:solidFill>
                            <a:latin typeface="Microsoft YaHei"/>
                            <a:ea typeface="Microsoft YaHei"/>
                            <a:cs typeface="Microsoft YaHei"/>
                          </a:rPr>
                          <a:t>140</a:t>
                        </a:r>
                      </a:p>
                    </a:txBody>
                    <a:tcPr anchor="ctr"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/>
                        <a:r>
                          <a:rPr lang="zh-CN" sz="1800" b="0">
                            <a:solidFill>
                              <a:srgbClr val="1F2937"/>
                            </a:solidFill>
                            <a:latin typeface="Microsoft YaHei"/>
                            <a:ea typeface="Microsoft YaHei"/>
                            <a:cs typeface="Microsoft YaHei"/>
                          </a:rPr>
                          <a:t>302</a:t>
                        </a:r>
                      </a:p>
                    </a:txBody>
                    <a:tcPr anchor="ctr"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/>
                        <a:r>
                          <a:rPr lang="zh-CN" sz="1800" b="0">
                            <a:solidFill>
                              <a:srgbClr val="1F2937"/>
                            </a:solidFill>
                            <a:latin typeface="Microsoft YaHei"/>
                            <a:ea typeface="Microsoft YaHei"/>
                            <a:cs typeface="Microsoft YaHei"/>
                          </a:rPr>
                          <a:t>iUmami-SCM / FRL</a:t>
                        </a:r>
                      </a:p>
                    </a:txBody>
                    <a:tcPr anchor="ctr">
                      <a:solidFill>
                        <a:srgbClr val="FFFFFF"/>
                      </a:solidFill>
                    </a:tcPr>
                  </a:tc>
                </a:tr>
                <a:tr h="828675">
                  <a:tc>
                    <a:txBody>
                      <a:bodyPr/>
                      <a:lstStyle/>
                      <a:p>
                        <a:pPr/>
                        <a:r>
                          <a:rPr lang="zh-CN" sz="1800" b="0">
                            <a:solidFill>
                              <a:srgbClr val="1F2937"/>
                            </a:solidFill>
                            <a:latin typeface="Microsoft YaHei"/>
                            <a:ea typeface="Microsoft YaHei"/>
                            <a:cs typeface="Microsoft YaHei"/>
                          </a:rPr>
                          <a:t>UMP499</a:t>
                        </a:r>
                      </a:p>
                    </a:txBody>
                    <a:tcPr anchor="ctr">
                      <a:solidFill>
                        <a:srgbClr val="F3F6FA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/>
                        <a:r>
                          <a:rPr lang="zh-CN" sz="1800" b="0">
                            <a:solidFill>
                              <a:srgbClr val="1F2937"/>
                            </a:solidFill>
                            <a:latin typeface="Microsoft YaHei"/>
                            <a:ea typeface="Microsoft YaHei"/>
                            <a:cs typeface="Microsoft YaHei"/>
                          </a:rPr>
                          <a:t>212</a:t>
                        </a:r>
                      </a:p>
                    </a:txBody>
                    <a:tcPr anchor="ctr">
                      <a:solidFill>
                        <a:srgbClr val="F3F6FA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/>
                        <a:r>
                          <a:rPr lang="zh-CN" sz="1800" b="0">
                            <a:solidFill>
                              <a:srgbClr val="1F2937"/>
                            </a:solidFill>
                            <a:latin typeface="Microsoft YaHei"/>
                            <a:ea typeface="Microsoft YaHei"/>
                            <a:cs typeface="Microsoft YaHei"/>
                          </a:rPr>
                          <a:t>287</a:t>
                        </a:r>
                      </a:p>
                    </a:txBody>
                    <a:tcPr anchor="ctr">
                      <a:solidFill>
                        <a:srgbClr val="F3F6FA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/>
                        <a:r>
                          <a:rPr lang="zh-CN" sz="1800" b="0">
                            <a:solidFill>
                              <a:srgbClr val="1F2937"/>
                            </a:solidFill>
                            <a:latin typeface="Microsoft YaHei"/>
                            <a:ea typeface="Microsoft YaHei"/>
                            <a:cs typeface="Microsoft YaHei"/>
                          </a:rPr>
                          <a:t>Umami-MRNN</a:t>
                        </a:r>
                      </a:p>
                    </a:txBody>
                    <a:tcPr anchor="ctr">
                      <a:solidFill>
                        <a:srgbClr val="F3F6FA"/>
                      </a:solidFill>
                    </a:tcPr>
                  </a:tc>
                </a:tr>
                <a:tr h="828675">
                  <a:tc>
                    <a:txBody>
                      <a:bodyPr/>
                      <a:lstStyle/>
                      <a:p>
                        <a:pPr/>
                        <a:r>
                          <a:rPr lang="zh-CN" sz="1800" b="0">
                            <a:solidFill>
                              <a:srgbClr val="1F2937"/>
                            </a:solidFill>
                            <a:latin typeface="Microsoft YaHei"/>
                            <a:ea typeface="Microsoft YaHei"/>
                            <a:cs typeface="Microsoft YaHei"/>
                          </a:rPr>
                          <a:t>UMP789</a:t>
                        </a:r>
                      </a:p>
                    </a:txBody>
                    <a:tcPr anchor="ctr"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/>
                        <a:r>
                          <a:rPr lang="zh-CN" sz="1800" b="0">
                            <a:solidFill>
                              <a:srgbClr val="1F2937"/>
                            </a:solidFill>
                            <a:latin typeface="Microsoft YaHei"/>
                            <a:ea typeface="Microsoft YaHei"/>
                            <a:cs typeface="Microsoft YaHei"/>
                          </a:rPr>
                          <a:t>330+</a:t>
                        </a:r>
                      </a:p>
                    </a:txBody>
                    <a:tcPr anchor="ctr"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/>
                        <a:r>
                          <a:rPr lang="zh-CN" sz="1800" b="0">
                            <a:solidFill>
                              <a:srgbClr val="1F2937"/>
                            </a:solidFill>
                            <a:latin typeface="Microsoft YaHei"/>
                            <a:ea typeface="Microsoft YaHei"/>
                            <a:cs typeface="Microsoft YaHei"/>
                          </a:rPr>
                          <a:t>450+</a:t>
                        </a:r>
                      </a:p>
                    </a:txBody>
                    <a:tcPr anchor="ctr"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/>
                        <a:r>
                          <a:rPr lang="zh-CN" sz="1800" b="0">
                            <a:solidFill>
                              <a:srgbClr val="1F2937"/>
                            </a:solidFill>
                            <a:latin typeface="Microsoft YaHei"/>
                            <a:ea typeface="Microsoft YaHei"/>
                            <a:cs typeface="Microsoft YaHei"/>
                          </a:rPr>
                          <a:t>Umami-BERT</a:t>
                        </a:r>
                      </a:p>
                    </a:txBody>
                    <a:tcPr anchor="ctr">
                      <a:solidFill>
                        <a:srgbClr val="FFFFFF"/>
                      </a:solidFill>
                    </a:tcPr>
                  </a:tc>
                </a:tr>
              </a:tbl>
            </a:graphicData>
          </a:graphic>
        </p:graphicFrame>
      </p:grpSp>
      <p:grpSp>
        <p:nvGrpSpPr>
          <p:cNvPr id="35" name="Group 35"/>
          <p:cNvGrpSpPr/>
          <p:nvPr/>
        </p:nvGrpSpPr>
        <p:grpSpPr>
          <a:xfrm>
            <a:off x="7886700" y="1638300"/>
            <a:ext cx="3733800" cy="3358134"/>
            <a:chOff x="7886700" y="1638300"/>
            <a:chExt cx="3733800" cy="3358134"/>
          </a:xfrm>
        </p:grpSpPr>
        <p:grpSp>
          <p:nvGrpSpPr>
            <p:cNvPr id="19" name="Group 19"/>
            <p:cNvGrpSpPr/>
            <p:nvPr/>
          </p:nvGrpSpPr>
          <p:grpSpPr>
            <a:xfrm>
              <a:off x="7886700" y="1638300"/>
              <a:ext cx="3733800" cy="1562100"/>
              <a:chOff x="7886700" y="1638300"/>
              <a:chExt cx="3733800" cy="156210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7924800" y="1676400"/>
                <a:ext cx="3695700" cy="1524000"/>
              </a:xfrm>
              <a:prstGeom prst="roundRect">
                <a:avLst>
                  <a:gd name="adj" fmla="val 10000"/>
                </a:avLst>
              </a:prstGeom>
              <a:solidFill>
                <a:srgbClr val="E3E9ED"/>
              </a:solidFill>
              <a:ln>
                <a:noFill/>
              </a:ln>
            </p:spPr>
          </p:sp>
          <p:sp>
            <p:nvSpPr>
              <p:cNvPr id="9" name="Rectangle 9"/>
              <p:cNvSpPr/>
              <p:nvPr/>
            </p:nvSpPr>
            <p:spPr>
              <a:xfrm>
                <a:off x="7886700" y="1638300"/>
                <a:ext cx="3695700" cy="1524000"/>
              </a:xfrm>
              <a:prstGeom prst="roundRect">
                <a:avLst>
                  <a:gd name="adj" fmla="val 10000"/>
                </a:avLst>
              </a:prstGeom>
              <a:solidFill>
                <a:srgbClr val="FFFFFF"/>
              </a:solidFill>
              <a:ln w="14288">
                <a:solidFill>
                  <a:srgbClr val="CFE4E1"/>
                </a:solidFill>
              </a:ln>
            </p:spPr>
          </p:sp>
          <p:sp>
            <p:nvSpPr>
              <p:cNvPr id="10" name="Rectangle 10"/>
              <p:cNvSpPr/>
              <p:nvPr/>
            </p:nvSpPr>
            <p:spPr>
              <a:xfrm>
                <a:off x="7886700" y="1638300"/>
                <a:ext cx="76200" cy="1524000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  <p:grpSp>
            <p:nvGrpSpPr>
              <p:cNvPr id="15" name="Group 15"/>
              <p:cNvGrpSpPr/>
              <p:nvPr/>
            </p:nvGrpSpPr>
            <p:grpSpPr>
              <a:xfrm>
                <a:off x="8193881" y="1920875"/>
                <a:ext cx="242889" cy="225426"/>
                <a:chOff x="8193881" y="1920875"/>
                <a:chExt cx="242889" cy="225426"/>
              </a:xfrm>
            </p:grpSpPr>
            <p:sp>
              <p:nvSpPr>
                <p:cNvPr id="11" name="Freeform 11"/>
                <p:cNvSpPr/>
                <p:nvPr/>
              </p:nvSpPr>
              <p:spPr>
                <a:xfrm>
                  <a:off x="8193881" y="2028825"/>
                  <a:ext cx="80963" cy="107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963" h="107950">
                      <a:moveTo>
                        <a:pt x="0" y="13494"/>
                      </a:moveTo>
                      <a:cubicBezTo>
                        <a:pt x="0" y="6041"/>
                        <a:pt x="6041" y="0"/>
                        <a:pt x="13494" y="0"/>
                      </a:cubicBezTo>
                      <a:lnTo>
                        <a:pt x="67469" y="0"/>
                      </a:lnTo>
                      <a:cubicBezTo>
                        <a:pt x="74921" y="0"/>
                        <a:pt x="80963" y="6041"/>
                        <a:pt x="80963" y="13494"/>
                      </a:cubicBezTo>
                      <a:lnTo>
                        <a:pt x="80963" y="94456"/>
                      </a:lnTo>
                      <a:cubicBezTo>
                        <a:pt x="80963" y="101909"/>
                        <a:pt x="74921" y="107950"/>
                        <a:pt x="67469" y="107950"/>
                      </a:cubicBezTo>
                      <a:lnTo>
                        <a:pt x="13494" y="107950"/>
                      </a:lnTo>
                      <a:cubicBezTo>
                        <a:pt x="6041" y="107950"/>
                        <a:pt x="0" y="101909"/>
                        <a:pt x="0" y="94456"/>
                      </a:cubicBezTo>
                      <a:lnTo>
                        <a:pt x="0" y="13494"/>
                      </a:lnTo>
                    </a:path>
                  </a:pathLst>
                </a:custGeom>
                <a:noFill/>
                <a:ln w="26988">
                  <a:solidFill>
                    <a:schemeClr val="accent2"/>
                  </a:solidFill>
                </a:ln>
              </p:spPr>
            </p:sp>
            <p:sp>
              <p:nvSpPr>
                <p:cNvPr id="12" name="Freeform 12"/>
                <p:cNvSpPr/>
                <p:nvPr/>
              </p:nvSpPr>
              <p:spPr>
                <a:xfrm>
                  <a:off x="8355807" y="1974850"/>
                  <a:ext cx="80963" cy="161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963" h="161925">
                      <a:moveTo>
                        <a:pt x="0" y="13494"/>
                      </a:moveTo>
                      <a:cubicBezTo>
                        <a:pt x="0" y="6041"/>
                        <a:pt x="6041" y="0"/>
                        <a:pt x="13494" y="0"/>
                      </a:cubicBezTo>
                      <a:lnTo>
                        <a:pt x="67469" y="0"/>
                      </a:lnTo>
                      <a:cubicBezTo>
                        <a:pt x="74921" y="0"/>
                        <a:pt x="80963" y="6041"/>
                        <a:pt x="80963" y="13494"/>
                      </a:cubicBezTo>
                      <a:lnTo>
                        <a:pt x="80963" y="148432"/>
                      </a:lnTo>
                      <a:cubicBezTo>
                        <a:pt x="80963" y="155884"/>
                        <a:pt x="74921" y="161925"/>
                        <a:pt x="67469" y="161925"/>
                      </a:cubicBezTo>
                      <a:lnTo>
                        <a:pt x="13494" y="161925"/>
                      </a:lnTo>
                      <a:cubicBezTo>
                        <a:pt x="6041" y="161925"/>
                        <a:pt x="0" y="155884"/>
                        <a:pt x="0" y="148432"/>
                      </a:cubicBezTo>
                      <a:lnTo>
                        <a:pt x="0" y="13494"/>
                      </a:lnTo>
                    </a:path>
                  </a:pathLst>
                </a:custGeom>
                <a:noFill/>
                <a:ln w="26988">
                  <a:solidFill>
                    <a:schemeClr val="accent2"/>
                  </a:solidFill>
                </a:ln>
              </p:spPr>
            </p:sp>
            <p:sp>
              <p:nvSpPr>
                <p:cNvPr id="13" name="Freeform 13"/>
                <p:cNvSpPr/>
                <p:nvPr/>
              </p:nvSpPr>
              <p:spPr>
                <a:xfrm>
                  <a:off x="8274844" y="1920875"/>
                  <a:ext cx="80963" cy="2159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963" h="215901">
                      <a:moveTo>
                        <a:pt x="0" y="13494"/>
                      </a:moveTo>
                      <a:cubicBezTo>
                        <a:pt x="0" y="6041"/>
                        <a:pt x="6041" y="0"/>
                        <a:pt x="13494" y="0"/>
                      </a:cubicBezTo>
                      <a:lnTo>
                        <a:pt x="67469" y="0"/>
                      </a:lnTo>
                      <a:cubicBezTo>
                        <a:pt x="74921" y="0"/>
                        <a:pt x="80963" y="6041"/>
                        <a:pt x="80963" y="13494"/>
                      </a:cubicBezTo>
                      <a:lnTo>
                        <a:pt x="80963" y="202407"/>
                      </a:lnTo>
                      <a:cubicBezTo>
                        <a:pt x="80963" y="209859"/>
                        <a:pt x="74921" y="215901"/>
                        <a:pt x="67469" y="215901"/>
                      </a:cubicBezTo>
                      <a:lnTo>
                        <a:pt x="13494" y="215901"/>
                      </a:lnTo>
                      <a:cubicBezTo>
                        <a:pt x="6041" y="215901"/>
                        <a:pt x="0" y="209859"/>
                        <a:pt x="0" y="202407"/>
                      </a:cubicBezTo>
                      <a:lnTo>
                        <a:pt x="0" y="13494"/>
                      </a:lnTo>
                    </a:path>
                  </a:pathLst>
                </a:custGeom>
                <a:noFill/>
                <a:ln w="26988">
                  <a:solidFill>
                    <a:schemeClr val="accent2"/>
                  </a:solidFill>
                </a:ln>
              </p:spPr>
            </p:sp>
            <p:sp>
              <p:nvSpPr>
                <p:cNvPr id="14" name="Freeform 14"/>
                <p:cNvSpPr/>
                <p:nvPr/>
              </p:nvSpPr>
              <p:spPr>
                <a:xfrm>
                  <a:off x="8207375" y="2136776"/>
                  <a:ext cx="188913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8913" h="9525">
                      <a:moveTo>
                        <a:pt x="0" y="0"/>
                      </a:moveTo>
                      <a:lnTo>
                        <a:pt x="188913" y="0"/>
                      </a:lnTo>
                    </a:path>
                  </a:pathLst>
                </a:custGeom>
                <a:noFill/>
                <a:ln w="26988">
                  <a:solidFill>
                    <a:schemeClr val="accent2"/>
                  </a:solidFill>
                </a:ln>
              </p:spPr>
            </p:sp>
          </p:grpSp>
          <p:sp>
            <p:nvSpPr>
              <p:cNvPr id="16" name="TextBox 16"/>
              <p:cNvSpPr txBox="1"/>
              <p:nvPr/>
            </p:nvSpPr>
            <p:spPr>
              <a:xfrm>
                <a:off x="8581644" y="1904048"/>
                <a:ext cx="1594866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数据驱动性能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8144256" y="2339340"/>
                <a:ext cx="273222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样本量从 442 增至 789，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8144256" y="2663190"/>
                <a:ext cx="337436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直接支撑准确率 0.82 → 0.94。</a:t>
                </a: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7886700" y="3352800"/>
              <a:ext cx="3733800" cy="1643634"/>
              <a:chOff x="7886700" y="3352800"/>
              <a:chExt cx="3733800" cy="1643634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7924800" y="3390900"/>
                <a:ext cx="3695700" cy="1562100"/>
              </a:xfrm>
              <a:prstGeom prst="roundRect">
                <a:avLst>
                  <a:gd name="adj" fmla="val 9756"/>
                </a:avLst>
              </a:prstGeom>
              <a:solidFill>
                <a:srgbClr val="F0DECF"/>
              </a:solidFill>
              <a:ln>
                <a:noFill/>
              </a:ln>
            </p:spPr>
          </p:sp>
          <p:sp>
            <p:nvSpPr>
              <p:cNvPr id="21" name="Rectangle 21"/>
              <p:cNvSpPr/>
              <p:nvPr/>
            </p:nvSpPr>
            <p:spPr>
              <a:xfrm>
                <a:off x="7886700" y="3352800"/>
                <a:ext cx="3695700" cy="1562100"/>
              </a:xfrm>
              <a:prstGeom prst="roundRect">
                <a:avLst>
                  <a:gd name="adj" fmla="val 9756"/>
                </a:avLst>
              </a:prstGeom>
              <a:solidFill>
                <a:srgbClr val="FBE9DD"/>
              </a:solidFill>
              <a:ln w="14288">
                <a:solidFill>
                  <a:srgbClr val="F0DECF"/>
                </a:solidFill>
              </a:ln>
            </p:spPr>
          </p:sp>
          <p:sp>
            <p:nvSpPr>
              <p:cNvPr id="22" name="Rectangle 22"/>
              <p:cNvSpPr/>
              <p:nvPr/>
            </p:nvSpPr>
            <p:spPr>
              <a:xfrm>
                <a:off x="7886700" y="3352800"/>
                <a:ext cx="76200" cy="1562100"/>
              </a:xfrm>
              <a:prstGeom prst="roundRect">
                <a:avLst>
                  <a:gd name="adj" fmla="val 50000"/>
                </a:avLst>
              </a:prstGeom>
              <a:solidFill>
                <a:schemeClr val="accent3"/>
              </a:solidFill>
              <a:ln>
                <a:noFill/>
              </a:ln>
            </p:spPr>
          </p:sp>
          <p:grpSp>
            <p:nvGrpSpPr>
              <p:cNvPr id="29" name="Group 29"/>
              <p:cNvGrpSpPr/>
              <p:nvPr/>
            </p:nvGrpSpPr>
            <p:grpSpPr>
              <a:xfrm>
                <a:off x="8193881" y="3621881"/>
                <a:ext cx="242888" cy="242888"/>
                <a:chOff x="8193881" y="3621881"/>
                <a:chExt cx="242888" cy="242888"/>
              </a:xfrm>
            </p:grpSpPr>
            <p:sp>
              <p:nvSpPr>
                <p:cNvPr id="23" name="Freeform 23"/>
                <p:cNvSpPr/>
                <p:nvPr/>
              </p:nvSpPr>
              <p:spPr>
                <a:xfrm>
                  <a:off x="8315325" y="3756819"/>
                  <a:ext cx="94456" cy="107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456" h="107950">
                      <a:moveTo>
                        <a:pt x="47228" y="0"/>
                      </a:moveTo>
                      <a:cubicBezTo>
                        <a:pt x="21145" y="0"/>
                        <a:pt x="0" y="21145"/>
                        <a:pt x="0" y="47228"/>
                      </a:cubicBezTo>
                      <a:lnTo>
                        <a:pt x="0" y="60722"/>
                      </a:lnTo>
                      <a:cubicBezTo>
                        <a:pt x="0" y="86805"/>
                        <a:pt x="21145" y="107950"/>
                        <a:pt x="47228" y="107950"/>
                      </a:cubicBezTo>
                      <a:cubicBezTo>
                        <a:pt x="73312" y="107950"/>
                        <a:pt x="94456" y="86805"/>
                        <a:pt x="94456" y="60722"/>
                      </a:cubicBezTo>
                      <a:lnTo>
                        <a:pt x="94456" y="36433"/>
                      </a:lnTo>
                    </a:path>
                  </a:pathLst>
                </a:custGeom>
                <a:noFill/>
                <a:ln w="26988">
                  <a:solidFill>
                    <a:schemeClr val="accent3"/>
                  </a:solidFill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8220869" y="3756819"/>
                  <a:ext cx="94456" cy="107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456" h="107950">
                      <a:moveTo>
                        <a:pt x="47228" y="0"/>
                      </a:moveTo>
                      <a:cubicBezTo>
                        <a:pt x="73312" y="0"/>
                        <a:pt x="94456" y="21145"/>
                        <a:pt x="94456" y="47228"/>
                      </a:cubicBezTo>
                      <a:lnTo>
                        <a:pt x="94456" y="60722"/>
                      </a:lnTo>
                      <a:cubicBezTo>
                        <a:pt x="94456" y="86805"/>
                        <a:pt x="73312" y="107950"/>
                        <a:pt x="47228" y="107950"/>
                      </a:cubicBezTo>
                      <a:cubicBezTo>
                        <a:pt x="21145" y="107950"/>
                        <a:pt x="0" y="86805"/>
                        <a:pt x="0" y="60722"/>
                      </a:cubicBezTo>
                      <a:lnTo>
                        <a:pt x="0" y="36433"/>
                      </a:lnTo>
                    </a:path>
                  </a:pathLst>
                </a:custGeom>
                <a:noFill/>
                <a:ln w="26988">
                  <a:solidFill>
                    <a:schemeClr val="accent3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8382794" y="3702844"/>
                  <a:ext cx="53975" cy="944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975" h="94456">
                      <a:moveTo>
                        <a:pt x="6747" y="94456"/>
                      </a:moveTo>
                      <a:cubicBezTo>
                        <a:pt x="32830" y="94456"/>
                        <a:pt x="53975" y="73312"/>
                        <a:pt x="53975" y="47228"/>
                      </a:cubicBezTo>
                      <a:cubicBezTo>
                        <a:pt x="53975" y="21145"/>
                        <a:pt x="32830" y="0"/>
                        <a:pt x="6747" y="0"/>
                      </a:cubicBezTo>
                      <a:lnTo>
                        <a:pt x="0" y="0"/>
                      </a:lnTo>
                    </a:path>
                  </a:pathLst>
                </a:custGeom>
                <a:noFill/>
                <a:ln w="26988">
                  <a:solidFill>
                    <a:schemeClr val="accent3"/>
                  </a:solidFill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8315325" y="3621881"/>
                  <a:ext cx="94456" cy="85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456" h="85011">
                      <a:moveTo>
                        <a:pt x="94456" y="85011"/>
                      </a:moveTo>
                      <a:lnTo>
                        <a:pt x="94456" y="47228"/>
                      </a:lnTo>
                      <a:cubicBezTo>
                        <a:pt x="94456" y="21145"/>
                        <a:pt x="73312" y="0"/>
                        <a:pt x="47228" y="0"/>
                      </a:cubicBezTo>
                      <a:cubicBezTo>
                        <a:pt x="21145" y="0"/>
                        <a:pt x="0" y="21145"/>
                        <a:pt x="0" y="47228"/>
                      </a:cubicBezTo>
                    </a:path>
                  </a:pathLst>
                </a:custGeom>
                <a:noFill/>
                <a:ln w="26988">
                  <a:solidFill>
                    <a:schemeClr val="accent3"/>
                  </a:solidFill>
                </a:ln>
              </p:spPr>
            </p:sp>
            <p:sp>
              <p:nvSpPr>
                <p:cNvPr id="27" name="Freeform 27"/>
                <p:cNvSpPr/>
                <p:nvPr/>
              </p:nvSpPr>
              <p:spPr>
                <a:xfrm>
                  <a:off x="8193881" y="3702844"/>
                  <a:ext cx="53975" cy="944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975" h="94456">
                      <a:moveTo>
                        <a:pt x="47228" y="94456"/>
                      </a:moveTo>
                      <a:cubicBezTo>
                        <a:pt x="21145" y="94456"/>
                        <a:pt x="0" y="73312"/>
                        <a:pt x="0" y="47228"/>
                      </a:cubicBezTo>
                      <a:cubicBezTo>
                        <a:pt x="0" y="21145"/>
                        <a:pt x="21145" y="0"/>
                        <a:pt x="47228" y="0"/>
                      </a:cubicBezTo>
                      <a:lnTo>
                        <a:pt x="53975" y="0"/>
                      </a:lnTo>
                    </a:path>
                  </a:pathLst>
                </a:custGeom>
                <a:noFill/>
                <a:ln w="26988">
                  <a:solidFill>
                    <a:schemeClr val="accent3"/>
                  </a:solidFill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8220869" y="3621881"/>
                  <a:ext cx="94456" cy="1821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456" h="182166">
                      <a:moveTo>
                        <a:pt x="0" y="85011"/>
                      </a:moveTo>
                      <a:lnTo>
                        <a:pt x="0" y="47228"/>
                      </a:lnTo>
                      <a:cubicBezTo>
                        <a:pt x="0" y="21145"/>
                        <a:pt x="21145" y="0"/>
                        <a:pt x="47228" y="0"/>
                      </a:cubicBezTo>
                      <a:cubicBezTo>
                        <a:pt x="73312" y="0"/>
                        <a:pt x="94456" y="21145"/>
                        <a:pt x="94456" y="47228"/>
                      </a:cubicBezTo>
                      <a:lnTo>
                        <a:pt x="94456" y="182166"/>
                      </a:lnTo>
                    </a:path>
                  </a:pathLst>
                </a:custGeom>
                <a:noFill/>
                <a:ln w="26988">
                  <a:solidFill>
                    <a:schemeClr val="accent3"/>
                  </a:solidFill>
                </a:ln>
              </p:spPr>
            </p:sp>
          </p:grpSp>
          <p:sp>
            <p:nvSpPr>
              <p:cNvPr id="30" name="TextBox 30"/>
              <p:cNvSpPr txBox="1"/>
              <p:nvPr/>
            </p:nvSpPr>
            <p:spPr>
              <a:xfrm>
                <a:off x="8581644" y="3618548"/>
                <a:ext cx="1332357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b="1" dirty="0">
                    <a:solidFill>
                      <a:srgbClr val="B5663A"/>
                    </a:solidFill>
                    <a:latin typeface="+mn-lt"/>
                    <a:ea typeface="+mn-ea"/>
                    <a:cs typeface="+mn-cs"/>
                  </a:rPr>
                  <a:t>类别不平衡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8144256" y="4053840"/>
                <a:ext cx="310527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鲜味肽是少数类；iUP-BERT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44256" y="4377690"/>
                <a:ext cx="328269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用 SMOTE 合成少数类样本，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8144256" y="4644390"/>
                <a:ext cx="195681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灵敏度大幅提升。</a:t>
                </a:r>
              </a:p>
            </p:txBody>
          </p:sp>
        </p:grpSp>
      </p:grpSp>
      <p:grpSp>
        <p:nvGrpSpPr>
          <p:cNvPr id="40" name="Group 40"/>
          <p:cNvGrpSpPr/>
          <p:nvPr/>
        </p:nvGrpSpPr>
        <p:grpSpPr>
          <a:xfrm>
            <a:off x="609600" y="5181600"/>
            <a:ext cx="10972800" cy="1143000"/>
            <a:chOff x="609600" y="5181600"/>
            <a:chExt cx="10972800" cy="1143000"/>
          </a:xfrm>
        </p:grpSpPr>
        <p:sp>
          <p:nvSpPr>
            <p:cNvPr id="36" name="Rectangle 36"/>
            <p:cNvSpPr/>
            <p:nvPr/>
          </p:nvSpPr>
          <p:spPr>
            <a:xfrm>
              <a:off x="609600" y="5181600"/>
              <a:ext cx="10972800" cy="1143000"/>
            </a:xfrm>
            <a:prstGeom prst="roundRect">
              <a:avLst>
                <a:gd name="adj" fmla="val 13333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09600" y="5181600"/>
              <a:ext cx="76200" cy="1143000"/>
            </a:xfrm>
            <a:prstGeom prst="roundRect">
              <a:avLst>
                <a:gd name="adj" fmla="val 50000"/>
              </a:avLst>
            </a:prstGeom>
            <a:solidFill>
              <a:srgbClr val="2FB3A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42594" y="5428298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读图要点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43356" y="5825490"/>
              <a:ext cx="762129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94310" indent="-194310">
                <a:buClr>
                  <a:srgbClr val="AEBFD0"/>
                </a:buClr>
                <a:buSzTx/>
                <a:buFontTx/>
                <a:buChar char="•"/>
              </a:pPr>
              <a:r>
                <a:rPr lang="zh-CN" sz="1800" dirty="0">
                  <a:solidFill>
                    <a:srgbClr val="AEBFD0"/>
                  </a:solidFill>
                  <a:latin typeface="+mn-lt"/>
                  <a:ea typeface="+mn-ea"/>
                  <a:cs typeface="+mn-cs"/>
                </a:rPr>
                <a:t>「全猜负类」也能虚高准确率，故必须同时看灵敏度（Sn）与 MCC</a:t>
              </a:r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10761497" y="6473190"/>
            <a:ext cx="8300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800" dirty="0">
                <a:solidFill>
                  <a:srgbClr val="A3B2BF"/>
                </a:solidFill>
                <a:latin typeface="+mn-lt"/>
                <a:ea typeface="+mn-ea"/>
                <a:cs typeface="+mn-cs"/>
              </a:rPr>
              <a:t>06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4360" y="472440"/>
            <a:ext cx="5280660" cy="1047750"/>
            <a:chOff x="594360" y="472440"/>
            <a:chExt cx="5280660" cy="1047750"/>
          </a:xfrm>
        </p:grpSpPr>
        <p:sp>
          <p:nvSpPr>
            <p:cNvPr id="2" name="TextBox 2"/>
            <p:cNvSpPr txBox="1"/>
            <p:nvPr/>
          </p:nvSpPr>
          <p:spPr>
            <a:xfrm>
              <a:off x="600456" y="472440"/>
              <a:ext cx="277160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 · 机器学习技术路线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609600" y="819150"/>
              <a:ext cx="457200" cy="5715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94360" y="933450"/>
              <a:ext cx="528066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特征编码：从序列到数值向量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09600" y="1638300"/>
            <a:ext cx="11010900" cy="1181100"/>
            <a:chOff x="609600" y="1638300"/>
            <a:chExt cx="11010900" cy="1181100"/>
          </a:xfrm>
        </p:grpSpPr>
        <p:sp>
          <p:nvSpPr>
            <p:cNvPr id="6" name="Rectangle 6"/>
            <p:cNvSpPr/>
            <p:nvPr/>
          </p:nvSpPr>
          <p:spPr>
            <a:xfrm>
              <a:off x="647700" y="1676400"/>
              <a:ext cx="10972800" cy="1143000"/>
            </a:xfrm>
            <a:prstGeom prst="roundRect">
              <a:avLst>
                <a:gd name="adj" fmla="val 13333"/>
              </a:avLst>
            </a:prstGeom>
            <a:solidFill>
              <a:srgbClr val="E3E9ED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38300"/>
              <a:ext cx="10972800" cy="114300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14288">
              <a:solidFill>
                <a:srgbClr val="DDE6EC"/>
              </a:solidFill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914400" y="2038350"/>
              <a:ext cx="3352800" cy="526923"/>
              <a:chOff x="914400" y="2038350"/>
              <a:chExt cx="3352800" cy="526923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914400" y="2038350"/>
                <a:ext cx="495300" cy="495300"/>
              </a:xfrm>
              <a:prstGeom prst="roundRect">
                <a:avLst>
                  <a:gd name="adj" fmla="val 15385"/>
                </a:avLst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065131" y="2154555"/>
                <a:ext cx="193838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E</a:t>
                </a:r>
              </a:p>
            </p:txBody>
          </p:sp>
          <p:sp>
            <p:nvSpPr>
              <p:cNvPr id="10" name="Rectangle 10"/>
              <p:cNvSpPr/>
              <p:nvPr/>
            </p:nvSpPr>
            <p:spPr>
              <a:xfrm>
                <a:off x="1485900" y="2038350"/>
                <a:ext cx="495300" cy="495300"/>
              </a:xfrm>
              <a:prstGeom prst="roundRect">
                <a:avLst>
                  <a:gd name="adj" fmla="val 15385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1636631" y="2154555"/>
                <a:ext cx="193838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G</a:t>
                </a:r>
              </a:p>
            </p:txBody>
          </p:sp>
          <p:sp>
            <p:nvSpPr>
              <p:cNvPr id="12" name="Rectangle 12"/>
              <p:cNvSpPr/>
              <p:nvPr/>
            </p:nvSpPr>
            <p:spPr>
              <a:xfrm>
                <a:off x="2057400" y="2038350"/>
                <a:ext cx="495300" cy="495300"/>
              </a:xfrm>
              <a:prstGeom prst="roundRect">
                <a:avLst>
                  <a:gd name="adj" fmla="val 15385"/>
                </a:avLst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2208131" y="2154555"/>
                <a:ext cx="193838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D</a:t>
                </a:r>
              </a:p>
            </p:txBody>
          </p:sp>
          <p:sp>
            <p:nvSpPr>
              <p:cNvPr id="14" name="Rectangle 14"/>
              <p:cNvSpPr/>
              <p:nvPr/>
            </p:nvSpPr>
            <p:spPr>
              <a:xfrm>
                <a:off x="2628900" y="2038350"/>
                <a:ext cx="495300" cy="495300"/>
              </a:xfrm>
              <a:prstGeom prst="roundRect">
                <a:avLst>
                  <a:gd name="adj" fmla="val 15385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2779631" y="2154555"/>
                <a:ext cx="193838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S</a:t>
                </a:r>
              </a:p>
            </p:txBody>
          </p:sp>
          <p:sp>
            <p:nvSpPr>
              <p:cNvPr id="16" name="Rectangle 16"/>
              <p:cNvSpPr/>
              <p:nvPr/>
            </p:nvSpPr>
            <p:spPr>
              <a:xfrm>
                <a:off x="3200400" y="2038350"/>
                <a:ext cx="495300" cy="495300"/>
              </a:xfrm>
              <a:prstGeom prst="roundRect">
                <a:avLst>
                  <a:gd name="adj" fmla="val 15385"/>
                </a:avLst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3351131" y="2154555"/>
                <a:ext cx="193838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E</a:t>
                </a:r>
              </a:p>
            </p:txBody>
          </p:sp>
          <p:sp>
            <p:nvSpPr>
              <p:cNvPr id="18" name="Rectangle 18"/>
              <p:cNvSpPr/>
              <p:nvPr/>
            </p:nvSpPr>
            <p:spPr>
              <a:xfrm>
                <a:off x="3771900" y="2038350"/>
                <a:ext cx="495300" cy="495300"/>
              </a:xfrm>
              <a:prstGeom prst="roundRect">
                <a:avLst>
                  <a:gd name="adj" fmla="val 15385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3922631" y="2154555"/>
                <a:ext cx="193838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R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4696619" y="2271713"/>
              <a:ext cx="188913" cy="161925"/>
              <a:chOff x="4696619" y="2271713"/>
              <a:chExt cx="188913" cy="161925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4696619" y="2352675"/>
                <a:ext cx="18891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88913" h="9525">
                    <a:moveTo>
                      <a:pt x="0" y="0"/>
                    </a:moveTo>
                    <a:lnTo>
                      <a:pt x="188913" y="0"/>
                    </a:lnTo>
                  </a:path>
                </a:pathLst>
              </a:custGeom>
              <a:noFill/>
              <a:ln w="26988">
                <a:solidFill>
                  <a:schemeClr val="accent2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4804569" y="2352675"/>
                <a:ext cx="80963" cy="80963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80963">
                    <a:moveTo>
                      <a:pt x="0" y="80963"/>
                    </a:moveTo>
                    <a:lnTo>
                      <a:pt x="80963" y="0"/>
                    </a:lnTo>
                  </a:path>
                </a:pathLst>
              </a:custGeom>
              <a:noFill/>
              <a:ln w="26988">
                <a:solidFill>
                  <a:schemeClr val="accent2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4804569" y="2271713"/>
                <a:ext cx="80963" cy="80963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80963">
                    <a:moveTo>
                      <a:pt x="0" y="0"/>
                    </a:moveTo>
                    <a:lnTo>
                      <a:pt x="80963" y="80963"/>
                    </a:lnTo>
                  </a:path>
                </a:pathLst>
              </a:custGeom>
              <a:noFill/>
              <a:ln w="26988">
                <a:solidFill>
                  <a:schemeClr val="accent2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5134356" y="1996440"/>
              <a:ext cx="159228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编码 Encoding</a:t>
              </a:r>
            </a:p>
          </p:txBody>
        </p:sp>
        <p:grpSp>
          <p:nvGrpSpPr>
            <p:cNvPr id="32" name="Group 32"/>
            <p:cNvGrpSpPr/>
            <p:nvPr/>
          </p:nvGrpSpPr>
          <p:grpSpPr>
            <a:xfrm>
              <a:off x="5143500" y="2286000"/>
              <a:ext cx="4676261" cy="456629"/>
              <a:chOff x="5143500" y="2286000"/>
              <a:chExt cx="4676261" cy="456629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5143500" y="2286000"/>
                <a:ext cx="381000" cy="381000"/>
              </a:xfrm>
              <a:prstGeom prst="roundRect">
                <a:avLst>
                  <a:gd name="adj" fmla="val 15000"/>
                </a:avLst>
              </a:prstGeom>
              <a:solidFill>
                <a:srgbClr val="DFF0EE"/>
              </a:solidFill>
              <a:ln>
                <a:noFill/>
              </a:ln>
            </p:spPr>
          </p:sp>
          <p:sp>
            <p:nvSpPr>
              <p:cNvPr id="27" name="Rectangle 27"/>
              <p:cNvSpPr/>
              <p:nvPr/>
            </p:nvSpPr>
            <p:spPr>
              <a:xfrm>
                <a:off x="5600700" y="2286000"/>
                <a:ext cx="381000" cy="381000"/>
              </a:xfrm>
              <a:prstGeom prst="roundRect">
                <a:avLst>
                  <a:gd name="adj" fmla="val 15000"/>
                </a:avLst>
              </a:pr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28" name="Rectangle 28"/>
              <p:cNvSpPr/>
              <p:nvPr/>
            </p:nvSpPr>
            <p:spPr>
              <a:xfrm>
                <a:off x="6057900" y="2286000"/>
                <a:ext cx="381000" cy="381000"/>
              </a:xfrm>
              <a:prstGeom prst="roundRect">
                <a:avLst>
                  <a:gd name="adj" fmla="val 15000"/>
                </a:avLst>
              </a:prstGeom>
              <a:solidFill>
                <a:srgbClr val="FBE9DD"/>
              </a:solidFill>
              <a:ln>
                <a:noFill/>
              </a:ln>
            </p:spPr>
          </p:sp>
          <p:sp>
            <p:nvSpPr>
              <p:cNvPr id="29" name="Rectangle 29"/>
              <p:cNvSpPr/>
              <p:nvPr/>
            </p:nvSpPr>
            <p:spPr>
              <a:xfrm>
                <a:off x="6515100" y="2286000"/>
                <a:ext cx="381000" cy="381000"/>
              </a:xfrm>
              <a:prstGeom prst="roundRect">
                <a:avLst>
                  <a:gd name="adj" fmla="val 15000"/>
                </a:avLst>
              </a:prstGeom>
              <a:solidFill>
                <a:srgbClr val="DFF0EE"/>
              </a:solidFill>
              <a:ln>
                <a:noFill/>
              </a:ln>
            </p:spPr>
          </p:sp>
          <p:sp>
            <p:nvSpPr>
              <p:cNvPr id="30" name="Rectangle 30"/>
              <p:cNvSpPr/>
              <p:nvPr/>
            </p:nvSpPr>
            <p:spPr>
              <a:xfrm>
                <a:off x="6972300" y="2286000"/>
                <a:ext cx="381000" cy="381000"/>
              </a:xfrm>
              <a:prstGeom prst="roundRect">
                <a:avLst>
                  <a:gd name="adj" fmla="val 15000"/>
                </a:avLst>
              </a:pr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7476744" y="2361248"/>
                <a:ext cx="2343017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… 数十～数千维向量</a:t>
                </a:r>
              </a:p>
            </p:txBody>
          </p:sp>
        </p:grpSp>
      </p:grpSp>
      <p:grpSp>
        <p:nvGrpSpPr>
          <p:cNvPr id="56" name="Group 56"/>
          <p:cNvGrpSpPr/>
          <p:nvPr/>
        </p:nvGrpSpPr>
        <p:grpSpPr>
          <a:xfrm>
            <a:off x="609600" y="3009900"/>
            <a:ext cx="5372100" cy="2862834"/>
            <a:chOff x="609600" y="3009900"/>
            <a:chExt cx="5372100" cy="2862834"/>
          </a:xfrm>
        </p:grpSpPr>
        <p:sp>
          <p:nvSpPr>
            <p:cNvPr id="34" name="Rectangle 34"/>
            <p:cNvSpPr/>
            <p:nvPr/>
          </p:nvSpPr>
          <p:spPr>
            <a:xfrm>
              <a:off x="647700" y="3048000"/>
              <a:ext cx="5334000" cy="2819400"/>
            </a:xfrm>
            <a:prstGeom prst="roundRect">
              <a:avLst>
                <a:gd name="adj" fmla="val 5405"/>
              </a:avLst>
            </a:prstGeom>
            <a:solidFill>
              <a:srgbClr val="E3E9ED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09600" y="3009900"/>
              <a:ext cx="5334000" cy="2819400"/>
            </a:xfrm>
            <a:prstGeom prst="roundRect">
              <a:avLst>
                <a:gd name="adj" fmla="val 5405"/>
              </a:avLst>
            </a:prstGeom>
            <a:solidFill>
              <a:srgbClr val="FFFFFF"/>
            </a:solidFill>
            <a:ln w="14288">
              <a:solidFill>
                <a:srgbClr val="CFE4E1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609600" y="3009900"/>
              <a:ext cx="5334000" cy="571500"/>
            </a:xfrm>
            <a:prstGeom prst="roundRect">
              <a:avLst>
                <a:gd name="adj" fmla="val 26667"/>
              </a:avLst>
            </a:prstGeom>
            <a:solidFill>
              <a:srgbClr val="DFF0EE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865188" y="3151188"/>
              <a:ext cx="256381" cy="269875"/>
              <a:chOff x="865188" y="3151188"/>
              <a:chExt cx="256381" cy="269875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865188" y="3367088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53975" y="26988"/>
                    </a:move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</a:path>
                </a:pathLst>
              </a:custGeom>
              <a:noFill/>
              <a:ln w="26988">
                <a:solidFill>
                  <a:schemeClr val="accent2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1000125" y="3151188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53975" y="26988"/>
                    </a:move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</a:path>
                </a:pathLst>
              </a:custGeom>
              <a:noFill/>
              <a:ln w="26988">
                <a:solidFill>
                  <a:schemeClr val="accent2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1000125" y="3367088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53975" y="26988"/>
                    </a:move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</a:path>
                </a:pathLst>
              </a:custGeom>
              <a:noFill/>
              <a:ln w="26988">
                <a:solidFill>
                  <a:schemeClr val="accent2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932656" y="3259138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53975" y="26988"/>
                    </a:move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</a:path>
                </a:pathLst>
              </a:custGeom>
              <a:noFill/>
              <a:ln w="26988">
                <a:solidFill>
                  <a:schemeClr val="accent2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1067594" y="3259138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53975" y="26988"/>
                    </a:move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</a:path>
                </a:pathLst>
              </a:custGeom>
              <a:noFill/>
              <a:ln w="26988">
                <a:solidFill>
                  <a:schemeClr val="accent2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906452" y="3309065"/>
                <a:ext cx="38862" cy="62152"/>
              </a:xfrm>
              <a:custGeom>
                <a:avLst/>
                <a:gdLst/>
                <a:ahLst/>
                <a:cxnLst/>
                <a:rect l="l" t="t" r="r" b="b"/>
                <a:pathLst>
                  <a:path w="38862" h="62152">
                    <a:moveTo>
                      <a:pt x="0" y="62152"/>
                    </a:moveTo>
                    <a:lnTo>
                      <a:pt x="38862" y="0"/>
                    </a:lnTo>
                  </a:path>
                </a:pathLst>
              </a:custGeom>
              <a:noFill/>
              <a:ln w="26988">
                <a:solidFill>
                  <a:schemeClr val="accent2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973961" y="3201101"/>
                <a:ext cx="38822" cy="62125"/>
              </a:xfrm>
              <a:custGeom>
                <a:avLst/>
                <a:gdLst/>
                <a:ahLst/>
                <a:cxnLst/>
                <a:rect l="l" t="t" r="r" b="b"/>
                <a:pathLst>
                  <a:path w="38822" h="62125">
                    <a:moveTo>
                      <a:pt x="0" y="62125"/>
                    </a:moveTo>
                    <a:lnTo>
                      <a:pt x="38822" y="0"/>
                    </a:lnTo>
                  </a:path>
                </a:pathLst>
              </a:custGeom>
              <a:noFill/>
              <a:ln w="26988">
                <a:solidFill>
                  <a:schemeClr val="accent2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974015" y="3309132"/>
                <a:ext cx="38808" cy="62071"/>
              </a:xfrm>
              <a:custGeom>
                <a:avLst/>
                <a:gdLst/>
                <a:ahLst/>
                <a:cxnLst/>
                <a:rect l="l" t="t" r="r" b="b"/>
                <a:pathLst>
                  <a:path w="38808" h="62071">
                    <a:moveTo>
                      <a:pt x="0" y="0"/>
                    </a:moveTo>
                    <a:lnTo>
                      <a:pt x="38808" y="62071"/>
                    </a:lnTo>
                  </a:path>
                </a:pathLst>
              </a:custGeom>
              <a:noFill/>
              <a:ln w="26988">
                <a:solidFill>
                  <a:schemeClr val="accent2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1041457" y="3201115"/>
                <a:ext cx="38876" cy="62206"/>
              </a:xfrm>
              <a:custGeom>
                <a:avLst/>
                <a:gdLst/>
                <a:ahLst/>
                <a:cxnLst/>
                <a:rect l="l" t="t" r="r" b="b"/>
                <a:pathLst>
                  <a:path w="38876" h="62206">
                    <a:moveTo>
                      <a:pt x="0" y="0"/>
                    </a:moveTo>
                    <a:lnTo>
                      <a:pt x="38876" y="62206"/>
                    </a:lnTo>
                  </a:path>
                </a:pathLst>
              </a:custGeom>
              <a:noFill/>
              <a:ln w="26988">
                <a:solidFill>
                  <a:schemeClr val="accent2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1247394" y="3180398"/>
              <a:ext cx="316992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手工特征（依赖专家经验）</a:t>
              </a:r>
            </a:p>
          </p:txBody>
        </p:sp>
        <p:grpSp>
          <p:nvGrpSpPr>
            <p:cNvPr id="53" name="Group 53"/>
            <p:cNvGrpSpPr/>
            <p:nvPr/>
          </p:nvGrpSpPr>
          <p:grpSpPr>
            <a:xfrm>
              <a:off x="829056" y="3749040"/>
              <a:ext cx="4452122" cy="1799844"/>
              <a:chOff x="829056" y="3749040"/>
              <a:chExt cx="4452122" cy="1799844"/>
            </a:xfrm>
          </p:grpSpPr>
          <p:sp>
            <p:nvSpPr>
              <p:cNvPr id="48" name="TextBox 48"/>
              <p:cNvSpPr txBox="1"/>
              <p:nvPr/>
            </p:nvSpPr>
            <p:spPr>
              <a:xfrm>
                <a:off x="829056" y="3749040"/>
                <a:ext cx="311856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94310" indent="-194310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AAC 氨基酸组成（20 维）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829056" y="4110990"/>
                <a:ext cx="300334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94310" indent="-194310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DPC 二肽组成（400 维）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829056" y="4472940"/>
                <a:ext cx="338739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94310" indent="-194310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PAAC / APAAC 拟氨基酸组成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829056" y="4834890"/>
                <a:ext cx="30417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94310" indent="-194310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CTD 组成-转换-分布特征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829056" y="5196840"/>
                <a:ext cx="445212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94310" indent="-194310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电荷 / 疏水性 / pKa；Mordred 描述符</a:t>
                </a:r>
              </a:p>
            </p:txBody>
          </p:sp>
        </p:grpSp>
        <p:sp>
          <p:nvSpPr>
            <p:cNvPr id="54" name="Rectangle 54"/>
            <p:cNvSpPr/>
            <p:nvPr/>
          </p:nvSpPr>
          <p:spPr>
            <a:xfrm>
              <a:off x="838200" y="5524500"/>
              <a:ext cx="2857500" cy="24765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981456" y="5520690"/>
              <a:ext cx="344705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B5663A"/>
                  </a:solidFill>
                  <a:latin typeface="+mn-lt"/>
                  <a:ea typeface="+mn-ea"/>
                  <a:cs typeface="+mn-cs"/>
                </a:rPr>
                <a:t>特点：可解释，但有噪声 / 冗余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6172200" y="3009900"/>
            <a:ext cx="5410200" cy="2819400"/>
            <a:chOff x="6172200" y="3009900"/>
            <a:chExt cx="5410200" cy="2819400"/>
          </a:xfrm>
        </p:grpSpPr>
        <p:sp>
          <p:nvSpPr>
            <p:cNvPr id="57" name="Rectangle 57"/>
            <p:cNvSpPr/>
            <p:nvPr/>
          </p:nvSpPr>
          <p:spPr>
            <a:xfrm>
              <a:off x="6172200" y="3009900"/>
              <a:ext cx="5410200" cy="2819400"/>
            </a:xfrm>
            <a:prstGeom prst="roundRect">
              <a:avLst>
                <a:gd name="adj" fmla="val 5405"/>
              </a:avLst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6479381" y="3317081"/>
              <a:ext cx="242888" cy="242888"/>
              <a:chOff x="6479381" y="3317081"/>
              <a:chExt cx="242888" cy="242888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6600825" y="3452019"/>
                <a:ext cx="94456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107950">
                    <a:moveTo>
                      <a:pt x="47228" y="0"/>
                    </a:moveTo>
                    <a:cubicBezTo>
                      <a:pt x="21145" y="0"/>
                      <a:pt x="0" y="21145"/>
                      <a:pt x="0" y="47228"/>
                    </a:cubicBezTo>
                    <a:lnTo>
                      <a:pt x="0" y="60722"/>
                    </a:lnTo>
                    <a:cubicBezTo>
                      <a:pt x="0" y="86805"/>
                      <a:pt x="21145" y="107950"/>
                      <a:pt x="47228" y="107950"/>
                    </a:cubicBezTo>
                    <a:cubicBezTo>
                      <a:pt x="73312" y="107950"/>
                      <a:pt x="94456" y="86805"/>
                      <a:pt x="94456" y="60722"/>
                    </a:cubicBezTo>
                    <a:lnTo>
                      <a:pt x="94456" y="36433"/>
                    </a:lnTo>
                  </a:path>
                </a:pathLst>
              </a:custGeom>
              <a:noFill/>
              <a:ln w="26988">
                <a:solidFill>
                  <a:srgbClr val="2FB3A8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6506369" y="3452019"/>
                <a:ext cx="94456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107950">
                    <a:moveTo>
                      <a:pt x="47228" y="0"/>
                    </a:moveTo>
                    <a:cubicBezTo>
                      <a:pt x="73312" y="0"/>
                      <a:pt x="94456" y="21145"/>
                      <a:pt x="94456" y="47228"/>
                    </a:cubicBezTo>
                    <a:lnTo>
                      <a:pt x="94456" y="60722"/>
                    </a:lnTo>
                    <a:cubicBezTo>
                      <a:pt x="94456" y="86805"/>
                      <a:pt x="73312" y="107950"/>
                      <a:pt x="47228" y="107950"/>
                    </a:cubicBezTo>
                    <a:cubicBezTo>
                      <a:pt x="21145" y="107950"/>
                      <a:pt x="0" y="86805"/>
                      <a:pt x="0" y="60722"/>
                    </a:cubicBezTo>
                    <a:lnTo>
                      <a:pt x="0" y="36433"/>
                    </a:lnTo>
                  </a:path>
                </a:pathLst>
              </a:custGeom>
              <a:noFill/>
              <a:ln w="26988">
                <a:solidFill>
                  <a:srgbClr val="2FB3A8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6668294" y="3398044"/>
                <a:ext cx="53975" cy="94456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94456">
                    <a:moveTo>
                      <a:pt x="6747" y="94456"/>
                    </a:moveTo>
                    <a:cubicBezTo>
                      <a:pt x="32830" y="94456"/>
                      <a:pt x="53975" y="73312"/>
                      <a:pt x="53975" y="47228"/>
                    </a:cubicBezTo>
                    <a:cubicBezTo>
                      <a:pt x="53975" y="21145"/>
                      <a:pt x="32830" y="0"/>
                      <a:pt x="6747" y="0"/>
                    </a:cubicBezTo>
                    <a:lnTo>
                      <a:pt x="0" y="0"/>
                    </a:lnTo>
                  </a:path>
                </a:pathLst>
              </a:custGeom>
              <a:noFill/>
              <a:ln w="26988">
                <a:solidFill>
                  <a:srgbClr val="2FB3A8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6600825" y="3317081"/>
                <a:ext cx="94456" cy="85011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85011">
                    <a:moveTo>
                      <a:pt x="94456" y="85011"/>
                    </a:moveTo>
                    <a:lnTo>
                      <a:pt x="94456" y="47228"/>
                    </a:lnTo>
                    <a:cubicBezTo>
                      <a:pt x="94456" y="21145"/>
                      <a:pt x="73312" y="0"/>
                      <a:pt x="47228" y="0"/>
                    </a:cubicBezTo>
                    <a:cubicBezTo>
                      <a:pt x="21145" y="0"/>
                      <a:pt x="0" y="21145"/>
                      <a:pt x="0" y="47228"/>
                    </a:cubicBezTo>
                  </a:path>
                </a:pathLst>
              </a:custGeom>
              <a:noFill/>
              <a:ln w="26988">
                <a:solidFill>
                  <a:srgbClr val="2FB3A8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6479381" y="3398044"/>
                <a:ext cx="53975" cy="94456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94456">
                    <a:moveTo>
                      <a:pt x="47228" y="94456"/>
                    </a:moveTo>
                    <a:cubicBezTo>
                      <a:pt x="21145" y="94456"/>
                      <a:pt x="0" y="73312"/>
                      <a:pt x="0" y="47228"/>
                    </a:cubicBezTo>
                    <a:cubicBezTo>
                      <a:pt x="0" y="21145"/>
                      <a:pt x="21145" y="0"/>
                      <a:pt x="47228" y="0"/>
                    </a:cubicBezTo>
                    <a:lnTo>
                      <a:pt x="53975" y="0"/>
                    </a:lnTo>
                  </a:path>
                </a:pathLst>
              </a:custGeom>
              <a:noFill/>
              <a:ln w="26988">
                <a:solidFill>
                  <a:srgbClr val="2FB3A8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6506369" y="3317081"/>
                <a:ext cx="94456" cy="182166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182166">
                    <a:moveTo>
                      <a:pt x="0" y="85011"/>
                    </a:moveTo>
                    <a:lnTo>
                      <a:pt x="0" y="47228"/>
                    </a:lnTo>
                    <a:cubicBezTo>
                      <a:pt x="0" y="21145"/>
                      <a:pt x="21145" y="0"/>
                      <a:pt x="47228" y="0"/>
                    </a:cubicBezTo>
                    <a:cubicBezTo>
                      <a:pt x="73312" y="0"/>
                      <a:pt x="94456" y="21145"/>
                      <a:pt x="94456" y="47228"/>
                    </a:cubicBezTo>
                    <a:lnTo>
                      <a:pt x="94456" y="182166"/>
                    </a:lnTo>
                  </a:path>
                </a:pathLst>
              </a:custGeom>
              <a:noFill/>
              <a:ln w="26988">
                <a:solidFill>
                  <a:srgbClr val="2FB3A8"/>
                </a:solidFill>
              </a:ln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6848094" y="3332798"/>
              <a:ext cx="264490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深度表征（当前主流）</a:t>
              </a:r>
            </a:p>
          </p:txBody>
        </p:sp>
        <p:grpSp>
          <p:nvGrpSpPr>
            <p:cNvPr id="70" name="Group 70"/>
            <p:cNvGrpSpPr/>
            <p:nvPr/>
          </p:nvGrpSpPr>
          <p:grpSpPr>
            <a:xfrm>
              <a:off x="6429756" y="3901440"/>
              <a:ext cx="4878781" cy="1495044"/>
              <a:chOff x="6429756" y="3901440"/>
              <a:chExt cx="4878781" cy="1495044"/>
            </a:xfrm>
          </p:grpSpPr>
          <p:sp>
            <p:nvSpPr>
              <p:cNvPr id="66" name="TextBox 66"/>
              <p:cNvSpPr txBox="1"/>
              <p:nvPr/>
            </p:nvSpPr>
            <p:spPr>
              <a:xfrm>
                <a:off x="6429756" y="3901440"/>
                <a:ext cx="487878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94310" indent="-194310">
                  <a:buClr>
                    <a:srgbClr val="DCE8F2"/>
                  </a:buClr>
                  <a:buSzTx/>
                  <a:buFontTx/>
                  <a:buChar char="•"/>
                </a:pPr>
                <a:r>
                  <a:rPr lang="zh-CN" sz="1800" dirty="0">
                    <a:solidFill>
                      <a:srgbClr val="DCE8F2"/>
                    </a:solidFill>
                    <a:latin typeface="+mn-lt"/>
                    <a:ea typeface="+mn-ea"/>
                    <a:cs typeface="+mn-cs"/>
                  </a:rPr>
                  <a:t>BERT / Transformer 海量蛋白序列预训练</a:t>
                </a:r>
              </a:p>
            </p:txBody>
          </p:sp>
          <p:sp>
            <p:nvSpPr>
              <p:cNvPr id="67" name="TextBox 67"/>
              <p:cNvSpPr txBox="1"/>
              <p:nvPr/>
            </p:nvSpPr>
            <p:spPr>
              <a:xfrm>
                <a:off x="6429756" y="4282440"/>
                <a:ext cx="364136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94310" indent="-194310">
                  <a:buClr>
                    <a:srgbClr val="DCE8F2"/>
                  </a:buClr>
                  <a:buSzTx/>
                  <a:buFontTx/>
                  <a:buChar char="•"/>
                </a:pPr>
                <a:r>
                  <a:rPr lang="zh-CN" sz="1800" dirty="0">
                    <a:solidFill>
                      <a:srgbClr val="DCE8F2"/>
                    </a:solidFill>
                    <a:latin typeface="+mn-lt"/>
                    <a:ea typeface="+mn-ea"/>
                    <a:cs typeface="+mn-cs"/>
                  </a:rPr>
                  <a:t>残基 → 带上下文语义的高维嵌入</a:t>
                </a:r>
              </a:p>
            </p:txBody>
          </p:sp>
          <p:sp>
            <p:nvSpPr>
              <p:cNvPr id="68" name="TextBox 68"/>
              <p:cNvSpPr txBox="1"/>
              <p:nvPr/>
            </p:nvSpPr>
            <p:spPr>
              <a:xfrm>
                <a:off x="6429756" y="4663440"/>
                <a:ext cx="287807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94310" indent="-194310">
                  <a:buClr>
                    <a:srgbClr val="DCE8F2"/>
                  </a:buClr>
                  <a:buSzTx/>
                  <a:buFontTx/>
                  <a:buChar char="•"/>
                </a:pPr>
                <a:r>
                  <a:rPr lang="zh-CN" sz="1800" dirty="0">
                    <a:solidFill>
                      <a:srgbClr val="DCE8F2"/>
                    </a:solidFill>
                    <a:latin typeface="+mn-lt"/>
                    <a:ea typeface="+mn-ea"/>
                    <a:cs typeface="+mn-cs"/>
                  </a:rPr>
                  <a:t>两阶段微调，端到端学习</a:t>
                </a:r>
              </a:p>
            </p:txBody>
          </p:sp>
          <p:sp>
            <p:nvSpPr>
              <p:cNvPr id="69" name="TextBox 69"/>
              <p:cNvSpPr txBox="1"/>
              <p:nvPr/>
            </p:nvSpPr>
            <p:spPr>
              <a:xfrm>
                <a:off x="6429756" y="5044440"/>
                <a:ext cx="312039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94310" indent="-194310">
                  <a:buClr>
                    <a:srgbClr val="DCE8F2"/>
                  </a:buClr>
                  <a:buSzTx/>
                  <a:buFontTx/>
                  <a:buChar char="•"/>
                </a:pPr>
                <a:r>
                  <a:rPr lang="zh-CN" sz="1800" dirty="0">
                    <a:solidFill>
                      <a:srgbClr val="DCE8F2"/>
                    </a:solidFill>
                    <a:latin typeface="+mn-lt"/>
                    <a:ea typeface="+mn-ea"/>
                    <a:cs typeface="+mn-cs"/>
                  </a:rPr>
                  <a:t>注意力权重可定位关键残基</a:t>
                </a:r>
              </a:p>
            </p:txBody>
          </p:sp>
        </p:grpSp>
        <p:sp>
          <p:nvSpPr>
            <p:cNvPr id="71" name="Rectangle 71"/>
            <p:cNvSpPr/>
            <p:nvPr/>
          </p:nvSpPr>
          <p:spPr>
            <a:xfrm>
              <a:off x="6438900" y="5429250"/>
              <a:ext cx="3143250" cy="304800"/>
            </a:xfrm>
            <a:prstGeom prst="roundRect">
              <a:avLst>
                <a:gd name="adj" fmla="val 50000"/>
              </a:avLst>
            </a:prstGeom>
            <a:solidFill>
              <a:srgbClr val="123A5A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6601206" y="5454015"/>
              <a:ext cx="361573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FB3A8"/>
                  </a:solidFill>
                  <a:latin typeface="+mn-lt"/>
                  <a:ea typeface="+mn-ea"/>
                  <a:cs typeface="+mn-cs"/>
                </a:rPr>
                <a:t>代表：iUP-BERT、Umami-BERT</a:t>
              </a:r>
            </a:p>
          </p:txBody>
        </p:sp>
      </p:grpSp>
      <p:sp>
        <p:nvSpPr>
          <p:cNvPr id="74" name="TextBox 74"/>
          <p:cNvSpPr txBox="1"/>
          <p:nvPr/>
        </p:nvSpPr>
        <p:spPr>
          <a:xfrm>
            <a:off x="10761497" y="6473190"/>
            <a:ext cx="8300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800" dirty="0">
                <a:solidFill>
                  <a:srgbClr val="A3B2BF"/>
                </a:solidFill>
                <a:latin typeface="+mn-lt"/>
                <a:ea typeface="+mn-ea"/>
                <a:cs typeface="+mn-cs"/>
              </a:rPr>
              <a:t>07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4360" y="472440"/>
            <a:ext cx="5235397" cy="1047750"/>
            <a:chOff x="594360" y="472440"/>
            <a:chExt cx="5235397" cy="1047750"/>
          </a:xfrm>
        </p:grpSpPr>
        <p:sp>
          <p:nvSpPr>
            <p:cNvPr id="2" name="TextBox 2"/>
            <p:cNvSpPr txBox="1"/>
            <p:nvPr/>
          </p:nvSpPr>
          <p:spPr>
            <a:xfrm>
              <a:off x="600456" y="472440"/>
              <a:ext cx="32966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 · 模型进展、工具与应用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609600" y="819150"/>
              <a:ext cx="457200" cy="5715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94360" y="933450"/>
              <a:ext cx="523539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算法演进：从 SVM 到 BERT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09600" y="1638300"/>
            <a:ext cx="10972800" cy="2857500"/>
            <a:chOff x="609600" y="1638300"/>
            <a:chExt cx="10972800" cy="2857500"/>
          </a:xfrm>
        </p:grpSpPr>
        <p:graphicFrame>
          <p:nvGraphicFramePr>
            <p:cNvPr id="6" name="algo-genealogy"/>
            <p:cNvGraphicFramePr>
              <a:graphicFrameLocks noGrp="1"/>
            </p:cNvGraphicFramePr>
            <p:nvPr/>
          </p:nvGraphicFramePr>
          <p:xfrm>
            <a:off x="609600" y="1638300"/>
            <a:ext cx="10972800" cy="2857500"/>
          </p:xfrm>
          <a:graphic>
            <a:graphicData uri="http://schemas.openxmlformats.org/drawingml/2006/chart">
              <c:chart xmlns:c="http://schemas.openxmlformats.org/drawingml/2006/chart" r:id="rId2"/>
            </a:graphicData>
          </a:graphic>
        </p:graphicFrame>
      </p:grpSp>
      <p:grpSp>
        <p:nvGrpSpPr>
          <p:cNvPr id="30" name="Group 30"/>
          <p:cNvGrpSpPr/>
          <p:nvPr/>
        </p:nvGrpSpPr>
        <p:grpSpPr>
          <a:xfrm>
            <a:off x="609600" y="4724400"/>
            <a:ext cx="10972800" cy="1600200"/>
            <a:chOff x="609600" y="4724400"/>
            <a:chExt cx="10972800" cy="1600200"/>
          </a:xfrm>
        </p:grpSpPr>
        <p:sp>
          <p:nvSpPr>
            <p:cNvPr id="8" name="Rectangle 8"/>
            <p:cNvSpPr/>
            <p:nvPr/>
          </p:nvSpPr>
          <p:spPr>
            <a:xfrm>
              <a:off x="609600" y="4724400"/>
              <a:ext cx="10972800" cy="1600200"/>
            </a:xfrm>
            <a:prstGeom prst="roundRect">
              <a:avLst>
                <a:gd name="adj" fmla="val 952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609600" y="4724400"/>
              <a:ext cx="76200" cy="1600200"/>
            </a:xfrm>
            <a:prstGeom prst="roundRect">
              <a:avLst>
                <a:gd name="adj" fmla="val 50000"/>
              </a:avLst>
            </a:prstGeom>
            <a:solidFill>
              <a:srgbClr val="F2994A"/>
            </a:solidFill>
            <a:ln>
              <a:noFill/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995362" y="5033962"/>
              <a:ext cx="257175" cy="271463"/>
              <a:chOff x="995362" y="5033962"/>
              <a:chExt cx="257175" cy="271463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1038225" y="5033962"/>
                <a:ext cx="1714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71450">
                    <a:moveTo>
                      <a:pt x="0" y="85725"/>
                    </a:moveTo>
                    <a:cubicBezTo>
                      <a:pt x="0" y="133070"/>
                      <a:pt x="38380" y="171450"/>
                      <a:pt x="85725" y="171450"/>
                    </a:cubicBezTo>
                    <a:cubicBezTo>
                      <a:pt x="133070" y="171450"/>
                      <a:pt x="171450" y="133070"/>
                      <a:pt x="171450" y="85725"/>
                    </a:cubicBezTo>
                    <a:cubicBezTo>
                      <a:pt x="171450" y="38380"/>
                      <a:pt x="133070" y="0"/>
                      <a:pt x="85725" y="0"/>
                    </a:cubicBezTo>
                    <a:cubicBezTo>
                      <a:pt x="38380" y="0"/>
                      <a:pt x="0" y="38380"/>
                      <a:pt x="0" y="85725"/>
                    </a:cubicBezTo>
                  </a:path>
                </a:pathLst>
              </a:custGeom>
              <a:noFill/>
              <a:ln w="28575">
                <a:solidFill>
                  <a:srgbClr val="F2994A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123950" y="5033962"/>
                <a:ext cx="285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171450">
                    <a:moveTo>
                      <a:pt x="0" y="0"/>
                    </a:moveTo>
                    <a:cubicBezTo>
                      <a:pt x="19045" y="4758"/>
                      <a:pt x="28575" y="33333"/>
                      <a:pt x="28575" y="85725"/>
                    </a:cubicBezTo>
                    <a:cubicBezTo>
                      <a:pt x="28575" y="138117"/>
                      <a:pt x="19045" y="166692"/>
                      <a:pt x="0" y="171450"/>
                    </a:cubicBezTo>
                  </a:path>
                </a:pathLst>
              </a:custGeom>
              <a:noFill/>
              <a:ln w="28575">
                <a:solidFill>
                  <a:srgbClr val="F2994A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095375" y="5033962"/>
                <a:ext cx="285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171450">
                    <a:moveTo>
                      <a:pt x="28575" y="0"/>
                    </a:moveTo>
                    <a:cubicBezTo>
                      <a:pt x="9530" y="4758"/>
                      <a:pt x="0" y="33333"/>
                      <a:pt x="0" y="85725"/>
                    </a:cubicBezTo>
                    <a:cubicBezTo>
                      <a:pt x="0" y="138117"/>
                      <a:pt x="9530" y="166692"/>
                      <a:pt x="28575" y="171450"/>
                    </a:cubicBezTo>
                  </a:path>
                </a:pathLst>
              </a:custGeom>
              <a:noFill/>
              <a:ln w="28575">
                <a:solidFill>
                  <a:srgbClr val="F2994A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038225" y="5119688"/>
                <a:ext cx="1714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9525">
                    <a:moveTo>
                      <a:pt x="0" y="0"/>
                    </a:moveTo>
                    <a:lnTo>
                      <a:pt x="171450" y="0"/>
                    </a:lnTo>
                  </a:path>
                </a:pathLst>
              </a:custGeom>
              <a:noFill/>
              <a:ln w="28575">
                <a:solidFill>
                  <a:srgbClr val="F2994A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995362" y="5276850"/>
                <a:ext cx="1000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9525">
                    <a:moveTo>
                      <a:pt x="0" y="0"/>
                    </a:moveTo>
                    <a:lnTo>
                      <a:pt x="100012" y="0"/>
                    </a:lnTo>
                  </a:path>
                </a:pathLst>
              </a:custGeom>
              <a:noFill/>
              <a:ln w="28575">
                <a:solidFill>
                  <a:srgbClr val="F2994A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1152525" y="5276850"/>
                <a:ext cx="1000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9525">
                    <a:moveTo>
                      <a:pt x="0" y="0"/>
                    </a:moveTo>
                    <a:lnTo>
                      <a:pt x="100012" y="0"/>
                    </a:lnTo>
                  </a:path>
                </a:pathLst>
              </a:custGeom>
              <a:noFill/>
              <a:ln w="28575">
                <a:solidFill>
                  <a:srgbClr val="F2994A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1095375" y="5248275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28575">
                <a:solidFill>
                  <a:srgbClr val="F2994A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1123950" y="5205412"/>
                <a:ext cx="9525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2862">
                    <a:moveTo>
                      <a:pt x="0" y="0"/>
                    </a:moveTo>
                    <a:lnTo>
                      <a:pt x="0" y="42862"/>
                    </a:lnTo>
                  </a:path>
                </a:pathLst>
              </a:custGeom>
              <a:noFill/>
              <a:ln w="28575">
                <a:solidFill>
                  <a:srgbClr val="F2994A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1418082" y="5031105"/>
              <a:ext cx="509517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集成学习范例：UMPred-FRL（2021）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3356" y="5463540"/>
              <a:ext cx="979871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DCE8F2"/>
                  </a:solidFill>
                  <a:latin typeface="+mn-lt"/>
                  <a:ea typeface="+mn-ea"/>
                  <a:cs typeface="+mn-cs"/>
                </a:rPr>
                <a:t>6 种算法（ET / KNN / LR / PLS / RF / SVM）× 7 种编码（AAC / DPC / CTD / PAAC …）</a:t>
              </a:r>
            </a:p>
          </p:txBody>
        </p:sp>
        <p:grpSp>
          <p:nvGrpSpPr>
            <p:cNvPr id="29" name="Group 29"/>
            <p:cNvGrpSpPr/>
            <p:nvPr/>
          </p:nvGrpSpPr>
          <p:grpSpPr>
            <a:xfrm>
              <a:off x="952500" y="5829300"/>
              <a:ext cx="6362700" cy="424434"/>
              <a:chOff x="952500" y="5829300"/>
              <a:chExt cx="6362700" cy="424434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952500" y="5829300"/>
                <a:ext cx="1428750" cy="381000"/>
              </a:xfrm>
              <a:prstGeom prst="roundRect">
                <a:avLst>
                  <a:gd name="adj" fmla="val 25000"/>
                </a:avLst>
              </a:prstGeom>
              <a:solidFill>
                <a:srgbClr val="123A5A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1025972" y="5901690"/>
                <a:ext cx="128180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2FB3A8"/>
                    </a:solidFill>
                    <a:latin typeface="+mn-lt"/>
                    <a:ea typeface="+mn-ea"/>
                    <a:cs typeface="+mn-cs"/>
                  </a:rPr>
                  <a:t>ACC 0.888</a:t>
                </a:r>
              </a:p>
            </p:txBody>
          </p:sp>
          <p:sp>
            <p:nvSpPr>
              <p:cNvPr id="23" name="Rectangle 23"/>
              <p:cNvSpPr/>
              <p:nvPr/>
            </p:nvSpPr>
            <p:spPr>
              <a:xfrm>
                <a:off x="2533650" y="5829300"/>
                <a:ext cx="1428750" cy="381000"/>
              </a:xfrm>
              <a:prstGeom prst="roundRect">
                <a:avLst>
                  <a:gd name="adj" fmla="val 25000"/>
                </a:avLst>
              </a:prstGeom>
              <a:solidFill>
                <a:srgbClr val="123A5A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2580239" y="5901690"/>
                <a:ext cx="133557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2FB3A8"/>
                    </a:solidFill>
                    <a:latin typeface="+mn-lt"/>
                    <a:ea typeface="+mn-ea"/>
                    <a:cs typeface="+mn-cs"/>
                  </a:rPr>
                  <a:t>MCC 0.735</a:t>
                </a:r>
              </a:p>
            </p:txBody>
          </p:sp>
          <p:sp>
            <p:nvSpPr>
              <p:cNvPr id="25" name="Rectangle 25"/>
              <p:cNvSpPr/>
              <p:nvPr/>
            </p:nvSpPr>
            <p:spPr>
              <a:xfrm>
                <a:off x="4114800" y="5829300"/>
                <a:ext cx="1428750" cy="381000"/>
              </a:xfrm>
              <a:prstGeom prst="roundRect">
                <a:avLst>
                  <a:gd name="adj" fmla="val 25000"/>
                </a:avLst>
              </a:prstGeom>
              <a:solidFill>
                <a:srgbClr val="123A5A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4277143" y="5901690"/>
                <a:ext cx="110406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2FB3A8"/>
                    </a:solidFill>
                    <a:latin typeface="+mn-lt"/>
                    <a:ea typeface="+mn-ea"/>
                    <a:cs typeface="+mn-cs"/>
                  </a:rPr>
                  <a:t>Sn 0.786</a:t>
                </a:r>
              </a:p>
            </p:txBody>
          </p:sp>
          <p:sp>
            <p:nvSpPr>
              <p:cNvPr id="27" name="Rectangle 27"/>
              <p:cNvSpPr/>
              <p:nvPr/>
            </p:nvSpPr>
            <p:spPr>
              <a:xfrm>
                <a:off x="5695950" y="5829300"/>
                <a:ext cx="1619250" cy="381000"/>
              </a:xfrm>
              <a:prstGeom prst="roundRect">
                <a:avLst>
                  <a:gd name="adj" fmla="val 25000"/>
                </a:avLst>
              </a:prstGeom>
              <a:solidFill>
                <a:srgbClr val="123A5A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5790743" y="5901690"/>
                <a:ext cx="142966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2FB3A8"/>
                    </a:solidFill>
                    <a:latin typeface="+mn-lt"/>
                    <a:ea typeface="+mn-ea"/>
                    <a:cs typeface="+mn-cs"/>
                  </a:rPr>
                  <a:t>BACC 0.860</a:t>
                </a:r>
              </a:p>
            </p:txBody>
          </p:sp>
        </p:grpSp>
      </p:grpSp>
      <p:sp>
        <p:nvSpPr>
          <p:cNvPr id="31" name="TextBox 31"/>
          <p:cNvSpPr txBox="1"/>
          <p:nvPr/>
        </p:nvSpPr>
        <p:spPr>
          <a:xfrm>
            <a:off x="10761497" y="6473190"/>
            <a:ext cx="8300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800" dirty="0">
                <a:solidFill>
                  <a:srgbClr val="A3B2BF"/>
                </a:solidFill>
                <a:latin typeface="+mn-lt"/>
                <a:ea typeface="+mn-ea"/>
                <a:cs typeface="+mn-cs"/>
              </a:rPr>
              <a:t>08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4360" y="472440"/>
            <a:ext cx="3665220" cy="1047750"/>
            <a:chOff x="594360" y="472440"/>
            <a:chExt cx="3665220" cy="1047750"/>
          </a:xfrm>
        </p:grpSpPr>
        <p:sp>
          <p:nvSpPr>
            <p:cNvPr id="2" name="TextBox 2"/>
            <p:cNvSpPr txBox="1"/>
            <p:nvPr/>
          </p:nvSpPr>
          <p:spPr>
            <a:xfrm>
              <a:off x="600456" y="472440"/>
              <a:ext cx="277160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 · 机器学习技术路线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609600" y="819150"/>
              <a:ext cx="457200" cy="5715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94360" y="933450"/>
              <a:ext cx="366522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怎么判断模型准不准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09600" y="1638300"/>
            <a:ext cx="4000500" cy="2857500"/>
            <a:chOff x="609600" y="1638300"/>
            <a:chExt cx="4000500" cy="2857500"/>
          </a:xfrm>
        </p:grpSpPr>
        <p:graphicFrame>
          <p:nvGraphicFramePr>
            <p:cNvPr id="6" name="metric-donut"/>
            <p:cNvGraphicFramePr>
              <a:graphicFrameLocks noGrp="1"/>
            </p:cNvGraphicFramePr>
            <p:nvPr/>
          </p:nvGraphicFramePr>
          <p:xfrm>
            <a:off x="609600" y="1638300"/>
            <a:ext cx="4000500" cy="2857500"/>
          </p:xfrm>
          <a:graphic>
            <a:graphicData uri="http://schemas.openxmlformats.org/drawingml/2006/chart">
              <c:chart xmlns:c="http://schemas.openxmlformats.org/drawingml/2006/chart" r:id="rId2"/>
            </a:graphicData>
          </a:graphic>
        </p:graphicFrame>
      </p:grpSp>
      <p:grpSp>
        <p:nvGrpSpPr>
          <p:cNvPr id="26" name="Group 26"/>
          <p:cNvGrpSpPr/>
          <p:nvPr/>
        </p:nvGrpSpPr>
        <p:grpSpPr>
          <a:xfrm>
            <a:off x="4838700" y="1638300"/>
            <a:ext cx="6781800" cy="1943100"/>
            <a:chOff x="4838700" y="1638300"/>
            <a:chExt cx="6781800" cy="1943100"/>
          </a:xfrm>
        </p:grpSpPr>
        <p:grpSp>
          <p:nvGrpSpPr>
            <p:cNvPr id="13" name="Group 13"/>
            <p:cNvGrpSpPr/>
            <p:nvPr/>
          </p:nvGrpSpPr>
          <p:grpSpPr>
            <a:xfrm>
              <a:off x="4838700" y="1638300"/>
              <a:ext cx="4637532" cy="914400"/>
              <a:chOff x="4838700" y="1638300"/>
              <a:chExt cx="4637532" cy="91440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4876800" y="1676400"/>
                <a:ext cx="3314700" cy="876300"/>
              </a:xfrm>
              <a:prstGeom prst="roundRect">
                <a:avLst>
                  <a:gd name="adj" fmla="val 15217"/>
                </a:avLst>
              </a:prstGeom>
              <a:solidFill>
                <a:srgbClr val="E3E9ED"/>
              </a:solidFill>
              <a:ln>
                <a:noFill/>
              </a:ln>
            </p:spPr>
          </p:sp>
          <p:sp>
            <p:nvSpPr>
              <p:cNvPr id="9" name="Rectangle 9"/>
              <p:cNvSpPr/>
              <p:nvPr/>
            </p:nvSpPr>
            <p:spPr>
              <a:xfrm>
                <a:off x="4838700" y="1638300"/>
                <a:ext cx="3314700" cy="876300"/>
              </a:xfrm>
              <a:prstGeom prst="roundRect">
                <a:avLst>
                  <a:gd name="adj" fmla="val 15217"/>
                </a:avLst>
              </a:prstGeom>
              <a:solidFill>
                <a:srgbClr val="FFFFFF"/>
              </a:solidFill>
              <a:ln w="14288">
                <a:solidFill>
                  <a:srgbClr val="CFE4E1"/>
                </a:solidFill>
              </a:ln>
            </p:spPr>
          </p:sp>
          <p:sp>
            <p:nvSpPr>
              <p:cNvPr id="10" name="Rectangle 10"/>
              <p:cNvSpPr/>
              <p:nvPr/>
            </p:nvSpPr>
            <p:spPr>
              <a:xfrm>
                <a:off x="4838700" y="1638300"/>
                <a:ext cx="57150" cy="876300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5095494" y="1827848"/>
                <a:ext cx="1419827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ACC 准确率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5096256" y="2167890"/>
                <a:ext cx="437997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最直观，但类别不平衡时会被多数类带偏</a:t>
                </a: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8267700" y="1638300"/>
              <a:ext cx="3352800" cy="914400"/>
              <a:chOff x="8267700" y="1638300"/>
              <a:chExt cx="3352800" cy="914400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8305800" y="1676400"/>
                <a:ext cx="3314700" cy="876300"/>
              </a:xfrm>
              <a:prstGeom prst="roundRect">
                <a:avLst>
                  <a:gd name="adj" fmla="val 15217"/>
                </a:avLst>
              </a:prstGeom>
              <a:solidFill>
                <a:srgbClr val="E3E9ED"/>
              </a:solidFill>
              <a:ln>
                <a:noFill/>
              </a:ln>
            </p:spPr>
          </p:sp>
          <p:sp>
            <p:nvSpPr>
              <p:cNvPr id="15" name="Rectangle 15"/>
              <p:cNvSpPr/>
              <p:nvPr/>
            </p:nvSpPr>
            <p:spPr>
              <a:xfrm>
                <a:off x="8267700" y="1638300"/>
                <a:ext cx="3314700" cy="876300"/>
              </a:xfrm>
              <a:prstGeom prst="roundRect">
                <a:avLst>
                  <a:gd name="adj" fmla="val 15217"/>
                </a:avLst>
              </a:prstGeom>
              <a:solidFill>
                <a:srgbClr val="FFFFFF"/>
              </a:solidFill>
              <a:ln w="14288">
                <a:solidFill>
                  <a:srgbClr val="F0DECF"/>
                </a:solidFill>
              </a:ln>
            </p:spPr>
          </p:sp>
          <p:sp>
            <p:nvSpPr>
              <p:cNvPr id="16" name="Rectangle 16"/>
              <p:cNvSpPr/>
              <p:nvPr/>
            </p:nvSpPr>
            <p:spPr>
              <a:xfrm>
                <a:off x="8267700" y="1638300"/>
                <a:ext cx="57150" cy="876300"/>
              </a:xfrm>
              <a:prstGeom prst="roundRect">
                <a:avLst>
                  <a:gd name="adj" fmla="val 50000"/>
                </a:avLst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8524494" y="1827848"/>
                <a:ext cx="1755442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MCC 相关系数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8525256" y="2167890"/>
                <a:ext cx="273222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-1~1，不平衡数据最稳健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4838700" y="2667000"/>
              <a:ext cx="6781800" cy="914400"/>
              <a:chOff x="4838700" y="2667000"/>
              <a:chExt cx="6781800" cy="914400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4876800" y="2705100"/>
                <a:ext cx="6743700" cy="876300"/>
              </a:xfrm>
              <a:prstGeom prst="roundRect">
                <a:avLst>
                  <a:gd name="adj" fmla="val 15217"/>
                </a:avLst>
              </a:prstGeom>
              <a:solidFill>
                <a:srgbClr val="F0DECF"/>
              </a:solidFill>
              <a:ln>
                <a:noFill/>
              </a:ln>
            </p:spPr>
          </p:sp>
          <p:sp>
            <p:nvSpPr>
              <p:cNvPr id="21" name="Rectangle 21"/>
              <p:cNvSpPr/>
              <p:nvPr/>
            </p:nvSpPr>
            <p:spPr>
              <a:xfrm>
                <a:off x="4838700" y="2667000"/>
                <a:ext cx="6743700" cy="876300"/>
              </a:xfrm>
              <a:prstGeom prst="roundRect">
                <a:avLst>
                  <a:gd name="adj" fmla="val 15217"/>
                </a:avLst>
              </a:prstGeom>
              <a:solidFill>
                <a:srgbClr val="FBE9DD"/>
              </a:solidFill>
              <a:ln w="14288">
                <a:solidFill>
                  <a:srgbClr val="F0DECF"/>
                </a:solidFill>
              </a:ln>
            </p:spPr>
          </p:sp>
          <p:sp>
            <p:nvSpPr>
              <p:cNvPr id="22" name="Rectangle 22"/>
              <p:cNvSpPr/>
              <p:nvPr/>
            </p:nvSpPr>
            <p:spPr>
              <a:xfrm>
                <a:off x="4838700" y="2667000"/>
                <a:ext cx="57150" cy="876300"/>
              </a:xfrm>
              <a:prstGeom prst="roundRect">
                <a:avLst>
                  <a:gd name="adj" fmla="val 50000"/>
                </a:avLst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5095494" y="2856548"/>
                <a:ext cx="5246496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b="1" dirty="0">
                    <a:solidFill>
                      <a:srgbClr val="B5663A"/>
                    </a:solidFill>
                    <a:latin typeface="+mn-lt"/>
                    <a:ea typeface="+mn-ea"/>
                    <a:cs typeface="+mn-cs"/>
                  </a:rPr>
                  <a:t>Sn 灵敏度（召回率）= 鲜味肽被找出的比例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5096256" y="3196590"/>
                <a:ext cx="620640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漏筛＝漏掉新肽；iUP-BERT 靠 SMOTE 提升 13.6–25pp</a:t>
                </a:r>
              </a:p>
            </p:txBody>
          </p:sp>
        </p:grpSp>
      </p:grpSp>
      <p:grpSp>
        <p:nvGrpSpPr>
          <p:cNvPr id="39" name="Group 39"/>
          <p:cNvGrpSpPr/>
          <p:nvPr/>
        </p:nvGrpSpPr>
        <p:grpSpPr>
          <a:xfrm>
            <a:off x="609600" y="4724400"/>
            <a:ext cx="10972800" cy="1600200"/>
            <a:chOff x="609600" y="4724400"/>
            <a:chExt cx="10972800" cy="1600200"/>
          </a:xfrm>
        </p:grpSpPr>
        <p:sp>
          <p:nvSpPr>
            <p:cNvPr id="27" name="Rectangle 27"/>
            <p:cNvSpPr/>
            <p:nvPr/>
          </p:nvSpPr>
          <p:spPr>
            <a:xfrm>
              <a:off x="609600" y="4724400"/>
              <a:ext cx="10972800" cy="1600200"/>
            </a:xfrm>
            <a:prstGeom prst="roundRect">
              <a:avLst>
                <a:gd name="adj" fmla="val 9524"/>
              </a:avLst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1001106" y="5033962"/>
              <a:ext cx="245659" cy="255604"/>
              <a:chOff x="1001106" y="5033962"/>
              <a:chExt cx="245659" cy="255604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1038225" y="5033962"/>
                <a:ext cx="1714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71450">
                    <a:moveTo>
                      <a:pt x="0" y="85725"/>
                    </a:moveTo>
                    <a:cubicBezTo>
                      <a:pt x="0" y="133070"/>
                      <a:pt x="38380" y="171450"/>
                      <a:pt x="85725" y="171450"/>
                    </a:cubicBezTo>
                    <a:cubicBezTo>
                      <a:pt x="133070" y="171450"/>
                      <a:pt x="171450" y="133070"/>
                      <a:pt x="171450" y="85725"/>
                    </a:cubicBezTo>
                    <a:cubicBezTo>
                      <a:pt x="171450" y="38380"/>
                      <a:pt x="133070" y="0"/>
                      <a:pt x="85725" y="0"/>
                    </a:cubicBezTo>
                    <a:cubicBezTo>
                      <a:pt x="38380" y="0"/>
                      <a:pt x="0" y="38380"/>
                      <a:pt x="0" y="85725"/>
                    </a:cubicBezTo>
                  </a:path>
                </a:pathLst>
              </a:custGeom>
              <a:noFill/>
              <a:ln w="28575">
                <a:solidFill>
                  <a:srgbClr val="2FB3A8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1123950" y="5162550"/>
                <a:ext cx="122815" cy="127016"/>
              </a:xfrm>
              <a:custGeom>
                <a:avLst/>
                <a:gdLst/>
                <a:ahLst/>
                <a:cxnLst/>
                <a:rect l="l" t="t" r="r" b="b"/>
                <a:pathLst>
                  <a:path w="122815" h="127016">
                    <a:moveTo>
                      <a:pt x="0" y="42862"/>
                    </a:moveTo>
                    <a:lnTo>
                      <a:pt x="48577" y="127016"/>
                    </a:lnTo>
                    <a:lnTo>
                      <a:pt x="71409" y="80824"/>
                    </a:lnTo>
                    <a:lnTo>
                      <a:pt x="122815" y="84139"/>
                    </a:lnTo>
                    <a:lnTo>
                      <a:pt x="74238" y="0"/>
                    </a:lnTo>
                  </a:path>
                </a:pathLst>
              </a:custGeom>
              <a:noFill/>
              <a:ln w="28575">
                <a:solidFill>
                  <a:srgbClr val="2FB3A8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1001106" y="5162550"/>
                <a:ext cx="122815" cy="127002"/>
              </a:xfrm>
              <a:custGeom>
                <a:avLst/>
                <a:gdLst/>
                <a:ahLst/>
                <a:cxnLst/>
                <a:rect l="l" t="t" r="r" b="b"/>
                <a:pathLst>
                  <a:path w="122815" h="127002">
                    <a:moveTo>
                      <a:pt x="48578" y="0"/>
                    </a:moveTo>
                    <a:lnTo>
                      <a:pt x="0" y="84153"/>
                    </a:lnTo>
                    <a:lnTo>
                      <a:pt x="51406" y="80824"/>
                    </a:lnTo>
                    <a:lnTo>
                      <a:pt x="74238" y="127002"/>
                    </a:lnTo>
                    <a:lnTo>
                      <a:pt x="122815" y="42862"/>
                    </a:lnTo>
                  </a:path>
                </a:pathLst>
              </a:custGeom>
              <a:noFill/>
              <a:ln w="28575">
                <a:solidFill>
                  <a:srgbClr val="2FB3A8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1418082" y="503110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验证协议</a:t>
              </a:r>
            </a:p>
          </p:txBody>
        </p:sp>
        <p:grpSp>
          <p:nvGrpSpPr>
            <p:cNvPr id="35" name="Group 35"/>
            <p:cNvGrpSpPr/>
            <p:nvPr/>
          </p:nvGrpSpPr>
          <p:grpSpPr>
            <a:xfrm>
              <a:off x="943356" y="5463540"/>
              <a:ext cx="5337581" cy="694944"/>
              <a:chOff x="943356" y="5463540"/>
              <a:chExt cx="5337581" cy="694944"/>
            </a:xfrm>
          </p:grpSpPr>
          <p:sp>
            <p:nvSpPr>
              <p:cNvPr id="33" name="TextBox 33"/>
              <p:cNvSpPr txBox="1"/>
              <p:nvPr/>
            </p:nvSpPr>
            <p:spPr>
              <a:xfrm>
                <a:off x="943356" y="5463540"/>
                <a:ext cx="470756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94310" indent="-194310">
                  <a:buClr>
                    <a:srgbClr val="DCE8F2"/>
                  </a:buClr>
                  <a:buSzTx/>
                  <a:buFontTx/>
                  <a:buChar char="•"/>
                </a:pPr>
                <a:r>
                  <a:rPr lang="zh-CN" sz="1800" dirty="0">
                    <a:solidFill>
                      <a:srgbClr val="DCE8F2"/>
                    </a:solidFill>
                    <a:latin typeface="+mn-lt"/>
                    <a:ea typeface="+mn-ea"/>
                    <a:cs typeface="+mn-cs"/>
                  </a:rPr>
                  <a:t>10 折交叉验证调参 + 独立测试集报告指标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943356" y="5806440"/>
                <a:ext cx="533758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94310" indent="-194310">
                  <a:buClr>
                    <a:srgbClr val="DCE8F2"/>
                  </a:buClr>
                  <a:buSzTx/>
                  <a:buFontTx/>
                  <a:buChar char="•"/>
                </a:pPr>
                <a:r>
                  <a:rPr lang="zh-CN" sz="1800" dirty="0">
                    <a:solidFill>
                      <a:srgbClr val="DCE8F2"/>
                    </a:solidFill>
                    <a:latin typeface="+mn-lt"/>
                    <a:ea typeface="+mn-ea"/>
                    <a:cs typeface="+mn-cs"/>
                  </a:rPr>
                  <a:t>分子对接给机制证据，合成 + 感官评价最终确证</a:t>
                </a:r>
              </a:p>
            </p:txBody>
          </p:sp>
        </p:grpSp>
        <p:sp>
          <p:nvSpPr>
            <p:cNvPr id="36" name="Rectangle 36"/>
            <p:cNvSpPr/>
            <p:nvPr/>
          </p:nvSpPr>
          <p:spPr>
            <a:xfrm>
              <a:off x="6667500" y="5334000"/>
              <a:ext cx="4572000" cy="838200"/>
            </a:xfrm>
            <a:prstGeom prst="roundRect">
              <a:avLst>
                <a:gd name="adj" fmla="val 15909"/>
              </a:avLst>
            </a:prstGeom>
            <a:solidFill>
              <a:srgbClr val="123A5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925056" y="552069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2994A"/>
                  </a:solidFill>
                  <a:latin typeface="+mn-lt"/>
                  <a:ea typeface="+mn-ea"/>
                  <a:cs typeface="+mn-cs"/>
                </a:rPr>
                <a:t>同测试集才能比较；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925056" y="5844540"/>
              <a:ext cx="22354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DCE8F2"/>
                  </a:solidFill>
                  <a:latin typeface="+mn-lt"/>
                  <a:ea typeface="+mn-ea"/>
                  <a:cs typeface="+mn-cs"/>
                </a:rPr>
                <a:t>指标高 ≠ 感官呈鲜。</a:t>
              </a:r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10761497" y="6473190"/>
            <a:ext cx="8300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800" dirty="0">
                <a:solidFill>
                  <a:srgbClr val="A3B2BF"/>
                </a:solidFill>
                <a:latin typeface="+mn-lt"/>
                <a:ea typeface="+mn-ea"/>
                <a:cs typeface="+mn-cs"/>
              </a:rPr>
              <a:t>09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4360" y="472440"/>
            <a:ext cx="6572002" cy="1047750"/>
            <a:chOff x="594360" y="472440"/>
            <a:chExt cx="6572002" cy="1047750"/>
          </a:xfrm>
        </p:grpSpPr>
        <p:sp>
          <p:nvSpPr>
            <p:cNvPr id="2" name="TextBox 2"/>
            <p:cNvSpPr txBox="1"/>
            <p:nvPr/>
          </p:nvSpPr>
          <p:spPr>
            <a:xfrm>
              <a:off x="600456" y="472440"/>
              <a:ext cx="32966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 · 模型进展、工具与应用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609600" y="819150"/>
              <a:ext cx="457200" cy="5715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94360" y="933450"/>
              <a:ext cx="657200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五年模型演进时间线（2020–2025）</a:t>
              </a:r>
            </a:p>
          </p:txBody>
        </p:sp>
      </p:grpSp>
      <p:sp>
        <p:nvSpPr>
          <p:cNvPr id="6" name="Line 6"/>
          <p:cNvSpPr/>
          <p:nvPr/>
        </p:nvSpPr>
        <p:spPr>
          <a:xfrm>
            <a:off x="1143000" y="3905250"/>
            <a:ext cx="10096500" cy="9525"/>
          </a:xfrm>
          <a:custGeom>
            <a:avLst/>
            <a:gdLst/>
            <a:ahLst/>
            <a:cxnLst/>
            <a:rect l="l" t="t" r="r" b="b"/>
            <a:pathLst>
              <a:path w="10096500" h="9525">
                <a:moveTo>
                  <a:pt x="0" y="0"/>
                </a:moveTo>
                <a:lnTo>
                  <a:pt x="10096500" y="0"/>
                </a:lnTo>
              </a:path>
            </a:pathLst>
          </a:custGeom>
          <a:noFill/>
          <a:ln w="38100">
            <a:solidFill>
              <a:srgbClr val="C7D2DB"/>
            </a:solidFill>
          </a:ln>
        </p:spPr>
      </p:sp>
      <p:grpSp>
        <p:nvGrpSpPr>
          <p:cNvPr id="13" name="Group 13"/>
          <p:cNvGrpSpPr/>
          <p:nvPr/>
        </p:nvGrpSpPr>
        <p:grpSpPr>
          <a:xfrm>
            <a:off x="1143000" y="1482090"/>
            <a:ext cx="10096500" cy="422910"/>
            <a:chOff x="1143000" y="1482090"/>
            <a:chExt cx="10096500" cy="422910"/>
          </a:xfrm>
        </p:grpSpPr>
        <p:sp>
          <p:nvSpPr>
            <p:cNvPr id="7" name="Rectangle 7"/>
            <p:cNvSpPr/>
            <p:nvPr/>
          </p:nvSpPr>
          <p:spPr>
            <a:xfrm>
              <a:off x="1143000" y="1771650"/>
              <a:ext cx="3238500" cy="133350"/>
            </a:xfrm>
            <a:prstGeom prst="roundRect">
              <a:avLst>
                <a:gd name="adj" fmla="val 50000"/>
              </a:avLst>
            </a:prstGeom>
            <a:solidFill>
              <a:srgbClr val="8FB3C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86256" y="1482090"/>
              <a:ext cx="15532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4F86B2"/>
                  </a:solidFill>
                  <a:latin typeface="+mn-lt"/>
                  <a:ea typeface="+mn-ea"/>
                  <a:cs typeface="+mn-cs"/>
                </a:rPr>
                <a:t>传统 ML 主导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4572000" y="1771650"/>
              <a:ext cx="3048000" cy="133350"/>
            </a:xfrm>
            <a:prstGeom prst="roundRect">
              <a:avLst>
                <a:gd name="adj" fmla="val 50000"/>
              </a:avLst>
            </a:prstGeom>
            <a:solidFill>
              <a:srgbClr val="4F86B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715256" y="14820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4F86B2"/>
                  </a:solidFill>
                  <a:latin typeface="+mn-lt"/>
                  <a:ea typeface="+mn-ea"/>
                  <a:cs typeface="+mn-cs"/>
                </a:rPr>
                <a:t>深度学习兴起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7810500" y="1771650"/>
              <a:ext cx="3429000" cy="1333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953756" y="14820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预训练大模型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914400" y="2190750"/>
            <a:ext cx="10401300" cy="3358134"/>
            <a:chOff x="914400" y="2190750"/>
            <a:chExt cx="10401300" cy="3358134"/>
          </a:xfrm>
        </p:grpSpPr>
        <p:grpSp>
          <p:nvGrpSpPr>
            <p:cNvPr id="20" name="Group 20"/>
            <p:cNvGrpSpPr/>
            <p:nvPr/>
          </p:nvGrpSpPr>
          <p:grpSpPr>
            <a:xfrm>
              <a:off x="914400" y="2190750"/>
              <a:ext cx="1524000" cy="1866900"/>
              <a:chOff x="914400" y="2190750"/>
              <a:chExt cx="1524000" cy="1866900"/>
            </a:xfrm>
          </p:grpSpPr>
          <p:sp>
            <p:nvSpPr>
              <p:cNvPr id="14" name="Ellipse 14"/>
              <p:cNvSpPr/>
              <p:nvPr/>
            </p:nvSpPr>
            <p:spPr>
              <a:xfrm>
                <a:off x="1524000" y="3752850"/>
                <a:ext cx="304800" cy="304800"/>
              </a:xfrm>
              <a:prstGeom prst="ellipse">
                <a:avLst/>
              </a:prstGeom>
              <a:solidFill>
                <a:srgbClr val="8FB3CC"/>
              </a:solidFill>
              <a:ln>
                <a:noFill/>
              </a:ln>
            </p:spPr>
          </p:sp>
          <p:sp>
            <p:nvSpPr>
              <p:cNvPr id="15" name="Line 15"/>
              <p:cNvSpPr/>
              <p:nvPr/>
            </p:nvSpPr>
            <p:spPr>
              <a:xfrm>
                <a:off x="1676400" y="3390900"/>
                <a:ext cx="9525" cy="3619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61950">
                    <a:moveTo>
                      <a:pt x="0" y="36195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C7D2DB"/>
                </a:solidFill>
              </a:ln>
            </p:spPr>
          </p:sp>
          <p:sp>
            <p:nvSpPr>
              <p:cNvPr id="16" name="Rectangle 16"/>
              <p:cNvSpPr/>
              <p:nvPr/>
            </p:nvSpPr>
            <p:spPr>
              <a:xfrm>
                <a:off x="914400" y="2190750"/>
                <a:ext cx="1524000" cy="1143000"/>
              </a:xfrm>
              <a:prstGeom prst="roundRect">
                <a:avLst>
                  <a:gd name="adj" fmla="val 11667"/>
                </a:avLst>
              </a:prstGeom>
              <a:solidFill>
                <a:srgbClr val="FFFFFF"/>
              </a:solidFill>
              <a:ln w="14288">
                <a:solidFill>
                  <a:srgbClr val="E3E9ED"/>
                </a:solidFill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387381" y="2339340"/>
                <a:ext cx="57803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2020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971702" y="2663190"/>
                <a:ext cx="140939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iUmami-SCM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007974" y="2967990"/>
                <a:ext cx="133685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rgbClr val="4F86B2"/>
                    </a:solidFill>
                    <a:latin typeface="+mn-lt"/>
                    <a:ea typeface="+mn-ea"/>
                    <a:cs typeface="+mn-cs"/>
                  </a:rPr>
                  <a:t>SCM 评分卡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2590800" y="3752850"/>
              <a:ext cx="1524000" cy="1796034"/>
              <a:chOff x="2590800" y="3752850"/>
              <a:chExt cx="1524000" cy="1796034"/>
            </a:xfrm>
          </p:grpSpPr>
          <p:sp>
            <p:nvSpPr>
              <p:cNvPr id="21" name="Ellipse 21"/>
              <p:cNvSpPr/>
              <p:nvPr/>
            </p:nvSpPr>
            <p:spPr>
              <a:xfrm>
                <a:off x="3200400" y="3752850"/>
                <a:ext cx="304800" cy="304800"/>
              </a:xfrm>
              <a:prstGeom prst="ellipse">
                <a:avLst/>
              </a:prstGeom>
              <a:solidFill>
                <a:srgbClr val="8FB3CC"/>
              </a:solidFill>
              <a:ln>
                <a:noFill/>
              </a:ln>
            </p:spPr>
          </p:sp>
          <p:sp>
            <p:nvSpPr>
              <p:cNvPr id="22" name="Line 22"/>
              <p:cNvSpPr/>
              <p:nvPr/>
            </p:nvSpPr>
            <p:spPr>
              <a:xfrm>
                <a:off x="3352800" y="4057650"/>
                <a:ext cx="9525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42900">
                    <a:moveTo>
                      <a:pt x="0" y="0"/>
                    </a:moveTo>
                    <a:lnTo>
                      <a:pt x="0" y="342900"/>
                    </a:lnTo>
                  </a:path>
                </a:pathLst>
              </a:custGeom>
              <a:noFill/>
              <a:ln w="19050">
                <a:solidFill>
                  <a:srgbClr val="C7D2DB"/>
                </a:solidFill>
              </a:ln>
            </p:spPr>
          </p:sp>
          <p:sp>
            <p:nvSpPr>
              <p:cNvPr id="23" name="Rectangle 23"/>
              <p:cNvSpPr/>
              <p:nvPr/>
            </p:nvSpPr>
            <p:spPr>
              <a:xfrm>
                <a:off x="2590800" y="4438650"/>
                <a:ext cx="1524000" cy="1104900"/>
              </a:xfrm>
              <a:prstGeom prst="roundRect">
                <a:avLst>
                  <a:gd name="adj" fmla="val 12069"/>
                </a:avLst>
              </a:prstGeom>
              <a:solidFill>
                <a:srgbClr val="FFFFFF"/>
              </a:solidFill>
              <a:ln w="14288">
                <a:solidFill>
                  <a:srgbClr val="E3E9ED"/>
                </a:solidFill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3063781" y="4587240"/>
                <a:ext cx="57803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2021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2626995" y="4892040"/>
                <a:ext cx="145161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UMPred-FRL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2719692" y="5196840"/>
                <a:ext cx="126621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rgbClr val="4F86B2"/>
                    </a:solidFill>
                    <a:latin typeface="+mn-lt"/>
                    <a:ea typeface="+mn-ea"/>
                    <a:cs typeface="+mn-cs"/>
                  </a:rPr>
                  <a:t>集成 6 算法</a:t>
                </a: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4158454" y="2190750"/>
              <a:ext cx="1741492" cy="1866900"/>
              <a:chOff x="4158454" y="2190750"/>
              <a:chExt cx="1741492" cy="1866900"/>
            </a:xfrm>
          </p:grpSpPr>
          <p:sp>
            <p:nvSpPr>
              <p:cNvPr id="28" name="Ellipse 28"/>
              <p:cNvSpPr/>
              <p:nvPr/>
            </p:nvSpPr>
            <p:spPr>
              <a:xfrm>
                <a:off x="4876800" y="3752850"/>
                <a:ext cx="304800" cy="304800"/>
              </a:xfrm>
              <a:prstGeom prst="ellipse">
                <a:avLst/>
              </a:prstGeom>
              <a:solidFill>
                <a:srgbClr val="4F86B2"/>
              </a:solidFill>
              <a:ln>
                <a:noFill/>
              </a:ln>
            </p:spPr>
          </p:sp>
          <p:sp>
            <p:nvSpPr>
              <p:cNvPr id="29" name="Line 29"/>
              <p:cNvSpPr/>
              <p:nvPr/>
            </p:nvSpPr>
            <p:spPr>
              <a:xfrm>
                <a:off x="5029200" y="3390900"/>
                <a:ext cx="9525" cy="3619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61950">
                    <a:moveTo>
                      <a:pt x="0" y="36195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C7D2DB"/>
                </a:solidFill>
              </a:ln>
            </p:spPr>
          </p:sp>
          <p:sp>
            <p:nvSpPr>
              <p:cNvPr id="30" name="Rectangle 30"/>
              <p:cNvSpPr/>
              <p:nvPr/>
            </p:nvSpPr>
            <p:spPr>
              <a:xfrm>
                <a:off x="4191000" y="2190750"/>
                <a:ext cx="1676400" cy="1143000"/>
              </a:xfrm>
              <a:prstGeom prst="roundRect">
                <a:avLst>
                  <a:gd name="adj" fmla="val 11667"/>
                </a:avLst>
              </a:prstGeom>
              <a:solidFill>
                <a:srgbClr val="DCEAF5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4740181" y="2339340"/>
                <a:ext cx="57803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2022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4492855" y="2663190"/>
                <a:ext cx="107268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iUP-BERT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4158454" y="2948940"/>
                <a:ext cx="174149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VirtuousUmami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6019800" y="3752850"/>
              <a:ext cx="1676400" cy="1796034"/>
              <a:chOff x="6019800" y="3752850"/>
              <a:chExt cx="1676400" cy="1796034"/>
            </a:xfrm>
          </p:grpSpPr>
          <p:sp>
            <p:nvSpPr>
              <p:cNvPr id="35" name="Ellipse 35"/>
              <p:cNvSpPr/>
              <p:nvPr/>
            </p:nvSpPr>
            <p:spPr>
              <a:xfrm>
                <a:off x="6705600" y="3752850"/>
                <a:ext cx="304800" cy="304800"/>
              </a:xfrm>
              <a:prstGeom prst="ellipse">
                <a:avLst/>
              </a:prstGeom>
              <a:solidFill>
                <a:srgbClr val="4F86B2"/>
              </a:solidFill>
              <a:ln>
                <a:noFill/>
              </a:ln>
            </p:spPr>
          </p:sp>
          <p:sp>
            <p:nvSpPr>
              <p:cNvPr id="36" name="Line 36"/>
              <p:cNvSpPr/>
              <p:nvPr/>
            </p:nvSpPr>
            <p:spPr>
              <a:xfrm>
                <a:off x="6858000" y="4057650"/>
                <a:ext cx="9525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42900">
                    <a:moveTo>
                      <a:pt x="0" y="0"/>
                    </a:moveTo>
                    <a:lnTo>
                      <a:pt x="0" y="342900"/>
                    </a:lnTo>
                  </a:path>
                </a:pathLst>
              </a:custGeom>
              <a:noFill/>
              <a:ln w="19050">
                <a:solidFill>
                  <a:srgbClr val="C7D2DB"/>
                </a:solidFill>
              </a:ln>
            </p:spPr>
          </p:sp>
          <p:sp>
            <p:nvSpPr>
              <p:cNvPr id="37" name="Rectangle 37"/>
              <p:cNvSpPr/>
              <p:nvPr/>
            </p:nvSpPr>
            <p:spPr>
              <a:xfrm>
                <a:off x="6019800" y="4438650"/>
                <a:ext cx="1676400" cy="1104900"/>
              </a:xfrm>
              <a:prstGeom prst="roundRect">
                <a:avLst>
                  <a:gd name="adj" fmla="val 12069"/>
                </a:avLst>
              </a:prstGeom>
              <a:solidFill>
                <a:srgbClr val="FFFFFF"/>
              </a:solidFill>
              <a:ln w="14288">
                <a:solidFill>
                  <a:srgbClr val="E3E9ED"/>
                </a:solidFill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6568981" y="4587240"/>
                <a:ext cx="57803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2023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6117793" y="4892040"/>
                <a:ext cx="148041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Umami-MRNN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6142787" y="5196840"/>
                <a:ext cx="143042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Umami-BERT</a:t>
                </a:r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>
              <a:off x="7810500" y="2190750"/>
              <a:ext cx="1676400" cy="1866900"/>
              <a:chOff x="7810500" y="2190750"/>
              <a:chExt cx="1676400" cy="1866900"/>
            </a:xfrm>
          </p:grpSpPr>
          <p:sp>
            <p:nvSpPr>
              <p:cNvPr id="42" name="Ellipse 42"/>
              <p:cNvSpPr/>
              <p:nvPr/>
            </p:nvSpPr>
            <p:spPr>
              <a:xfrm>
                <a:off x="8496300" y="3752850"/>
                <a:ext cx="304800" cy="3048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3" name="Line 43"/>
              <p:cNvSpPr/>
              <p:nvPr/>
            </p:nvSpPr>
            <p:spPr>
              <a:xfrm>
                <a:off x="8648700" y="3390900"/>
                <a:ext cx="9525" cy="3619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61950">
                    <a:moveTo>
                      <a:pt x="0" y="36195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C7D2DB"/>
                </a:solidFill>
              </a:ln>
            </p:spPr>
          </p:sp>
          <p:sp>
            <p:nvSpPr>
              <p:cNvPr id="44" name="Rectangle 44"/>
              <p:cNvSpPr/>
              <p:nvPr/>
            </p:nvSpPr>
            <p:spPr>
              <a:xfrm>
                <a:off x="7810500" y="2190750"/>
                <a:ext cx="1676400" cy="1143000"/>
              </a:xfrm>
              <a:prstGeom prst="roundRect">
                <a:avLst>
                  <a:gd name="adj" fmla="val 11667"/>
                </a:avLst>
              </a:prstGeom>
              <a:solidFill>
                <a:srgbClr val="DFF0EE"/>
              </a:solidFill>
              <a:ln>
                <a:noFill/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8359681" y="2339340"/>
                <a:ext cx="57803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2024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8049768" y="2663190"/>
                <a:ext cx="119786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VmmScore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7845971" y="2948940"/>
                <a:ext cx="160545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预测+对接一体</a:t>
                </a:r>
              </a:p>
            </p:txBody>
          </p:sp>
        </p:grpSp>
        <p:grpSp>
          <p:nvGrpSpPr>
            <p:cNvPr id="55" name="Group 55"/>
            <p:cNvGrpSpPr/>
            <p:nvPr/>
          </p:nvGrpSpPr>
          <p:grpSpPr>
            <a:xfrm>
              <a:off x="9410700" y="3733800"/>
              <a:ext cx="1905000" cy="1815084"/>
              <a:chOff x="9410700" y="3733800"/>
              <a:chExt cx="1905000" cy="1815084"/>
            </a:xfrm>
          </p:grpSpPr>
          <p:sp>
            <p:nvSpPr>
              <p:cNvPr id="49" name="Ellipse 49"/>
              <p:cNvSpPr/>
              <p:nvPr/>
            </p:nvSpPr>
            <p:spPr>
              <a:xfrm>
                <a:off x="10191750" y="3733800"/>
                <a:ext cx="342900" cy="342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50" name="Line 50"/>
              <p:cNvSpPr/>
              <p:nvPr/>
            </p:nvSpPr>
            <p:spPr>
              <a:xfrm>
                <a:off x="10363200" y="4076700"/>
                <a:ext cx="9525" cy="3238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23850">
                    <a:moveTo>
                      <a:pt x="0" y="0"/>
                    </a:moveTo>
                    <a:lnTo>
                      <a:pt x="0" y="323850"/>
                    </a:lnTo>
                  </a:path>
                </a:pathLst>
              </a:custGeom>
              <a:noFill/>
              <a:ln w="19050">
                <a:solidFill>
                  <a:srgbClr val="C7D2DB"/>
                </a:solidFill>
              </a:ln>
            </p:spPr>
          </p:sp>
          <p:sp>
            <p:nvSpPr>
              <p:cNvPr id="51" name="Rectangle 51"/>
              <p:cNvSpPr/>
              <p:nvPr/>
            </p:nvSpPr>
            <p:spPr>
              <a:xfrm>
                <a:off x="9410700" y="4438650"/>
                <a:ext cx="1905000" cy="1104900"/>
              </a:xfrm>
              <a:prstGeom prst="roundRect">
                <a:avLst>
                  <a:gd name="adj" fmla="val 12069"/>
                </a:avLst>
              </a:prstGeom>
              <a:solidFill>
                <a:srgbClr val="FBE9DD"/>
              </a:solidFill>
              <a:ln>
                <a:noFill/>
              </a:ln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10074181" y="4587240"/>
                <a:ext cx="57803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B5663A"/>
                    </a:solidFill>
                    <a:latin typeface="+mn-lt"/>
                    <a:ea typeface="+mn-ea"/>
                    <a:cs typeface="+mn-cs"/>
                  </a:rPr>
                  <a:t>2025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9627108" y="4892040"/>
                <a:ext cx="147218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对比学习模型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9822790" y="5196840"/>
                <a:ext cx="108082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rgbClr val="B5663A"/>
                    </a:solidFill>
                    <a:latin typeface="+mn-lt"/>
                    <a:ea typeface="+mn-ea"/>
                    <a:cs typeface="+mn-cs"/>
                  </a:rPr>
                  <a:t>ACC 0.94</a:t>
                </a:r>
              </a:p>
            </p:txBody>
          </p:sp>
        </p:grpSp>
      </p:grpSp>
      <p:grpSp>
        <p:nvGrpSpPr>
          <p:cNvPr id="59" name="Group 59"/>
          <p:cNvGrpSpPr/>
          <p:nvPr/>
        </p:nvGrpSpPr>
        <p:grpSpPr>
          <a:xfrm>
            <a:off x="609600" y="5791200"/>
            <a:ext cx="10972800" cy="571500"/>
            <a:chOff x="609600" y="5791200"/>
            <a:chExt cx="10972800" cy="571500"/>
          </a:xfrm>
        </p:grpSpPr>
        <p:sp>
          <p:nvSpPr>
            <p:cNvPr id="57" name="Rectangle 57"/>
            <p:cNvSpPr/>
            <p:nvPr/>
          </p:nvSpPr>
          <p:spPr>
            <a:xfrm>
              <a:off x="609600" y="5791200"/>
              <a:ext cx="10972800" cy="571500"/>
            </a:xfrm>
            <a:prstGeom prst="roundRect">
              <a:avLst>
                <a:gd name="adj" fmla="val 26667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942594" y="5942648"/>
              <a:ext cx="894511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趋势：从</a:t>
              </a:r>
              <a:r>
                <a:rPr lang="zh-CN" sz="1950" b="1" dirty="0">
                  <a:solidFill>
                    <a:srgbClr val="2FB3A8"/>
                  </a:solidFill>
                  <a:latin typeface="+mn-lt"/>
                  <a:ea typeface="+mn-ea"/>
                  <a:cs typeface="+mn-cs"/>
                </a:rPr>
                <a:t>「分得准」</a:t>
              </a:r>
              <a:r>
                <a:rPr lang="zh-CN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走向</a:t>
              </a:r>
              <a:r>
                <a:rPr lang="zh-CN" sz="1950" b="1" dirty="0">
                  <a:solidFill>
                    <a:srgbClr val="F2994A"/>
                  </a:solidFill>
                  <a:latin typeface="+mn-lt"/>
                  <a:ea typeface="+mn-ea"/>
                  <a:cs typeface="+mn-cs"/>
                </a:rPr>
                <a:t>「可解释、可对接、可验证」</a:t>
              </a:r>
              <a:r>
                <a:rPr lang="zh-CN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，数据与方法双轮驱动</a:t>
              </a:r>
            </a:p>
          </p:txBody>
        </p:sp>
      </p:grpSp>
      <p:sp>
        <p:nvSpPr>
          <p:cNvPr id="60" name="TextBox 60"/>
          <p:cNvSpPr txBox="1"/>
          <p:nvPr/>
        </p:nvSpPr>
        <p:spPr>
          <a:xfrm>
            <a:off x="10761497" y="6473190"/>
            <a:ext cx="8300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800" dirty="0">
                <a:solidFill>
                  <a:srgbClr val="A3B2BF"/>
                </a:solidFill>
                <a:latin typeface="+mn-lt"/>
                <a:ea typeface="+mn-ea"/>
                <a:cs typeface="+mn-cs"/>
              </a:rPr>
              <a:t>10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4360" y="472440"/>
            <a:ext cx="4876800" cy="1047750"/>
            <a:chOff x="594360" y="472440"/>
            <a:chExt cx="4876800" cy="1047750"/>
          </a:xfrm>
        </p:grpSpPr>
        <p:sp>
          <p:nvSpPr>
            <p:cNvPr id="2" name="TextBox 2"/>
            <p:cNvSpPr txBox="1"/>
            <p:nvPr/>
          </p:nvSpPr>
          <p:spPr>
            <a:xfrm>
              <a:off x="600456" y="472440"/>
              <a:ext cx="32966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 · 模型进展、工具与应用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609600" y="819150"/>
              <a:ext cx="457200" cy="5715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94360" y="933450"/>
              <a:ext cx="48768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开箱即用：在线预测服务器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09600" y="1638300"/>
            <a:ext cx="6858000" cy="3619500"/>
            <a:chOff x="609600" y="1638300"/>
            <a:chExt cx="6858000" cy="3619500"/>
          </a:xfrm>
        </p:grpSpPr>
        <p:graphicFrame>
          <p:nvGraphicFramePr>
            <p:cNvPr id="6" name="tools-table"/>
            <p:cNvGraphicFramePr>
              <a:graphicFrameLocks noGrp="1"/>
            </p:cNvGraphicFramePr>
            <p:nvPr/>
          </p:nvGraphicFramePr>
          <p:xfrm>
            <a:off x="609600" y="1638300"/>
            <a:ext cx="6858000" cy="3619500"/>
          </p:xfrm>
          <a:graphic>
            <a:graphicData uri="http://schemas.openxmlformats.org/drawingml/2006/table">
              <a:tbl>
                <a:tblPr firstRow="1" bandRow="1">
                  <a:tableStyleId>{5C22544A-7EE6-4342-B048-85BDC9FD1C3A}</a:tableStyleId>
                </a:tblPr>
                <a:tblGrid>
                  <a:gridCol w="3429000"/>
                  <a:gridCol w="3429000"/>
                </a:tblGrid>
                <a:tr h="517072">
                  <a:tc>
                    <a:txBody>
                      <a:bodyPr/>
                      <a:lstStyle/>
                      <a:p>
                        <a:pPr algn="ctr"/>
                        <a:r>
                          <a:rPr lang="zh-CN" sz="1800" b="1">
                            <a:solidFill>
                              <a:srgbClr val="FFFFFF"/>
                            </a:solidFill>
                            <a:latin typeface="Microsoft YaHei"/>
                            <a:ea typeface="Microsoft YaHei"/>
                            <a:cs typeface="Microsoft YaHei"/>
                          </a:rPr>
                          <a:t>工具</a:t>
                        </a:r>
                      </a:p>
                    </a:txBody>
                    <a:tcPr anchor="ctr">
                      <a:solidFill>
                        <a:srgbClr val="1F4E79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zh-CN" sz="1800" b="1">
                            <a:solidFill>
                              <a:srgbClr val="FFFFFF"/>
                            </a:solidFill>
                            <a:latin typeface="Microsoft YaHei"/>
                            <a:ea typeface="Microsoft YaHei"/>
                            <a:cs typeface="Microsoft YaHei"/>
                          </a:rPr>
                          <a:t>特点 / 入口</a:t>
                        </a:r>
                      </a:p>
                    </a:txBody>
                    <a:tcPr anchor="ctr">
                      <a:solidFill>
                        <a:srgbClr val="1F4E79"/>
                      </a:solidFill>
                    </a:tcPr>
                  </a:tc>
                </a:tr>
                <a:tr h="517072">
                  <a:tc>
                    <a:txBody>
                      <a:bodyPr/>
                      <a:lstStyle/>
                      <a:p>
                        <a:pPr/>
                        <a:r>
                          <a:rPr lang="zh-CN" sz="1800" b="0">
                            <a:solidFill>
                              <a:srgbClr val="1F2937"/>
                            </a:solidFill>
                            <a:latin typeface="Microsoft YaHei"/>
                            <a:ea typeface="Microsoft YaHei"/>
                            <a:cs typeface="Microsoft YaHei"/>
                          </a:rPr>
                          <a:t>iUmami-SCM</a:t>
                        </a:r>
                      </a:p>
                    </a:txBody>
                    <a:tcPr anchor="ctr"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/>
                        <a:r>
                          <a:rPr lang="zh-CN" sz="1800" b="0">
                            <a:solidFill>
                              <a:srgbClr val="1F2937"/>
                            </a:solidFill>
                            <a:latin typeface="Microsoft YaHei"/>
                            <a:ea typeface="Microsoft YaHei"/>
                            <a:cs typeface="Microsoft YaHei"/>
                          </a:rPr>
                          <a:t>Web 服务器</a:t>
                        </a:r>
                      </a:p>
                    </a:txBody>
                    <a:tcPr anchor="ctr">
                      <a:solidFill>
                        <a:srgbClr val="FFFFFF"/>
                      </a:solidFill>
                    </a:tcPr>
                  </a:tc>
                </a:tr>
                <a:tr h="517072">
                  <a:tc>
                    <a:txBody>
                      <a:bodyPr/>
                      <a:lstStyle/>
                      <a:p>
                        <a:pPr/>
                        <a:r>
                          <a:rPr lang="zh-CN" sz="1800" b="0">
                            <a:solidFill>
                              <a:srgbClr val="1F2937"/>
                            </a:solidFill>
                            <a:latin typeface="Microsoft YaHei"/>
                            <a:ea typeface="Microsoft YaHei"/>
                            <a:cs typeface="Microsoft YaHei"/>
                          </a:rPr>
                          <a:t>UMPred-FRL</a:t>
                        </a:r>
                      </a:p>
                    </a:txBody>
                    <a:tcPr anchor="ctr">
                      <a:solidFill>
                        <a:srgbClr val="F3F6FA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/>
                        <a:r>
                          <a:rPr lang="zh-CN" sz="1800" b="0">
                            <a:solidFill>
                              <a:srgbClr val="1F2937"/>
                            </a:solidFill>
                            <a:latin typeface="Microsoft YaHei"/>
                            <a:ea typeface="Microsoft YaHei"/>
                            <a:cs typeface="Microsoft YaHei"/>
                          </a:rPr>
                          <a:t>pmlabstack 服务器</a:t>
                        </a:r>
                      </a:p>
                    </a:txBody>
                    <a:tcPr anchor="ctr">
                      <a:solidFill>
                        <a:srgbClr val="F3F6FA"/>
                      </a:solidFill>
                    </a:tcPr>
                  </a:tc>
                </a:tr>
                <a:tr h="517071">
                  <a:tc>
                    <a:txBody>
                      <a:bodyPr/>
                      <a:lstStyle/>
                      <a:p>
                        <a:pPr/>
                        <a:r>
                          <a:rPr lang="zh-CN" sz="1800" b="0">
                            <a:solidFill>
                              <a:srgbClr val="1F2937"/>
                            </a:solidFill>
                            <a:latin typeface="Microsoft YaHei"/>
                            <a:ea typeface="Microsoft YaHei"/>
                            <a:cs typeface="Microsoft YaHei"/>
                          </a:rPr>
                          <a:t>iUP-BERT</a:t>
                        </a:r>
                      </a:p>
                    </a:txBody>
                    <a:tcPr anchor="ctr"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/>
                        <a:r>
                          <a:rPr lang="zh-CN" sz="1800" b="0">
                            <a:solidFill>
                              <a:srgbClr val="1F2937"/>
                            </a:solidFill>
                            <a:latin typeface="Microsoft YaHei"/>
                            <a:ea typeface="Microsoft YaHei"/>
                            <a:cs typeface="Microsoft YaHei"/>
                          </a:rPr>
                          <a:t>aibiochem.net 服务器</a:t>
                        </a:r>
                      </a:p>
                    </a:txBody>
                    <a:tcPr anchor="ctr">
                      <a:solidFill>
                        <a:srgbClr val="FFFFFF"/>
                      </a:solidFill>
                    </a:tcPr>
                  </a:tc>
                </a:tr>
                <a:tr h="517071">
                  <a:tc>
                    <a:txBody>
                      <a:bodyPr/>
                      <a:lstStyle/>
                      <a:p>
                        <a:pPr/>
                        <a:r>
                          <a:rPr lang="zh-CN" sz="1800" b="0">
                            <a:solidFill>
                              <a:srgbClr val="1F2937"/>
                            </a:solidFill>
                            <a:latin typeface="Microsoft YaHei"/>
                            <a:ea typeface="Microsoft YaHei"/>
                            <a:cs typeface="Microsoft YaHei"/>
                          </a:rPr>
                          <a:t>Umami-BERT</a:t>
                        </a:r>
                      </a:p>
                    </a:txBody>
                    <a:tcPr anchor="ctr">
                      <a:solidFill>
                        <a:srgbClr val="F3F6FA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/>
                        <a:r>
                          <a:rPr lang="zh-CN" sz="1800" b="0">
                            <a:solidFill>
                              <a:srgbClr val="1F2937"/>
                            </a:solidFill>
                            <a:latin typeface="Microsoft YaHei"/>
                            <a:ea typeface="Microsoft YaHei"/>
                            <a:cs typeface="Microsoft YaHei"/>
                          </a:rPr>
                          <a:t>带注意力解释</a:t>
                        </a:r>
                      </a:p>
                    </a:txBody>
                    <a:tcPr anchor="ctr">
                      <a:solidFill>
                        <a:srgbClr val="F3F6FA"/>
                      </a:solidFill>
                    </a:tcPr>
                  </a:tc>
                </a:tr>
                <a:tr h="517071">
                  <a:tc>
                    <a:txBody>
                      <a:bodyPr/>
                      <a:lstStyle/>
                      <a:p>
                        <a:pPr/>
                        <a:r>
                          <a:rPr lang="zh-CN" sz="1800" b="0">
                            <a:solidFill>
                              <a:srgbClr val="1F2937"/>
                            </a:solidFill>
                            <a:latin typeface="Microsoft YaHei"/>
                            <a:ea typeface="Microsoft YaHei"/>
                            <a:cs typeface="Microsoft YaHei"/>
                          </a:rPr>
                          <a:t>VirtuousUmami</a:t>
                        </a:r>
                      </a:p>
                    </a:txBody>
                    <a:tcPr anchor="ctr"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/>
                        <a:r>
                          <a:rPr lang="zh-CN" sz="1800" b="0">
                            <a:solidFill>
                              <a:srgbClr val="1F2937"/>
                            </a:solidFill>
                            <a:latin typeface="Microsoft YaHei"/>
                            <a:ea typeface="Microsoft YaHei"/>
                            <a:cs typeface="Microsoft YaHei"/>
                          </a:rPr>
                          <a:t>GitHub 开源，多输入</a:t>
                        </a:r>
                      </a:p>
                    </a:txBody>
                    <a:tcPr anchor="ctr">
                      <a:solidFill>
                        <a:srgbClr val="FFFFFF"/>
                      </a:solidFill>
                    </a:tcPr>
                  </a:tc>
                </a:tr>
                <a:tr h="517071">
                  <a:tc>
                    <a:txBody>
                      <a:bodyPr/>
                      <a:lstStyle/>
                      <a:p>
                        <a:pPr/>
                        <a:r>
                          <a:rPr lang="zh-CN" sz="1800" b="0">
                            <a:solidFill>
                              <a:srgbClr val="1F2937"/>
                            </a:solidFill>
                            <a:latin typeface="Microsoft YaHei"/>
                            <a:ea typeface="Microsoft YaHei"/>
                            <a:cs typeface="Microsoft YaHei"/>
                          </a:rPr>
                          <a:t>VmmScore</a:t>
                        </a:r>
                      </a:p>
                    </a:txBody>
                    <a:tcPr anchor="ctr">
                      <a:solidFill>
                        <a:srgbClr val="F3F6FA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/>
                        <a:r>
                          <a:rPr lang="zh-CN" sz="1800" b="0">
                            <a:solidFill>
                              <a:srgbClr val="1F2937"/>
                            </a:solidFill>
                            <a:latin typeface="Microsoft YaHei"/>
                            <a:ea typeface="Microsoft YaHei"/>
                            <a:cs typeface="Microsoft YaHei"/>
                          </a:rPr>
                          <a:t>预测+对接一体管线</a:t>
                        </a:r>
                      </a:p>
                    </a:txBody>
                    <a:tcPr anchor="ctr">
                      <a:solidFill>
                        <a:srgbClr val="F3F6FA"/>
                      </a:solidFill>
                    </a:tcPr>
                  </a:tc>
                </a:tr>
              </a:tbl>
            </a:graphicData>
          </a:graphic>
        </p:graphicFrame>
      </p:grpSp>
      <p:grpSp>
        <p:nvGrpSpPr>
          <p:cNvPr id="27" name="Group 27"/>
          <p:cNvGrpSpPr/>
          <p:nvPr/>
        </p:nvGrpSpPr>
        <p:grpSpPr>
          <a:xfrm>
            <a:off x="7696200" y="1638300"/>
            <a:ext cx="3886200" cy="3619500"/>
            <a:chOff x="7696200" y="1638300"/>
            <a:chExt cx="3886200" cy="3619500"/>
          </a:xfrm>
        </p:grpSpPr>
        <p:sp>
          <p:nvSpPr>
            <p:cNvPr id="8" name="Rectangle 8"/>
            <p:cNvSpPr/>
            <p:nvPr/>
          </p:nvSpPr>
          <p:spPr>
            <a:xfrm>
              <a:off x="7696200" y="1638300"/>
              <a:ext cx="3886200" cy="3619500"/>
            </a:xfrm>
            <a:prstGeom prst="roundRect">
              <a:avLst>
                <a:gd name="adj" fmla="val 4211"/>
              </a:avLst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8005762" y="1947862"/>
              <a:ext cx="257176" cy="257176"/>
              <a:chOff x="8005762" y="1947862"/>
              <a:chExt cx="257176" cy="257176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8005762" y="2147888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28575">
                <a:solidFill>
                  <a:srgbClr val="2FB3A8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8205788" y="1947862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28575" y="57150"/>
                    </a:move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  <a:cubicBezTo>
                      <a:pt x="0" y="44357"/>
                      <a:pt x="12793" y="57150"/>
                      <a:pt x="28575" y="57150"/>
                    </a:cubicBezTo>
                  </a:path>
                </a:pathLst>
              </a:custGeom>
              <a:noFill/>
              <a:ln w="28575">
                <a:solidFill>
                  <a:srgbClr val="2FB3A8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8034338" y="1976438"/>
                <a:ext cx="214312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200025">
                    <a:moveTo>
                      <a:pt x="85725" y="200025"/>
                    </a:moveTo>
                    <a:lnTo>
                      <a:pt x="164306" y="200025"/>
                    </a:lnTo>
                    <a:cubicBezTo>
                      <a:pt x="191924" y="200025"/>
                      <a:pt x="214312" y="177636"/>
                      <a:pt x="214312" y="150019"/>
                    </a:cubicBezTo>
                    <a:cubicBezTo>
                      <a:pt x="214312" y="122401"/>
                      <a:pt x="191924" y="100012"/>
                      <a:pt x="164306" y="100012"/>
                    </a:cubicBezTo>
                    <a:lnTo>
                      <a:pt x="50006" y="100012"/>
                    </a:lnTo>
                    <a:cubicBezTo>
                      <a:pt x="22389" y="100012"/>
                      <a:pt x="0" y="77624"/>
                      <a:pt x="0" y="50006"/>
                    </a:cubicBezTo>
                    <a:cubicBezTo>
                      <a:pt x="0" y="22389"/>
                      <a:pt x="22389" y="0"/>
                      <a:pt x="50006" y="0"/>
                    </a:cubicBezTo>
                    <a:lnTo>
                      <a:pt x="114300" y="0"/>
                    </a:lnTo>
                  </a:path>
                </a:pathLst>
              </a:custGeom>
              <a:noFill/>
              <a:ln w="28575">
                <a:solidFill>
                  <a:srgbClr val="2FB3A8"/>
                </a:solidFill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8390382" y="1945005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快速上手三步</a:t>
              </a:r>
            </a:p>
          </p:txBody>
        </p:sp>
        <p:grpSp>
          <p:nvGrpSpPr>
            <p:cNvPr id="26" name="Group 26"/>
            <p:cNvGrpSpPr/>
            <p:nvPr/>
          </p:nvGrpSpPr>
          <p:grpSpPr>
            <a:xfrm>
              <a:off x="7924800" y="2529840"/>
              <a:ext cx="2723388" cy="2390394"/>
              <a:chOff x="7924800" y="2529840"/>
              <a:chExt cx="2723388" cy="2390394"/>
            </a:xfrm>
          </p:grpSpPr>
          <p:sp>
            <p:nvSpPr>
              <p:cNvPr id="14" name="Ellipse 14"/>
              <p:cNvSpPr/>
              <p:nvPr/>
            </p:nvSpPr>
            <p:spPr>
              <a:xfrm>
                <a:off x="7924800" y="2571750"/>
                <a:ext cx="381000" cy="3810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8036187" y="2644140"/>
                <a:ext cx="15822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8449056" y="2529840"/>
                <a:ext cx="194300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准备 FASTA 序列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8449056" y="2815590"/>
                <a:ext cx="199316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AEBFD0"/>
                    </a:solidFill>
                    <a:latin typeface="+mn-lt"/>
                    <a:ea typeface="+mn-ea"/>
                    <a:cs typeface="+mn-cs"/>
                  </a:rPr>
                  <a:t>粘贴肽 / 蛋白序列</a:t>
                </a:r>
              </a:p>
            </p:txBody>
          </p:sp>
          <p:sp>
            <p:nvSpPr>
              <p:cNvPr id="18" name="Ellipse 18"/>
              <p:cNvSpPr/>
              <p:nvPr/>
            </p:nvSpPr>
            <p:spPr>
              <a:xfrm>
                <a:off x="7924800" y="3448050"/>
                <a:ext cx="381000" cy="3810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8036187" y="3520440"/>
                <a:ext cx="15822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449056" y="3406140"/>
                <a:ext cx="9875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提交预测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8449056" y="3691890"/>
                <a:ext cx="219913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AEBFD0"/>
                    </a:solidFill>
                    <a:latin typeface="+mn-lt"/>
                    <a:ea typeface="+mn-ea"/>
                    <a:cs typeface="+mn-cs"/>
                  </a:rPr>
                  <a:t>返回呈鲜概率与排名</a:t>
                </a:r>
              </a:p>
            </p:txBody>
          </p:sp>
          <p:sp>
            <p:nvSpPr>
              <p:cNvPr id="22" name="Ellipse 22"/>
              <p:cNvSpPr/>
              <p:nvPr/>
            </p:nvSpPr>
            <p:spPr>
              <a:xfrm>
                <a:off x="7924800" y="4324350"/>
                <a:ext cx="381000" cy="381000"/>
              </a:xfrm>
              <a:prstGeom prst="ellipse">
                <a:avLst/>
              </a:prstGeom>
              <a:solidFill>
                <a:srgbClr val="F2994A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8036187" y="4396740"/>
                <a:ext cx="15822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8449056" y="4282440"/>
                <a:ext cx="152246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送对接 / 感官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449056" y="4568190"/>
                <a:ext cx="219913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AEBFD0"/>
                    </a:solidFill>
                    <a:latin typeface="+mn-lt"/>
                    <a:ea typeface="+mn-ea"/>
                    <a:cs typeface="+mn-cs"/>
                  </a:rPr>
                  <a:t>高置信肽做后续验证</a:t>
                </a:r>
              </a:p>
            </p:txBody>
          </p:sp>
        </p:grpSp>
      </p:grpSp>
      <p:grpSp>
        <p:nvGrpSpPr>
          <p:cNvPr id="32" name="Group 32"/>
          <p:cNvGrpSpPr/>
          <p:nvPr/>
        </p:nvGrpSpPr>
        <p:grpSpPr>
          <a:xfrm>
            <a:off x="609600" y="5486400"/>
            <a:ext cx="10972800" cy="824484"/>
            <a:chOff x="609600" y="5486400"/>
            <a:chExt cx="10972800" cy="824484"/>
          </a:xfrm>
        </p:grpSpPr>
        <p:sp>
          <p:nvSpPr>
            <p:cNvPr id="28" name="Rectangle 28"/>
            <p:cNvSpPr/>
            <p:nvPr/>
          </p:nvSpPr>
          <p:spPr>
            <a:xfrm>
              <a:off x="609600" y="5486400"/>
              <a:ext cx="10972800" cy="800100"/>
            </a:xfrm>
            <a:prstGeom prst="roundRect">
              <a:avLst>
                <a:gd name="adj" fmla="val 19048"/>
              </a:avLst>
            </a:prstGeom>
            <a:solidFill>
              <a:srgbClr val="FBE9DD"/>
            </a:solidFill>
            <a:ln w="14288">
              <a:solidFill>
                <a:srgbClr val="F0DECF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971550" y="5772150"/>
              <a:ext cx="228600" cy="242888"/>
            </a:xfrm>
            <a:custGeom>
              <a:avLst/>
              <a:gdLst/>
              <a:ahLst/>
              <a:cxnLst/>
              <a:rect l="l" t="t" r="r" b="b"/>
              <a:pathLst>
                <a:path w="228600" h="242888">
                  <a:moveTo>
                    <a:pt x="0" y="0"/>
                  </a:moveTo>
                  <a:lnTo>
                    <a:pt x="228600" y="0"/>
                  </a:lnTo>
                  <a:lnTo>
                    <a:pt x="228600" y="31032"/>
                  </a:lnTo>
                  <a:cubicBezTo>
                    <a:pt x="228598" y="38610"/>
                    <a:pt x="225587" y="45877"/>
                    <a:pt x="220228" y="51235"/>
                  </a:cubicBezTo>
                  <a:lnTo>
                    <a:pt x="157162" y="114300"/>
                  </a:lnTo>
                  <a:lnTo>
                    <a:pt x="157162" y="214312"/>
                  </a:lnTo>
                  <a:lnTo>
                    <a:pt x="71438" y="242888"/>
                  </a:lnTo>
                  <a:lnTo>
                    <a:pt x="71438" y="121444"/>
                  </a:lnTo>
                  <a:lnTo>
                    <a:pt x="7430" y="51035"/>
                  </a:lnTo>
                  <a:cubicBezTo>
                    <a:pt x="2650" y="45776"/>
                    <a:pt x="1" y="38925"/>
                    <a:pt x="0" y="31818"/>
                  </a:cubicBezTo>
                  <a:lnTo>
                    <a:pt x="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381506" y="5654040"/>
              <a:ext cx="68701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B5663A"/>
                  </a:solidFill>
                  <a:latin typeface="+mn-lt"/>
                  <a:ea typeface="+mn-ea"/>
                  <a:cs typeface="+mn-cs"/>
                </a:rPr>
                <a:t>本地部署 VirtuousUmami 等开源工具，可对自建肽库批量筛选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381506" y="5958840"/>
              <a:ext cx="736892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配套：BIOPEP-UWM 肽库 + PeptideRanker 活性初筛，零成本起步</a:t>
              </a: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0761497" y="6473190"/>
            <a:ext cx="8300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800" dirty="0">
                <a:solidFill>
                  <a:srgbClr val="A3B2BF"/>
                </a:solidFill>
                <a:latin typeface="+mn-lt"/>
                <a:ea typeface="+mn-ea"/>
                <a:cs typeface="+mn-cs"/>
              </a:rPr>
              <a:t>11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4360" y="472440"/>
            <a:ext cx="4404284" cy="1047750"/>
            <a:chOff x="594360" y="472440"/>
            <a:chExt cx="4404284" cy="1047750"/>
          </a:xfrm>
        </p:grpSpPr>
        <p:sp>
          <p:nvSpPr>
            <p:cNvPr id="2" name="TextBox 2"/>
            <p:cNvSpPr txBox="1"/>
            <p:nvPr/>
          </p:nvSpPr>
          <p:spPr>
            <a:xfrm>
              <a:off x="600456" y="472440"/>
              <a:ext cx="32966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 · 模型进展、工具与应用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609600" y="819150"/>
              <a:ext cx="457200" cy="5715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94360" y="933450"/>
              <a:ext cx="4404284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准确率：从 82% 到 94%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09600" y="1638300"/>
            <a:ext cx="7620000" cy="3695700"/>
            <a:chOff x="609600" y="1638300"/>
            <a:chExt cx="7620000" cy="3695700"/>
          </a:xfrm>
        </p:grpSpPr>
        <p:graphicFrame>
          <p:nvGraphicFramePr>
            <p:cNvPr id="6" name="acc-compare"/>
            <p:cNvGraphicFramePr>
              <a:graphicFrameLocks noGrp="1"/>
            </p:cNvGraphicFramePr>
            <p:nvPr/>
          </p:nvGraphicFramePr>
          <p:xfrm>
            <a:off x="609600" y="1638300"/>
            <a:ext cx="7620000" cy="3695700"/>
          </p:xfrm>
          <a:graphic>
            <a:graphicData uri="http://schemas.openxmlformats.org/drawingml/2006/chart">
              <c:chart xmlns:c="http://schemas.openxmlformats.org/drawingml/2006/chart" r:id="rId2"/>
            </a:graphicData>
          </a:graphic>
        </p:graphicFrame>
      </p:grpSp>
      <p:grpSp>
        <p:nvGrpSpPr>
          <p:cNvPr id="31" name="Group 31"/>
          <p:cNvGrpSpPr/>
          <p:nvPr/>
        </p:nvGrpSpPr>
        <p:grpSpPr>
          <a:xfrm>
            <a:off x="8458200" y="1638300"/>
            <a:ext cx="3239323" cy="3758184"/>
            <a:chOff x="8458200" y="1638300"/>
            <a:chExt cx="3239323" cy="3758184"/>
          </a:xfrm>
        </p:grpSpPr>
        <p:grpSp>
          <p:nvGrpSpPr>
            <p:cNvPr id="14" name="Group 14"/>
            <p:cNvGrpSpPr/>
            <p:nvPr/>
          </p:nvGrpSpPr>
          <p:grpSpPr>
            <a:xfrm>
              <a:off x="8458200" y="1638300"/>
              <a:ext cx="3162300" cy="1243584"/>
              <a:chOff x="8458200" y="1638300"/>
              <a:chExt cx="3162300" cy="1243584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8496300" y="1676400"/>
                <a:ext cx="3124200" cy="1123950"/>
              </a:xfrm>
              <a:prstGeom prst="roundRect">
                <a:avLst>
                  <a:gd name="adj" fmla="val 13559"/>
                </a:avLst>
              </a:prstGeom>
              <a:solidFill>
                <a:srgbClr val="E3E9ED"/>
              </a:solidFill>
              <a:ln>
                <a:noFill/>
              </a:ln>
            </p:spPr>
          </p:sp>
          <p:sp>
            <p:nvSpPr>
              <p:cNvPr id="9" name="Rectangle 9"/>
              <p:cNvSpPr/>
              <p:nvPr/>
            </p:nvSpPr>
            <p:spPr>
              <a:xfrm>
                <a:off x="8458200" y="1638300"/>
                <a:ext cx="3124200" cy="1123950"/>
              </a:xfrm>
              <a:prstGeom prst="roundRect">
                <a:avLst>
                  <a:gd name="adj" fmla="val 13559"/>
                </a:avLst>
              </a:prstGeom>
              <a:solidFill>
                <a:srgbClr val="FFFFFF"/>
              </a:solidFill>
              <a:ln w="14288">
                <a:solidFill>
                  <a:srgbClr val="F0DECF"/>
                </a:solidFill>
              </a:ln>
            </p:spPr>
          </p:sp>
          <p:sp>
            <p:nvSpPr>
              <p:cNvPr id="10" name="Rectangle 10"/>
              <p:cNvSpPr/>
              <p:nvPr/>
            </p:nvSpPr>
            <p:spPr>
              <a:xfrm>
                <a:off x="8458200" y="1638300"/>
                <a:ext cx="57150" cy="1123950"/>
              </a:xfrm>
              <a:prstGeom prst="roundRect">
                <a:avLst>
                  <a:gd name="adj" fmla="val 50000"/>
                </a:avLst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8706612" y="1783080"/>
                <a:ext cx="977974" cy="704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60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94%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8715756" y="2282190"/>
                <a:ext cx="122986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最高准确率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8715756" y="2529840"/>
                <a:ext cx="196893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超已有模型 2–9pp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8458200" y="2914650"/>
              <a:ext cx="3162300" cy="1243584"/>
              <a:chOff x="8458200" y="2914650"/>
              <a:chExt cx="3162300" cy="1243584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8496300" y="2952750"/>
                <a:ext cx="3124200" cy="1123950"/>
              </a:xfrm>
              <a:prstGeom prst="roundRect">
                <a:avLst>
                  <a:gd name="adj" fmla="val 13559"/>
                </a:avLst>
              </a:prstGeom>
              <a:solidFill>
                <a:srgbClr val="E3E9ED"/>
              </a:solidFill>
              <a:ln>
                <a:noFill/>
              </a:ln>
            </p:spPr>
          </p:sp>
          <p:sp>
            <p:nvSpPr>
              <p:cNvPr id="16" name="Rectangle 16"/>
              <p:cNvSpPr/>
              <p:nvPr/>
            </p:nvSpPr>
            <p:spPr>
              <a:xfrm>
                <a:off x="8458200" y="2914650"/>
                <a:ext cx="3124200" cy="1123950"/>
              </a:xfrm>
              <a:prstGeom prst="roundRect">
                <a:avLst>
                  <a:gd name="adj" fmla="val 13559"/>
                </a:avLst>
              </a:prstGeom>
              <a:solidFill>
                <a:srgbClr val="FFFFFF"/>
              </a:solidFill>
              <a:ln w="14288">
                <a:solidFill>
                  <a:srgbClr val="CFE4E1"/>
                </a:solidFill>
              </a:ln>
            </p:spPr>
          </p:sp>
          <p:sp>
            <p:nvSpPr>
              <p:cNvPr id="17" name="Rectangle 17"/>
              <p:cNvSpPr/>
              <p:nvPr/>
            </p:nvSpPr>
            <p:spPr>
              <a:xfrm>
                <a:off x="8458200" y="2914650"/>
                <a:ext cx="57150" cy="1123950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8706612" y="3059430"/>
                <a:ext cx="1435951" cy="704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6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+12pp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8715756" y="3558540"/>
                <a:ext cx="164729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五年 ACC 提升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715756" y="3806190"/>
                <a:ext cx="199316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深度学习稳站 90%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8496300" y="4229100"/>
              <a:ext cx="3201223" cy="1167384"/>
              <a:chOff x="8496300" y="4229100"/>
              <a:chExt cx="3201223" cy="1167384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8496300" y="4229100"/>
                <a:ext cx="3124200" cy="1104900"/>
              </a:xfrm>
              <a:prstGeom prst="roundRect">
                <a:avLst>
                  <a:gd name="adj" fmla="val 13793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grpSp>
            <p:nvGrpSpPr>
              <p:cNvPr id="27" name="Group 27"/>
              <p:cNvGrpSpPr/>
              <p:nvPr/>
            </p:nvGrpSpPr>
            <p:grpSpPr>
              <a:xfrm>
                <a:off x="8763000" y="4451350"/>
                <a:ext cx="228600" cy="212724"/>
                <a:chOff x="8763000" y="4451350"/>
                <a:chExt cx="228600" cy="212724"/>
              </a:xfrm>
            </p:grpSpPr>
            <p:sp>
              <p:nvSpPr>
                <p:cNvPr id="23" name="Freeform 23"/>
                <p:cNvSpPr/>
                <p:nvPr/>
              </p:nvSpPr>
              <p:spPr>
                <a:xfrm>
                  <a:off x="8763000" y="4552950"/>
                  <a:ext cx="76200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101600">
                      <a:moveTo>
                        <a:pt x="0" y="12700"/>
                      </a:moveTo>
                      <a:cubicBezTo>
                        <a:pt x="0" y="5686"/>
                        <a:pt x="5686" y="0"/>
                        <a:pt x="12700" y="0"/>
                      </a:cubicBezTo>
                      <a:lnTo>
                        <a:pt x="63500" y="0"/>
                      </a:lnTo>
                      <a:cubicBezTo>
                        <a:pt x="70514" y="0"/>
                        <a:pt x="76200" y="5686"/>
                        <a:pt x="76200" y="12700"/>
                      </a:cubicBezTo>
                      <a:lnTo>
                        <a:pt x="76200" y="88900"/>
                      </a:lnTo>
                      <a:cubicBezTo>
                        <a:pt x="76200" y="95914"/>
                        <a:pt x="70514" y="101600"/>
                        <a:pt x="63500" y="101600"/>
                      </a:cubicBezTo>
                      <a:lnTo>
                        <a:pt x="12700" y="101600"/>
                      </a:lnTo>
                      <a:cubicBezTo>
                        <a:pt x="5686" y="101600"/>
                        <a:pt x="0" y="95914"/>
                        <a:pt x="0" y="88900"/>
                      </a:cubicBezTo>
                      <a:lnTo>
                        <a:pt x="0" y="12700"/>
                      </a:lnTo>
                    </a:path>
                  </a:pathLst>
                </a:custGeom>
                <a:noFill/>
                <a:ln w="25400">
                  <a:solidFill>
                    <a:srgbClr val="2FB3A8"/>
                  </a:solidFill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8915400" y="4502150"/>
                  <a:ext cx="76200" cy="15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152400">
                      <a:moveTo>
                        <a:pt x="0" y="12700"/>
                      </a:moveTo>
                      <a:cubicBezTo>
                        <a:pt x="0" y="5686"/>
                        <a:pt x="5686" y="0"/>
                        <a:pt x="12700" y="0"/>
                      </a:cubicBezTo>
                      <a:lnTo>
                        <a:pt x="63500" y="0"/>
                      </a:lnTo>
                      <a:cubicBezTo>
                        <a:pt x="70514" y="0"/>
                        <a:pt x="76200" y="5686"/>
                        <a:pt x="76200" y="12700"/>
                      </a:cubicBezTo>
                      <a:lnTo>
                        <a:pt x="76200" y="139700"/>
                      </a:lnTo>
                      <a:cubicBezTo>
                        <a:pt x="76200" y="146714"/>
                        <a:pt x="70514" y="152400"/>
                        <a:pt x="63500" y="152400"/>
                      </a:cubicBezTo>
                      <a:lnTo>
                        <a:pt x="12700" y="152400"/>
                      </a:lnTo>
                      <a:cubicBezTo>
                        <a:pt x="5686" y="152400"/>
                        <a:pt x="0" y="146714"/>
                        <a:pt x="0" y="139700"/>
                      </a:cubicBezTo>
                      <a:lnTo>
                        <a:pt x="0" y="12700"/>
                      </a:lnTo>
                    </a:path>
                  </a:pathLst>
                </a:custGeom>
                <a:noFill/>
                <a:ln w="25400">
                  <a:solidFill>
                    <a:srgbClr val="2FB3A8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8839200" y="4451350"/>
                  <a:ext cx="76200" cy="2031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203199">
                      <a:moveTo>
                        <a:pt x="0" y="12700"/>
                      </a:moveTo>
                      <a:cubicBezTo>
                        <a:pt x="0" y="5686"/>
                        <a:pt x="5686" y="0"/>
                        <a:pt x="12700" y="0"/>
                      </a:cubicBezTo>
                      <a:lnTo>
                        <a:pt x="63500" y="0"/>
                      </a:lnTo>
                      <a:cubicBezTo>
                        <a:pt x="70514" y="0"/>
                        <a:pt x="76200" y="5686"/>
                        <a:pt x="76200" y="12700"/>
                      </a:cubicBezTo>
                      <a:lnTo>
                        <a:pt x="76200" y="190500"/>
                      </a:lnTo>
                      <a:cubicBezTo>
                        <a:pt x="76200" y="197514"/>
                        <a:pt x="70514" y="203199"/>
                        <a:pt x="63500" y="203199"/>
                      </a:cubicBezTo>
                      <a:lnTo>
                        <a:pt x="12700" y="203199"/>
                      </a:lnTo>
                      <a:cubicBezTo>
                        <a:pt x="5686" y="203199"/>
                        <a:pt x="0" y="197514"/>
                        <a:pt x="0" y="190500"/>
                      </a:cubicBezTo>
                      <a:lnTo>
                        <a:pt x="0" y="12700"/>
                      </a:lnTo>
                    </a:path>
                  </a:pathLst>
                </a:custGeom>
                <a:noFill/>
                <a:ln w="25400">
                  <a:solidFill>
                    <a:srgbClr val="2FB3A8"/>
                  </a:solidFill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8775700" y="4654549"/>
                  <a:ext cx="1778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800" h="9525">
                      <a:moveTo>
                        <a:pt x="0" y="0"/>
                      </a:moveTo>
                      <a:lnTo>
                        <a:pt x="177800" y="0"/>
                      </a:lnTo>
                    </a:path>
                  </a:pathLst>
                </a:custGeom>
                <a:noFill/>
                <a:ln w="25400">
                  <a:solidFill>
                    <a:srgbClr val="2FB3A8"/>
                  </a:solidFill>
                </a:ln>
              </p:spPr>
            </p:sp>
          </p:grpSp>
          <p:sp>
            <p:nvSpPr>
              <p:cNvPr id="28" name="TextBox 28"/>
              <p:cNvSpPr txBox="1"/>
              <p:nvPr/>
            </p:nvSpPr>
            <p:spPr>
              <a:xfrm>
                <a:off x="8715756" y="4758690"/>
                <a:ext cx="178042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MCC 最高 0.85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715756" y="5044440"/>
                <a:ext cx="298176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AEBFD0"/>
                    </a:solidFill>
                    <a:latin typeface="+mn-lt"/>
                    <a:ea typeface="+mn-ea"/>
                    <a:cs typeface="+mn-cs"/>
                  </a:rPr>
                  <a:t>不平衡看 MCC / Sn 更可靠</a:t>
                </a:r>
              </a:p>
            </p:txBody>
          </p:sp>
        </p:grpSp>
      </p:grpSp>
      <p:grpSp>
        <p:nvGrpSpPr>
          <p:cNvPr id="34" name="Group 34"/>
          <p:cNvGrpSpPr/>
          <p:nvPr/>
        </p:nvGrpSpPr>
        <p:grpSpPr>
          <a:xfrm>
            <a:off x="609600" y="5562600"/>
            <a:ext cx="10972800" cy="571500"/>
            <a:chOff x="609600" y="5562600"/>
            <a:chExt cx="10972800" cy="571500"/>
          </a:xfrm>
        </p:grpSpPr>
        <p:sp>
          <p:nvSpPr>
            <p:cNvPr id="32" name="Rectangle 32"/>
            <p:cNvSpPr/>
            <p:nvPr/>
          </p:nvSpPr>
          <p:spPr>
            <a:xfrm>
              <a:off x="609600" y="5562600"/>
              <a:ext cx="10972800" cy="571500"/>
            </a:xfrm>
            <a:prstGeom prst="roundRect">
              <a:avLst>
                <a:gd name="adj" fmla="val 26667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42594" y="5714048"/>
              <a:ext cx="632002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结论：模型已足够准确，足以作为湿实验的</a:t>
              </a:r>
              <a:r>
                <a:rPr lang="zh-CN" sz="1950" b="1" dirty="0">
                  <a:solidFill>
                    <a:srgbClr val="2FB3A8"/>
                  </a:solidFill>
                  <a:latin typeface="+mn-lt"/>
                  <a:ea typeface="+mn-ea"/>
                  <a:cs typeface="+mn-cs"/>
                </a:rPr>
                <a:t>前置过滤器</a:t>
              </a:r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10761497" y="6473190"/>
            <a:ext cx="8300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800" dirty="0">
                <a:solidFill>
                  <a:srgbClr val="A3B2BF"/>
                </a:solidFill>
                <a:latin typeface="+mn-lt"/>
                <a:ea typeface="+mn-ea"/>
                <a:cs typeface="+mn-cs"/>
              </a:rPr>
              <a:t>12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4360" y="472440"/>
            <a:ext cx="6896100" cy="1047750"/>
            <a:chOff x="594360" y="472440"/>
            <a:chExt cx="6896100" cy="1047750"/>
          </a:xfrm>
        </p:grpSpPr>
        <p:sp>
          <p:nvSpPr>
            <p:cNvPr id="2" name="TextBox 2"/>
            <p:cNvSpPr txBox="1"/>
            <p:nvPr/>
          </p:nvSpPr>
          <p:spPr>
            <a:xfrm>
              <a:off x="600456" y="472440"/>
              <a:ext cx="32966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 · 模型进展、工具与应用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609600" y="819150"/>
              <a:ext cx="457200" cy="5715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94360" y="933450"/>
              <a:ext cx="68961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分子对接：从「猜得准」到「说得清」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09600" y="1638300"/>
            <a:ext cx="5943600" cy="3777234"/>
            <a:chOff x="609600" y="1638300"/>
            <a:chExt cx="5943600" cy="3777234"/>
          </a:xfrm>
        </p:grpSpPr>
        <p:sp>
          <p:nvSpPr>
            <p:cNvPr id="6" name="Rectangle 6"/>
            <p:cNvSpPr/>
            <p:nvPr/>
          </p:nvSpPr>
          <p:spPr>
            <a:xfrm>
              <a:off x="647700" y="1676400"/>
              <a:ext cx="5905500" cy="3695700"/>
            </a:xfrm>
            <a:prstGeom prst="roundRect">
              <a:avLst>
                <a:gd name="adj" fmla="val 4124"/>
              </a:avLst>
            </a:prstGeom>
            <a:solidFill>
              <a:srgbClr val="E3E9ED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38300"/>
              <a:ext cx="5905500" cy="3695700"/>
            </a:xfrm>
            <a:prstGeom prst="roundRect">
              <a:avLst>
                <a:gd name="adj" fmla="val 4124"/>
              </a:avLst>
            </a:prstGeom>
            <a:solidFill>
              <a:srgbClr val="FFFFFF"/>
            </a:solidFill>
            <a:ln w="14288">
              <a:solidFill>
                <a:srgbClr val="DDE6EC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838200" y="1866900"/>
              <a:ext cx="3429000" cy="32385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00506" y="1901190"/>
              <a:ext cx="387093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肽与受体结合口袋（VFD 域）示意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1733550" y="2298700"/>
              <a:ext cx="3625850" cy="2260600"/>
            </a:xfrm>
            <a:custGeom>
              <a:avLst/>
              <a:gdLst/>
              <a:ahLst/>
              <a:cxnLst/>
              <a:rect l="l" t="t" r="r" b="b"/>
              <a:pathLst>
                <a:path w="3625850" h="2260600">
                  <a:moveTo>
                    <a:pt x="266700" y="425450"/>
                  </a:moveTo>
                  <a:cubicBezTo>
                    <a:pt x="0" y="958850"/>
                    <a:pt x="57150" y="1485900"/>
                    <a:pt x="438150" y="2006600"/>
                  </a:cubicBezTo>
                  <a:cubicBezTo>
                    <a:pt x="1403350" y="2260600"/>
                    <a:pt x="2330450" y="2241550"/>
                    <a:pt x="3219450" y="1949450"/>
                  </a:cubicBezTo>
                  <a:cubicBezTo>
                    <a:pt x="3625850" y="1377950"/>
                    <a:pt x="3575050" y="812800"/>
                    <a:pt x="3067050" y="254000"/>
                  </a:cubicBezTo>
                  <a:cubicBezTo>
                    <a:pt x="2152650" y="0"/>
                    <a:pt x="1219200" y="57150"/>
                    <a:pt x="266700" y="425450"/>
                  </a:cubicBezTo>
                  <a:close/>
                </a:path>
              </a:pathLst>
            </a:custGeom>
            <a:solidFill>
              <a:schemeClr val="accent6"/>
            </a:solidFill>
            <a:ln w="23812">
              <a:solidFill>
                <a:srgbClr val="4F86B2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788158" y="42824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4F86B2"/>
                  </a:solidFill>
                  <a:latin typeface="+mn-lt"/>
                  <a:ea typeface="+mn-ea"/>
                  <a:cs typeface="+mn-cs"/>
                </a:rPr>
                <a:t>受体结合口袋</a:t>
              </a:r>
            </a:p>
          </p:txBody>
        </p:sp>
        <p:grpSp>
          <p:nvGrpSpPr>
            <p:cNvPr id="20" name="Group 20"/>
            <p:cNvGrpSpPr/>
            <p:nvPr/>
          </p:nvGrpSpPr>
          <p:grpSpPr>
            <a:xfrm>
              <a:off x="2743200" y="2952750"/>
              <a:ext cx="2000250" cy="876300"/>
              <a:chOff x="2743200" y="2952750"/>
              <a:chExt cx="2000250" cy="876300"/>
            </a:xfrm>
          </p:grpSpPr>
          <p:sp>
            <p:nvSpPr>
              <p:cNvPr id="12" name="Line 12"/>
              <p:cNvSpPr/>
              <p:nvPr/>
            </p:nvSpPr>
            <p:spPr>
              <a:xfrm>
                <a:off x="3067050" y="3219450"/>
                <a:ext cx="47625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476250" h="228600">
                    <a:moveTo>
                      <a:pt x="0" y="0"/>
                    </a:moveTo>
                    <a:lnTo>
                      <a:pt x="476250" y="228600"/>
                    </a:lnTo>
                  </a:path>
                </a:pathLst>
              </a:custGeom>
              <a:noFill/>
              <a:ln w="47625">
                <a:solidFill>
                  <a:srgbClr val="C7D2DB"/>
                </a:solidFill>
              </a:ln>
            </p:spPr>
          </p:sp>
          <p:sp>
            <p:nvSpPr>
              <p:cNvPr id="13" name="Line 13"/>
              <p:cNvSpPr/>
              <p:nvPr/>
            </p:nvSpPr>
            <p:spPr>
              <a:xfrm>
                <a:off x="3543300" y="3276600"/>
                <a:ext cx="4762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476250" h="171450">
                    <a:moveTo>
                      <a:pt x="0" y="171450"/>
                    </a:moveTo>
                    <a:lnTo>
                      <a:pt x="476250" y="0"/>
                    </a:lnTo>
                  </a:path>
                </a:pathLst>
              </a:custGeom>
              <a:noFill/>
              <a:ln w="47625">
                <a:solidFill>
                  <a:srgbClr val="C7D2DB"/>
                </a:solidFill>
              </a:ln>
            </p:spPr>
          </p:sp>
          <p:sp>
            <p:nvSpPr>
              <p:cNvPr id="14" name="Line 14"/>
              <p:cNvSpPr/>
              <p:nvPr/>
            </p:nvSpPr>
            <p:spPr>
              <a:xfrm>
                <a:off x="4019550" y="3276600"/>
                <a:ext cx="38100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266700">
                    <a:moveTo>
                      <a:pt x="0" y="0"/>
                    </a:moveTo>
                    <a:lnTo>
                      <a:pt x="381000" y="266700"/>
                    </a:lnTo>
                  </a:path>
                </a:pathLst>
              </a:custGeom>
              <a:noFill/>
              <a:ln w="47625">
                <a:solidFill>
                  <a:srgbClr val="C7D2DB"/>
                </a:solidFill>
              </a:ln>
            </p:spPr>
          </p:sp>
          <p:sp>
            <p:nvSpPr>
              <p:cNvPr id="15" name="Ellipse 15"/>
              <p:cNvSpPr/>
              <p:nvPr/>
            </p:nvSpPr>
            <p:spPr>
              <a:xfrm>
                <a:off x="2743200" y="2952750"/>
                <a:ext cx="381000" cy="3810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16" name="Ellipse 16"/>
              <p:cNvSpPr/>
              <p:nvPr/>
            </p:nvSpPr>
            <p:spPr>
              <a:xfrm>
                <a:off x="3486150" y="3314700"/>
                <a:ext cx="381000" cy="3810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7" name="Ellipse 17"/>
              <p:cNvSpPr/>
              <p:nvPr/>
            </p:nvSpPr>
            <p:spPr>
              <a:xfrm>
                <a:off x="3962400" y="3028950"/>
                <a:ext cx="381000" cy="3810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18" name="Ellipse 18"/>
              <p:cNvSpPr/>
              <p:nvPr/>
            </p:nvSpPr>
            <p:spPr>
              <a:xfrm>
                <a:off x="4362450" y="3448050"/>
                <a:ext cx="381000" cy="3810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2850627" y="3025140"/>
                <a:ext cx="16614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D</a:t>
                </a:r>
              </a:p>
            </p:txBody>
          </p:sp>
        </p:grpSp>
        <p:sp>
          <p:nvSpPr>
            <p:cNvPr id="21" name="Line 21"/>
            <p:cNvSpPr/>
            <p:nvPr/>
          </p:nvSpPr>
          <p:spPr>
            <a:xfrm>
              <a:off x="2400300" y="2686050"/>
              <a:ext cx="533400" cy="266700"/>
            </a:xfrm>
            <a:custGeom>
              <a:avLst/>
              <a:gdLst/>
              <a:ahLst/>
              <a:cxnLst/>
              <a:rect l="l" t="t" r="r" b="b"/>
              <a:pathLst>
                <a:path w="533400" h="266700">
                  <a:moveTo>
                    <a:pt x="533400" y="266700"/>
                  </a:moveTo>
                  <a:lnTo>
                    <a:pt x="0" y="0"/>
                  </a:lnTo>
                </a:path>
              </a:pathLst>
            </a:custGeom>
            <a:noFill/>
            <a:ln w="23812">
              <a:solidFill>
                <a:schemeClr val="accent3"/>
              </a:solidFill>
              <a:custDash>
                <a:ds d="240000" sp="160000"/>
              </a:custDash>
            </a:ln>
          </p:spPr>
        </p:sp>
        <p:sp>
          <p:nvSpPr>
            <p:cNvPr id="22" name="Ellipse 22"/>
            <p:cNvSpPr/>
            <p:nvPr/>
          </p:nvSpPr>
          <p:spPr>
            <a:xfrm>
              <a:off x="2295525" y="2581275"/>
              <a:ext cx="133350" cy="1333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667256" y="2358390"/>
              <a:ext cx="87375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B5663A"/>
                  </a:solidFill>
                  <a:latin typeface="+mn-lt"/>
                  <a:ea typeface="+mn-ea"/>
                  <a:cs typeface="+mn-cs"/>
                </a:rPr>
                <a:t>Arg277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419606" y="26250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关键盐桥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4552950" y="2971800"/>
              <a:ext cx="438150" cy="476250"/>
            </a:xfrm>
            <a:custGeom>
              <a:avLst/>
              <a:gdLst/>
              <a:ahLst/>
              <a:cxnLst/>
              <a:rect l="l" t="t" r="r" b="b"/>
              <a:pathLst>
                <a:path w="438150" h="476250">
                  <a:moveTo>
                    <a:pt x="0" y="476250"/>
                  </a:moveTo>
                  <a:lnTo>
                    <a:pt x="438150" y="0"/>
                  </a:lnTo>
                </a:path>
              </a:pathLst>
            </a:custGeom>
            <a:noFill/>
            <a:ln w="23812">
              <a:solidFill>
                <a:schemeClr val="accent2"/>
              </a:solidFill>
              <a:custDash>
                <a:ds d="240000" sp="160000"/>
              </a:custDash>
            </a:ln>
          </p:spPr>
        </p:sp>
        <p:sp>
          <p:nvSpPr>
            <p:cNvPr id="26" name="Ellipse 26"/>
            <p:cNvSpPr/>
            <p:nvPr/>
          </p:nvSpPr>
          <p:spPr>
            <a:xfrm>
              <a:off x="4962525" y="2847975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134356" y="26822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氢键网络</a:t>
              </a:r>
            </a:p>
          </p:txBody>
        </p:sp>
        <p:grpSp>
          <p:nvGrpSpPr>
            <p:cNvPr id="35" name="Group 35"/>
            <p:cNvGrpSpPr/>
            <p:nvPr/>
          </p:nvGrpSpPr>
          <p:grpSpPr>
            <a:xfrm>
              <a:off x="829056" y="4815840"/>
              <a:ext cx="4933188" cy="599694"/>
              <a:chOff x="829056" y="4815840"/>
              <a:chExt cx="4933188" cy="599694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838200" y="4876800"/>
                <a:ext cx="152400" cy="152400"/>
              </a:xfrm>
              <a:prstGeom prst="roundRect">
                <a:avLst>
                  <a:gd name="adj" fmla="val 25000"/>
                </a:avLst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1076706" y="4815840"/>
                <a:ext cx="126004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酸性残基 D</a:t>
                </a:r>
              </a:p>
            </p:txBody>
          </p:sp>
          <p:sp>
            <p:nvSpPr>
              <p:cNvPr id="30" name="Rectangle 30"/>
              <p:cNvSpPr/>
              <p:nvPr/>
            </p:nvSpPr>
            <p:spPr>
              <a:xfrm>
                <a:off x="2971800" y="4876800"/>
                <a:ext cx="152400" cy="152400"/>
              </a:xfrm>
              <a:prstGeom prst="roundRect">
                <a:avLst>
                  <a:gd name="adj" fmla="val 25000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3210306" y="4815840"/>
                <a:ext cx="9875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协同残基</a:t>
                </a:r>
              </a:p>
            </p:txBody>
          </p:sp>
          <p:sp>
            <p:nvSpPr>
              <p:cNvPr id="32" name="Rectangle 32"/>
              <p:cNvSpPr/>
              <p:nvPr/>
            </p:nvSpPr>
            <p:spPr>
              <a:xfrm>
                <a:off x="4476750" y="4876800"/>
                <a:ext cx="152400" cy="152400"/>
              </a:xfrm>
              <a:prstGeom prst="roundRect">
                <a:avLst>
                  <a:gd name="adj" fmla="val 250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4715256" y="4815840"/>
                <a:ext cx="9875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其他残基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829056" y="5063490"/>
                <a:ext cx="493318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A3B2BF"/>
                    </a:solidFill>
                    <a:latin typeface="+mn-lt"/>
                    <a:ea typeface="+mn-ea"/>
                    <a:cs typeface="+mn-cs"/>
                  </a:rPr>
                  <a:t>示意图非真实构象；由 AutoDock 等工具打分</a:t>
                </a:r>
              </a:p>
            </p:txBody>
          </p:sp>
        </p:grpSp>
      </p:grpSp>
      <p:grpSp>
        <p:nvGrpSpPr>
          <p:cNvPr id="80" name="Group 80"/>
          <p:cNvGrpSpPr/>
          <p:nvPr/>
        </p:nvGrpSpPr>
        <p:grpSpPr>
          <a:xfrm>
            <a:off x="6743700" y="1638300"/>
            <a:ext cx="4876800" cy="3701034"/>
            <a:chOff x="6743700" y="1638300"/>
            <a:chExt cx="4876800" cy="3701034"/>
          </a:xfrm>
        </p:grpSpPr>
        <p:grpSp>
          <p:nvGrpSpPr>
            <p:cNvPr id="47" name="Group 47"/>
            <p:cNvGrpSpPr/>
            <p:nvPr/>
          </p:nvGrpSpPr>
          <p:grpSpPr>
            <a:xfrm>
              <a:off x="6743700" y="1638300"/>
              <a:ext cx="4876800" cy="1224534"/>
              <a:chOff x="6743700" y="1638300"/>
              <a:chExt cx="4876800" cy="1224534"/>
            </a:xfrm>
          </p:grpSpPr>
          <p:sp>
            <p:nvSpPr>
              <p:cNvPr id="37" name="Rectangle 37"/>
              <p:cNvSpPr/>
              <p:nvPr/>
            </p:nvSpPr>
            <p:spPr>
              <a:xfrm>
                <a:off x="6781800" y="1676400"/>
                <a:ext cx="4838700" cy="1104900"/>
              </a:xfrm>
              <a:prstGeom prst="roundRect">
                <a:avLst>
                  <a:gd name="adj" fmla="val 13793"/>
                </a:avLst>
              </a:prstGeom>
              <a:solidFill>
                <a:srgbClr val="E3E9ED"/>
              </a:solidFill>
              <a:ln>
                <a:noFill/>
              </a:ln>
            </p:spPr>
          </p:sp>
          <p:sp>
            <p:nvSpPr>
              <p:cNvPr id="38" name="Rectangle 38"/>
              <p:cNvSpPr/>
              <p:nvPr/>
            </p:nvSpPr>
            <p:spPr>
              <a:xfrm>
                <a:off x="6743700" y="1638300"/>
                <a:ext cx="4838700" cy="1104900"/>
              </a:xfrm>
              <a:prstGeom prst="roundRect">
                <a:avLst>
                  <a:gd name="adj" fmla="val 13793"/>
                </a:avLst>
              </a:prstGeom>
              <a:solidFill>
                <a:srgbClr val="FFFFFF"/>
              </a:solidFill>
              <a:ln w="14288">
                <a:solidFill>
                  <a:srgbClr val="E3E9ED"/>
                </a:solidFill>
              </a:ln>
            </p:spPr>
          </p:sp>
          <p:sp>
            <p:nvSpPr>
              <p:cNvPr id="39" name="Ellipse 39"/>
              <p:cNvSpPr/>
              <p:nvPr/>
            </p:nvSpPr>
            <p:spPr>
              <a:xfrm>
                <a:off x="6972300" y="1866900"/>
                <a:ext cx="495300" cy="4953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</p:sp>
          <p:grpSp>
            <p:nvGrpSpPr>
              <p:cNvPr id="43" name="Group 43"/>
              <p:cNvGrpSpPr/>
              <p:nvPr/>
            </p:nvGrpSpPr>
            <p:grpSpPr>
              <a:xfrm>
                <a:off x="7099298" y="1986531"/>
                <a:ext cx="248647" cy="256005"/>
                <a:chOff x="7099298" y="1986531"/>
                <a:chExt cx="248647" cy="256005"/>
              </a:xfrm>
            </p:grpSpPr>
            <p:sp>
              <p:nvSpPr>
                <p:cNvPr id="40" name="Freeform 40"/>
                <p:cNvSpPr/>
                <p:nvPr/>
              </p:nvSpPr>
              <p:spPr>
                <a:xfrm>
                  <a:off x="7174706" y="2069306"/>
                  <a:ext cx="90487" cy="904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487" h="90487">
                      <a:moveTo>
                        <a:pt x="0" y="90487"/>
                      </a:moveTo>
                      <a:lnTo>
                        <a:pt x="90487" y="0"/>
                      </a:lnTo>
                    </a:path>
                  </a:pathLst>
                </a:custGeom>
                <a:noFill/>
                <a:ln w="30162">
                  <a:solidFill>
                    <a:schemeClr val="accent1"/>
                  </a:solidFill>
                </a:ln>
              </p:spPr>
            </p:sp>
            <p:sp>
              <p:nvSpPr>
                <p:cNvPr id="41" name="Freeform 41"/>
                <p:cNvSpPr/>
                <p:nvPr/>
              </p:nvSpPr>
              <p:spPr>
                <a:xfrm>
                  <a:off x="7204868" y="1986531"/>
                  <a:ext cx="143077" cy="143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077" h="143100">
                      <a:moveTo>
                        <a:pt x="0" y="37531"/>
                      </a:moveTo>
                      <a:lnTo>
                        <a:pt x="6983" y="29448"/>
                      </a:lnTo>
                      <a:cubicBezTo>
                        <a:pt x="36434" y="0"/>
                        <a:pt x="84182" y="3"/>
                        <a:pt x="113629" y="29455"/>
                      </a:cubicBezTo>
                      <a:cubicBezTo>
                        <a:pt x="143077" y="58907"/>
                        <a:pt x="143074" y="106654"/>
                        <a:pt x="113622" y="136102"/>
                      </a:cubicBezTo>
                      <a:lnTo>
                        <a:pt x="105569" y="143100"/>
                      </a:lnTo>
                    </a:path>
                  </a:pathLst>
                </a:custGeom>
                <a:noFill/>
                <a:ln w="30162">
                  <a:solidFill>
                    <a:schemeClr val="accent1"/>
                  </a:solidFill>
                </a:ln>
              </p:spPr>
            </p:sp>
            <p:sp>
              <p:nvSpPr>
                <p:cNvPr id="42" name="Freeform 42"/>
                <p:cNvSpPr/>
                <p:nvPr/>
              </p:nvSpPr>
              <p:spPr>
                <a:xfrm>
                  <a:off x="7099298" y="2099468"/>
                  <a:ext cx="135733" cy="1430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5733" h="143068">
                      <a:moveTo>
                        <a:pt x="135733" y="105569"/>
                      </a:moveTo>
                      <a:lnTo>
                        <a:pt x="129746" y="113622"/>
                      </a:lnTo>
                      <a:cubicBezTo>
                        <a:pt x="99968" y="143068"/>
                        <a:pt x="52040" y="143068"/>
                        <a:pt x="22262" y="113622"/>
                      </a:cubicBezTo>
                      <a:cubicBezTo>
                        <a:pt x="8017" y="99536"/>
                        <a:pt x="0" y="80336"/>
                        <a:pt x="0" y="60302"/>
                      </a:cubicBezTo>
                      <a:cubicBezTo>
                        <a:pt x="0" y="40269"/>
                        <a:pt x="8017" y="21068"/>
                        <a:pt x="22262" y="6983"/>
                      </a:cubicBezTo>
                      <a:lnTo>
                        <a:pt x="30165" y="0"/>
                      </a:lnTo>
                    </a:path>
                  </a:pathLst>
                </a:custGeom>
                <a:noFill/>
                <a:ln w="30162">
                  <a:solidFill>
                    <a:schemeClr val="accent1"/>
                  </a:solidFill>
                </a:ln>
              </p:spPr>
            </p:sp>
          </p:grpSp>
          <p:sp>
            <p:nvSpPr>
              <p:cNvPr id="44" name="TextBox 44"/>
              <p:cNvSpPr txBox="1"/>
              <p:nvPr/>
            </p:nvSpPr>
            <p:spPr>
              <a:xfrm>
                <a:off x="7629144" y="1846898"/>
                <a:ext cx="1069848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对接原理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6963156" y="2244090"/>
                <a:ext cx="417400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结构互补 + 能量匹配，搜索最优构象，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6963156" y="2510790"/>
                <a:ext cx="344705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以结合能 / 打分量化结合强度。</a:t>
                </a:r>
              </a:p>
            </p:txBody>
          </p:sp>
        </p:grpSp>
        <p:grpSp>
          <p:nvGrpSpPr>
            <p:cNvPr id="62" name="Group 62"/>
            <p:cNvGrpSpPr/>
            <p:nvPr/>
          </p:nvGrpSpPr>
          <p:grpSpPr>
            <a:xfrm>
              <a:off x="6743700" y="2857500"/>
              <a:ext cx="4876800" cy="1224534"/>
              <a:chOff x="6743700" y="2857500"/>
              <a:chExt cx="4876800" cy="1224534"/>
            </a:xfrm>
          </p:grpSpPr>
          <p:sp>
            <p:nvSpPr>
              <p:cNvPr id="48" name="Rectangle 48"/>
              <p:cNvSpPr/>
              <p:nvPr/>
            </p:nvSpPr>
            <p:spPr>
              <a:xfrm>
                <a:off x="6781800" y="2895600"/>
                <a:ext cx="4838700" cy="1104900"/>
              </a:xfrm>
              <a:prstGeom prst="roundRect">
                <a:avLst>
                  <a:gd name="adj" fmla="val 13793"/>
                </a:avLst>
              </a:prstGeom>
              <a:solidFill>
                <a:srgbClr val="F0DECF"/>
              </a:solidFill>
              <a:ln>
                <a:noFill/>
              </a:ln>
            </p:spPr>
          </p:sp>
          <p:sp>
            <p:nvSpPr>
              <p:cNvPr id="49" name="Rectangle 49"/>
              <p:cNvSpPr/>
              <p:nvPr/>
            </p:nvSpPr>
            <p:spPr>
              <a:xfrm>
                <a:off x="6743700" y="2857500"/>
                <a:ext cx="4838700" cy="1104900"/>
              </a:xfrm>
              <a:prstGeom prst="roundRect">
                <a:avLst>
                  <a:gd name="adj" fmla="val 13793"/>
                </a:avLst>
              </a:prstGeom>
              <a:solidFill>
                <a:srgbClr val="FBE9DD"/>
              </a:solidFill>
              <a:ln w="14288">
                <a:solidFill>
                  <a:srgbClr val="F0DECF"/>
                </a:solidFill>
              </a:ln>
            </p:spPr>
          </p:sp>
          <p:sp>
            <p:nvSpPr>
              <p:cNvPr id="50" name="Ellipse 50"/>
              <p:cNvSpPr/>
              <p:nvPr/>
            </p:nvSpPr>
            <p:spPr>
              <a:xfrm>
                <a:off x="6972300" y="3086100"/>
                <a:ext cx="495300" cy="495300"/>
              </a:xfrm>
              <a:prstGeom prst="ellipse">
                <a:avLst/>
              </a:prstGeom>
              <a:solidFill>
                <a:srgbClr val="F5D9C6"/>
              </a:solidFill>
              <a:ln>
                <a:noFill/>
              </a:ln>
            </p:spPr>
          </p:sp>
          <p:grpSp>
            <p:nvGrpSpPr>
              <p:cNvPr id="58" name="Group 58"/>
              <p:cNvGrpSpPr/>
              <p:nvPr/>
            </p:nvGrpSpPr>
            <p:grpSpPr>
              <a:xfrm>
                <a:off x="7084219" y="3187259"/>
                <a:ext cx="280987" cy="291747"/>
                <a:chOff x="7084219" y="3187259"/>
                <a:chExt cx="280987" cy="291747"/>
              </a:xfrm>
            </p:grpSpPr>
            <p:sp>
              <p:nvSpPr>
                <p:cNvPr id="51" name="Freeform 51"/>
                <p:cNvSpPr/>
                <p:nvPr/>
              </p:nvSpPr>
              <p:spPr>
                <a:xfrm>
                  <a:off x="7174706" y="3288506"/>
                  <a:ext cx="90487" cy="904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487" h="90487">
                      <a:moveTo>
                        <a:pt x="0" y="45244"/>
                      </a:moveTo>
                      <a:cubicBezTo>
                        <a:pt x="0" y="70231"/>
                        <a:pt x="20256" y="90487"/>
                        <a:pt x="45244" y="90487"/>
                      </a:cubicBezTo>
                      <a:cubicBezTo>
                        <a:pt x="70231" y="90487"/>
                        <a:pt x="90487" y="70231"/>
                        <a:pt x="90487" y="45244"/>
                      </a:cubicBezTo>
                      <a:cubicBezTo>
                        <a:pt x="90487" y="20256"/>
                        <a:pt x="70231" y="0"/>
                        <a:pt x="45244" y="0"/>
                      </a:cubicBezTo>
                      <a:cubicBezTo>
                        <a:pt x="20256" y="0"/>
                        <a:pt x="0" y="20256"/>
                        <a:pt x="0" y="45244"/>
                      </a:cubicBezTo>
                    </a:path>
                  </a:pathLst>
                </a:custGeom>
                <a:noFill/>
                <a:ln w="30162">
                  <a:solidFill>
                    <a:schemeClr val="accent3"/>
                  </a:solidFill>
                </a:ln>
              </p:spPr>
            </p:sp>
            <p:sp>
              <p:nvSpPr>
                <p:cNvPr id="52" name="Freeform 52"/>
                <p:cNvSpPr/>
                <p:nvPr/>
              </p:nvSpPr>
              <p:spPr>
                <a:xfrm>
                  <a:off x="7219950" y="3469481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51"/>
                      </a:lnTo>
                    </a:path>
                  </a:pathLst>
                </a:custGeom>
                <a:noFill/>
                <a:ln w="30162">
                  <a:solidFill>
                    <a:schemeClr val="accent3"/>
                  </a:solidFill>
                </a:ln>
              </p:spPr>
            </p:sp>
            <p:sp>
              <p:nvSpPr>
                <p:cNvPr id="53" name="Freeform 53"/>
                <p:cNvSpPr/>
                <p:nvPr/>
              </p:nvSpPr>
              <p:spPr>
                <a:xfrm>
                  <a:off x="7084219" y="3288506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51"/>
                      </a:lnTo>
                    </a:path>
                  </a:pathLst>
                </a:custGeom>
                <a:noFill/>
                <a:ln w="30162">
                  <a:solidFill>
                    <a:schemeClr val="accent3"/>
                  </a:solidFill>
                </a:ln>
              </p:spPr>
            </p:sp>
            <p:sp>
              <p:nvSpPr>
                <p:cNvPr id="54" name="Freeform 54"/>
                <p:cNvSpPr/>
                <p:nvPr/>
              </p:nvSpPr>
              <p:spPr>
                <a:xfrm>
                  <a:off x="7355681" y="3288506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51"/>
                      </a:lnTo>
                    </a:path>
                  </a:pathLst>
                </a:custGeom>
                <a:noFill/>
                <a:ln w="30162">
                  <a:solidFill>
                    <a:schemeClr val="accent3"/>
                  </a:solidFill>
                </a:ln>
              </p:spPr>
            </p:sp>
            <p:sp>
              <p:nvSpPr>
                <p:cNvPr id="55" name="Freeform 55"/>
                <p:cNvSpPr/>
                <p:nvPr/>
              </p:nvSpPr>
              <p:spPr>
                <a:xfrm>
                  <a:off x="7084219" y="3348831"/>
                  <a:ext cx="75406" cy="1070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06" h="107077">
                      <a:moveTo>
                        <a:pt x="75406" y="107077"/>
                      </a:moveTo>
                      <a:cubicBezTo>
                        <a:pt x="33575" y="86673"/>
                        <a:pt x="5115" y="46260"/>
                        <a:pt x="0" y="0"/>
                      </a:cubicBezTo>
                    </a:path>
                  </a:pathLst>
                </a:custGeom>
                <a:noFill/>
                <a:ln w="30162">
                  <a:solidFill>
                    <a:schemeClr val="accent3"/>
                  </a:solidFill>
                </a:ln>
              </p:spPr>
            </p:sp>
            <p:sp>
              <p:nvSpPr>
                <p:cNvPr id="56" name="Freeform 56"/>
                <p:cNvSpPr/>
                <p:nvPr/>
              </p:nvSpPr>
              <p:spPr>
                <a:xfrm>
                  <a:off x="7280274" y="3348831"/>
                  <a:ext cx="75406" cy="1070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06" h="107077">
                      <a:moveTo>
                        <a:pt x="0" y="107077"/>
                      </a:moveTo>
                      <a:cubicBezTo>
                        <a:pt x="41831" y="86673"/>
                        <a:pt x="70291" y="46260"/>
                        <a:pt x="75406" y="0"/>
                      </a:cubicBezTo>
                    </a:path>
                  </a:pathLst>
                </a:custGeom>
                <a:noFill/>
                <a:ln w="30162">
                  <a:solidFill>
                    <a:schemeClr val="accent3"/>
                  </a:solidFill>
                </a:ln>
              </p:spPr>
            </p:sp>
            <p:sp>
              <p:nvSpPr>
                <p:cNvPr id="57" name="Freeform 57"/>
                <p:cNvSpPr/>
                <p:nvPr/>
              </p:nvSpPr>
              <p:spPr>
                <a:xfrm>
                  <a:off x="7132479" y="3187259"/>
                  <a:ext cx="171926" cy="409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926" h="40922">
                      <a:moveTo>
                        <a:pt x="0" y="40922"/>
                      </a:moveTo>
                      <a:cubicBezTo>
                        <a:pt x="50003" y="0"/>
                        <a:pt x="121923" y="0"/>
                        <a:pt x="171926" y="40922"/>
                      </a:cubicBezTo>
                    </a:path>
                  </a:pathLst>
                </a:custGeom>
                <a:noFill/>
                <a:ln w="30162">
                  <a:solidFill>
                    <a:schemeClr val="accent3"/>
                  </a:solidFill>
                </a:ln>
              </p:spPr>
            </p:sp>
          </p:grpSp>
          <p:sp>
            <p:nvSpPr>
              <p:cNvPr id="59" name="TextBox 59"/>
              <p:cNvSpPr txBox="1"/>
              <p:nvPr/>
            </p:nvSpPr>
            <p:spPr>
              <a:xfrm>
                <a:off x="7629144" y="3066098"/>
                <a:ext cx="1594866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关键相互作用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6963156" y="3463290"/>
                <a:ext cx="412760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氢键 / 疏水 / 盐桥：DFEGDV 的 D 与</a:t>
                </a: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6963156" y="3729990"/>
                <a:ext cx="411662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Arg277 形成关键盐桥，给机制证据。</a:t>
                </a:r>
              </a:p>
            </p:txBody>
          </p:sp>
        </p:grpSp>
        <p:grpSp>
          <p:nvGrpSpPr>
            <p:cNvPr id="79" name="Group 79"/>
            <p:cNvGrpSpPr/>
            <p:nvPr/>
          </p:nvGrpSpPr>
          <p:grpSpPr>
            <a:xfrm>
              <a:off x="6743700" y="4114800"/>
              <a:ext cx="4838700" cy="1224534"/>
              <a:chOff x="6743700" y="4114800"/>
              <a:chExt cx="4838700" cy="1224534"/>
            </a:xfrm>
          </p:grpSpPr>
          <p:sp>
            <p:nvSpPr>
              <p:cNvPr id="63" name="Rectangle 63"/>
              <p:cNvSpPr/>
              <p:nvPr/>
            </p:nvSpPr>
            <p:spPr>
              <a:xfrm>
                <a:off x="6743700" y="4114800"/>
                <a:ext cx="4838700" cy="1219200"/>
              </a:xfrm>
              <a:prstGeom prst="roundRect">
                <a:avLst>
                  <a:gd name="adj" fmla="val 125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64" name="Ellipse 64"/>
              <p:cNvSpPr/>
              <p:nvPr/>
            </p:nvSpPr>
            <p:spPr>
              <a:xfrm>
                <a:off x="6972300" y="4343400"/>
                <a:ext cx="495300" cy="495300"/>
              </a:xfrm>
              <a:prstGeom prst="ellipse">
                <a:avLst/>
              </a:prstGeom>
              <a:solidFill>
                <a:srgbClr val="123A5A"/>
              </a:solidFill>
              <a:ln>
                <a:noFill/>
              </a:ln>
            </p:spPr>
          </p:sp>
          <p:grpSp>
            <p:nvGrpSpPr>
              <p:cNvPr id="75" name="Group 75"/>
              <p:cNvGrpSpPr/>
              <p:nvPr/>
            </p:nvGrpSpPr>
            <p:grpSpPr>
              <a:xfrm>
                <a:off x="7084219" y="4455319"/>
                <a:ext cx="271461" cy="271461"/>
                <a:chOff x="7084219" y="4455319"/>
                <a:chExt cx="271461" cy="271461"/>
              </a:xfrm>
            </p:grpSpPr>
            <p:sp>
              <p:nvSpPr>
                <p:cNvPr id="65" name="Freeform 65"/>
                <p:cNvSpPr/>
                <p:nvPr/>
              </p:nvSpPr>
              <p:spPr>
                <a:xfrm>
                  <a:off x="7114381" y="4485481"/>
                  <a:ext cx="211137" cy="2111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137" h="211137">
                      <a:moveTo>
                        <a:pt x="0" y="15081"/>
                      </a:moveTo>
                      <a:cubicBezTo>
                        <a:pt x="0" y="6752"/>
                        <a:pt x="6752" y="0"/>
                        <a:pt x="15081" y="0"/>
                      </a:cubicBezTo>
                      <a:lnTo>
                        <a:pt x="196056" y="0"/>
                      </a:lnTo>
                      <a:cubicBezTo>
                        <a:pt x="204385" y="0"/>
                        <a:pt x="211137" y="6752"/>
                        <a:pt x="211137" y="15081"/>
                      </a:cubicBezTo>
                      <a:lnTo>
                        <a:pt x="211137" y="196056"/>
                      </a:lnTo>
                      <a:cubicBezTo>
                        <a:pt x="211137" y="204385"/>
                        <a:pt x="204385" y="211137"/>
                        <a:pt x="196056" y="211137"/>
                      </a:cubicBezTo>
                      <a:lnTo>
                        <a:pt x="15081" y="211137"/>
                      </a:lnTo>
                      <a:cubicBezTo>
                        <a:pt x="6752" y="211137"/>
                        <a:pt x="0" y="204385"/>
                        <a:pt x="0" y="196056"/>
                      </a:cubicBezTo>
                      <a:lnTo>
                        <a:pt x="0" y="15081"/>
                      </a:lnTo>
                    </a:path>
                  </a:pathLst>
                </a:custGeom>
                <a:noFill/>
                <a:ln w="30162">
                  <a:solidFill>
                    <a:srgbClr val="2FB3A8"/>
                  </a:solidFill>
                </a:ln>
              </p:spPr>
            </p:sp>
            <p:sp>
              <p:nvSpPr>
                <p:cNvPr id="66" name="Freeform 66"/>
                <p:cNvSpPr/>
                <p:nvPr/>
              </p:nvSpPr>
              <p:spPr>
                <a:xfrm>
                  <a:off x="7174706" y="4545806"/>
                  <a:ext cx="90487" cy="904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487" h="90487">
                      <a:moveTo>
                        <a:pt x="0" y="0"/>
                      </a:moveTo>
                      <a:lnTo>
                        <a:pt x="90487" y="0"/>
                      </a:lnTo>
                      <a:lnTo>
                        <a:pt x="90487" y="90487"/>
                      </a:lnTo>
                      <a:lnTo>
                        <a:pt x="0" y="90487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30162">
                  <a:solidFill>
                    <a:srgbClr val="2FB3A8"/>
                  </a:solidFill>
                </a:ln>
              </p:spPr>
            </p:sp>
            <p:sp>
              <p:nvSpPr>
                <p:cNvPr id="67" name="Freeform 67"/>
                <p:cNvSpPr/>
                <p:nvPr/>
              </p:nvSpPr>
              <p:spPr>
                <a:xfrm>
                  <a:off x="7084219" y="4560887"/>
                  <a:ext cx="30162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162" h="9525">
                      <a:moveTo>
                        <a:pt x="0" y="0"/>
                      </a:moveTo>
                      <a:lnTo>
                        <a:pt x="30162" y="0"/>
                      </a:lnTo>
                    </a:path>
                  </a:pathLst>
                </a:custGeom>
                <a:noFill/>
                <a:ln w="30162">
                  <a:solidFill>
                    <a:srgbClr val="2FB3A8"/>
                  </a:solidFill>
                </a:ln>
              </p:spPr>
            </p:sp>
            <p:sp>
              <p:nvSpPr>
                <p:cNvPr id="68" name="Freeform 68"/>
                <p:cNvSpPr/>
                <p:nvPr/>
              </p:nvSpPr>
              <p:spPr>
                <a:xfrm>
                  <a:off x="7084219" y="4621212"/>
                  <a:ext cx="30162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162" h="9525">
                      <a:moveTo>
                        <a:pt x="0" y="0"/>
                      </a:moveTo>
                      <a:lnTo>
                        <a:pt x="30162" y="0"/>
                      </a:lnTo>
                    </a:path>
                  </a:pathLst>
                </a:custGeom>
                <a:noFill/>
                <a:ln w="30162">
                  <a:solidFill>
                    <a:srgbClr val="2FB3A8"/>
                  </a:solidFill>
                </a:ln>
              </p:spPr>
            </p:sp>
            <p:sp>
              <p:nvSpPr>
                <p:cNvPr id="69" name="Freeform 69"/>
                <p:cNvSpPr/>
                <p:nvPr/>
              </p:nvSpPr>
              <p:spPr>
                <a:xfrm>
                  <a:off x="7189787" y="4455319"/>
                  <a:ext cx="9525" cy="301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0162">
                      <a:moveTo>
                        <a:pt x="0" y="0"/>
                      </a:moveTo>
                      <a:lnTo>
                        <a:pt x="0" y="30162"/>
                      </a:lnTo>
                    </a:path>
                  </a:pathLst>
                </a:custGeom>
                <a:noFill/>
                <a:ln w="30162">
                  <a:solidFill>
                    <a:srgbClr val="2FB3A8"/>
                  </a:solidFill>
                </a:ln>
              </p:spPr>
            </p:sp>
            <p:sp>
              <p:nvSpPr>
                <p:cNvPr id="70" name="Freeform 70"/>
                <p:cNvSpPr/>
                <p:nvPr/>
              </p:nvSpPr>
              <p:spPr>
                <a:xfrm>
                  <a:off x="7250112" y="4455319"/>
                  <a:ext cx="9525" cy="301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0162">
                      <a:moveTo>
                        <a:pt x="0" y="0"/>
                      </a:moveTo>
                      <a:lnTo>
                        <a:pt x="0" y="30162"/>
                      </a:lnTo>
                    </a:path>
                  </a:pathLst>
                </a:custGeom>
                <a:noFill/>
                <a:ln w="30162">
                  <a:solidFill>
                    <a:srgbClr val="2FB3A8"/>
                  </a:solidFill>
                </a:ln>
              </p:spPr>
            </p:sp>
            <p:sp>
              <p:nvSpPr>
                <p:cNvPr id="71" name="Freeform 71"/>
                <p:cNvSpPr/>
                <p:nvPr/>
              </p:nvSpPr>
              <p:spPr>
                <a:xfrm>
                  <a:off x="7325518" y="4560887"/>
                  <a:ext cx="30162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162" h="9525">
                      <a:moveTo>
                        <a:pt x="30162" y="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30162">
                  <a:solidFill>
                    <a:srgbClr val="2FB3A8"/>
                  </a:solidFill>
                </a:ln>
              </p:spPr>
            </p:sp>
            <p:sp>
              <p:nvSpPr>
                <p:cNvPr id="72" name="Freeform 72"/>
                <p:cNvSpPr/>
                <p:nvPr/>
              </p:nvSpPr>
              <p:spPr>
                <a:xfrm>
                  <a:off x="7325518" y="4621212"/>
                  <a:ext cx="30162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162" h="9525">
                      <a:moveTo>
                        <a:pt x="30162" y="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30162">
                  <a:solidFill>
                    <a:srgbClr val="2FB3A8"/>
                  </a:solidFill>
                </a:ln>
              </p:spPr>
            </p:sp>
            <p:sp>
              <p:nvSpPr>
                <p:cNvPr id="73" name="Freeform 73"/>
                <p:cNvSpPr/>
                <p:nvPr/>
              </p:nvSpPr>
              <p:spPr>
                <a:xfrm>
                  <a:off x="7250112" y="4696618"/>
                  <a:ext cx="9525" cy="301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0162">
                      <a:moveTo>
                        <a:pt x="0" y="30162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30162">
                  <a:solidFill>
                    <a:srgbClr val="2FB3A8"/>
                  </a:solidFill>
                </a:ln>
              </p:spPr>
            </p:sp>
            <p:sp>
              <p:nvSpPr>
                <p:cNvPr id="74" name="Freeform 74"/>
                <p:cNvSpPr/>
                <p:nvPr/>
              </p:nvSpPr>
              <p:spPr>
                <a:xfrm>
                  <a:off x="7189787" y="4696618"/>
                  <a:ext cx="9525" cy="301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0162">
                      <a:moveTo>
                        <a:pt x="0" y="30162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30162">
                  <a:solidFill>
                    <a:srgbClr val="2FB3A8"/>
                  </a:solidFill>
                </a:ln>
              </p:spPr>
            </p:sp>
          </p:grpSp>
          <p:sp>
            <p:nvSpPr>
              <p:cNvPr id="76" name="TextBox 76"/>
              <p:cNvSpPr txBox="1"/>
              <p:nvPr/>
            </p:nvSpPr>
            <p:spPr>
              <a:xfrm>
                <a:off x="7629144" y="4323398"/>
                <a:ext cx="1332357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工具与局限</a:t>
                </a:r>
              </a:p>
            </p:txBody>
          </p:sp>
          <p:sp>
            <p:nvSpPr>
              <p:cNvPr id="77" name="TextBox 77"/>
              <p:cNvSpPr txBox="1"/>
              <p:nvPr/>
            </p:nvSpPr>
            <p:spPr>
              <a:xfrm>
                <a:off x="6963156" y="4720590"/>
                <a:ext cx="431413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DCE8F2"/>
                    </a:solidFill>
                    <a:latin typeface="+mn-lt"/>
                    <a:ea typeface="+mn-ea"/>
                    <a:cs typeface="+mn-cs"/>
                  </a:rPr>
                  <a:t>AutoDock 经典对接；VmmScore 用 ML</a:t>
                </a:r>
              </a:p>
            </p:txBody>
          </p:sp>
          <p:sp>
            <p:nvSpPr>
              <p:cNvPr id="78" name="TextBox 78"/>
              <p:cNvSpPr txBox="1"/>
              <p:nvPr/>
            </p:nvSpPr>
            <p:spPr>
              <a:xfrm>
                <a:off x="6963156" y="4987290"/>
                <a:ext cx="341071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2FB3A8"/>
                    </a:solidFill>
                    <a:latin typeface="+mn-lt"/>
                    <a:ea typeface="+mn-ea"/>
                    <a:cs typeface="+mn-cs"/>
                  </a:rPr>
                  <a:t>优化打分函数，成为提效方向。</a:t>
                </a:r>
              </a:p>
            </p:txBody>
          </p:sp>
        </p:grpSp>
      </p:grpSp>
      <p:grpSp>
        <p:nvGrpSpPr>
          <p:cNvPr id="83" name="Group 83"/>
          <p:cNvGrpSpPr/>
          <p:nvPr/>
        </p:nvGrpSpPr>
        <p:grpSpPr>
          <a:xfrm>
            <a:off x="609600" y="5562600"/>
            <a:ext cx="10972800" cy="571500"/>
            <a:chOff x="609600" y="5562600"/>
            <a:chExt cx="10972800" cy="571500"/>
          </a:xfrm>
        </p:grpSpPr>
        <p:sp>
          <p:nvSpPr>
            <p:cNvPr id="81" name="Rectangle 81"/>
            <p:cNvSpPr/>
            <p:nvPr/>
          </p:nvSpPr>
          <p:spPr>
            <a:xfrm>
              <a:off x="609600" y="5562600"/>
              <a:ext cx="10972800" cy="571500"/>
            </a:xfrm>
            <a:prstGeom prst="roundRect">
              <a:avLst>
                <a:gd name="adj" fmla="val 26667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942594" y="5714048"/>
              <a:ext cx="710755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对接让预测从「模型觉得鲜」推进到「它</a:t>
              </a:r>
              <a:r>
                <a:rPr lang="zh-CN" sz="1950" b="1" dirty="0">
                  <a:solidFill>
                    <a:srgbClr val="2FB3A8"/>
                  </a:solidFill>
                  <a:latin typeface="+mn-lt"/>
                  <a:ea typeface="+mn-ea"/>
                  <a:cs typeface="+mn-cs"/>
                </a:rPr>
                <a:t>为什么能结合</a:t>
              </a:r>
              <a:r>
                <a:rPr lang="zh-CN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受体」</a:t>
              </a:r>
            </a:p>
          </p:txBody>
        </p:sp>
      </p:grpSp>
      <p:sp>
        <p:nvSpPr>
          <p:cNvPr id="84" name="TextBox 84"/>
          <p:cNvSpPr txBox="1"/>
          <p:nvPr/>
        </p:nvSpPr>
        <p:spPr>
          <a:xfrm>
            <a:off x="10761497" y="6473190"/>
            <a:ext cx="8300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800" dirty="0">
                <a:solidFill>
                  <a:srgbClr val="A3B2BF"/>
                </a:solidFill>
                <a:latin typeface="+mn-lt"/>
                <a:ea typeface="+mn-ea"/>
                <a:cs typeface="+mn-cs"/>
              </a:rPr>
              <a:t>13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4360" y="472440"/>
            <a:ext cx="7383761" cy="1047750"/>
            <a:chOff x="594360" y="472440"/>
            <a:chExt cx="7383761" cy="1047750"/>
          </a:xfrm>
        </p:grpSpPr>
        <p:sp>
          <p:nvSpPr>
            <p:cNvPr id="2" name="TextBox 2"/>
            <p:cNvSpPr txBox="1"/>
            <p:nvPr/>
          </p:nvSpPr>
          <p:spPr>
            <a:xfrm>
              <a:off x="600456" y="472440"/>
              <a:ext cx="32966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 · 模型进展、工具与应用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609600" y="819150"/>
              <a:ext cx="457200" cy="5715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94360" y="933450"/>
              <a:ext cx="7383761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案例：从腐乳发酵「算」出 5 条新鲜味肽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609600" y="1638300"/>
            <a:ext cx="11189513" cy="1376934"/>
            <a:chOff x="609600" y="1638300"/>
            <a:chExt cx="11189513" cy="1376934"/>
          </a:xfrm>
        </p:grpSpPr>
        <p:grpSp>
          <p:nvGrpSpPr>
            <p:cNvPr id="14" name="Group 14"/>
            <p:cNvGrpSpPr/>
            <p:nvPr/>
          </p:nvGrpSpPr>
          <p:grpSpPr>
            <a:xfrm>
              <a:off x="609600" y="1638300"/>
              <a:ext cx="2608707" cy="1357884"/>
              <a:chOff x="609600" y="1638300"/>
              <a:chExt cx="2608707" cy="1357884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647700" y="1676400"/>
                <a:ext cx="2533650" cy="1219200"/>
              </a:xfrm>
              <a:prstGeom prst="roundRect">
                <a:avLst>
                  <a:gd name="adj" fmla="val 12500"/>
                </a:avLst>
              </a:prstGeom>
              <a:solidFill>
                <a:srgbClr val="E3E9ED"/>
              </a:solidFill>
              <a:ln>
                <a:noFill/>
              </a:ln>
            </p:spPr>
          </p:sp>
          <p:sp>
            <p:nvSpPr>
              <p:cNvPr id="7" name="Rectangle 7"/>
              <p:cNvSpPr/>
              <p:nvPr/>
            </p:nvSpPr>
            <p:spPr>
              <a:xfrm>
                <a:off x="609600" y="1638300"/>
                <a:ext cx="2533650" cy="1219200"/>
              </a:xfrm>
              <a:prstGeom prst="roundRect">
                <a:avLst>
                  <a:gd name="adj" fmla="val 12500"/>
                </a:avLst>
              </a:prstGeom>
              <a:solidFill>
                <a:srgbClr val="FFFFFF"/>
              </a:solidFill>
              <a:ln w="14288">
                <a:solidFill>
                  <a:srgbClr val="E3E9ED"/>
                </a:solidFill>
              </a:ln>
            </p:spPr>
          </p:sp>
          <p:sp>
            <p:nvSpPr>
              <p:cNvPr id="8" name="Ellipse 8"/>
              <p:cNvSpPr/>
              <p:nvPr/>
            </p:nvSpPr>
            <p:spPr>
              <a:xfrm>
                <a:off x="895350" y="1866900"/>
                <a:ext cx="342900" cy="3429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987687" y="1920240"/>
                <a:ext cx="15822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381506" y="1805940"/>
                <a:ext cx="122986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肽组学监测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381506" y="2053590"/>
                <a:ext cx="183680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9AA8B3"/>
                    </a:solidFill>
                    <a:latin typeface="+mn-lt"/>
                    <a:ea typeface="+mn-ea"/>
                    <a:cs typeface="+mn-cs"/>
                  </a:rPr>
                  <a:t>Food Chem 2025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829056" y="2396490"/>
                <a:ext cx="159334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0–90 天发酵，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829056" y="2644140"/>
                <a:ext cx="188412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前 60 天关键窗口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3251994" y="2176462"/>
              <a:ext cx="144462" cy="123825"/>
              <a:chOff x="3251994" y="2176462"/>
              <a:chExt cx="144462" cy="123825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3251994" y="2238375"/>
                <a:ext cx="14446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44462" h="9525">
                    <a:moveTo>
                      <a:pt x="0" y="0"/>
                    </a:moveTo>
                    <a:lnTo>
                      <a:pt x="144462" y="0"/>
                    </a:lnTo>
                  </a:path>
                </a:pathLst>
              </a:custGeom>
              <a:noFill/>
              <a:ln w="20637">
                <a:solidFill>
                  <a:srgbClr val="9AA8B3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3334543" y="2238375"/>
                <a:ext cx="61912" cy="61912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61912">
                    <a:moveTo>
                      <a:pt x="0" y="61912"/>
                    </a:moveTo>
                    <a:lnTo>
                      <a:pt x="61912" y="0"/>
                    </a:lnTo>
                  </a:path>
                </a:pathLst>
              </a:custGeom>
              <a:noFill/>
              <a:ln w="20637">
                <a:solidFill>
                  <a:srgbClr val="9AA8B3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3334543" y="2176462"/>
                <a:ext cx="61912" cy="61912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61912">
                    <a:moveTo>
                      <a:pt x="0" y="0"/>
                    </a:moveTo>
                    <a:lnTo>
                      <a:pt x="61912" y="61912"/>
                    </a:lnTo>
                  </a:path>
                </a:pathLst>
              </a:custGeom>
              <a:noFill/>
              <a:ln w="20637">
                <a:solidFill>
                  <a:srgbClr val="9AA8B3"/>
                </a:solidFill>
              </a:ln>
            </p:spPr>
          </p:sp>
        </p:grpSp>
        <p:grpSp>
          <p:nvGrpSpPr>
            <p:cNvPr id="27" name="Group 27"/>
            <p:cNvGrpSpPr/>
            <p:nvPr/>
          </p:nvGrpSpPr>
          <p:grpSpPr>
            <a:xfrm>
              <a:off x="3543300" y="1638300"/>
              <a:ext cx="2571750" cy="1357884"/>
              <a:chOff x="3543300" y="1638300"/>
              <a:chExt cx="2571750" cy="1357884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3581400" y="1676400"/>
                <a:ext cx="2533650" cy="1219200"/>
              </a:xfrm>
              <a:prstGeom prst="roundRect">
                <a:avLst>
                  <a:gd name="adj" fmla="val 12500"/>
                </a:avLst>
              </a:prstGeom>
              <a:solidFill>
                <a:srgbClr val="E3E9ED"/>
              </a:solidFill>
              <a:ln>
                <a:noFill/>
              </a:ln>
            </p:spPr>
          </p:sp>
          <p:sp>
            <p:nvSpPr>
              <p:cNvPr id="20" name="Rectangle 20"/>
              <p:cNvSpPr/>
              <p:nvPr/>
            </p:nvSpPr>
            <p:spPr>
              <a:xfrm>
                <a:off x="3543300" y="1638300"/>
                <a:ext cx="2533650" cy="1219200"/>
              </a:xfrm>
              <a:prstGeom prst="roundRect">
                <a:avLst>
                  <a:gd name="adj" fmla="val 12500"/>
                </a:avLst>
              </a:prstGeom>
              <a:solidFill>
                <a:srgbClr val="FFFFFF"/>
              </a:solidFill>
              <a:ln w="14288">
                <a:solidFill>
                  <a:srgbClr val="CFE4E1"/>
                </a:solidFill>
              </a:ln>
            </p:spPr>
          </p:sp>
          <p:sp>
            <p:nvSpPr>
              <p:cNvPr id="21" name="Ellipse 21"/>
              <p:cNvSpPr/>
              <p:nvPr/>
            </p:nvSpPr>
            <p:spPr>
              <a:xfrm>
                <a:off x="3829050" y="1866900"/>
                <a:ext cx="342900" cy="342900"/>
              </a:xfrm>
              <a:prstGeom prst="ellipse">
                <a:avLst/>
              </a:prstGeom>
              <a:solidFill>
                <a:srgbClr val="DFF0EE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3921387" y="1920240"/>
                <a:ext cx="15822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4315206" y="1805940"/>
                <a:ext cx="147218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机器学习筛选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315206" y="2053590"/>
                <a:ext cx="171450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9AA8B3"/>
                    </a:solidFill>
                    <a:latin typeface="+mn-lt"/>
                    <a:ea typeface="+mn-ea"/>
                    <a:cs typeface="+mn-cs"/>
                  </a:rPr>
                  <a:t>随机森林等模型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3762756" y="2396490"/>
                <a:ext cx="225971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筛出 637 条候选肽，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3762756" y="2644140"/>
                <a:ext cx="150853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准确率约 89%</a:t>
                </a: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6185694" y="2176462"/>
              <a:ext cx="144462" cy="123825"/>
              <a:chOff x="6185694" y="2176462"/>
              <a:chExt cx="144462" cy="123825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6185694" y="2238375"/>
                <a:ext cx="14446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44462" h="9525">
                    <a:moveTo>
                      <a:pt x="0" y="0"/>
                    </a:moveTo>
                    <a:lnTo>
                      <a:pt x="144462" y="0"/>
                    </a:lnTo>
                  </a:path>
                </a:pathLst>
              </a:custGeom>
              <a:noFill/>
              <a:ln w="20637">
                <a:solidFill>
                  <a:srgbClr val="9AA8B3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6268243" y="2238375"/>
                <a:ext cx="61912" cy="61912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61912">
                    <a:moveTo>
                      <a:pt x="0" y="61912"/>
                    </a:moveTo>
                    <a:lnTo>
                      <a:pt x="61912" y="0"/>
                    </a:lnTo>
                  </a:path>
                </a:pathLst>
              </a:custGeom>
              <a:noFill/>
              <a:ln w="20637">
                <a:solidFill>
                  <a:srgbClr val="9AA8B3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6268243" y="2176462"/>
                <a:ext cx="61912" cy="61912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61912">
                    <a:moveTo>
                      <a:pt x="0" y="0"/>
                    </a:moveTo>
                    <a:lnTo>
                      <a:pt x="61912" y="61912"/>
                    </a:lnTo>
                  </a:path>
                </a:pathLst>
              </a:custGeom>
              <a:noFill/>
              <a:ln w="20637">
                <a:solidFill>
                  <a:srgbClr val="9AA8B3"/>
                </a:solidFill>
              </a:ln>
            </p:spPr>
          </p:sp>
        </p:grpSp>
        <p:grpSp>
          <p:nvGrpSpPr>
            <p:cNvPr id="40" name="Group 40"/>
            <p:cNvGrpSpPr/>
            <p:nvPr/>
          </p:nvGrpSpPr>
          <p:grpSpPr>
            <a:xfrm>
              <a:off x="6477000" y="1638300"/>
              <a:ext cx="2646426" cy="1357884"/>
              <a:chOff x="6477000" y="1638300"/>
              <a:chExt cx="2646426" cy="1357884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6515100" y="1676400"/>
                <a:ext cx="2533650" cy="1219200"/>
              </a:xfrm>
              <a:prstGeom prst="roundRect">
                <a:avLst>
                  <a:gd name="adj" fmla="val 12500"/>
                </a:avLst>
              </a:prstGeom>
              <a:solidFill>
                <a:srgbClr val="E3E9ED"/>
              </a:solidFill>
              <a:ln>
                <a:noFill/>
              </a:ln>
            </p:spPr>
          </p:sp>
          <p:sp>
            <p:nvSpPr>
              <p:cNvPr id="33" name="Rectangle 33"/>
              <p:cNvSpPr/>
              <p:nvPr/>
            </p:nvSpPr>
            <p:spPr>
              <a:xfrm>
                <a:off x="6477000" y="1638300"/>
                <a:ext cx="2533650" cy="1219200"/>
              </a:xfrm>
              <a:prstGeom prst="roundRect">
                <a:avLst>
                  <a:gd name="adj" fmla="val 12500"/>
                </a:avLst>
              </a:prstGeom>
              <a:solidFill>
                <a:srgbClr val="FFFFFF"/>
              </a:solidFill>
              <a:ln w="14288">
                <a:solidFill>
                  <a:srgbClr val="E3E9ED"/>
                </a:solidFill>
              </a:ln>
            </p:spPr>
          </p:sp>
          <p:sp>
            <p:nvSpPr>
              <p:cNvPr id="34" name="Ellipse 34"/>
              <p:cNvSpPr/>
              <p:nvPr/>
            </p:nvSpPr>
            <p:spPr>
              <a:xfrm>
                <a:off x="6762750" y="1866900"/>
                <a:ext cx="342900" cy="3429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6855087" y="1920240"/>
                <a:ext cx="15822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7248906" y="1805940"/>
                <a:ext cx="9875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分子对接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7248906" y="2053590"/>
                <a:ext cx="187452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9AA8B3"/>
                    </a:solidFill>
                    <a:latin typeface="+mn-lt"/>
                    <a:ea typeface="+mn-ea"/>
                    <a:cs typeface="+mn-cs"/>
                  </a:rPr>
                  <a:t>T1R1/T1R3 受体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6696456" y="2396490"/>
                <a:ext cx="147218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按结合能锁定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6696456" y="2644140"/>
                <a:ext cx="192046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5 条高结合力新肽</a:t>
                </a:r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>
              <a:off x="9119394" y="2176462"/>
              <a:ext cx="144462" cy="123825"/>
              <a:chOff x="9119394" y="2176462"/>
              <a:chExt cx="144462" cy="123825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9119394" y="2238375"/>
                <a:ext cx="14446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44462" h="9525">
                    <a:moveTo>
                      <a:pt x="0" y="0"/>
                    </a:moveTo>
                    <a:lnTo>
                      <a:pt x="144462" y="0"/>
                    </a:lnTo>
                  </a:path>
                </a:pathLst>
              </a:custGeom>
              <a:noFill/>
              <a:ln w="20637">
                <a:solidFill>
                  <a:schemeClr val="accent3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9201943" y="2238375"/>
                <a:ext cx="61912" cy="61912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61912">
                    <a:moveTo>
                      <a:pt x="0" y="61912"/>
                    </a:moveTo>
                    <a:lnTo>
                      <a:pt x="61912" y="0"/>
                    </a:lnTo>
                  </a:path>
                </a:pathLst>
              </a:custGeom>
              <a:noFill/>
              <a:ln w="20637">
                <a:solidFill>
                  <a:schemeClr val="accent3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9201943" y="2176462"/>
                <a:ext cx="61912" cy="61912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61912">
                    <a:moveTo>
                      <a:pt x="0" y="0"/>
                    </a:moveTo>
                    <a:lnTo>
                      <a:pt x="61912" y="61912"/>
                    </a:lnTo>
                  </a:path>
                </a:pathLst>
              </a:custGeom>
              <a:noFill/>
              <a:ln w="20637">
                <a:solidFill>
                  <a:schemeClr val="accent3"/>
                </a:solidFill>
              </a:ln>
            </p:spPr>
          </p:sp>
        </p:grpSp>
        <p:grpSp>
          <p:nvGrpSpPr>
            <p:cNvPr id="53" name="Group 53"/>
            <p:cNvGrpSpPr/>
            <p:nvPr/>
          </p:nvGrpSpPr>
          <p:grpSpPr>
            <a:xfrm>
              <a:off x="9410700" y="1638300"/>
              <a:ext cx="2388413" cy="1376934"/>
              <a:chOff x="9410700" y="1638300"/>
              <a:chExt cx="2388413" cy="1376934"/>
            </a:xfrm>
          </p:grpSpPr>
          <p:sp>
            <p:nvSpPr>
              <p:cNvPr id="45" name="Rectangle 45"/>
              <p:cNvSpPr/>
              <p:nvPr/>
            </p:nvSpPr>
            <p:spPr>
              <a:xfrm>
                <a:off x="9448800" y="1676400"/>
                <a:ext cx="2171700" cy="1333500"/>
              </a:xfrm>
              <a:prstGeom prst="roundRect">
                <a:avLst>
                  <a:gd name="adj" fmla="val 11429"/>
                </a:avLst>
              </a:prstGeom>
              <a:solidFill>
                <a:srgbClr val="F0DECF"/>
              </a:solidFill>
              <a:ln>
                <a:noFill/>
              </a:ln>
            </p:spPr>
          </p:sp>
          <p:sp>
            <p:nvSpPr>
              <p:cNvPr id="46" name="Rectangle 46"/>
              <p:cNvSpPr/>
              <p:nvPr/>
            </p:nvSpPr>
            <p:spPr>
              <a:xfrm>
                <a:off x="9410700" y="1638300"/>
                <a:ext cx="2171700" cy="1333500"/>
              </a:xfrm>
              <a:prstGeom prst="roundRect">
                <a:avLst>
                  <a:gd name="adj" fmla="val 11429"/>
                </a:avLst>
              </a:prstGeom>
              <a:solidFill>
                <a:srgbClr val="FBE9DD"/>
              </a:solidFill>
              <a:ln w="14288">
                <a:solidFill>
                  <a:srgbClr val="F0DECF"/>
                </a:solidFill>
              </a:ln>
            </p:spPr>
          </p:sp>
          <p:sp>
            <p:nvSpPr>
              <p:cNvPr id="47" name="Ellipse 47"/>
              <p:cNvSpPr/>
              <p:nvPr/>
            </p:nvSpPr>
            <p:spPr>
              <a:xfrm>
                <a:off x="9696450" y="1866900"/>
                <a:ext cx="342900" cy="342900"/>
              </a:xfrm>
              <a:prstGeom prst="ellipse">
                <a:avLst/>
              </a:prstGeom>
              <a:solidFill>
                <a:srgbClr val="F5D9C6"/>
              </a:solidFill>
              <a:ln>
                <a:noFill/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9788787" y="1920240"/>
                <a:ext cx="15822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B5663A"/>
                    </a:solidFill>
                    <a:latin typeface="+mn-lt"/>
                    <a:ea typeface="+mn-ea"/>
                    <a:cs typeface="+mn-cs"/>
                  </a:rPr>
                  <a:t>4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10182606" y="1805940"/>
                <a:ext cx="9875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B5663A"/>
                    </a:solidFill>
                    <a:latin typeface="+mn-lt"/>
                    <a:ea typeface="+mn-ea"/>
                    <a:cs typeface="+mn-cs"/>
                  </a:rPr>
                  <a:t>感官验证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9630156" y="2091690"/>
                <a:ext cx="175084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C68A66"/>
                    </a:solidFill>
                    <a:latin typeface="+mn-lt"/>
                    <a:ea typeface="+mn-ea"/>
                    <a:cs typeface="+mn-cs"/>
                  </a:rPr>
                  <a:t>合成 + 人工评定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9630156" y="2415540"/>
                <a:ext cx="177507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阈值 0.22–0.38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9630156" y="2663190"/>
                <a:ext cx="216895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鲜度达 MSG 3–5 倍</a:t>
                </a:r>
              </a:p>
            </p:txBody>
          </p:sp>
        </p:grpSp>
      </p:grpSp>
      <p:grpSp>
        <p:nvGrpSpPr>
          <p:cNvPr id="73" name="Group 73"/>
          <p:cNvGrpSpPr/>
          <p:nvPr/>
        </p:nvGrpSpPr>
        <p:grpSpPr>
          <a:xfrm>
            <a:off x="609600" y="3067050"/>
            <a:ext cx="11010900" cy="952500"/>
            <a:chOff x="609600" y="3067050"/>
            <a:chExt cx="11010900" cy="952500"/>
          </a:xfrm>
        </p:grpSpPr>
        <p:grpSp>
          <p:nvGrpSpPr>
            <p:cNvPr id="60" name="Group 60"/>
            <p:cNvGrpSpPr/>
            <p:nvPr/>
          </p:nvGrpSpPr>
          <p:grpSpPr>
            <a:xfrm>
              <a:off x="609600" y="3067050"/>
              <a:ext cx="4295546" cy="952500"/>
              <a:chOff x="609600" y="3067050"/>
              <a:chExt cx="4295546" cy="952500"/>
            </a:xfrm>
          </p:grpSpPr>
          <p:sp>
            <p:nvSpPr>
              <p:cNvPr id="55" name="Rectangle 55"/>
              <p:cNvSpPr/>
              <p:nvPr/>
            </p:nvSpPr>
            <p:spPr>
              <a:xfrm>
                <a:off x="647700" y="3105150"/>
                <a:ext cx="3505200" cy="914400"/>
              </a:xfrm>
              <a:prstGeom prst="roundRect">
                <a:avLst>
                  <a:gd name="adj" fmla="val 16667"/>
                </a:avLst>
              </a:prstGeom>
              <a:solidFill>
                <a:srgbClr val="E3E9ED"/>
              </a:solidFill>
              <a:ln>
                <a:noFill/>
              </a:ln>
            </p:spPr>
          </p:sp>
          <p:sp>
            <p:nvSpPr>
              <p:cNvPr id="56" name="Rectangle 56"/>
              <p:cNvSpPr/>
              <p:nvPr/>
            </p:nvSpPr>
            <p:spPr>
              <a:xfrm>
                <a:off x="609600" y="3067050"/>
                <a:ext cx="3505200" cy="914400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14288">
                <a:solidFill>
                  <a:srgbClr val="CFE4E1"/>
                </a:solidFill>
              </a:ln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858012" y="3249930"/>
                <a:ext cx="876201" cy="704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6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637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2124456" y="3291840"/>
                <a:ext cx="170809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ML 筛出候选肽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2124456" y="3596640"/>
                <a:ext cx="278069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30%+ 源自 11 种大豆蛋白</a:t>
                </a:r>
              </a:p>
            </p:txBody>
          </p:sp>
        </p:grpSp>
        <p:grpSp>
          <p:nvGrpSpPr>
            <p:cNvPr id="66" name="Group 66"/>
            <p:cNvGrpSpPr/>
            <p:nvPr/>
          </p:nvGrpSpPr>
          <p:grpSpPr>
            <a:xfrm>
              <a:off x="4343400" y="3067050"/>
              <a:ext cx="3543300" cy="952500"/>
              <a:chOff x="4343400" y="3067050"/>
              <a:chExt cx="3543300" cy="952500"/>
            </a:xfrm>
          </p:grpSpPr>
          <p:sp>
            <p:nvSpPr>
              <p:cNvPr id="61" name="Rectangle 61"/>
              <p:cNvSpPr/>
              <p:nvPr/>
            </p:nvSpPr>
            <p:spPr>
              <a:xfrm>
                <a:off x="4381500" y="3105150"/>
                <a:ext cx="3505200" cy="914400"/>
              </a:xfrm>
              <a:prstGeom prst="roundRect">
                <a:avLst>
                  <a:gd name="adj" fmla="val 16667"/>
                </a:avLst>
              </a:prstGeom>
              <a:solidFill>
                <a:srgbClr val="F0DECF"/>
              </a:solidFill>
              <a:ln>
                <a:noFill/>
              </a:ln>
            </p:spPr>
          </p:sp>
          <p:sp>
            <p:nvSpPr>
              <p:cNvPr id="62" name="Rectangle 62"/>
              <p:cNvSpPr/>
              <p:nvPr/>
            </p:nvSpPr>
            <p:spPr>
              <a:xfrm>
                <a:off x="4343400" y="3067050"/>
                <a:ext cx="3505200" cy="914400"/>
              </a:xfrm>
              <a:prstGeom prst="roundRect">
                <a:avLst>
                  <a:gd name="adj" fmla="val 16667"/>
                </a:avLst>
              </a:prstGeom>
              <a:solidFill>
                <a:srgbClr val="FBE9DD"/>
              </a:solidFill>
              <a:ln w="14288">
                <a:solidFill>
                  <a:srgbClr val="F0DECF"/>
                </a:solidFill>
              </a:ln>
            </p:spPr>
          </p:sp>
          <p:sp>
            <p:nvSpPr>
              <p:cNvPr id="63" name="TextBox 63"/>
              <p:cNvSpPr txBox="1"/>
              <p:nvPr/>
            </p:nvSpPr>
            <p:spPr>
              <a:xfrm>
                <a:off x="4591812" y="3249930"/>
                <a:ext cx="316451" cy="704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60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5</a:t>
                </a: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5134356" y="3291840"/>
                <a:ext cx="219913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对接锁定并验证新肽</a:t>
                </a: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5134356" y="3596640"/>
                <a:ext cx="270799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预测—对接—感官三轨一致</a:t>
                </a:r>
              </a:p>
            </p:txBody>
          </p:sp>
        </p:grpSp>
        <p:grpSp>
          <p:nvGrpSpPr>
            <p:cNvPr id="72" name="Group 72"/>
            <p:cNvGrpSpPr/>
            <p:nvPr/>
          </p:nvGrpSpPr>
          <p:grpSpPr>
            <a:xfrm>
              <a:off x="8077200" y="3067050"/>
              <a:ext cx="3543300" cy="952500"/>
              <a:chOff x="8077200" y="3067050"/>
              <a:chExt cx="3543300" cy="952500"/>
            </a:xfrm>
          </p:grpSpPr>
          <p:sp>
            <p:nvSpPr>
              <p:cNvPr id="67" name="Rectangle 67"/>
              <p:cNvSpPr/>
              <p:nvPr/>
            </p:nvSpPr>
            <p:spPr>
              <a:xfrm>
                <a:off x="8115300" y="3105150"/>
                <a:ext cx="3505200" cy="914400"/>
              </a:xfrm>
              <a:prstGeom prst="roundRect">
                <a:avLst>
                  <a:gd name="adj" fmla="val 16667"/>
                </a:avLst>
              </a:prstGeom>
              <a:solidFill>
                <a:srgbClr val="E3E9ED"/>
              </a:solidFill>
              <a:ln>
                <a:noFill/>
              </a:ln>
            </p:spPr>
          </p:sp>
          <p:sp>
            <p:nvSpPr>
              <p:cNvPr id="68" name="Rectangle 68"/>
              <p:cNvSpPr/>
              <p:nvPr/>
            </p:nvSpPr>
            <p:spPr>
              <a:xfrm>
                <a:off x="8077200" y="3067050"/>
                <a:ext cx="3505200" cy="914400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14288">
                <a:solidFill>
                  <a:srgbClr val="E3E9ED"/>
                </a:solidFill>
              </a:ln>
            </p:spPr>
          </p:sp>
          <p:sp>
            <p:nvSpPr>
              <p:cNvPr id="69" name="TextBox 69"/>
              <p:cNvSpPr txBox="1"/>
              <p:nvPr/>
            </p:nvSpPr>
            <p:spPr>
              <a:xfrm>
                <a:off x="8325612" y="3249930"/>
                <a:ext cx="1156076" cy="704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6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3–5×</a:t>
                </a:r>
              </a:p>
            </p:txBody>
          </p:sp>
          <p:sp>
            <p:nvSpPr>
              <p:cNvPr id="70" name="TextBox 70"/>
              <p:cNvSpPr txBox="1"/>
              <p:nvPr/>
            </p:nvSpPr>
            <p:spPr>
              <a:xfrm>
                <a:off x="9553956" y="3291840"/>
                <a:ext cx="166969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相对 MSG 鲜味</a:t>
                </a:r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9553956" y="3596640"/>
                <a:ext cx="159334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阈值低至 0.22</a:t>
                </a:r>
              </a:p>
            </p:txBody>
          </p:sp>
        </p:grpSp>
      </p:grpSp>
      <p:grpSp>
        <p:nvGrpSpPr>
          <p:cNvPr id="75" name="Group 75"/>
          <p:cNvGrpSpPr/>
          <p:nvPr/>
        </p:nvGrpSpPr>
        <p:grpSpPr>
          <a:xfrm>
            <a:off x="609600" y="4171950"/>
            <a:ext cx="6667500" cy="2019300"/>
            <a:chOff x="609600" y="4171950"/>
            <a:chExt cx="6667500" cy="2019300"/>
          </a:xfrm>
        </p:grpSpPr>
        <p:graphicFrame>
          <p:nvGraphicFramePr>
            <p:cNvPr id="74" name="case-peptides"/>
            <p:cNvGraphicFramePr>
              <a:graphicFrameLocks noGrp="1"/>
            </p:cNvGraphicFramePr>
            <p:nvPr/>
          </p:nvGraphicFramePr>
          <p:xfrm>
            <a:off x="609600" y="4171950"/>
            <a:ext cx="6667500" cy="2019300"/>
          </p:xfrm>
          <a:graphic>
            <a:graphicData uri="http://schemas.openxmlformats.org/drawingml/2006/table">
              <a:tbl>
                <a:tblPr firstRow="1" bandRow="1">
                  <a:tableStyleId>{5C22544A-7EE6-4342-B048-85BDC9FD1C3A}</a:tableStyleId>
                </a:tblPr>
                <a:tblGrid>
                  <a:gridCol w="3333750"/>
                  <a:gridCol w="3333750"/>
                </a:tblGrid>
                <a:tr h="336550">
                  <a:tc>
                    <a:txBody>
                      <a:bodyPr/>
                      <a:lstStyle/>
                      <a:p>
                        <a:pPr algn="ctr"/>
                        <a:r>
                          <a:rPr lang="zh-CN" sz="1800" b="1">
                            <a:solidFill>
                              <a:srgbClr val="FFFFFF"/>
                            </a:solidFill>
                            <a:latin typeface="Microsoft YaHei"/>
                            <a:ea typeface="Microsoft YaHei"/>
                            <a:cs typeface="Microsoft YaHei"/>
                          </a:rPr>
                          <a:t>验证肽序列</a:t>
                        </a:r>
                      </a:p>
                    </a:txBody>
                    <a:tcPr anchor="ctr">
                      <a:solidFill>
                        <a:srgbClr val="1F4E79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zh-CN" sz="1800" b="1">
                            <a:solidFill>
                              <a:srgbClr val="FFFFFF"/>
                            </a:solidFill>
                            <a:latin typeface="Microsoft YaHei"/>
                            <a:ea typeface="Microsoft YaHei"/>
                            <a:cs typeface="Microsoft YaHei"/>
                          </a:rPr>
                          <a:t>长度</a:t>
                        </a:r>
                      </a:p>
                    </a:txBody>
                    <a:tcPr anchor="ctr">
                      <a:solidFill>
                        <a:srgbClr val="1F4E79"/>
                      </a:solidFill>
                    </a:tcPr>
                  </a:tc>
                </a:tr>
                <a:tr h="336550">
                  <a:tc>
                    <a:txBody>
                      <a:bodyPr/>
                      <a:lstStyle/>
                      <a:p>
                        <a:pPr/>
                        <a:r>
                          <a:rPr lang="zh-CN" sz="1800" b="0">
                            <a:solidFill>
                              <a:srgbClr val="1F2937"/>
                            </a:solidFill>
                            <a:latin typeface="Microsoft YaHei"/>
                            <a:ea typeface="Microsoft YaHei"/>
                            <a:cs typeface="Microsoft YaHei"/>
                          </a:rPr>
                          <a:t>DFEGDV</a:t>
                        </a:r>
                      </a:p>
                    </a:txBody>
                    <a:tcPr anchor="ctr"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/>
                        <a:r>
                          <a:rPr lang="zh-CN" sz="1800" b="0">
                            <a:solidFill>
                              <a:srgbClr val="1F2937"/>
                            </a:solidFill>
                            <a:latin typeface="Microsoft YaHei"/>
                            <a:ea typeface="Microsoft YaHei"/>
                            <a:cs typeface="Microsoft YaHei"/>
                          </a:rPr>
                          <a:t>6 肽</a:t>
                        </a:r>
                      </a:p>
                    </a:txBody>
                    <a:tcPr anchor="ctr">
                      <a:solidFill>
                        <a:srgbClr val="FFFFFF"/>
                      </a:solidFill>
                    </a:tcPr>
                  </a:tc>
                </a:tr>
                <a:tr h="336550">
                  <a:tc>
                    <a:txBody>
                      <a:bodyPr/>
                      <a:lstStyle/>
                      <a:p>
                        <a:pPr/>
                        <a:r>
                          <a:rPr lang="zh-CN" sz="1800" b="0">
                            <a:solidFill>
                              <a:srgbClr val="1F2937"/>
                            </a:solidFill>
                            <a:latin typeface="Microsoft YaHei"/>
                            <a:ea typeface="Microsoft YaHei"/>
                            <a:cs typeface="Microsoft YaHei"/>
                          </a:rPr>
                          <a:t>GRGPTVTDP</a:t>
                        </a:r>
                      </a:p>
                    </a:txBody>
                    <a:tcPr anchor="ctr">
                      <a:solidFill>
                        <a:srgbClr val="F3F6FA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/>
                        <a:r>
                          <a:rPr lang="zh-CN" sz="1800" b="0">
                            <a:solidFill>
                              <a:srgbClr val="1F2937"/>
                            </a:solidFill>
                            <a:latin typeface="Microsoft YaHei"/>
                            <a:ea typeface="Microsoft YaHei"/>
                            <a:cs typeface="Microsoft YaHei"/>
                          </a:rPr>
                          <a:t>9 肽</a:t>
                        </a:r>
                      </a:p>
                    </a:txBody>
                    <a:tcPr anchor="ctr">
                      <a:solidFill>
                        <a:srgbClr val="F3F6FA"/>
                      </a:solidFill>
                    </a:tcPr>
                  </a:tc>
                </a:tr>
                <a:tr h="336550">
                  <a:tc>
                    <a:txBody>
                      <a:bodyPr/>
                      <a:lstStyle/>
                      <a:p>
                        <a:pPr/>
                        <a:r>
                          <a:rPr lang="zh-CN" sz="1800" b="0">
                            <a:solidFill>
                              <a:srgbClr val="1F2937"/>
                            </a:solidFill>
                            <a:latin typeface="Microsoft YaHei"/>
                            <a:ea typeface="Microsoft YaHei"/>
                            <a:cs typeface="Microsoft YaHei"/>
                          </a:rPr>
                          <a:t>NDDRDSYNL</a:t>
                        </a:r>
                      </a:p>
                    </a:txBody>
                    <a:tcPr anchor="ctr"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/>
                        <a:r>
                          <a:rPr lang="zh-CN" sz="1800" b="0">
                            <a:solidFill>
                              <a:srgbClr val="1F2937"/>
                            </a:solidFill>
                            <a:latin typeface="Microsoft YaHei"/>
                            <a:ea typeface="Microsoft YaHei"/>
                            <a:cs typeface="Microsoft YaHei"/>
                          </a:rPr>
                          <a:t>9 肽</a:t>
                        </a:r>
                      </a:p>
                    </a:txBody>
                    <a:tcPr anchor="ctr">
                      <a:solidFill>
                        <a:srgbClr val="FFFFFF"/>
                      </a:solidFill>
                    </a:tcPr>
                  </a:tc>
                </a:tr>
                <a:tr h="336550">
                  <a:tc>
                    <a:txBody>
                      <a:bodyPr/>
                      <a:lstStyle/>
                      <a:p>
                        <a:pPr/>
                        <a:r>
                          <a:rPr lang="zh-CN" sz="1800" b="0">
                            <a:solidFill>
                              <a:srgbClr val="1F2937"/>
                            </a:solidFill>
                            <a:latin typeface="Microsoft YaHei"/>
                            <a:ea typeface="Microsoft YaHei"/>
                            <a:cs typeface="Microsoft YaHei"/>
                          </a:rPr>
                          <a:t>RVPAGTTY</a:t>
                        </a:r>
                      </a:p>
                    </a:txBody>
                    <a:tcPr anchor="ctr">
                      <a:solidFill>
                        <a:srgbClr val="F3F6FA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/>
                        <a:r>
                          <a:rPr lang="zh-CN" sz="1800" b="0">
                            <a:solidFill>
                              <a:srgbClr val="1F2937"/>
                            </a:solidFill>
                            <a:latin typeface="Microsoft YaHei"/>
                            <a:ea typeface="Microsoft YaHei"/>
                            <a:cs typeface="Microsoft YaHei"/>
                          </a:rPr>
                          <a:t>8 肽</a:t>
                        </a:r>
                      </a:p>
                    </a:txBody>
                    <a:tcPr anchor="ctr">
                      <a:solidFill>
                        <a:srgbClr val="F3F6FA"/>
                      </a:solidFill>
                    </a:tcPr>
                  </a:tc>
                </a:tr>
                <a:tr h="336550">
                  <a:tc>
                    <a:txBody>
                      <a:bodyPr/>
                      <a:lstStyle/>
                      <a:p>
                        <a:pPr/>
                        <a:r>
                          <a:rPr lang="zh-CN" sz="1800" b="0">
                            <a:solidFill>
                              <a:srgbClr val="1F2937"/>
                            </a:solidFill>
                            <a:latin typeface="Microsoft YaHei"/>
                            <a:ea typeface="Microsoft YaHei"/>
                            <a:cs typeface="Microsoft YaHei"/>
                          </a:rPr>
                          <a:t>SDNFEY</a:t>
                        </a:r>
                      </a:p>
                    </a:txBody>
                    <a:tcPr anchor="ctr"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/>
                        <a:r>
                          <a:rPr lang="zh-CN" sz="1800" b="0">
                            <a:solidFill>
                              <a:srgbClr val="1F2937"/>
                            </a:solidFill>
                            <a:latin typeface="Microsoft YaHei"/>
                            <a:ea typeface="Microsoft YaHei"/>
                            <a:cs typeface="Microsoft YaHei"/>
                          </a:rPr>
                          <a:t>6 肽</a:t>
                        </a:r>
                      </a:p>
                    </a:txBody>
                    <a:tcPr anchor="ctr">
                      <a:solidFill>
                        <a:srgbClr val="FFFFFF"/>
                      </a:solidFill>
                    </a:tcPr>
                  </a:tc>
                </a:tr>
              </a:tbl>
            </a:graphicData>
          </a:graphic>
        </p:graphicFrame>
      </p:grpSp>
      <p:grpSp>
        <p:nvGrpSpPr>
          <p:cNvPr id="86" name="Group 86"/>
          <p:cNvGrpSpPr/>
          <p:nvPr/>
        </p:nvGrpSpPr>
        <p:grpSpPr>
          <a:xfrm>
            <a:off x="7543800" y="4171950"/>
            <a:ext cx="4038600" cy="2019300"/>
            <a:chOff x="7543800" y="4171950"/>
            <a:chExt cx="4038600" cy="2019300"/>
          </a:xfrm>
        </p:grpSpPr>
        <p:sp>
          <p:nvSpPr>
            <p:cNvPr id="76" name="Rectangle 76"/>
            <p:cNvSpPr/>
            <p:nvPr/>
          </p:nvSpPr>
          <p:spPr>
            <a:xfrm>
              <a:off x="7543800" y="4171950"/>
              <a:ext cx="4038600" cy="2019300"/>
            </a:xfrm>
            <a:prstGeom prst="roundRect">
              <a:avLst>
                <a:gd name="adj" fmla="val 7547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7" name="Rectangle 77"/>
            <p:cNvSpPr/>
            <p:nvPr/>
          </p:nvSpPr>
          <p:spPr>
            <a:xfrm>
              <a:off x="7543800" y="4171950"/>
              <a:ext cx="57150" cy="20193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grpSp>
          <p:nvGrpSpPr>
            <p:cNvPr id="81" name="Group 81"/>
            <p:cNvGrpSpPr/>
            <p:nvPr/>
          </p:nvGrpSpPr>
          <p:grpSpPr>
            <a:xfrm>
              <a:off x="7899398" y="4464195"/>
              <a:ext cx="209388" cy="215583"/>
              <a:chOff x="7899398" y="4464195"/>
              <a:chExt cx="209388" cy="215583"/>
            </a:xfrm>
          </p:grpSpPr>
          <p:sp>
            <p:nvSpPr>
              <p:cNvPr id="78" name="Freeform 78"/>
              <p:cNvSpPr/>
              <p:nvPr/>
            </p:nvSpPr>
            <p:spPr>
              <a:xfrm>
                <a:off x="7962900" y="453390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76200"/>
                    </a:moveTo>
                    <a:lnTo>
                      <a:pt x="76200" y="0"/>
                    </a:lnTo>
                  </a:path>
                </a:pathLst>
              </a:custGeom>
              <a:noFill/>
              <a:ln w="25400">
                <a:solidFill>
                  <a:srgbClr val="2FB3A8"/>
                </a:solidFill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7988300" y="4464195"/>
                <a:ext cx="120486" cy="120505"/>
              </a:xfrm>
              <a:custGeom>
                <a:avLst/>
                <a:gdLst/>
                <a:ahLst/>
                <a:cxnLst/>
                <a:rect l="l" t="t" r="r" b="b"/>
                <a:pathLst>
                  <a:path w="120486" h="120505">
                    <a:moveTo>
                      <a:pt x="0" y="31605"/>
                    </a:moveTo>
                    <a:lnTo>
                      <a:pt x="5880" y="24798"/>
                    </a:lnTo>
                    <a:cubicBezTo>
                      <a:pt x="30682" y="0"/>
                      <a:pt x="70890" y="3"/>
                      <a:pt x="95688" y="24804"/>
                    </a:cubicBezTo>
                    <a:cubicBezTo>
                      <a:pt x="120486" y="49606"/>
                      <a:pt x="120483" y="89814"/>
                      <a:pt x="95682" y="114612"/>
                    </a:cubicBezTo>
                    <a:lnTo>
                      <a:pt x="88900" y="120505"/>
                    </a:lnTo>
                  </a:path>
                </a:pathLst>
              </a:custGeom>
              <a:noFill/>
              <a:ln w="25400">
                <a:solidFill>
                  <a:srgbClr val="2FB3A8"/>
                </a:solidFill>
              </a:ln>
            </p:spPr>
          </p:sp>
          <p:sp>
            <p:nvSpPr>
              <p:cNvPr id="80" name="Freeform 80"/>
              <p:cNvSpPr/>
              <p:nvPr/>
            </p:nvSpPr>
            <p:spPr>
              <a:xfrm>
                <a:off x="7899398" y="4559300"/>
                <a:ext cx="114302" cy="120478"/>
              </a:xfrm>
              <a:custGeom>
                <a:avLst/>
                <a:gdLst/>
                <a:ahLst/>
                <a:cxnLst/>
                <a:rect l="l" t="t" r="r" b="b"/>
                <a:pathLst>
                  <a:path w="114302" h="120478">
                    <a:moveTo>
                      <a:pt x="114302" y="88900"/>
                    </a:moveTo>
                    <a:lnTo>
                      <a:pt x="109260" y="95682"/>
                    </a:lnTo>
                    <a:cubicBezTo>
                      <a:pt x="84184" y="120478"/>
                      <a:pt x="43823" y="120478"/>
                      <a:pt x="18747" y="95682"/>
                    </a:cubicBezTo>
                    <a:cubicBezTo>
                      <a:pt x="6751" y="83820"/>
                      <a:pt x="0" y="67651"/>
                      <a:pt x="0" y="50781"/>
                    </a:cubicBezTo>
                    <a:cubicBezTo>
                      <a:pt x="0" y="33911"/>
                      <a:pt x="6751" y="17742"/>
                      <a:pt x="18747" y="5880"/>
                    </a:cubicBezTo>
                    <a:lnTo>
                      <a:pt x="25402" y="0"/>
                    </a:lnTo>
                  </a:path>
                </a:pathLst>
              </a:custGeom>
              <a:noFill/>
              <a:ln w="25400">
                <a:solidFill>
                  <a:srgbClr val="2FB3A8"/>
                </a:solidFill>
              </a:ln>
            </p:spPr>
          </p:sp>
        </p:grpSp>
        <p:sp>
          <p:nvSpPr>
            <p:cNvPr id="82" name="TextBox 82"/>
            <p:cNvSpPr txBox="1"/>
            <p:nvPr/>
          </p:nvSpPr>
          <p:spPr>
            <a:xfrm>
              <a:off x="8238744" y="4437698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机制亮点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7839456" y="4872990"/>
              <a:ext cx="371349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94310" indent="-194310">
                <a:buClr>
                  <a:srgbClr val="DCE8F2"/>
                </a:buClr>
                <a:buSzTx/>
                <a:buFontTx/>
                <a:buChar char="•"/>
              </a:pPr>
              <a:r>
                <a:rPr lang="zh-CN" sz="1800" dirty="0">
                  <a:solidFill>
                    <a:srgbClr val="DCE8F2"/>
                  </a:solidFill>
                  <a:latin typeface="+mn-lt"/>
                  <a:ea typeface="+mn-ea"/>
                  <a:cs typeface="+mn-cs"/>
                </a:rPr>
                <a:t>酸性残基 D 与受体 Arg277 形成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7991856" y="517779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DCE8F2"/>
                  </a:solidFill>
                  <a:latin typeface="+mn-lt"/>
                  <a:ea typeface="+mn-ea"/>
                  <a:cs typeface="+mn-cs"/>
                </a:rPr>
                <a:t>盐桥，是结合与呈鲜关键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7839456" y="5654040"/>
              <a:ext cx="327004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204026" indent="-204026">
                <a:buClr>
                  <a:srgbClr val="2FB3A8"/>
                </a:buClr>
                <a:buSzTx/>
                <a:buFontTx/>
                <a:buChar char="•"/>
              </a:pPr>
              <a:r>
                <a:rPr lang="zh-CN" sz="1800" b="1" dirty="0">
                  <a:solidFill>
                    <a:srgbClr val="2FB3A8"/>
                  </a:solidFill>
                  <a:latin typeface="+mn-lt"/>
                  <a:ea typeface="+mn-ea"/>
                  <a:cs typeface="+mn-cs"/>
                </a:rPr>
                <a:t>跑通「预测—验证」双轨闭环</a:t>
              </a:r>
            </a:p>
          </p:txBody>
        </p:sp>
      </p:grpSp>
      <p:sp>
        <p:nvSpPr>
          <p:cNvPr id="87" name="TextBox 87"/>
          <p:cNvSpPr txBox="1"/>
          <p:nvPr/>
        </p:nvSpPr>
        <p:spPr>
          <a:xfrm>
            <a:off x="10761497" y="6473190"/>
            <a:ext cx="8300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800" dirty="0">
                <a:solidFill>
                  <a:srgbClr val="A3B2BF"/>
                </a:solidFill>
                <a:latin typeface="+mn-lt"/>
                <a:ea typeface="+mn-ea"/>
                <a:cs typeface="+mn-cs"/>
              </a:rPr>
              <a:t>14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4360" y="472440"/>
            <a:ext cx="6896100" cy="1047750"/>
            <a:chOff x="594360" y="472440"/>
            <a:chExt cx="6896100" cy="1047750"/>
          </a:xfrm>
        </p:grpSpPr>
        <p:sp>
          <p:nvSpPr>
            <p:cNvPr id="2" name="TextBox 2"/>
            <p:cNvSpPr txBox="1"/>
            <p:nvPr/>
          </p:nvSpPr>
          <p:spPr>
            <a:xfrm>
              <a:off x="600456" y="472440"/>
              <a:ext cx="198407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05 · 挑战与展望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609600" y="819150"/>
              <a:ext cx="457200" cy="5715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94360" y="933450"/>
              <a:ext cx="68961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未来：从「预测鲜味」到「设计鲜味」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667500" y="1638300"/>
            <a:ext cx="4953000" cy="3086100"/>
            <a:chOff x="6667500" y="1638300"/>
            <a:chExt cx="4953000" cy="3086100"/>
          </a:xfrm>
        </p:grpSpPr>
        <p:sp>
          <p:nvSpPr>
            <p:cNvPr id="6" name="Rectangle 6"/>
            <p:cNvSpPr/>
            <p:nvPr/>
          </p:nvSpPr>
          <p:spPr>
            <a:xfrm>
              <a:off x="6705600" y="1676400"/>
              <a:ext cx="4914900" cy="3048000"/>
            </a:xfrm>
            <a:prstGeom prst="roundRect">
              <a:avLst>
                <a:gd name="adj" fmla="val 6250"/>
              </a:avLst>
            </a:prstGeom>
            <a:solidFill>
              <a:srgbClr val="E3E9ED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667500" y="1638300"/>
              <a:ext cx="4914900" cy="3048000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14288">
              <a:solidFill>
                <a:srgbClr val="DDE6EC"/>
              </a:solidFill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58000" y="1925782"/>
              <a:ext cx="4533900" cy="2473036"/>
            </a:xfrm>
            <a:prstGeom prst="rect">
              <a:avLst/>
            </a:prstGeom>
          </p:spPr>
        </p:pic>
      </p:grpSp>
      <p:grpSp>
        <p:nvGrpSpPr>
          <p:cNvPr id="44" name="Group 44"/>
          <p:cNvGrpSpPr/>
          <p:nvPr/>
        </p:nvGrpSpPr>
        <p:grpSpPr>
          <a:xfrm>
            <a:off x="609600" y="1638300"/>
            <a:ext cx="5753100" cy="3086100"/>
            <a:chOff x="609600" y="1638300"/>
            <a:chExt cx="5753100" cy="3086100"/>
          </a:xfrm>
        </p:grpSpPr>
        <p:grpSp>
          <p:nvGrpSpPr>
            <p:cNvPr id="19" name="Group 19"/>
            <p:cNvGrpSpPr/>
            <p:nvPr/>
          </p:nvGrpSpPr>
          <p:grpSpPr>
            <a:xfrm>
              <a:off x="609600" y="1638300"/>
              <a:ext cx="5753100" cy="952500"/>
              <a:chOff x="609600" y="1638300"/>
              <a:chExt cx="5753100" cy="95250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647700" y="1676400"/>
                <a:ext cx="5715000" cy="914400"/>
              </a:xfrm>
              <a:prstGeom prst="roundRect">
                <a:avLst>
                  <a:gd name="adj" fmla="val 16667"/>
                </a:avLst>
              </a:prstGeom>
              <a:solidFill>
                <a:srgbClr val="E3E9ED"/>
              </a:solidFill>
              <a:ln>
                <a:noFill/>
              </a:ln>
            </p:spPr>
          </p:sp>
          <p:sp>
            <p:nvSpPr>
              <p:cNvPr id="11" name="Rectangle 11"/>
              <p:cNvSpPr/>
              <p:nvPr/>
            </p:nvSpPr>
            <p:spPr>
              <a:xfrm>
                <a:off x="609600" y="1638300"/>
                <a:ext cx="5715000" cy="914400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14288">
                <a:solidFill>
                  <a:srgbClr val="F0DECF"/>
                </a:solidFill>
              </a:ln>
            </p:spPr>
          </p:sp>
          <p:sp>
            <p:nvSpPr>
              <p:cNvPr id="12" name="Ellipse 12"/>
              <p:cNvSpPr/>
              <p:nvPr/>
            </p:nvSpPr>
            <p:spPr>
              <a:xfrm>
                <a:off x="838200" y="1866900"/>
                <a:ext cx="457200" cy="457200"/>
              </a:xfrm>
              <a:prstGeom prst="ellipse">
                <a:avLst/>
              </a:prstGeom>
              <a:solidFill>
                <a:srgbClr val="FBE9DD"/>
              </a:solidFill>
              <a:ln>
                <a:noFill/>
              </a:ln>
            </p:spPr>
          </p:sp>
          <p:grpSp>
            <p:nvGrpSpPr>
              <p:cNvPr id="16" name="Group 16"/>
              <p:cNvGrpSpPr/>
              <p:nvPr/>
            </p:nvGrpSpPr>
            <p:grpSpPr>
              <a:xfrm>
                <a:off x="922709" y="1962166"/>
                <a:ext cx="288171" cy="247577"/>
                <a:chOff x="922709" y="1962166"/>
                <a:chExt cx="288171" cy="247577"/>
              </a:xfrm>
            </p:grpSpPr>
            <p:sp>
              <p:nvSpPr>
                <p:cNvPr id="13" name="Freeform 13"/>
                <p:cNvSpPr/>
                <p:nvPr/>
              </p:nvSpPr>
              <p:spPr>
                <a:xfrm>
                  <a:off x="1066800" y="2052638"/>
                  <a:ext cx="9525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57150">
                      <a:moveTo>
                        <a:pt x="0" y="0"/>
                      </a:moveTo>
                      <a:lnTo>
                        <a:pt x="0" y="57150"/>
                      </a:lnTo>
                    </a:path>
                  </a:pathLst>
                </a:custGeom>
                <a:noFill/>
                <a:ln w="28575">
                  <a:solidFill>
                    <a:schemeClr val="accent3"/>
                  </a:solidFill>
                </a:ln>
              </p:spPr>
            </p:sp>
            <p:sp>
              <p:nvSpPr>
                <p:cNvPr id="14" name="Freeform 14"/>
                <p:cNvSpPr/>
                <p:nvPr/>
              </p:nvSpPr>
              <p:spPr>
                <a:xfrm>
                  <a:off x="922709" y="1962166"/>
                  <a:ext cx="288171" cy="2475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171" h="247577">
                      <a:moveTo>
                        <a:pt x="120702" y="13191"/>
                      </a:moveTo>
                      <a:lnTo>
                        <a:pt x="4888" y="206558"/>
                      </a:lnTo>
                      <a:cubicBezTo>
                        <a:pt x="30" y="214971"/>
                        <a:pt x="0" y="225330"/>
                        <a:pt x="4810" y="233771"/>
                      </a:cubicBezTo>
                      <a:cubicBezTo>
                        <a:pt x="9620" y="242213"/>
                        <a:pt x="18548" y="247468"/>
                        <a:pt x="28262" y="247577"/>
                      </a:cubicBezTo>
                      <a:lnTo>
                        <a:pt x="259920" y="247577"/>
                      </a:lnTo>
                      <a:cubicBezTo>
                        <a:pt x="269630" y="247465"/>
                        <a:pt x="278553" y="242212"/>
                        <a:pt x="283362" y="233775"/>
                      </a:cubicBezTo>
                      <a:cubicBezTo>
                        <a:pt x="288171" y="225339"/>
                        <a:pt x="288145" y="214984"/>
                        <a:pt x="283294" y="206572"/>
                      </a:cubicBezTo>
                      <a:lnTo>
                        <a:pt x="167480" y="13176"/>
                      </a:lnTo>
                      <a:cubicBezTo>
                        <a:pt x="162524" y="4996"/>
                        <a:pt x="153655" y="0"/>
                        <a:pt x="144091" y="0"/>
                      </a:cubicBezTo>
                      <a:cubicBezTo>
                        <a:pt x="134527" y="0"/>
                        <a:pt x="125658" y="4996"/>
                        <a:pt x="120702" y="13176"/>
                      </a:cubicBezTo>
                    </a:path>
                  </a:pathLst>
                </a:custGeom>
                <a:noFill/>
                <a:ln w="28575">
                  <a:solidFill>
                    <a:schemeClr val="accent3"/>
                  </a:solidFill>
                </a:ln>
              </p:spPr>
            </p:sp>
            <p:sp>
              <p:nvSpPr>
                <p:cNvPr id="15" name="Freeform 15"/>
                <p:cNvSpPr/>
                <p:nvPr/>
              </p:nvSpPr>
              <p:spPr>
                <a:xfrm>
                  <a:off x="1066800" y="215265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143" y="0"/>
                      </a:lnTo>
                    </a:path>
                  </a:pathLst>
                </a:custGeom>
                <a:noFill/>
                <a:ln w="28575">
                  <a:solidFill>
                    <a:schemeClr val="accent3"/>
                  </a:solidFill>
                </a:ln>
              </p:spPr>
            </p:sp>
          </p:grpSp>
          <p:sp>
            <p:nvSpPr>
              <p:cNvPr id="17" name="TextBox 17"/>
              <p:cNvSpPr txBox="1"/>
              <p:nvPr/>
            </p:nvSpPr>
            <p:spPr>
              <a:xfrm>
                <a:off x="1456944" y="1846898"/>
                <a:ext cx="2907411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数据规模小、类别不平衡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457706" y="2186940"/>
                <a:ext cx="413766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标注仅数百条、口径不一，泛化受限。</a:t>
                </a: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609600" y="2705100"/>
              <a:ext cx="5753100" cy="952500"/>
              <a:chOff x="609600" y="2705100"/>
              <a:chExt cx="5753100" cy="952500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647700" y="2743200"/>
                <a:ext cx="5715000" cy="914400"/>
              </a:xfrm>
              <a:prstGeom prst="roundRect">
                <a:avLst>
                  <a:gd name="adj" fmla="val 16667"/>
                </a:avLst>
              </a:prstGeom>
              <a:solidFill>
                <a:srgbClr val="E3E9ED"/>
              </a:solidFill>
              <a:ln>
                <a:noFill/>
              </a:ln>
            </p:spPr>
          </p:sp>
          <p:sp>
            <p:nvSpPr>
              <p:cNvPr id="21" name="Rectangle 21"/>
              <p:cNvSpPr/>
              <p:nvPr/>
            </p:nvSpPr>
            <p:spPr>
              <a:xfrm>
                <a:off x="609600" y="2705100"/>
                <a:ext cx="5715000" cy="914400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14288">
                <a:solidFill>
                  <a:srgbClr val="F0DECF"/>
                </a:solidFill>
              </a:ln>
            </p:spPr>
          </p:sp>
          <p:sp>
            <p:nvSpPr>
              <p:cNvPr id="22" name="Ellipse 22"/>
              <p:cNvSpPr/>
              <p:nvPr/>
            </p:nvSpPr>
            <p:spPr>
              <a:xfrm>
                <a:off x="838200" y="2933700"/>
                <a:ext cx="457200" cy="457200"/>
              </a:xfrm>
              <a:prstGeom prst="ellipse">
                <a:avLst/>
              </a:prstGeom>
              <a:solidFill>
                <a:srgbClr val="FBE9DD"/>
              </a:solidFill>
              <a:ln>
                <a:noFill/>
              </a:ln>
            </p:spPr>
          </p:sp>
          <p:grpSp>
            <p:nvGrpSpPr>
              <p:cNvPr id="29" name="Group 29"/>
              <p:cNvGrpSpPr/>
              <p:nvPr/>
            </p:nvGrpSpPr>
            <p:grpSpPr>
              <a:xfrm>
                <a:off x="938212" y="3033712"/>
                <a:ext cx="257176" cy="257176"/>
                <a:chOff x="938212" y="3033712"/>
                <a:chExt cx="257176" cy="257176"/>
              </a:xfrm>
            </p:grpSpPr>
            <p:sp>
              <p:nvSpPr>
                <p:cNvPr id="23" name="Freeform 23"/>
                <p:cNvSpPr/>
                <p:nvPr/>
              </p:nvSpPr>
              <p:spPr>
                <a:xfrm>
                  <a:off x="1066800" y="3176588"/>
                  <a:ext cx="100012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012" h="114300">
                      <a:moveTo>
                        <a:pt x="50006" y="0"/>
                      </a:moveTo>
                      <a:cubicBezTo>
                        <a:pt x="22389" y="0"/>
                        <a:pt x="0" y="22389"/>
                        <a:pt x="0" y="50006"/>
                      </a:cubicBezTo>
                      <a:lnTo>
                        <a:pt x="0" y="64294"/>
                      </a:lnTo>
                      <a:cubicBezTo>
                        <a:pt x="0" y="91911"/>
                        <a:pt x="22389" y="114300"/>
                        <a:pt x="50006" y="114300"/>
                      </a:cubicBezTo>
                      <a:cubicBezTo>
                        <a:pt x="77624" y="114300"/>
                        <a:pt x="100012" y="91911"/>
                        <a:pt x="100012" y="64294"/>
                      </a:cubicBezTo>
                      <a:lnTo>
                        <a:pt x="100012" y="38576"/>
                      </a:lnTo>
                    </a:path>
                  </a:pathLst>
                </a:custGeom>
                <a:noFill/>
                <a:ln w="28575">
                  <a:solidFill>
                    <a:schemeClr val="accent3"/>
                  </a:solidFill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966788" y="3176588"/>
                  <a:ext cx="100012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012" h="114300">
                      <a:moveTo>
                        <a:pt x="50006" y="0"/>
                      </a:moveTo>
                      <a:cubicBezTo>
                        <a:pt x="77624" y="0"/>
                        <a:pt x="100012" y="22389"/>
                        <a:pt x="100012" y="50006"/>
                      </a:cubicBezTo>
                      <a:lnTo>
                        <a:pt x="100012" y="64294"/>
                      </a:lnTo>
                      <a:cubicBezTo>
                        <a:pt x="100012" y="91911"/>
                        <a:pt x="77624" y="114300"/>
                        <a:pt x="50006" y="114300"/>
                      </a:cubicBezTo>
                      <a:cubicBezTo>
                        <a:pt x="22389" y="114300"/>
                        <a:pt x="0" y="91911"/>
                        <a:pt x="0" y="64294"/>
                      </a:cubicBezTo>
                      <a:lnTo>
                        <a:pt x="0" y="38576"/>
                      </a:lnTo>
                    </a:path>
                  </a:pathLst>
                </a:custGeom>
                <a:noFill/>
                <a:ln w="28575">
                  <a:solidFill>
                    <a:schemeClr val="accent3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1138238" y="3119438"/>
                  <a:ext cx="57150" cy="100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100012">
                      <a:moveTo>
                        <a:pt x="7144" y="100012"/>
                      </a:moveTo>
                      <a:cubicBezTo>
                        <a:pt x="34761" y="100012"/>
                        <a:pt x="57150" y="77624"/>
                        <a:pt x="57150" y="50006"/>
                      </a:cubicBezTo>
                      <a:cubicBezTo>
                        <a:pt x="57150" y="22389"/>
                        <a:pt x="34761" y="0"/>
                        <a:pt x="7144" y="0"/>
                      </a:cubicBezTo>
                      <a:lnTo>
                        <a:pt x="0" y="0"/>
                      </a:lnTo>
                    </a:path>
                  </a:pathLst>
                </a:custGeom>
                <a:noFill/>
                <a:ln w="28575">
                  <a:solidFill>
                    <a:schemeClr val="accent3"/>
                  </a:solidFill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1066800" y="3033712"/>
                  <a:ext cx="100012" cy="90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012" h="90011">
                      <a:moveTo>
                        <a:pt x="100012" y="90011"/>
                      </a:moveTo>
                      <a:lnTo>
                        <a:pt x="100012" y="50006"/>
                      </a:lnTo>
                      <a:cubicBezTo>
                        <a:pt x="100012" y="22389"/>
                        <a:pt x="77624" y="0"/>
                        <a:pt x="50006" y="0"/>
                      </a:cubicBezTo>
                      <a:cubicBezTo>
                        <a:pt x="22389" y="0"/>
                        <a:pt x="0" y="22389"/>
                        <a:pt x="0" y="50006"/>
                      </a:cubicBezTo>
                    </a:path>
                  </a:pathLst>
                </a:custGeom>
                <a:noFill/>
                <a:ln w="28575">
                  <a:solidFill>
                    <a:schemeClr val="accent3"/>
                  </a:solidFill>
                </a:ln>
              </p:spPr>
            </p:sp>
            <p:sp>
              <p:nvSpPr>
                <p:cNvPr id="27" name="Freeform 27"/>
                <p:cNvSpPr/>
                <p:nvPr/>
              </p:nvSpPr>
              <p:spPr>
                <a:xfrm>
                  <a:off x="938212" y="3119438"/>
                  <a:ext cx="57150" cy="100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100012">
                      <a:moveTo>
                        <a:pt x="50006" y="100012"/>
                      </a:moveTo>
                      <a:cubicBezTo>
                        <a:pt x="22389" y="100012"/>
                        <a:pt x="0" y="77624"/>
                        <a:pt x="0" y="50006"/>
                      </a:cubicBezTo>
                      <a:cubicBezTo>
                        <a:pt x="0" y="22389"/>
                        <a:pt x="22389" y="0"/>
                        <a:pt x="50006" y="0"/>
                      </a:cubicBezTo>
                      <a:lnTo>
                        <a:pt x="57150" y="0"/>
                      </a:lnTo>
                    </a:path>
                  </a:pathLst>
                </a:custGeom>
                <a:noFill/>
                <a:ln w="28575">
                  <a:solidFill>
                    <a:schemeClr val="accent3"/>
                  </a:solidFill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966788" y="3033712"/>
                  <a:ext cx="100012" cy="1928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012" h="192881">
                      <a:moveTo>
                        <a:pt x="0" y="90011"/>
                      </a:moveTo>
                      <a:lnTo>
                        <a:pt x="0" y="50006"/>
                      </a:lnTo>
                      <a:cubicBezTo>
                        <a:pt x="0" y="22389"/>
                        <a:pt x="22389" y="0"/>
                        <a:pt x="50006" y="0"/>
                      </a:cubicBezTo>
                      <a:cubicBezTo>
                        <a:pt x="77624" y="0"/>
                        <a:pt x="100012" y="22389"/>
                        <a:pt x="100012" y="50006"/>
                      </a:cubicBezTo>
                      <a:lnTo>
                        <a:pt x="100012" y="192881"/>
                      </a:lnTo>
                    </a:path>
                  </a:pathLst>
                </a:custGeom>
                <a:noFill/>
                <a:ln w="28575">
                  <a:solidFill>
                    <a:schemeClr val="accent3"/>
                  </a:solidFill>
                </a:ln>
              </p:spPr>
            </p:sp>
          </p:grpSp>
          <p:sp>
            <p:nvSpPr>
              <p:cNvPr id="30" name="TextBox 30"/>
              <p:cNvSpPr txBox="1"/>
              <p:nvPr/>
            </p:nvSpPr>
            <p:spPr>
              <a:xfrm>
                <a:off x="1456944" y="2913698"/>
                <a:ext cx="1594866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可解释性仍浅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1457706" y="3253740"/>
                <a:ext cx="413766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注意力定位残基，机制仍需实验补强。</a:t>
                </a: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609600" y="3771900"/>
              <a:ext cx="5753100" cy="952500"/>
              <a:chOff x="609600" y="3771900"/>
              <a:chExt cx="5753100" cy="952500"/>
            </a:xfrm>
          </p:grpSpPr>
          <p:sp>
            <p:nvSpPr>
              <p:cNvPr id="33" name="Rectangle 33"/>
              <p:cNvSpPr/>
              <p:nvPr/>
            </p:nvSpPr>
            <p:spPr>
              <a:xfrm>
                <a:off x="647700" y="3810000"/>
                <a:ext cx="5715000" cy="914400"/>
              </a:xfrm>
              <a:prstGeom prst="roundRect">
                <a:avLst>
                  <a:gd name="adj" fmla="val 16667"/>
                </a:avLst>
              </a:prstGeom>
              <a:solidFill>
                <a:srgbClr val="E3E9ED"/>
              </a:solidFill>
              <a:ln>
                <a:noFill/>
              </a:ln>
            </p:spPr>
          </p:sp>
          <p:sp>
            <p:nvSpPr>
              <p:cNvPr id="34" name="Rectangle 34"/>
              <p:cNvSpPr/>
              <p:nvPr/>
            </p:nvSpPr>
            <p:spPr>
              <a:xfrm>
                <a:off x="609600" y="3771900"/>
                <a:ext cx="5715000" cy="914400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14288">
                <a:solidFill>
                  <a:srgbClr val="F0DECF"/>
                </a:solidFill>
              </a:ln>
            </p:spPr>
          </p:sp>
          <p:sp>
            <p:nvSpPr>
              <p:cNvPr id="35" name="Ellipse 35"/>
              <p:cNvSpPr/>
              <p:nvPr/>
            </p:nvSpPr>
            <p:spPr>
              <a:xfrm>
                <a:off x="838200" y="4000500"/>
                <a:ext cx="457200" cy="457200"/>
              </a:xfrm>
              <a:prstGeom prst="ellipse">
                <a:avLst/>
              </a:prstGeom>
              <a:solidFill>
                <a:srgbClr val="FBE9DD"/>
              </a:solidFill>
              <a:ln>
                <a:noFill/>
              </a:ln>
            </p:spPr>
          </p:sp>
          <p:grpSp>
            <p:nvGrpSpPr>
              <p:cNvPr id="40" name="Group 40"/>
              <p:cNvGrpSpPr/>
              <p:nvPr/>
            </p:nvGrpSpPr>
            <p:grpSpPr>
              <a:xfrm>
                <a:off x="938212" y="4114800"/>
                <a:ext cx="257175" cy="238125"/>
                <a:chOff x="938212" y="4114800"/>
                <a:chExt cx="257175" cy="238125"/>
              </a:xfrm>
            </p:grpSpPr>
            <p:sp>
              <p:nvSpPr>
                <p:cNvPr id="36" name="Freeform 36"/>
                <p:cNvSpPr/>
                <p:nvPr/>
              </p:nvSpPr>
              <p:spPr>
                <a:xfrm>
                  <a:off x="938212" y="4229100"/>
                  <a:ext cx="85725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5" h="114300">
                      <a:moveTo>
                        <a:pt x="0" y="14288"/>
                      </a:moveTo>
                      <a:cubicBezTo>
                        <a:pt x="0" y="6397"/>
                        <a:pt x="6397" y="0"/>
                        <a:pt x="14288" y="0"/>
                      </a:cubicBezTo>
                      <a:lnTo>
                        <a:pt x="71438" y="0"/>
                      </a:lnTo>
                      <a:cubicBezTo>
                        <a:pt x="79328" y="0"/>
                        <a:pt x="85725" y="6397"/>
                        <a:pt x="85725" y="14288"/>
                      </a:cubicBezTo>
                      <a:lnTo>
                        <a:pt x="85725" y="100012"/>
                      </a:lnTo>
                      <a:cubicBezTo>
                        <a:pt x="85725" y="107903"/>
                        <a:pt x="79328" y="114300"/>
                        <a:pt x="71438" y="114300"/>
                      </a:cubicBezTo>
                      <a:lnTo>
                        <a:pt x="14288" y="114300"/>
                      </a:lnTo>
                      <a:cubicBezTo>
                        <a:pt x="6397" y="114300"/>
                        <a:pt x="0" y="107903"/>
                        <a:pt x="0" y="100012"/>
                      </a:cubicBezTo>
                      <a:lnTo>
                        <a:pt x="0" y="14288"/>
                      </a:lnTo>
                    </a:path>
                  </a:pathLst>
                </a:custGeom>
                <a:noFill/>
                <a:ln w="28575">
                  <a:solidFill>
                    <a:schemeClr val="accent3"/>
                  </a:solidFill>
                </a:ln>
              </p:spPr>
            </p:sp>
            <p:sp>
              <p:nvSpPr>
                <p:cNvPr id="37" name="Freeform 37"/>
                <p:cNvSpPr/>
                <p:nvPr/>
              </p:nvSpPr>
              <p:spPr>
                <a:xfrm>
                  <a:off x="1109662" y="4171950"/>
                  <a:ext cx="85725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5" h="171450">
                      <a:moveTo>
                        <a:pt x="0" y="14288"/>
                      </a:moveTo>
                      <a:cubicBezTo>
                        <a:pt x="0" y="6397"/>
                        <a:pt x="6397" y="0"/>
                        <a:pt x="14288" y="0"/>
                      </a:cubicBezTo>
                      <a:lnTo>
                        <a:pt x="71438" y="0"/>
                      </a:lnTo>
                      <a:cubicBezTo>
                        <a:pt x="79328" y="0"/>
                        <a:pt x="85725" y="6397"/>
                        <a:pt x="85725" y="14288"/>
                      </a:cubicBezTo>
                      <a:lnTo>
                        <a:pt x="85725" y="157162"/>
                      </a:lnTo>
                      <a:cubicBezTo>
                        <a:pt x="85725" y="165053"/>
                        <a:pt x="79328" y="171450"/>
                        <a:pt x="71438" y="171450"/>
                      </a:cubicBezTo>
                      <a:lnTo>
                        <a:pt x="14288" y="171450"/>
                      </a:lnTo>
                      <a:cubicBezTo>
                        <a:pt x="6397" y="171450"/>
                        <a:pt x="0" y="165053"/>
                        <a:pt x="0" y="157162"/>
                      </a:cubicBezTo>
                      <a:lnTo>
                        <a:pt x="0" y="14288"/>
                      </a:lnTo>
                    </a:path>
                  </a:pathLst>
                </a:custGeom>
                <a:noFill/>
                <a:ln w="28575">
                  <a:solidFill>
                    <a:schemeClr val="accent3"/>
                  </a:solidFill>
                </a:ln>
              </p:spPr>
            </p:sp>
            <p:sp>
              <p:nvSpPr>
                <p:cNvPr id="38" name="Freeform 38"/>
                <p:cNvSpPr/>
                <p:nvPr/>
              </p:nvSpPr>
              <p:spPr>
                <a:xfrm>
                  <a:off x="1023938" y="4114800"/>
                  <a:ext cx="85725" cy="228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5" h="228600">
                      <a:moveTo>
                        <a:pt x="0" y="14288"/>
                      </a:moveTo>
                      <a:cubicBezTo>
                        <a:pt x="0" y="6397"/>
                        <a:pt x="6397" y="0"/>
                        <a:pt x="14288" y="0"/>
                      </a:cubicBezTo>
                      <a:lnTo>
                        <a:pt x="71438" y="0"/>
                      </a:lnTo>
                      <a:cubicBezTo>
                        <a:pt x="79328" y="0"/>
                        <a:pt x="85725" y="6397"/>
                        <a:pt x="85725" y="14288"/>
                      </a:cubicBezTo>
                      <a:lnTo>
                        <a:pt x="85725" y="214312"/>
                      </a:lnTo>
                      <a:cubicBezTo>
                        <a:pt x="85725" y="222203"/>
                        <a:pt x="79328" y="228600"/>
                        <a:pt x="71438" y="228600"/>
                      </a:cubicBezTo>
                      <a:lnTo>
                        <a:pt x="14288" y="228600"/>
                      </a:lnTo>
                      <a:cubicBezTo>
                        <a:pt x="6397" y="228600"/>
                        <a:pt x="0" y="222203"/>
                        <a:pt x="0" y="214312"/>
                      </a:cubicBezTo>
                      <a:lnTo>
                        <a:pt x="0" y="14288"/>
                      </a:lnTo>
                    </a:path>
                  </a:pathLst>
                </a:custGeom>
                <a:noFill/>
                <a:ln w="28575">
                  <a:solidFill>
                    <a:schemeClr val="accent3"/>
                  </a:solidFill>
                </a:ln>
              </p:spPr>
            </p:sp>
            <p:sp>
              <p:nvSpPr>
                <p:cNvPr id="39" name="Freeform 39"/>
                <p:cNvSpPr/>
                <p:nvPr/>
              </p:nvSpPr>
              <p:spPr>
                <a:xfrm>
                  <a:off x="952500" y="4343400"/>
                  <a:ext cx="2000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9525">
                      <a:moveTo>
                        <a:pt x="0" y="0"/>
                      </a:moveTo>
                      <a:lnTo>
                        <a:pt x="200025" y="0"/>
                      </a:lnTo>
                    </a:path>
                  </a:pathLst>
                </a:custGeom>
                <a:noFill/>
                <a:ln w="28575">
                  <a:solidFill>
                    <a:schemeClr val="accent3"/>
                  </a:solidFill>
                </a:ln>
              </p:spPr>
            </p:sp>
          </p:grpSp>
          <p:sp>
            <p:nvSpPr>
              <p:cNvPr id="41" name="TextBox 41"/>
              <p:cNvSpPr txBox="1"/>
              <p:nvPr/>
            </p:nvSpPr>
            <p:spPr>
              <a:xfrm>
                <a:off x="1456944" y="3980498"/>
                <a:ext cx="2382393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从分类走向定量泛化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1457706" y="4320540"/>
                <a:ext cx="413766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阈值、强度、增鲜协同等回归待突破。</a:t>
                </a:r>
              </a:p>
            </p:txBody>
          </p:sp>
        </p:grpSp>
      </p:grpSp>
      <p:grpSp>
        <p:nvGrpSpPr>
          <p:cNvPr id="53" name="Group 53"/>
          <p:cNvGrpSpPr/>
          <p:nvPr/>
        </p:nvGrpSpPr>
        <p:grpSpPr>
          <a:xfrm>
            <a:off x="609600" y="4914900"/>
            <a:ext cx="5715000" cy="1319784"/>
            <a:chOff x="609600" y="4914900"/>
            <a:chExt cx="5715000" cy="1319784"/>
          </a:xfrm>
        </p:grpSpPr>
        <p:sp>
          <p:nvSpPr>
            <p:cNvPr id="45" name="Rectangle 45"/>
            <p:cNvSpPr/>
            <p:nvPr/>
          </p:nvSpPr>
          <p:spPr>
            <a:xfrm>
              <a:off x="609600" y="4914900"/>
              <a:ext cx="5715000" cy="1276350"/>
            </a:xfrm>
            <a:prstGeom prst="roundRect">
              <a:avLst>
                <a:gd name="adj" fmla="val 11940"/>
              </a:avLst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914400" y="5219700"/>
              <a:ext cx="228599" cy="228600"/>
              <a:chOff x="914400" y="5219700"/>
              <a:chExt cx="228599" cy="22860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914400" y="5219700"/>
                <a:ext cx="228599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114300">
                    <a:moveTo>
                      <a:pt x="0" y="114300"/>
                    </a:moveTo>
                    <a:lnTo>
                      <a:pt x="12700" y="114300"/>
                    </a:lnTo>
                    <a:moveTo>
                      <a:pt x="114300" y="0"/>
                    </a:moveTo>
                    <a:lnTo>
                      <a:pt x="114300" y="12700"/>
                    </a:lnTo>
                    <a:moveTo>
                      <a:pt x="215899" y="114300"/>
                    </a:moveTo>
                    <a:lnTo>
                      <a:pt x="228599" y="114300"/>
                    </a:lnTo>
                    <a:moveTo>
                      <a:pt x="33020" y="33020"/>
                    </a:moveTo>
                    <a:lnTo>
                      <a:pt x="41910" y="41910"/>
                    </a:lnTo>
                    <a:moveTo>
                      <a:pt x="195580" y="33020"/>
                    </a:moveTo>
                    <a:lnTo>
                      <a:pt x="186690" y="41910"/>
                    </a:lnTo>
                  </a:path>
                </a:pathLst>
              </a:custGeom>
              <a:noFill/>
              <a:ln w="25400">
                <a:solidFill>
                  <a:srgbClr val="2FB3A8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959815" y="5270500"/>
                <a:ext cx="137769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37769" h="177800">
                    <a:moveTo>
                      <a:pt x="30785" y="114300"/>
                    </a:moveTo>
                    <a:cubicBezTo>
                      <a:pt x="8919" y="97900"/>
                      <a:pt x="0" y="69349"/>
                      <a:pt x="8643" y="43419"/>
                    </a:cubicBezTo>
                    <a:cubicBezTo>
                      <a:pt x="17286" y="17490"/>
                      <a:pt x="41552" y="0"/>
                      <a:pt x="68884" y="0"/>
                    </a:cubicBezTo>
                    <a:cubicBezTo>
                      <a:pt x="96217" y="0"/>
                      <a:pt x="120482" y="17490"/>
                      <a:pt x="129126" y="43419"/>
                    </a:cubicBezTo>
                    <a:cubicBezTo>
                      <a:pt x="137769" y="69349"/>
                      <a:pt x="128850" y="97900"/>
                      <a:pt x="106984" y="114300"/>
                    </a:cubicBezTo>
                    <a:cubicBezTo>
                      <a:pt x="96928" y="124254"/>
                      <a:pt x="92212" y="138402"/>
                      <a:pt x="94284" y="152400"/>
                    </a:cubicBezTo>
                    <a:cubicBezTo>
                      <a:pt x="94284" y="166428"/>
                      <a:pt x="82912" y="177800"/>
                      <a:pt x="68884" y="177800"/>
                    </a:cubicBezTo>
                    <a:cubicBezTo>
                      <a:pt x="54856" y="177800"/>
                      <a:pt x="43485" y="166428"/>
                      <a:pt x="43485" y="152400"/>
                    </a:cubicBezTo>
                    <a:cubicBezTo>
                      <a:pt x="45557" y="138402"/>
                      <a:pt x="40841" y="124254"/>
                      <a:pt x="30785" y="114300"/>
                    </a:cubicBezTo>
                  </a:path>
                </a:pathLst>
              </a:custGeom>
              <a:noFill/>
              <a:ln w="25400">
                <a:solidFill>
                  <a:srgbClr val="2FB3A8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999490" y="5397499"/>
                <a:ext cx="5842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8420" h="9525">
                    <a:moveTo>
                      <a:pt x="0" y="0"/>
                    </a:moveTo>
                    <a:lnTo>
                      <a:pt x="58420" y="0"/>
                    </a:lnTo>
                  </a:path>
                </a:pathLst>
              </a:custGeom>
              <a:noFill/>
              <a:ln w="25400">
                <a:solidFill>
                  <a:srgbClr val="2FB3A8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1285494" y="5199698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展望方向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67156" y="5558790"/>
              <a:ext cx="48979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94310" indent="-194310">
                <a:buClr>
                  <a:srgbClr val="DCE8F2"/>
                </a:buClr>
                <a:buSzTx/>
                <a:buFontTx/>
                <a:buChar char="•"/>
              </a:pPr>
              <a:r>
                <a:rPr lang="zh-CN" sz="1800" dirty="0">
                  <a:solidFill>
                    <a:srgbClr val="DCE8F2"/>
                  </a:solidFill>
                  <a:latin typeface="+mn-lt"/>
                  <a:ea typeface="+mn-ea"/>
                  <a:cs typeface="+mn-cs"/>
                </a:rPr>
                <a:t>多任务 / 多味觉学习，AI 从头设计鲜味肽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67156" y="5882640"/>
              <a:ext cx="484083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94310" indent="-194310">
                <a:buClr>
                  <a:srgbClr val="DCE8F2"/>
                </a:buClr>
                <a:buSzTx/>
                <a:buFontTx/>
                <a:buChar char="•"/>
              </a:pPr>
              <a:r>
                <a:rPr lang="zh-CN" sz="1800" dirty="0">
                  <a:solidFill>
                    <a:srgbClr val="DCE8F2"/>
                  </a:solidFill>
                  <a:latin typeface="+mn-lt"/>
                  <a:ea typeface="+mn-ea"/>
                  <a:cs typeface="+mn-cs"/>
                </a:rPr>
                <a:t>预测—对接—验证闭环自动化，服务低钠食品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6667500" y="4914900"/>
            <a:ext cx="4914900" cy="1319784"/>
            <a:chOff x="6667500" y="4914900"/>
            <a:chExt cx="4914900" cy="1319784"/>
          </a:xfrm>
        </p:grpSpPr>
        <p:sp>
          <p:nvSpPr>
            <p:cNvPr id="54" name="Rectangle 54"/>
            <p:cNvSpPr/>
            <p:nvPr/>
          </p:nvSpPr>
          <p:spPr>
            <a:xfrm>
              <a:off x="6667500" y="4914900"/>
              <a:ext cx="4914900" cy="1276350"/>
            </a:xfrm>
            <a:prstGeom prst="roundRect">
              <a:avLst>
                <a:gd name="adj" fmla="val 1194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6667500" y="4914900"/>
              <a:ext cx="57150" cy="12763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943344" y="5180648"/>
              <a:ext cx="133235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三句话总结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944106" y="5577840"/>
              <a:ext cx="313204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DCE8F2"/>
                  </a:solidFill>
                  <a:latin typeface="+mn-lt"/>
                  <a:ea typeface="+mn-ea"/>
                  <a:cs typeface="+mn-cs"/>
                </a:rPr>
                <a:t>筛选从月到秒 · 准确率 &gt;90%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944106" y="5882640"/>
              <a:ext cx="365302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FB3A8"/>
                  </a:solidFill>
                  <a:latin typeface="+mn-lt"/>
                  <a:ea typeface="+mn-ea"/>
                  <a:cs typeface="+mn-cs"/>
                </a:rPr>
                <a:t>双轨范式已成，迈向「设计鲜味」</a:t>
              </a:r>
            </a:p>
          </p:txBody>
        </p:sp>
      </p:grpSp>
      <p:sp>
        <p:nvSpPr>
          <p:cNvPr id="60" name="TextBox 60"/>
          <p:cNvSpPr txBox="1"/>
          <p:nvPr/>
        </p:nvSpPr>
        <p:spPr>
          <a:xfrm>
            <a:off x="10761497" y="6473190"/>
            <a:ext cx="8300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800" dirty="0">
                <a:solidFill>
                  <a:srgbClr val="A3B2BF"/>
                </a:solidFill>
                <a:latin typeface="+mn-lt"/>
                <a:ea typeface="+mn-ea"/>
                <a:cs typeface="+mn-cs"/>
              </a:rPr>
              <a:t>15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umami_18pt">
  <a:themeElements>
    <a:clrScheme name="umami_18pt">
      <a:dk1>
        <a:srgbClr val="273742"/>
      </a:dk1>
      <a:lt1>
        <a:srgbClr val="F4F6F7"/>
      </a:lt1>
      <a:dk2>
        <a:srgbClr val="1F497D"/>
      </a:dk2>
      <a:lt2>
        <a:srgbClr val="F4F6F7"/>
      </a:lt2>
      <a:accent1>
        <a:srgbClr val="0B2C47"/>
      </a:accent1>
      <a:accent2>
        <a:srgbClr val="0E8F86"/>
      </a:accent2>
      <a:accent3>
        <a:srgbClr val="E8743B"/>
      </a:accent3>
      <a:accent4>
        <a:srgbClr val="0B2C47"/>
      </a:accent4>
      <a:accent5>
        <a:srgbClr val="6B7C8A"/>
      </a:accent5>
      <a:accent6>
        <a:srgbClr val="E8EFF5"/>
      </a:accent6>
      <a:hlink>
        <a:srgbClr val="0E8F86"/>
      </a:hlink>
      <a:folHlink>
        <a:srgbClr val="E8743B"/>
      </a:folHlink>
    </a:clrScheme>
    <a:fontScheme name="umami_18pt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ami_18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umami_18pt">
  <a:themeElements>
    <a:clrScheme name="umami_18pt">
      <a:dk1>
        <a:srgbClr val="273742"/>
      </a:dk1>
      <a:lt1>
        <a:srgbClr val="F4F6F7"/>
      </a:lt1>
      <a:dk2>
        <a:srgbClr val="1F497D"/>
      </a:dk2>
      <a:lt2>
        <a:srgbClr val="F4F6F7"/>
      </a:lt2>
      <a:accent1>
        <a:srgbClr val="0B2C47"/>
      </a:accent1>
      <a:accent2>
        <a:srgbClr val="0E8F86"/>
      </a:accent2>
      <a:accent3>
        <a:srgbClr val="E8743B"/>
      </a:accent3>
      <a:accent4>
        <a:srgbClr val="0B2C47"/>
      </a:accent4>
      <a:accent5>
        <a:srgbClr val="6B7C8A"/>
      </a:accent5>
      <a:accent6>
        <a:srgbClr val="E8EFF5"/>
      </a:accent6>
      <a:hlink>
        <a:srgbClr val="0E8F86"/>
      </a:hlink>
      <a:folHlink>
        <a:srgbClr val="E8743B"/>
      </a:folHlink>
    </a:clrScheme>
    <a:fontScheme name="umami_18pt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ami_18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2026-08-29T04:11:08Z</dcterms:created>
  <dcterms:modified xsi:type="dcterms:W3CDTF">2026-08-29T04:11:08Z</dcterms:modified>
  <cp:category/>
  <cp:contentStatus/>
</cp:coreProperties>
</file>