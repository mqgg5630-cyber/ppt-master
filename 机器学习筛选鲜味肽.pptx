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l_umami_peptide_screen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l_umami_peptide_screen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8096250" y="0"/>
            <a:ext cx="409575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8572500" y="762000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DBEAFE">
              <a:alpha val="6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8858250" y="3810000"/>
            <a:ext cx="2286000" cy="2286000"/>
          </a:xfrm>
          <a:prstGeom prst="ellipse">
            <a:avLst/>
          </a:prstGeom>
          <a:solidFill>
            <a:srgbClr val="FFEDD5">
              <a:alpha val="70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742950" y="1372552"/>
            <a:ext cx="4944999" cy="1331977"/>
            <a:chOff x="742950" y="1372552"/>
            <a:chExt cx="4944999" cy="1331977"/>
          </a:xfrm>
        </p:grpSpPr>
        <p:sp>
          <p:nvSpPr>
            <p:cNvPr id="6" name="TextBox 6"/>
            <p:cNvSpPr txBox="1"/>
            <p:nvPr/>
          </p:nvSpPr>
          <p:spPr>
            <a:xfrm>
              <a:off x="742950" y="1372552"/>
              <a:ext cx="494499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机器学习筛选鲜味肽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094" y="1980248"/>
              <a:ext cx="3239262" cy="724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9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从传统肽组学到智能虚拟筛选</a:t>
              </a:r>
              <a:br/>
              <a:r>
                <a:rPr lang="zh-CN" sz="19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的技术范式升级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5142" y="3619500"/>
            <a:ext cx="2945511" cy="1425511"/>
            <a:chOff x="755142" y="3619500"/>
            <a:chExt cx="2945511" cy="1425511"/>
          </a:xfrm>
        </p:grpSpPr>
        <p:sp>
          <p:nvSpPr>
            <p:cNvPr id="9" name="Rectangle 9"/>
            <p:cNvSpPr/>
            <p:nvPr/>
          </p:nvSpPr>
          <p:spPr>
            <a:xfrm>
              <a:off x="762000" y="3619500"/>
              <a:ext cx="571500" cy="3810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5142" y="3854768"/>
              <a:ext cx="2945511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食品科学 × 生物信息学 × 人工智能</a:t>
              </a:r>
              <a:br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高效·精准·低成本的鲜味肽发现新路径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666" y="4839652"/>
              <a:ext cx="22422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2026 学术报告 | PPT-Master 生成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572500" y="3810000"/>
            <a:ext cx="2857500" cy="1047750"/>
            <a:chOff x="8572500" y="3810000"/>
            <a:chExt cx="2857500" cy="1047750"/>
          </a:xfrm>
        </p:grpSpPr>
        <p:sp>
          <p:nvSpPr>
            <p:cNvPr id="13" name="Rectangle 13"/>
            <p:cNvSpPr/>
            <p:nvPr/>
          </p:nvSpPr>
          <p:spPr>
            <a:xfrm>
              <a:off x="8572500" y="3810000"/>
              <a:ext cx="2857500" cy="1047750"/>
            </a:xfrm>
            <a:prstGeom prst="roundRect">
              <a:avLst>
                <a:gd name="adj" fmla="val 1454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852916" y="40300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核心模型准确率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44534" y="4232910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96.5%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09404" y="4394835"/>
              <a:ext cx="10270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Transformer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53488" y="4617720"/>
              <a:ext cx="18222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637种鲜味肽 | 阈值低至0.22 mM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5715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48284" y="756285"/>
            <a:ext cx="1156716" cy="669226"/>
            <a:chOff x="748284" y="756285"/>
            <a:chExt cx="1156716" cy="669226"/>
          </a:xfrm>
        </p:grpSpPr>
        <p:sp>
          <p:nvSpPr>
            <p:cNvPr id="3" name="TextBox 3"/>
            <p:cNvSpPr txBox="1"/>
            <p:nvPr/>
          </p:nvSpPr>
          <p:spPr>
            <a:xfrm>
              <a:off x="748284" y="756285"/>
              <a:ext cx="7543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56666" y="1220152"/>
              <a:ext cx="732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CONTENTS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524000" y="1238250"/>
              <a:ext cx="381000" cy="28575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762000" y="1619250"/>
            <a:ext cx="4953000" cy="4648200"/>
            <a:chOff x="762000" y="1619250"/>
            <a:chExt cx="4953000" cy="4648200"/>
          </a:xfrm>
        </p:grpSpPr>
        <p:sp>
          <p:nvSpPr>
            <p:cNvPr id="7" name="Rectangle 7"/>
            <p:cNvSpPr/>
            <p:nvPr/>
          </p:nvSpPr>
          <p:spPr>
            <a:xfrm>
              <a:off x="762000" y="1619250"/>
              <a:ext cx="4953000" cy="514350"/>
            </a:xfrm>
            <a:prstGeom prst="roundRect">
              <a:avLst>
                <a:gd name="adj" fmla="val 22222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6404" y="1727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7404" y="17278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鲜味肽基础与呈味机制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8738" y="1950720"/>
              <a:ext cx="213459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定义、受体T1R1/T1R3、D/E关键残基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209800"/>
              <a:ext cx="4953000" cy="514350"/>
            </a:xfrm>
            <a:prstGeom prst="roundRect">
              <a:avLst>
                <a:gd name="adj" fmla="val 22222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6404" y="23183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7404" y="23183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传统方法的瓶颈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8738" y="2541270"/>
              <a:ext cx="20513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酶解发酵、LC-MS、耗时费力的局限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800350"/>
              <a:ext cx="4953000" cy="514350"/>
            </a:xfrm>
            <a:prstGeom prst="roundRect">
              <a:avLst>
                <a:gd name="adj" fmla="val 22222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6404" y="29089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7404" y="29089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机器学习介入优势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8738" y="3131820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高通量、低成本、可解释性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3390900"/>
              <a:ext cx="4953000" cy="514350"/>
            </a:xfrm>
            <a:prstGeom prst="roundRect">
              <a:avLst>
                <a:gd name="adj" fmla="val 22222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6404" y="34994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7404" y="34994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主流预测模型全景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8738" y="3722370"/>
              <a:ext cx="25588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SCM、FRL、MRNN、BERT、Transformer对比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981450"/>
              <a:ext cx="4953000" cy="514350"/>
            </a:xfrm>
            <a:prstGeom prst="roundRect">
              <a:avLst>
                <a:gd name="adj" fmla="val 22222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6404" y="40900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7404" y="40900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特征工程与数据处理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8738" y="4312920"/>
              <a:ext cx="18145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AAC、DPC、CTD、SMOTE、嵌入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4572000"/>
              <a:ext cx="4953000" cy="514350"/>
            </a:xfrm>
            <a:prstGeom prst="roundRect">
              <a:avLst>
                <a:gd name="adj" fmla="val 22222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6404" y="46805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27404" y="46805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虚拟筛选完整流程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28738" y="4903470"/>
              <a:ext cx="20257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肽组学 → ML → 分子对接 → 感官验证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" y="5162550"/>
              <a:ext cx="4953000" cy="514350"/>
            </a:xfrm>
            <a:prstGeom prst="roundRect">
              <a:avLst>
                <a:gd name="adj" fmla="val 22222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6404" y="52711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7404" y="52711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分子对接与机制解析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8738" y="5494020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关键结合位点与盐桥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5753100"/>
              <a:ext cx="4953000" cy="514350"/>
            </a:xfrm>
            <a:prstGeom prst="roundRect">
              <a:avLst>
                <a:gd name="adj" fmla="val 22222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6404" y="58616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27404" y="58616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典型案例与产业化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28738" y="608457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腐乳、金华火腿、牡蛎、酱油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191250" y="1714500"/>
            <a:ext cx="5238750" cy="4762500"/>
            <a:chOff x="6191250" y="1714500"/>
            <a:chExt cx="5238750" cy="4762500"/>
          </a:xfrm>
        </p:grpSpPr>
        <p:sp>
          <p:nvSpPr>
            <p:cNvPr id="40" name="Rectangle 40"/>
            <p:cNvSpPr/>
            <p:nvPr/>
          </p:nvSpPr>
          <p:spPr>
            <a:xfrm>
              <a:off x="6191250" y="1714500"/>
              <a:ext cx="5238750" cy="4762500"/>
            </a:xfrm>
            <a:prstGeom prst="roundRect">
              <a:avLst>
                <a:gd name="adj" fmla="val 4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381750" y="1905000"/>
              <a:ext cx="4857750" cy="4381500"/>
            </a:xfrm>
            <a:prstGeom prst="roundRect">
              <a:avLst>
                <a:gd name="adj" fmla="val 3478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5392" y="194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研究亮点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6916" y="2267902"/>
              <a:ext cx="18555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E0E7FF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E0E7FF"/>
                  </a:solidFill>
                  <a:latin typeface="Arial"/>
                  <a:ea typeface="Microsoft YaHei"/>
                  <a:cs typeface="Arial"/>
                </a:rPr>
                <a:t>96.5% 准确率超越传统方法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6916" y="2534602"/>
              <a:ext cx="1488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E0E7FF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E0E7FF"/>
                  </a:solidFill>
                  <a:latin typeface="Arial"/>
                  <a:ea typeface="Microsoft YaHei"/>
                  <a:cs typeface="Arial"/>
                </a:rPr>
                <a:t>637种鲜味肽系统鉴定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6916" y="2801302"/>
              <a:ext cx="15463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E0E7FF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E0E7FF"/>
                  </a:solidFill>
                  <a:latin typeface="Arial"/>
                  <a:ea typeface="Microsoft YaHei"/>
                  <a:cs typeface="Arial"/>
                </a:rPr>
                <a:t>阈值低至0.22 mmol/L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66916" y="3068002"/>
              <a:ext cx="15304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E0E7FF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E0E7FF"/>
                  </a:solidFill>
                  <a:latin typeface="Arial"/>
                  <a:ea typeface="Microsoft YaHei"/>
                  <a:cs typeface="Arial"/>
                </a:rPr>
                <a:t>30%源自11种大豆蛋白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66916" y="3334702"/>
              <a:ext cx="175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E0E7FF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E0E7FF"/>
                  </a:solidFill>
                  <a:latin typeface="Arial"/>
                  <a:ea typeface="Microsoft YaHei"/>
                  <a:cs typeface="Arial"/>
                </a:rPr>
                <a:t>T1R1/T1R3关键残基揭示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66916" y="3601402"/>
              <a:ext cx="1396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buClr>
                  <a:srgbClr val="E0E7FF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E0E7FF"/>
                  </a:solidFill>
                  <a:latin typeface="Arial"/>
                  <a:ea typeface="Microsoft YaHei"/>
                  <a:cs typeface="Arial"/>
                </a:rPr>
                <a:t>低钠健康调味品应用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572250" y="4191000"/>
              <a:ext cx="4476750" cy="762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57988" y="433197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从实验室到餐桌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55130" y="4457700"/>
              <a:ext cx="21259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AI驱动的风味科学革命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32639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01 鲜味肽基础与呈味机制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62000" y="1143000"/>
            <a:ext cx="4762500" cy="1905000"/>
            <a:chOff x="762000" y="1143000"/>
            <a:chExt cx="4762500" cy="19050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4762500" cy="190500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143000"/>
              <a:ext cx="38100" cy="1905000"/>
            </a:xfrm>
            <a:prstGeom prst="roundRect">
              <a:avLst>
                <a:gd name="adj" fmla="val 5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5642" y="1283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什么是鲜味肽？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166" y="1553528"/>
              <a:ext cx="2764345" cy="834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lnSpc>
                  <a:spcPts val="1650"/>
                </a:lnSpc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第五种基本味觉，分子量 &lt; 3000 Da</a:t>
              </a:r>
            </a:p>
            <a:p>
              <a:pPr algn="l" marL="113348" indent="-113348">
                <a:lnSpc>
                  <a:spcPts val="1650"/>
                </a:lnSpc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短肽为主，游离氨基酸协同</a:t>
              </a:r>
            </a:p>
            <a:p>
              <a:pPr algn="l" marL="113348" indent="-113348">
                <a:lnSpc>
                  <a:spcPts val="1650"/>
                </a:lnSpc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主要贡献：谷氨酸(E)、天冬氨酸(D)</a:t>
              </a:r>
            </a:p>
            <a:p>
              <a:pPr algn="l" marL="113348" indent="-113348">
                <a:lnSpc>
                  <a:spcPts val="1650"/>
                </a:lnSpc>
                <a:buClr>
                  <a:srgbClr val="475569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阈值 0.22-0.38 mmol/L，强度为MSG 3-5倍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3238500"/>
            <a:ext cx="4762500" cy="1905000"/>
            <a:chOff x="762000" y="3238500"/>
            <a:chExt cx="47625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762000" y="3238500"/>
              <a:ext cx="4762500" cy="1905000"/>
            </a:xfrm>
            <a:prstGeom prst="roundRect">
              <a:avLst>
                <a:gd name="adj" fmla="val 8000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6404" y="33947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氨基酸分布规律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547" y="3657124"/>
              <a:ext cx="1540764" cy="762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N端/C端1/2位规律性强</a:t>
              </a:r>
              <a:br/>
              <a:r>
                <a:rPr lang="zh-CN" sz="98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D/E频率最高，其次G、A、V</a:t>
              </a:r>
              <a:br/>
              <a:r>
                <a:rPr lang="zh-CN" sz="98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酸性+碱性+甜味氨基酸聚类</a:t>
              </a:r>
              <a:br/>
              <a:r>
                <a:rPr lang="zh-CN" sz="98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2层决策系统准确率达95%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05500" y="1143000"/>
            <a:ext cx="5524500" cy="4000500"/>
            <a:chOff x="5905500" y="1143000"/>
            <a:chExt cx="5524500" cy="4000500"/>
          </a:xfrm>
        </p:grpSpPr>
        <p:sp>
          <p:nvSpPr>
            <p:cNvPr id="14" name="Rectangle 14"/>
            <p:cNvSpPr/>
            <p:nvPr/>
          </p:nvSpPr>
          <p:spPr>
            <a:xfrm>
              <a:off x="5905500" y="1143000"/>
              <a:ext cx="5524500" cy="40005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905500" y="1143000"/>
              <a:ext cx="5524500" cy="476250"/>
            </a:xfrm>
            <a:prstGeom prst="roundRect">
              <a:avLst>
                <a:gd name="adj" fmla="val 4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905500" y="1428750"/>
              <a:ext cx="5524500" cy="190500"/>
            </a:xfrm>
            <a:prstGeom prst="rect">
              <a:avLst/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85154" y="1299210"/>
              <a:ext cx="2372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鲜味受体 T1R1/T1R3 作用模式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762750" y="2000250"/>
              <a:ext cx="1714500" cy="1714500"/>
            </a:xfrm>
            <a:prstGeom prst="ellipse">
              <a:avLst/>
            </a:prstGeom>
            <a:solidFill>
              <a:srgbClr val="DBEAFE"/>
            </a:solidFill>
            <a:ln w="19050">
              <a:solidFill>
                <a:srgbClr val="1E40A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70329" y="2775585"/>
              <a:ext cx="899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T1R1/T1R3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25783" y="3014662"/>
              <a:ext cx="98843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Venus flytrap结构域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91250" y="2190750"/>
              <a:ext cx="952500" cy="381000"/>
            </a:xfrm>
            <a:prstGeom prst="roundRect">
              <a:avLst>
                <a:gd name="adj" fmla="val 2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81000" y="232219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鲜味肽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953250" y="2381250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19050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475569"/>
              </a:solidFill>
              <a:prstDash val="dash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001250" y="2190750"/>
              <a:ext cx="952500" cy="381000"/>
            </a:xfrm>
            <a:prstGeom prst="roundRect">
              <a:avLst>
                <a:gd name="adj" fmla="val 20000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239108" y="2322195"/>
              <a:ext cx="4767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D/E残基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8382000" y="2381250"/>
              <a:ext cx="1619250" cy="285750"/>
            </a:xfrm>
            <a:custGeom>
              <a:avLst/>
              <a:gdLst/>
              <a:ahLst/>
              <a:cxnLst/>
              <a:rect l="l" t="t" r="r" b="b"/>
              <a:pathLst>
                <a:path w="1619250" h="285750">
                  <a:moveTo>
                    <a:pt x="161925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475569"/>
              </a:solidFill>
              <a:prstDash val="dash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0" y="400050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07564" y="4101941"/>
              <a:ext cx="6056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Arg277盐桥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03682" y="42529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关键结合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905750" y="400050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23770" y="4101941"/>
              <a:ext cx="5927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D147 / N69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2468" y="4252912"/>
              <a:ext cx="6153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小分子肽热点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715500" y="4000500"/>
              <a:ext cx="1428750" cy="47625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296812" y="4101941"/>
              <a:ext cx="2661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R151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22218" y="4252912"/>
              <a:ext cx="61531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大分子肽热点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32639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02 为什么要筛选鲜味肽？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62000" y="1143000"/>
            <a:ext cx="10668000" cy="4000500"/>
            <a:chOff x="762000" y="1143000"/>
            <a:chExt cx="10668000" cy="40005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5143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1430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28700" y="1362075"/>
              <a:ext cx="419100" cy="419100"/>
            </a:xfrm>
            <a:prstGeom prst="ellipse">
              <a:avLst/>
            </a:prstGeom>
            <a:solidFill>
              <a:srgbClr val="1E40AF">
                <a:alpha val="15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5508" y="14897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64767" y="14258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风味增强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66672" y="1704499"/>
              <a:ext cx="1382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天然鲜味剂，替代MSG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0422" y="203787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阈值低、强度高、协同咸味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95375" y="238125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85862" y="2435066"/>
              <a:ext cx="5200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强度 3-5×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00250" y="2381250"/>
              <a:ext cx="762000" cy="228600"/>
            </a:xfrm>
            <a:prstGeom prst="roundRect">
              <a:avLst>
                <a:gd name="adj" fmla="val 50000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90738" y="2435066"/>
              <a:ext cx="7133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阈值 0.22mM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286500" y="1143000"/>
              <a:ext cx="5143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86500" y="11430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553200" y="1362075"/>
              <a:ext cx="419100" cy="419100"/>
            </a:xfrm>
            <a:prstGeom prst="ellipse">
              <a:avLst/>
            </a:prstGeom>
            <a:solidFill>
              <a:srgbClr val="0E7490">
                <a:alpha val="1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10008" y="14897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E7490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89267" y="14258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健康减盐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91172" y="170449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低钠调味品开发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14922" y="2037874"/>
              <a:ext cx="17051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满足健康饮食趋势，减盐30%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238500"/>
              <a:ext cx="5143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2000" y="32385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28700" y="3457575"/>
              <a:ext cx="419100" cy="419100"/>
            </a:xfrm>
            <a:prstGeom prst="ellipse">
              <a:avLst/>
            </a:prstGeom>
            <a:solidFill>
              <a:srgbClr val="EA580C">
                <a:alpha val="15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85508" y="35852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A580C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64767" y="3521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营养功能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66672" y="37999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降血压、降血脂潜力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0422" y="41333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生物活性肽多功能应用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86500" y="3238500"/>
              <a:ext cx="5143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86500" y="3238500"/>
              <a:ext cx="57150" cy="190500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553200" y="3457575"/>
              <a:ext cx="419100" cy="419100"/>
            </a:xfrm>
            <a:prstGeom prst="ellipse">
              <a:avLst/>
            </a:prstGeom>
            <a:solidFill>
              <a:srgbClr val="0F172A">
                <a:alpha val="1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10008" y="35852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89267" y="3521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产业价值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1172" y="37999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发酵食品风味调控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14922" y="413337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腐乳、火腿、酱油、牡蛎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29812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03 传统鉴定方法的局限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62000" y="1143000"/>
            <a:ext cx="4953000" cy="4762500"/>
            <a:chOff x="762000" y="1143000"/>
            <a:chExt cx="4953000" cy="47625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4953000" cy="47625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1654" y="1346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传统流程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1104900" y="1581150"/>
              <a:ext cx="266700" cy="2667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503" y="16554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8666" y="1648778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酶水解 / 发酵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238250" y="18478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E2E8F0"/>
              </a:solidFill>
              <a:custDash>
                <a:ds d="150000" sp="150000"/>
              </a:custDash>
            </a:ln>
          </p:spPr>
        </p:sp>
        <p:sp>
          <p:nvSpPr>
            <p:cNvPr id="11" name="Ellipse 11"/>
            <p:cNvSpPr/>
            <p:nvPr/>
          </p:nvSpPr>
          <p:spPr>
            <a:xfrm>
              <a:off x="1104900" y="2247900"/>
              <a:ext cx="266700" cy="2667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8503" y="23221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8666" y="23155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超滤分离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238250" y="25146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E2E8F0"/>
              </a:solidFill>
              <a:custDash>
                <a:ds d="150000" sp="150000"/>
              </a:custDash>
            </a:ln>
          </p:spPr>
        </p:sp>
        <p:sp>
          <p:nvSpPr>
            <p:cNvPr id="15" name="Ellipse 15"/>
            <p:cNvSpPr/>
            <p:nvPr/>
          </p:nvSpPr>
          <p:spPr>
            <a:xfrm>
              <a:off x="1104900" y="2914650"/>
              <a:ext cx="266700" cy="2667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98503" y="29889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8666" y="2982278"/>
              <a:ext cx="1145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色谱纯化 (HPLC)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238250" y="31813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E2E8F0"/>
              </a:solidFill>
              <a:custDash>
                <a:ds d="150000" sp="150000"/>
              </a:custDash>
            </a:ln>
          </p:spPr>
        </p:sp>
        <p:sp>
          <p:nvSpPr>
            <p:cNvPr id="19" name="Ellipse 19"/>
            <p:cNvSpPr/>
            <p:nvPr/>
          </p:nvSpPr>
          <p:spPr>
            <a:xfrm>
              <a:off x="1104900" y="3581400"/>
              <a:ext cx="266700" cy="2667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8503" y="36556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8666" y="3649028"/>
              <a:ext cx="1026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LC-MS/MS鉴定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1238250" y="38481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E2E8F0"/>
              </a:solidFill>
              <a:custDash>
                <a:ds d="150000" sp="150000"/>
              </a:custDash>
            </a:ln>
          </p:spPr>
        </p:sp>
        <p:sp>
          <p:nvSpPr>
            <p:cNvPr id="23" name="Ellipse 23"/>
            <p:cNvSpPr/>
            <p:nvPr/>
          </p:nvSpPr>
          <p:spPr>
            <a:xfrm>
              <a:off x="1104900" y="4248150"/>
              <a:ext cx="266700" cy="266700"/>
            </a:xfrm>
            <a:prstGeom prst="ellipse">
              <a:avLst/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98503" y="43224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8666" y="43157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感官评价验证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7750" y="4953000"/>
              <a:ext cx="4381500" cy="666750"/>
            </a:xfrm>
            <a:prstGeom prst="roundRect">
              <a:avLst>
                <a:gd name="adj" fmla="val 17143"/>
              </a:avLst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33488" y="5093970"/>
              <a:ext cx="29173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痛点：耗时数周、成本高、通量低、难以揭示水解规律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33488" y="5284470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结果不确定，依赖人工经验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191250" y="1143000"/>
            <a:ext cx="5238750" cy="4762500"/>
            <a:chOff x="6191250" y="1143000"/>
            <a:chExt cx="5238750" cy="4762500"/>
          </a:xfrm>
        </p:grpSpPr>
        <p:sp>
          <p:nvSpPr>
            <p:cNvPr id="30" name="Rectangle 30"/>
            <p:cNvSpPr/>
            <p:nvPr/>
          </p:nvSpPr>
          <p:spPr>
            <a:xfrm>
              <a:off x="6191250" y="1143000"/>
              <a:ext cx="5238750" cy="4762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4288">
              <a:solidFill>
                <a:srgbClr val="EA580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191250" y="1143000"/>
              <a:ext cx="5238750" cy="476250"/>
            </a:xfrm>
            <a:prstGeom prst="roundRect">
              <a:avLst>
                <a:gd name="adj" fmla="val 4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191250" y="1428750"/>
              <a:ext cx="5238750" cy="190500"/>
            </a:xfrm>
            <a:prstGeom prst="rect">
              <a:avLst/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70904" y="12992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机器学习带来的变革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77000" y="1809750"/>
              <a:ext cx="466725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572250" y="1905000"/>
              <a:ext cx="381000" cy="381000"/>
            </a:xfrm>
            <a:prstGeom prst="ellipse">
              <a:avLst/>
            </a:prstGeom>
            <a:solidFill>
              <a:srgbClr val="1E40AF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21351" y="2029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43166" y="19345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高通量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43738" y="2141220"/>
              <a:ext cx="1311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从2000+肽段中快速筛选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001250" y="1952625"/>
              <a:ext cx="571500" cy="285750"/>
            </a:xfrm>
            <a:prstGeom prst="roundRect">
              <a:avLst>
                <a:gd name="adj" fmla="val 2666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64563" y="2026920"/>
              <a:ext cx="2448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99%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77000" y="2524125"/>
              <a:ext cx="466725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572250" y="2619375"/>
              <a:ext cx="381000" cy="381000"/>
            </a:xfrm>
            <a:prstGeom prst="ellipse">
              <a:avLst/>
            </a:prstGeom>
            <a:solidFill>
              <a:srgbClr val="1E40AF">
                <a:alpha val="10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21351" y="27441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43166" y="26489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低成本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43738" y="2855595"/>
              <a:ext cx="8394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减少90%湿实验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001250" y="2667000"/>
              <a:ext cx="571500" cy="285750"/>
            </a:xfrm>
            <a:prstGeom prst="roundRect">
              <a:avLst>
                <a:gd name="adj" fmla="val 2666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129578" y="2741295"/>
              <a:ext cx="3148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↓90%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77000" y="3238500"/>
              <a:ext cx="466725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572250" y="3333750"/>
              <a:ext cx="381000" cy="381000"/>
            </a:xfrm>
            <a:prstGeom prst="ellipse">
              <a:avLst/>
            </a:prstGeom>
            <a:solidFill>
              <a:srgbClr val="1E40AF">
                <a:alpha val="1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21351" y="3458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43166" y="33632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高精度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43738" y="3569970"/>
              <a:ext cx="7304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96.5%准确率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01250" y="3381375"/>
              <a:ext cx="571500" cy="285750"/>
            </a:xfrm>
            <a:prstGeom prst="roundRect">
              <a:avLst>
                <a:gd name="adj" fmla="val 2666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094594" y="3455670"/>
              <a:ext cx="3848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96.5%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77000" y="3952875"/>
              <a:ext cx="466725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6572250" y="4048125"/>
              <a:ext cx="381000" cy="381000"/>
            </a:xfrm>
            <a:prstGeom prst="ellipse">
              <a:avLst/>
            </a:prstGeom>
            <a:solidFill>
              <a:srgbClr val="1E40AF">
                <a:alpha val="1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21351" y="41729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43166" y="4077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可解释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43738" y="4284345"/>
              <a:ext cx="12704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SHAP揭示D/E关键作用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001250" y="4095750"/>
              <a:ext cx="571500" cy="285750"/>
            </a:xfrm>
            <a:prstGeom prst="roundRect">
              <a:avLst>
                <a:gd name="adj" fmla="val 2666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225110" y="4170045"/>
              <a:ext cx="123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AI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77000" y="4667250"/>
              <a:ext cx="4667250" cy="5715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6572250" y="4762500"/>
              <a:ext cx="381000" cy="381000"/>
            </a:xfrm>
            <a:prstGeom prst="ellipse">
              <a:avLst/>
            </a:prstGeom>
            <a:solidFill>
              <a:srgbClr val="1E40AF">
                <a:alpha val="10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21351" y="4887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43166" y="47920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系统性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43738" y="4998720"/>
              <a:ext cx="14089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前体蛋白-水解位点可视化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0001250" y="4810125"/>
              <a:ext cx="571500" cy="285750"/>
            </a:xfrm>
            <a:prstGeom prst="roundRect">
              <a:avLst>
                <a:gd name="adj" fmla="val 2666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161080" y="48844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全景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35466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04 机器学习介入的整体优势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62000" y="1143000"/>
            <a:ext cx="10572750" cy="4476750"/>
            <a:chOff x="762000" y="1143000"/>
            <a:chExt cx="10572750" cy="447675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514350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14300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009650" y="1390650"/>
              <a:ext cx="457200" cy="457200"/>
            </a:xfrm>
            <a:prstGeom prst="ellipse">
              <a:avLst/>
            </a:prstGeom>
            <a:solidFill>
              <a:srgbClr val="1E40AF">
                <a:alpha val="12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11630" y="140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效率革命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666" y="1886902"/>
              <a:ext cx="1369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传统数周 → AI数小时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8047" y="2133124"/>
              <a:ext cx="1632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从2000肽段中锁定10个候选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43000" y="2428875"/>
              <a:ext cx="4381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8238" y="25779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关键指标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8238" y="2768441"/>
              <a:ext cx="13454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 • 可重复 • 可扩展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91250" y="1143000"/>
              <a:ext cx="514350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91250" y="114300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438900" y="1390650"/>
              <a:ext cx="457200" cy="457200"/>
            </a:xfrm>
            <a:prstGeom prst="ellipse">
              <a:avLst/>
            </a:prstGeom>
            <a:solidFill>
              <a:srgbClr val="0E7490">
                <a:alpha val="12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40880" y="140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成本优化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6916" y="1886902"/>
              <a:ext cx="991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减少90%湿实验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7297" y="21331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虚拟筛选先行，实验验证后置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72250" y="2428875"/>
              <a:ext cx="4381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67488" y="257794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关键指标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67488" y="2768441"/>
              <a:ext cx="13454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 • 可重复 • 可扩展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3524250"/>
              <a:ext cx="514350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2000" y="35242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09650" y="3771900"/>
              <a:ext cx="457200" cy="457200"/>
            </a:xfrm>
            <a:prstGeom prst="ellipse">
              <a:avLst/>
            </a:prstGeom>
            <a:solidFill>
              <a:srgbClr val="EA580C">
                <a:alpha val="12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611630" y="3790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精度突破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7666" y="42681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多模型交叉验证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8047" y="4514374"/>
              <a:ext cx="2129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Umami-Transformer 96.5%准确率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143000" y="4810125"/>
              <a:ext cx="4381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38238" y="49591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关键指标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8238" y="5149691"/>
              <a:ext cx="13454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 • 可重复 • 可扩展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91250" y="3524250"/>
              <a:ext cx="5143500" cy="20955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191250" y="3524250"/>
              <a:ext cx="5143500" cy="5715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438900" y="3771900"/>
              <a:ext cx="457200" cy="457200"/>
            </a:xfrm>
            <a:prstGeom prst="ellipse">
              <a:avLst/>
            </a:prstGeom>
            <a:solidFill>
              <a:srgbClr val="0F172A">
                <a:alpha val="12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40880" y="3790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机制洞察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66916" y="4268152"/>
              <a:ext cx="1369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可解释AI + 分子对接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67297" y="4514374"/>
              <a:ext cx="18102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D/E、Arg277盐桥、D147热点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572250" y="4810125"/>
              <a:ext cx="4381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7488" y="49591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关键指标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67488" y="5149691"/>
              <a:ext cx="13454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 • 可重复 • 可扩展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32639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05 主流预测模型全景对比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762000" y="1047750"/>
            <a:ext cx="10668000" cy="5238750"/>
            <a:chOff x="762000" y="1047750"/>
            <a:chExt cx="10668000" cy="5238750"/>
          </a:xfrm>
        </p:grpSpPr>
        <p:sp>
          <p:nvSpPr>
            <p:cNvPr id="5" name="Rectangle 5"/>
            <p:cNvSpPr/>
            <p:nvPr/>
          </p:nvSpPr>
          <p:spPr>
            <a:xfrm>
              <a:off x="762000" y="1047750"/>
              <a:ext cx="10668000" cy="381000"/>
            </a:xfrm>
            <a:prstGeom prst="roundRect">
              <a:avLst>
                <a:gd name="adj" fmla="val 2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47547" y="1180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471547" y="1180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算法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67047" y="1180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特征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62547" y="11806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准确率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91297" y="1180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特点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10668000" cy="533400"/>
            </a:xfrm>
            <a:prstGeom prst="roundRect">
              <a:avLst>
                <a:gd name="adj" fmla="val 14286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7738" y="1636395"/>
              <a:ext cx="7398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iUmami-SCM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71738" y="164449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评分卡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67238" y="1644491"/>
              <a:ext cx="10295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AA/Dipeptide倾向性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2738" y="1636395"/>
              <a:ext cx="3848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88.9%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91488" y="1644491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可解释性强，首个序列预测器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114550"/>
              <a:ext cx="106680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7738" y="2226945"/>
              <a:ext cx="7620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UMPred-FRL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71738" y="2235041"/>
              <a:ext cx="5117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集成6算法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7238" y="2235041"/>
              <a:ext cx="4014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7种编码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2738" y="2226945"/>
              <a:ext cx="3848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86.7%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91488" y="2235041"/>
              <a:ext cx="12857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特征表示学习，Meta预测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" y="2705100"/>
              <a:ext cx="10668000" cy="533400"/>
            </a:xfrm>
            <a:prstGeom prst="roundRect">
              <a:avLst>
                <a:gd name="adj" fmla="val 14286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7738" y="2817495"/>
              <a:ext cx="7508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Umami-YYDS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71738" y="2825591"/>
              <a:ext cx="2661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GBDT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7238" y="2825591"/>
              <a:ext cx="622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8化学描述符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2738" y="2817495"/>
              <a:ext cx="3148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89%+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91488" y="2825591"/>
              <a:ext cx="9533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二肽/三肽化学矩阵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295650"/>
              <a:ext cx="106680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7738" y="3408045"/>
              <a:ext cx="7771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Umami-MRNN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71738" y="3416141"/>
              <a:ext cx="4819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RNN+MLP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67238" y="3416141"/>
              <a:ext cx="1251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AAC/DPC/DDE/CTD/OPF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2738" y="3408045"/>
              <a:ext cx="8300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90.5%/93.2%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91488" y="3416141"/>
              <a:ext cx="11741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首个神经网络，6类特征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886200"/>
              <a:ext cx="10668000" cy="533400"/>
            </a:xfrm>
            <a:prstGeom prst="roundRect">
              <a:avLst>
                <a:gd name="adj" fmla="val 14286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7738" y="3998595"/>
              <a:ext cx="7508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Umami-BERT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71738" y="4006691"/>
              <a:ext cx="8216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BERT+Inception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67238" y="400669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预训练嵌入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2738" y="3998595"/>
              <a:ext cx="7600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93.23%/95%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91488" y="4006691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注意力机制可解释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62000" y="4476750"/>
              <a:ext cx="10668000" cy="5334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4762">
              <a:solidFill>
                <a:srgbClr val="E2E8F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2000" y="4476750"/>
              <a:ext cx="38100" cy="53340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7738" y="4589145"/>
              <a:ext cx="12522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Umami-Transformer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471738" y="4597241"/>
              <a:ext cx="703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Transformer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67238" y="4597241"/>
              <a:ext cx="622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8理化描述符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2738" y="4589145"/>
              <a:ext cx="3848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EA580C"/>
                  </a:solidFill>
                  <a:latin typeface="Arial"/>
                  <a:ea typeface="Arial"/>
                  <a:cs typeface="Arial"/>
                </a:rPr>
                <a:t>96.5%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91488" y="4597241"/>
              <a:ext cx="154329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SOTA, F1 0.903, MCC 0.889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5067300"/>
              <a:ext cx="10668000" cy="533400"/>
            </a:xfrm>
            <a:prstGeom prst="roundRect">
              <a:avLst>
                <a:gd name="adj" fmla="val 14286"/>
              </a:avLst>
            </a:prstGeom>
            <a:solidFill>
              <a:srgbClr val="F8FAFC"/>
            </a:solidFill>
            <a:ln w="4762">
              <a:solidFill>
                <a:srgbClr val="E2E8F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7738" y="5179695"/>
              <a:ext cx="10168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Umami-gcForest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471738" y="51877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深度森林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67238" y="5187791"/>
              <a:ext cx="10241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ProtBERT+AAC+CTD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2738" y="5179695"/>
              <a:ext cx="2448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93%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091488" y="5187791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级联森林，互信息筛选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62000" y="5810250"/>
              <a:ext cx="10668000" cy="476250"/>
            </a:xfrm>
            <a:prstGeom prst="roundRect">
              <a:avLst>
                <a:gd name="adj" fmla="val 24000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47738" y="5951220"/>
              <a:ext cx="56234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趋势：从统计特征 → 深度表示 → Transformer注意力，准确率从88.9% → 96.5%，F1和MCC同步提升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29812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06 特征工程与数据处理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762000" y="1143000"/>
            <a:ext cx="5143500" cy="4762500"/>
            <a:chOff x="762000" y="1143000"/>
            <a:chExt cx="5143500" cy="47625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5143500" cy="4762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1654" y="1299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核心特征类型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1619250"/>
              <a:ext cx="4572000" cy="323850"/>
            </a:xfrm>
            <a:prstGeom prst="roundRect">
              <a:avLst>
                <a:gd name="adj" fmla="val 235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47750" y="1619250"/>
              <a:ext cx="571500" cy="323850"/>
            </a:xfrm>
            <a:prstGeom prst="roundRect">
              <a:avLst>
                <a:gd name="adj" fmla="val 2352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8238" y="1730216"/>
              <a:ext cx="2115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AAC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9738" y="173021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氨基酸组成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57738" y="1738312"/>
              <a:ext cx="22155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20维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2000250"/>
              <a:ext cx="4572000" cy="323850"/>
            </a:xfrm>
            <a:prstGeom prst="roundRect">
              <a:avLst>
                <a:gd name="adj" fmla="val 235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47750" y="2000250"/>
              <a:ext cx="571500" cy="323850"/>
            </a:xfrm>
            <a:prstGeom prst="roundRect">
              <a:avLst>
                <a:gd name="adj" fmla="val 2352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8238" y="2111216"/>
              <a:ext cx="2115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DPC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9738" y="211121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二肽组成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7738" y="2119312"/>
              <a:ext cx="2770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400维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7750" y="2381250"/>
              <a:ext cx="4572000" cy="323850"/>
            </a:xfrm>
            <a:prstGeom prst="roundRect">
              <a:avLst>
                <a:gd name="adj" fmla="val 235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47750" y="2381250"/>
              <a:ext cx="571500" cy="323850"/>
            </a:xfrm>
            <a:prstGeom prst="roundRect">
              <a:avLst>
                <a:gd name="adj" fmla="val 2352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8238" y="2492216"/>
              <a:ext cx="2115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DDE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9738" y="249221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二肽偏差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7738" y="2500312"/>
              <a:ext cx="2770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400维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47750" y="2762250"/>
              <a:ext cx="4572000" cy="323850"/>
            </a:xfrm>
            <a:prstGeom prst="roundRect">
              <a:avLst>
                <a:gd name="adj" fmla="val 235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47750" y="2762250"/>
              <a:ext cx="571500" cy="323850"/>
            </a:xfrm>
            <a:prstGeom prst="roundRect">
              <a:avLst>
                <a:gd name="adj" fmla="val 2352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38238" y="2873216"/>
              <a:ext cx="2115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CTD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9738" y="2873216"/>
              <a:ext cx="7932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组成-转换-分布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7738" y="2881312"/>
              <a:ext cx="2770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147维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47750" y="3143250"/>
              <a:ext cx="4572000" cy="323850"/>
            </a:xfrm>
            <a:prstGeom prst="roundRect">
              <a:avLst>
                <a:gd name="adj" fmla="val 235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47750" y="3143250"/>
              <a:ext cx="571500" cy="323850"/>
            </a:xfrm>
            <a:prstGeom prst="roundRect">
              <a:avLst>
                <a:gd name="adj" fmla="val 2352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38238" y="3254216"/>
              <a:ext cx="2789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PAAC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09738" y="3254216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伪氨基酸组成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57738" y="3262312"/>
              <a:ext cx="22155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50维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47750" y="3524250"/>
              <a:ext cx="4572000" cy="323850"/>
            </a:xfrm>
            <a:prstGeom prst="roundRect">
              <a:avLst>
                <a:gd name="adj" fmla="val 235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47750" y="3524250"/>
              <a:ext cx="571500" cy="323850"/>
            </a:xfrm>
            <a:prstGeom prst="roundRect">
              <a:avLst>
                <a:gd name="adj" fmla="val 2352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38238" y="3635216"/>
              <a:ext cx="2360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OPF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09738" y="3635216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重叠属性特征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57738" y="36433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序列编码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47750" y="3905250"/>
              <a:ext cx="4572000" cy="323850"/>
            </a:xfrm>
            <a:prstGeom prst="roundRect">
              <a:avLst>
                <a:gd name="adj" fmla="val 235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47750" y="3905250"/>
              <a:ext cx="571500" cy="323850"/>
            </a:xfrm>
            <a:prstGeom prst="roundRect">
              <a:avLst>
                <a:gd name="adj" fmla="val 2352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38238" y="4016216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分子指纹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09738" y="4016216"/>
              <a:ext cx="10179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Morgan/理化描述符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57738" y="4024312"/>
              <a:ext cx="50591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MolLogP等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47750" y="4286250"/>
              <a:ext cx="4572000" cy="323850"/>
            </a:xfrm>
            <a:prstGeom prst="roundRect">
              <a:avLst>
                <a:gd name="adj" fmla="val 235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47750" y="4286250"/>
              <a:ext cx="571500" cy="323850"/>
            </a:xfrm>
            <a:prstGeom prst="roundRect">
              <a:avLst>
                <a:gd name="adj" fmla="val 2352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38238" y="4397216"/>
              <a:ext cx="9595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Transformer嵌入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09738" y="4397216"/>
              <a:ext cx="8323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ProtBERT/BERT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57738" y="44053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高维语义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191250" y="1143000"/>
            <a:ext cx="5238750" cy="4762500"/>
            <a:chOff x="6191250" y="1143000"/>
            <a:chExt cx="5238750" cy="4762500"/>
          </a:xfrm>
        </p:grpSpPr>
        <p:sp>
          <p:nvSpPr>
            <p:cNvPr id="48" name="Rectangle 48"/>
            <p:cNvSpPr/>
            <p:nvPr/>
          </p:nvSpPr>
          <p:spPr>
            <a:xfrm>
              <a:off x="6191250" y="1143000"/>
              <a:ext cx="5238750" cy="47625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70904" y="12992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数据处理关键技术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77000" y="1619250"/>
              <a:ext cx="4667250" cy="666750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57797" y="17521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数据不平衡处理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57988" y="1958816"/>
              <a:ext cx="22778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SMOTE过采样：84鲜味 vs 129非鲜味 → 平衡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57988" y="2101691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提升小样本泛化能力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8810625" y="2286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7000" y="2476500"/>
              <a:ext cx="4667250" cy="666750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57797" y="26093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特征选择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57988" y="2816066"/>
              <a:ext cx="19398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互信息、皮尔森相关、F回归、包裹式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57988" y="2958941"/>
              <a:ext cx="14832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1338维 → 关键特征，降维去噪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8810625" y="31432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77000" y="3333750"/>
              <a:ext cx="4667250" cy="666750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57797" y="34666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混合表示学习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57988" y="3673316"/>
              <a:ext cx="19721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CTD + KNNProtein + Transformer嵌入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57988" y="3816191"/>
              <a:ext cx="14887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多尺度互补，提升96%+准确率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8810625" y="4000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77000" y="4191000"/>
              <a:ext cx="4667250" cy="666750"/>
            </a:xfrm>
            <a:prstGeom prst="roundRect">
              <a:avLst>
                <a:gd name="adj" fmla="val 17143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57797" y="4323874"/>
              <a:ext cx="12121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可解释性 SHAP分析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57988" y="4530566"/>
              <a:ext cx="22297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揭示D/E、MolLogP、VSA_EState6关键作用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757988" y="467344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指导理性设计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26985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07 完整虚拟筛选流程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762000" y="1238250"/>
            <a:ext cx="10429875" cy="1333500"/>
            <a:chOff x="762000" y="1238250"/>
            <a:chExt cx="10429875" cy="1333500"/>
          </a:xfrm>
        </p:grpSpPr>
        <p:sp>
          <p:nvSpPr>
            <p:cNvPr id="5" name="Rectangle 5"/>
            <p:cNvSpPr/>
            <p:nvPr/>
          </p:nvSpPr>
          <p:spPr>
            <a:xfrm>
              <a:off x="762000" y="1238250"/>
              <a:ext cx="161925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1E40AF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81125" y="1333500"/>
              <a:ext cx="381000" cy="381000"/>
            </a:xfrm>
            <a:prstGeom prst="ellipse">
              <a:avLst/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25476" y="1458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9922" y="17997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肽组学鉴定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0112" y="2006441"/>
              <a:ext cx="5693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LC-MS/MS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0112" y="2177891"/>
              <a:ext cx="9983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Mascot/MaxQuant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381250" y="1905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2428875" y="1857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524125" y="1238250"/>
              <a:ext cx="161925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0E7490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143250" y="1333500"/>
              <a:ext cx="381000" cy="381000"/>
            </a:xfrm>
            <a:prstGeom prst="ellipse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87601" y="1458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62047" y="17997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数据库去重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62238" y="2006441"/>
              <a:ext cx="9059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TastePeptidesDB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2238" y="2177891"/>
              <a:ext cx="5835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2617已知肽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143375" y="1905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191000" y="1857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286250" y="1238250"/>
              <a:ext cx="161925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A580C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905375" y="1333500"/>
              <a:ext cx="381000" cy="381000"/>
            </a:xfrm>
            <a:prstGeom prst="ellipse">
              <a:avLst/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49726" y="1458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24172" y="1799749"/>
              <a:ext cx="8971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ML多模型预测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24362" y="2006441"/>
              <a:ext cx="5117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4模型交叉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24362" y="2177891"/>
              <a:ext cx="4731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&gt;0.9阈值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905500" y="1905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5953125" y="1857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48375" y="1238250"/>
              <a:ext cx="161925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0F172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667500" y="1333500"/>
              <a:ext cx="381000" cy="381000"/>
            </a:xfrm>
            <a:prstGeom prst="ellipse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11851" y="1458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86297" y="17997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分子对接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86488" y="2006441"/>
              <a:ext cx="5868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T1R1/T1R3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86488" y="2177891"/>
              <a:ext cx="9675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LibDock/AutoDock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7667625" y="1905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7715250" y="1857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810500" y="1238250"/>
              <a:ext cx="161925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1E40AF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429625" y="1333500"/>
              <a:ext cx="381000" cy="381000"/>
            </a:xfrm>
            <a:prstGeom prst="ellipse">
              <a:avLst/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73976" y="1458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48422" y="17997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感官验证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48612" y="2006441"/>
              <a:ext cx="622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人工+电子舌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48612" y="21778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阈值测定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9429750" y="190500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9477375" y="1857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572625" y="1238250"/>
              <a:ext cx="161925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0E7490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0191750" y="1333500"/>
              <a:ext cx="381000" cy="381000"/>
            </a:xfrm>
            <a:prstGeom prst="ellipse">
              <a:avLst/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336101" y="1458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10547" y="17997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应用开发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10738" y="200644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低钠调味品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710738" y="217789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风味调控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62000" y="2857500"/>
            <a:ext cx="10668000" cy="3048000"/>
            <a:chOff x="762000" y="2857500"/>
            <a:chExt cx="10668000" cy="3048000"/>
          </a:xfrm>
        </p:grpSpPr>
        <p:sp>
          <p:nvSpPr>
            <p:cNvPr id="52" name="Rectangle 52"/>
            <p:cNvSpPr/>
            <p:nvPr/>
          </p:nvSpPr>
          <p:spPr>
            <a:xfrm>
              <a:off x="762000" y="2857500"/>
              <a:ext cx="6667500" cy="3048000"/>
            </a:xfrm>
            <a:prstGeom prst="roundRect">
              <a:avLst>
                <a:gd name="adj" fmla="val 5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42416" y="3029902"/>
              <a:ext cx="28730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金华火腿案例：2000+肽段 → 10种新型鲜味肽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47750" y="3238500"/>
              <a:ext cx="6096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42988" y="3379470"/>
              <a:ext cx="28002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1. LC-MS鉴定2000+肽段，长度≤10 AA筛选159条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2988" y="3569970"/>
              <a:ext cx="4346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2. 四模型交叉：iUmami-SCM&gt;588, UMPred-FRL&gt;0.5, YYDS&gt;0.9, MRNN阳性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2988" y="3760470"/>
              <a:ext cx="3275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3. LibDock对接T1R1/T1R3，筛选13个高置信度，验证10种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2988" y="3950970"/>
              <a:ext cx="26146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4. 感官：KSTEL、DELIK等鲜味提升21%、22%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47750" y="4191000"/>
              <a:ext cx="6096000" cy="571500"/>
            </a:xfrm>
            <a:prstGeom prst="roundRect">
              <a:avLst>
                <a:gd name="adj" fmla="val 1333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233488" y="4284345"/>
              <a:ext cx="29927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闭环框架：数据分析 → 机器学习 → 分子对接 → 感官验证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33488" y="4482941"/>
              <a:ext cx="29900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大幅缩短周期，提升筛选效率，理论支撑发酵肉制品风味研究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620000" y="2857500"/>
              <a:ext cx="3810000" cy="3048000"/>
            </a:xfrm>
            <a:prstGeom prst="roundRect">
              <a:avLst>
                <a:gd name="adj" fmla="val 5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900416" y="30299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关键工具链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900988" y="3331845"/>
              <a:ext cx="26924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DBEAFE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在线预测：Umami-MRNN, Umami-YYDS, TPDM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900988" y="3522345"/>
              <a:ext cx="24418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DBEAFE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数据库：TastePeptidesDB, BIOPEP-UWM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900988" y="3712845"/>
              <a:ext cx="21658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DBEAFE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对接：AutoDock, LibDock, SYBYL-X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00988" y="3903345"/>
              <a:ext cx="18180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DBEAFE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结构预测：AlphaFold3 (TMC4)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900988" y="4093845"/>
              <a:ext cx="15605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DBEAFE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验证：电子舌、三角试验法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905750" y="4381500"/>
              <a:ext cx="3238500" cy="47625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091488" y="4482941"/>
              <a:ext cx="15193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多模型交叉 = 鲁棒性↑ 假阳性↓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91488" y="4633912"/>
              <a:ext cx="167544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3模型交集筛选13肽，验证成功率77%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35466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08 分子对接与受体互作机制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762000" y="1143000"/>
            <a:ext cx="5715000" cy="4762500"/>
            <a:chOff x="762000" y="1143000"/>
            <a:chExt cx="5715000" cy="47625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5715000" cy="4762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1654" y="1299210"/>
              <a:ext cx="19772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T1R1/T1R3 受体结合模式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2571750" y="1809750"/>
              <a:ext cx="2095500" cy="2095500"/>
            </a:xfrm>
            <a:prstGeom prst="ellipse">
              <a:avLst/>
            </a:prstGeom>
            <a:solidFill>
              <a:srgbClr val="DBEAFE"/>
            </a:solidFill>
            <a:ln w="19050">
              <a:solidFill>
                <a:srgbClr val="1E40AF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226037" y="2696528"/>
              <a:ext cx="78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T1R1/T1R3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90510" y="2911316"/>
              <a:ext cx="85798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Venus flytrap域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" y="2190750"/>
              <a:ext cx="1143000" cy="342900"/>
            </a:xfrm>
            <a:prstGeom prst="roundRect">
              <a:avLst>
                <a:gd name="adj" fmla="val 22222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03261" y="2303145"/>
              <a:ext cx="4319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DFEGDV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190750" y="2362200"/>
              <a:ext cx="666750" cy="209550"/>
            </a:xfrm>
            <a:custGeom>
              <a:avLst/>
              <a:gdLst/>
              <a:ahLst/>
              <a:cxnLst/>
              <a:rect l="l" t="t" r="r" b="b"/>
              <a:pathLst>
                <a:path w="666750" h="209550">
                  <a:moveTo>
                    <a:pt x="0" y="0"/>
                  </a:moveTo>
                  <a:lnTo>
                    <a:pt x="666750" y="209550"/>
                  </a:lnTo>
                </a:path>
              </a:pathLst>
            </a:custGeom>
            <a:noFill/>
            <a:ln w="14288">
              <a:solidFill>
                <a:srgbClr val="EA580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47750" y="2667000"/>
              <a:ext cx="1143000" cy="342900"/>
            </a:xfrm>
            <a:prstGeom prst="roundRect">
              <a:avLst>
                <a:gd name="adj" fmla="val 22222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38466" y="2779395"/>
              <a:ext cx="3615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KSTEL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190750" y="2838450"/>
              <a:ext cx="666750" cy="19050"/>
            </a:xfrm>
            <a:custGeom>
              <a:avLst/>
              <a:gdLst/>
              <a:ahLst/>
              <a:cxnLst/>
              <a:rect l="l" t="t" r="r" b="b"/>
              <a:pathLst>
                <a:path w="666750" h="19050">
                  <a:moveTo>
                    <a:pt x="0" y="0"/>
                  </a:moveTo>
                  <a:lnTo>
                    <a:pt x="666750" y="19050"/>
                  </a:lnTo>
                </a:path>
              </a:pathLst>
            </a:custGeom>
            <a:noFill/>
            <a:ln w="14288">
              <a:solidFill>
                <a:srgbClr val="0E749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47750" y="3143250"/>
              <a:ext cx="1143000" cy="342900"/>
            </a:xfrm>
            <a:prstGeom prst="roundRect">
              <a:avLst>
                <a:gd name="adj" fmla="val 22222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65644" y="3255645"/>
              <a:ext cx="7072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DQAIPNKPEE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190750" y="3143250"/>
              <a:ext cx="666750" cy="171450"/>
            </a:xfrm>
            <a:custGeom>
              <a:avLst/>
              <a:gdLst/>
              <a:ahLst/>
              <a:cxnLst/>
              <a:rect l="l" t="t" r="r" b="b"/>
              <a:pathLst>
                <a:path w="666750" h="171450">
                  <a:moveTo>
                    <a:pt x="0" y="17145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rgbClr val="1E40A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762500" y="2190750"/>
              <a:ext cx="1333500" cy="47625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99446" y="2292191"/>
              <a:ext cx="6596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Arg277 盐桥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29796" y="2443162"/>
              <a:ext cx="39890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D/E关键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762500" y="2762250"/>
              <a:ext cx="1333500" cy="47625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71836" y="2863691"/>
              <a:ext cx="51482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氢键+疏水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22558" y="301466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稳定结合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62500" y="3333750"/>
              <a:ext cx="1333500" cy="47625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48516" y="343519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跨膜结构域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22558" y="358616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构效关系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47750" y="4000500"/>
              <a:ext cx="5048250" cy="666750"/>
            </a:xfrm>
            <a:prstGeom prst="roundRect">
              <a:avLst>
                <a:gd name="adj" fmla="val 17143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33488" y="41414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关键发现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33488" y="4340066"/>
              <a:ext cx="23374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0F172A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小分子肽关键残基 D147/N69，大分子 R151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33488" y="4482941"/>
              <a:ext cx="21900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0F172A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Asp/Glu末端通过氢键和电荷稳定受体结合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667500" y="1143000"/>
            <a:ext cx="4762500" cy="4762500"/>
            <a:chOff x="6667500" y="1143000"/>
            <a:chExt cx="4762500" cy="4762500"/>
          </a:xfrm>
        </p:grpSpPr>
        <p:sp>
          <p:nvSpPr>
            <p:cNvPr id="33" name="Rectangle 33"/>
            <p:cNvSpPr/>
            <p:nvPr/>
          </p:nvSpPr>
          <p:spPr>
            <a:xfrm>
              <a:off x="6667500" y="1143000"/>
              <a:ext cx="4762500" cy="47625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47154" y="12992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对接评分与验证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53250" y="1619250"/>
              <a:ext cx="4191000" cy="762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38988" y="1760220"/>
              <a:ext cx="1481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LibDock / AutoDock Vina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38988" y="1958816"/>
              <a:ext cx="153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结合能排序，筛选高亲和力肽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38988" y="2101691"/>
              <a:ext cx="19758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同源建模：SWISS-MODEL, SYBYL-X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953250" y="2571750"/>
              <a:ext cx="4191000" cy="762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38988" y="2712720"/>
              <a:ext cx="11829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AlphaFold3 结构预测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38988" y="2911316"/>
              <a:ext cx="14393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TMC4咸味通道3D结构建立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8988" y="3054191"/>
              <a:ext cx="13123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牡蛎肽增强咸味机制解析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953250" y="3524250"/>
              <a:ext cx="4191000" cy="762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38988" y="3665220"/>
              <a:ext cx="12462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量子化学 + 分子动力学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38988" y="3863816"/>
              <a:ext cx="13123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电荷分布、溶剂效应模拟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38988" y="4006691"/>
              <a:ext cx="153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揭示鲜味强度聚类与活性位点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953250" y="4476750"/>
              <a:ext cx="4191000" cy="666750"/>
            </a:xfrm>
            <a:prstGeom prst="roundRect">
              <a:avLst>
                <a:gd name="adj" fmla="val 17143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38988" y="4617720"/>
              <a:ext cx="21923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VmmScore = Mlp4Umami + mm-Score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38988" y="4816316"/>
              <a:ext cx="21179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预测+受体匹配一体化，聚类+对接能量比较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35466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09 典型案例：腐乳成熟过程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62000" y="1143000"/>
            <a:ext cx="4953000" cy="4762500"/>
            <a:chOff x="762000" y="1143000"/>
            <a:chExt cx="4953000" cy="47625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4953000" cy="4762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1654" y="1299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研究设计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1571625"/>
              <a:ext cx="4381500" cy="19050"/>
            </a:xfrm>
            <a:prstGeom prst="rect">
              <a:avLst/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2988" y="1712595"/>
              <a:ext cx="25581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样本：腐乳0-90天发酵，LC-MS肽组学追踪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2988" y="1903095"/>
              <a:ext cx="25901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关键窗口：前60天鲜味肽形成高峰，P&lt;0.05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2988" y="2093595"/>
              <a:ext cx="26025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前体：319种大豆蛋白，30%源自11种主要蛋白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2988" y="2284095"/>
              <a:ext cx="1815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97155" indent="-97155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9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如β-伴大豆球蛋白特定位点水解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2571750"/>
              <a:ext cx="4381500" cy="762000"/>
            </a:xfrm>
            <a:prstGeom prst="roundRect">
              <a:avLst>
                <a:gd name="adj" fmla="val 15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33488" y="26650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机器学习筛选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3488" y="2863691"/>
              <a:ext cx="19468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随机森林+理化参数（等电点、疏水性）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3488" y="3006566"/>
              <a:ext cx="14997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准确率89%，鉴定637种鲜味肽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524250"/>
              <a:ext cx="4381500" cy="857250"/>
            </a:xfrm>
            <a:prstGeom prst="roundRect">
              <a:avLst>
                <a:gd name="adj" fmla="val 13333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33488" y="3617595"/>
              <a:ext cx="10487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5种新型鲜味肽验证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3488" y="3816191"/>
              <a:ext cx="1747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DFEGDV, GRGPTVTDP, NDDRDSYNL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3488" y="3959066"/>
              <a:ext cx="10067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RVPAGTTY, SDNFEY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33488" y="4149566"/>
              <a:ext cx="21585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阈值0.22-0.38 mmol/L，对接+感官双验证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995988" y="1143000"/>
            <a:ext cx="5434012" cy="4762500"/>
            <a:chOff x="5995988" y="1143000"/>
            <a:chExt cx="5434012" cy="4762500"/>
          </a:xfrm>
        </p:grpSpPr>
        <p:sp>
          <p:nvSpPr>
            <p:cNvPr id="22" name="Rectangle 22"/>
            <p:cNvSpPr/>
            <p:nvPr/>
          </p:nvSpPr>
          <p:spPr>
            <a:xfrm>
              <a:off x="6000750" y="1143000"/>
              <a:ext cx="5429250" cy="47625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404" y="1299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动态变化规律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286500" y="38100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286500" y="19050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1738" y="3919538"/>
              <a:ext cx="1660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0天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24738" y="3919538"/>
              <a:ext cx="22155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30天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67738" y="3919538"/>
              <a:ext cx="22155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60天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10738" y="3919538"/>
              <a:ext cx="22155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90天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95988" y="1919288"/>
              <a:ext cx="26698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丰度↑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381750" y="3333750"/>
              <a:ext cx="381000" cy="476250"/>
            </a:xfrm>
            <a:prstGeom prst="roundRect">
              <a:avLst>
                <a:gd name="adj" fmla="val 1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24750" y="2857500"/>
              <a:ext cx="381000" cy="952500"/>
            </a:xfrm>
            <a:prstGeom prst="roundRect">
              <a:avLst>
                <a:gd name="adj" fmla="val 10000"/>
              </a:avLst>
            </a:prstGeom>
            <a:solidFill>
              <a:srgbClr val="1E40AF">
                <a:alpha val="60000"/>
              </a:srgb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667750" y="2095500"/>
              <a:ext cx="381000" cy="1714500"/>
            </a:xfrm>
            <a:prstGeom prst="roundRect">
              <a:avLst>
                <a:gd name="adj" fmla="val 1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9810750" y="2476500"/>
              <a:ext cx="381000" cy="1333500"/>
            </a:xfrm>
            <a:prstGeom prst="roundRect">
              <a:avLst>
                <a:gd name="adj" fmla="val 10000"/>
              </a:avLst>
            </a:prstGeom>
            <a:solidFill>
              <a:srgbClr val="1E40AF">
                <a:alpha val="6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43099" y="191119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峰值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86500" y="4191000"/>
              <a:ext cx="5143500" cy="666750"/>
            </a:xfrm>
            <a:prstGeom prst="roundRect">
              <a:avLst>
                <a:gd name="adj" fmla="val 1714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72238" y="428434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水解位点区域聚集特征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2238" y="4482941"/>
              <a:ext cx="22338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前体蛋白选择性水解规律 → 发酵工艺优化靶点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2238" y="4625816"/>
              <a:ext cx="20130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受体结合热点 → 低钠健康调味品设计基础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86500" y="5048250"/>
              <a:ext cx="5143500" cy="571500"/>
            </a:xfrm>
            <a:prstGeom prst="roundRect">
              <a:avLst>
                <a:gd name="adj" fmla="val 20000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72238" y="5141595"/>
              <a:ext cx="21332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Food Chemistry 2025, 486, 144684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2238" y="5340191"/>
              <a:ext cx="16156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CCFBF1"/>
                  </a:solidFill>
                  <a:latin typeface="Arial"/>
                  <a:ea typeface="Microsoft YaHei"/>
                  <a:cs typeface="Arial"/>
                </a:rPr>
                <a:t>预测-验证双轨模型突破传统局限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2133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10 多源案例对比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762000" y="1143000"/>
            <a:ext cx="10534650" cy="3810000"/>
            <a:chOff x="762000" y="1143000"/>
            <a:chExt cx="10534650" cy="38100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2000250" cy="38100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1430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04875" y="1333500"/>
              <a:ext cx="476250" cy="228600"/>
            </a:xfrm>
            <a:prstGeom prst="roundRect">
              <a:avLst>
                <a:gd name="adj" fmla="val 50000"/>
              </a:avLst>
            </a:prstGeom>
            <a:solidFill>
              <a:srgbClr val="1E40AF">
                <a:alpha val="12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7738" y="1395412"/>
              <a:ext cx="47169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自然+酶解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8779" y="1680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金华火腿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04875" y="1905000"/>
              <a:ext cx="1714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0112" y="2045970"/>
              <a:ext cx="480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2000+肽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0112" y="2217420"/>
              <a:ext cx="3917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10新型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04875" y="2571750"/>
              <a:ext cx="1714500" cy="666750"/>
            </a:xfrm>
            <a:prstGeom prst="roundRect">
              <a:avLst>
                <a:gd name="adj" fmla="val 114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95362" y="2681288"/>
              <a:ext cx="122614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Umami-YYDS/MRNN/TPDM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5362" y="2833688"/>
              <a:ext cx="37887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LibDock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04875" y="3429000"/>
              <a:ext cx="1714500" cy="381000"/>
            </a:xfrm>
            <a:prstGeom prst="roundRect">
              <a:avLst>
                <a:gd name="adj" fmla="val 20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95362" y="34909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验证方式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5362" y="3641884"/>
              <a:ext cx="75101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感官+电子舌+对接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895600" y="1143000"/>
              <a:ext cx="2000250" cy="38100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895600" y="11430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038475" y="1333500"/>
              <a:ext cx="476250" cy="228600"/>
            </a:xfrm>
            <a:prstGeom prst="roundRect">
              <a:avLst>
                <a:gd name="adj" fmla="val 50000"/>
              </a:avLst>
            </a:prstGeom>
            <a:solidFill>
              <a:srgbClr val="0E7490">
                <a:alpha val="12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81338" y="13954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海鲜鲜味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32379" y="1680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牡蛎水解液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038475" y="1905000"/>
              <a:ext cx="1714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033712" y="2045970"/>
              <a:ext cx="8815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阈值0.24-0.30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33712" y="2217420"/>
              <a:ext cx="4159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mg/mL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038475" y="2571750"/>
              <a:ext cx="1714500" cy="666750"/>
            </a:xfrm>
            <a:prstGeom prst="roundRect">
              <a:avLst>
                <a:gd name="adj" fmla="val 114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28962" y="2681288"/>
              <a:ext cx="107823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iUmami-SCM/YYDS/DM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28962" y="2833688"/>
              <a:ext cx="80529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AlphaFold3 TMC4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038475" y="3429000"/>
              <a:ext cx="1714500" cy="381000"/>
            </a:xfrm>
            <a:prstGeom prst="roundRect">
              <a:avLst>
                <a:gd name="adj" fmla="val 20000"/>
              </a:avLst>
            </a:prstGeom>
            <a:solidFill>
              <a:srgbClr val="0E749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28962" y="34909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验证方式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28962" y="3641884"/>
              <a:ext cx="75101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感官+电子舌+对接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029200" y="1143000"/>
              <a:ext cx="2000250" cy="38100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029200" y="11430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72075" y="1333500"/>
              <a:ext cx="476250" cy="228600"/>
            </a:xfrm>
            <a:prstGeom prst="roundRect">
              <a:avLst>
                <a:gd name="adj" fmla="val 50000"/>
              </a:avLst>
            </a:prstGeom>
            <a:solidFill>
              <a:srgbClr val="EA580C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14938" y="1395412"/>
              <a:ext cx="51435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发酵调味品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65979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酱油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172075" y="1905000"/>
              <a:ext cx="1714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167312" y="2045970"/>
              <a:ext cx="7928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159肽→22候选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172075" y="2571750"/>
              <a:ext cx="1714500" cy="666750"/>
            </a:xfrm>
            <a:prstGeom prst="roundRect">
              <a:avLst>
                <a:gd name="adj" fmla="val 114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62562" y="2681288"/>
              <a:ext cx="46891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4模型交叉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262562" y="2833688"/>
              <a:ext cx="44157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SCM&gt;588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72075" y="3429000"/>
              <a:ext cx="1714500" cy="381000"/>
            </a:xfrm>
            <a:prstGeom prst="roundRect">
              <a:avLst>
                <a:gd name="adj" fmla="val 2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62562" y="34909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验证方式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62562" y="3641884"/>
              <a:ext cx="75101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感官+电子舌+对接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162800" y="1143000"/>
              <a:ext cx="2000250" cy="38100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62800" y="11430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05675" y="1333500"/>
              <a:ext cx="476250" cy="228600"/>
            </a:xfrm>
            <a:prstGeom prst="roundRect">
              <a:avLst>
                <a:gd name="adj" fmla="val 50000"/>
              </a:avLst>
            </a:prstGeom>
            <a:solidFill>
              <a:srgbClr val="0F172A">
                <a:alpha val="12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48538" y="1395412"/>
              <a:ext cx="31242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豆制品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99579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腐乳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305675" y="1905000"/>
              <a:ext cx="1714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00912" y="2045970"/>
              <a:ext cx="3405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637种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00912" y="2217420"/>
              <a:ext cx="321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5新型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305675" y="2571750"/>
              <a:ext cx="1714500" cy="666750"/>
            </a:xfrm>
            <a:prstGeom prst="roundRect">
              <a:avLst>
                <a:gd name="adj" fmla="val 114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96162" y="2681288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随机森林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96162" y="2833688"/>
              <a:ext cx="49920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89%准确率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305675" y="3429000"/>
              <a:ext cx="1714500" cy="381000"/>
            </a:xfrm>
            <a:prstGeom prst="roundRect">
              <a:avLst>
                <a:gd name="adj" fmla="val 2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96162" y="34909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验证方式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96162" y="3641884"/>
              <a:ext cx="75101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感官+电子舌+对接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9296400" y="1143000"/>
              <a:ext cx="2000250" cy="3810000"/>
            </a:xfrm>
            <a:prstGeom prst="roundRect">
              <a:avLst>
                <a:gd name="adj" fmla="val 761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296400" y="1143000"/>
              <a:ext cx="2000250" cy="5715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439275" y="1333500"/>
              <a:ext cx="476250" cy="228600"/>
            </a:xfrm>
            <a:prstGeom prst="roundRect">
              <a:avLst>
                <a:gd name="adj" fmla="val 50000"/>
              </a:avLst>
            </a:prstGeom>
            <a:solidFill>
              <a:srgbClr val="7C3AED">
                <a:alpha val="12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82138" y="13954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谷物发酵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433179" y="1680210"/>
              <a:ext cx="751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啤酒/小麦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439275" y="1905000"/>
              <a:ext cx="1714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434512" y="2045970"/>
              <a:ext cx="461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906序列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34512" y="2217420"/>
              <a:ext cx="3917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76潜在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439275" y="2571750"/>
              <a:ext cx="1714500" cy="666750"/>
            </a:xfrm>
            <a:prstGeom prst="roundRect">
              <a:avLst>
                <a:gd name="adj" fmla="val 11429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29762" y="2681288"/>
              <a:ext cx="44157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rgbClr val="475569"/>
                  </a:solidFill>
                  <a:latin typeface="Arial"/>
                  <a:ea typeface="Arial"/>
                  <a:cs typeface="Arial"/>
                </a:rPr>
                <a:t>MLP-RNN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529762" y="2833688"/>
              <a:ext cx="45758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SHAP解释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439275" y="3429000"/>
              <a:ext cx="1714500" cy="381000"/>
            </a:xfrm>
            <a:prstGeom prst="roundRect">
              <a:avLst>
                <a:gd name="adj" fmla="val 2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529762" y="3490912"/>
              <a:ext cx="4133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验证方式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529762" y="3641884"/>
              <a:ext cx="75101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感官+电子舌+对接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62000" y="5143500"/>
            <a:ext cx="10668000" cy="571500"/>
            <a:chOff x="762000" y="5143500"/>
            <a:chExt cx="10668000" cy="571500"/>
          </a:xfrm>
        </p:grpSpPr>
        <p:sp>
          <p:nvSpPr>
            <p:cNvPr id="75" name="Rectangle 75"/>
            <p:cNvSpPr/>
            <p:nvPr/>
          </p:nvSpPr>
          <p:spPr>
            <a:xfrm>
              <a:off x="762000" y="5143500"/>
              <a:ext cx="10668000" cy="571500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47738" y="5284470"/>
              <a:ext cx="59656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共性结论：多模型交叉验证显著提升可靠性，阈值低至0.22-0.38 mM，鲜味强度超越MSG，协同咸味感知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47738" y="5483066"/>
              <a:ext cx="42361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来源：Foods 2026, Food Chemistry 2023-2025, LWT 2024, Food Bioscience 2024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32639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11 阈值预测与产业化应用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62000" y="1143000"/>
            <a:ext cx="5143500" cy="4762500"/>
            <a:chOff x="762000" y="1143000"/>
            <a:chExt cx="5143500" cy="47625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5143500" cy="4762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1654" y="1299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阈值预测模型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1571625"/>
              <a:ext cx="4572000" cy="952500"/>
            </a:xfrm>
            <a:prstGeom prst="roundRect">
              <a:avLst>
                <a:gd name="adj" fmla="val 12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3488" y="1664970"/>
              <a:ext cx="14642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Umami_IP / 集成梯度提升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3488" y="1863566"/>
              <a:ext cx="18973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分子指纹 + 分子描述符 + 氨基酸矩阵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3488" y="2006441"/>
              <a:ext cx="22616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皮尔森相关、F回归、互信息、包裹式筛选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33488" y="2149316"/>
              <a:ext cx="15938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前6子模型集成，定量预测阈值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47750" y="2667000"/>
              <a:ext cx="4572000" cy="1143000"/>
            </a:xfrm>
            <a:prstGeom prst="roundRect">
              <a:avLst>
                <a:gd name="adj" fmla="val 10000"/>
              </a:avLst>
            </a:prstGeom>
            <a:solidFill>
              <a:srgbClr val="FFEDD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33488" y="2760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阈值分布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3488" y="2958941"/>
              <a:ext cx="18172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0F172A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新型肽 0.22-0.38 mmol/L (腐乳)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3488" y="3101816"/>
              <a:ext cx="140786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0F172A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牡蛎肽 0.24-0.30 mg/mL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3488" y="3244691"/>
              <a:ext cx="17892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0F172A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普遍低于MSG阈值，强度高3-5倍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3488" y="3435191"/>
              <a:ext cx="17373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与咸味协同，减盐30%仍保持鲜味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47750" y="4000500"/>
              <a:ext cx="4572000" cy="762000"/>
            </a:xfrm>
            <a:prstGeom prst="roundRect">
              <a:avLst>
                <a:gd name="adj" fmla="val 15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33488" y="4093845"/>
              <a:ext cx="13830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LA-VAE + SpepToxPred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33488" y="4292441"/>
              <a:ext cx="20296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潜在表示优化 + 毒性预测 + 味觉回避机制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3488" y="44829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设计具有目标风味的安全肽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1143000"/>
            <a:ext cx="5238750" cy="4762500"/>
            <a:chOff x="6191250" y="1143000"/>
            <a:chExt cx="5238750" cy="4762500"/>
          </a:xfrm>
        </p:grpSpPr>
        <p:sp>
          <p:nvSpPr>
            <p:cNvPr id="23" name="Rectangle 23"/>
            <p:cNvSpPr/>
            <p:nvPr/>
          </p:nvSpPr>
          <p:spPr>
            <a:xfrm>
              <a:off x="6191250" y="1143000"/>
              <a:ext cx="5238750" cy="4762500"/>
            </a:xfrm>
            <a:prstGeom prst="roundRect">
              <a:avLst>
                <a:gd name="adj" fmla="val 4000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70904" y="1299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产业化路径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1619250"/>
              <a:ext cx="466725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62547" y="1752124"/>
              <a:ext cx="1127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1. 低钠健康调味品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62738" y="1958816"/>
              <a:ext cx="16653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鲜味肽增强咸味感知，减盐不减味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2738" y="2101691"/>
              <a:ext cx="14558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TMC4通道机制揭示协同效应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67500" y="2286000"/>
              <a:ext cx="762000" cy="1524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57988" y="2317909"/>
              <a:ext cx="42855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市场规模↑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667000"/>
              <a:ext cx="466725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62547" y="2799874"/>
              <a:ext cx="995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2. 发酵工艺优化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2738" y="3006566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前体蛋白水解规律指导定向发酵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2738" y="3149441"/>
              <a:ext cx="17978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前60天关键窗口，11种大豆蛋白靶点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77000" y="3714750"/>
              <a:ext cx="466725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62547" y="3847624"/>
              <a:ext cx="11273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3. 个性化风味设计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2738" y="4054316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模块替换策略，定制鲜味强度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2738" y="4197191"/>
              <a:ext cx="16156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量子化学+模块替换实现理性设计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77000" y="4762500"/>
              <a:ext cx="4667250" cy="476250"/>
            </a:xfrm>
            <a:prstGeom prst="roundRect">
              <a:avLst>
                <a:gd name="adj" fmla="val 24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62738" y="4855845"/>
              <a:ext cx="24280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从实验室到餐桌：AI驱动的风味科学新范式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2738" y="5062538"/>
              <a:ext cx="142303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高通量、精准、可解释、可持续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51332" y="440055"/>
            <a:ext cx="10678668" cy="410718"/>
            <a:chOff x="751332" y="440055"/>
            <a:chExt cx="10678668" cy="410718"/>
          </a:xfrm>
        </p:grpSpPr>
        <p:sp>
          <p:nvSpPr>
            <p:cNvPr id="2" name="TextBox 2"/>
            <p:cNvSpPr txBox="1"/>
            <p:nvPr/>
          </p:nvSpPr>
          <p:spPr>
            <a:xfrm>
              <a:off x="751332" y="440055"/>
              <a:ext cx="2415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12 未来展望与挑战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809625"/>
              <a:ext cx="10668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62000" y="1143000"/>
            <a:ext cx="10668000" cy="4762500"/>
            <a:chOff x="762000" y="1143000"/>
            <a:chExt cx="10668000" cy="4762500"/>
          </a:xfrm>
        </p:grpSpPr>
        <p:sp>
          <p:nvSpPr>
            <p:cNvPr id="5" name="Rectangle 5"/>
            <p:cNvSpPr/>
            <p:nvPr/>
          </p:nvSpPr>
          <p:spPr>
            <a:xfrm>
              <a:off x="762000" y="1143000"/>
              <a:ext cx="6667500" cy="47625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41654" y="12992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技术发展趋势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47750" y="1619250"/>
              <a:ext cx="6096000" cy="666750"/>
            </a:xfrm>
            <a:prstGeom prst="roundRect">
              <a:avLst>
                <a:gd name="adj" fmla="val 17143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33488" y="17125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算法层面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3488" y="1911191"/>
              <a:ext cx="26369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改进对接算法评分函数，整合溶剂效应与蛋白动态性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3488" y="2054066"/>
              <a:ext cx="233892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多尺度建模：量子化学 → 分子动力学 → 粗粒化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47750" y="2476500"/>
              <a:ext cx="6096000" cy="666750"/>
            </a:xfrm>
            <a:prstGeom prst="roundRect">
              <a:avLst>
                <a:gd name="adj" fmla="val 17143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33488" y="25698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数据层面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33488" y="2768441"/>
              <a:ext cx="22270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扩大TastePeptidesDB，覆盖更多发酵体系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3488" y="2911316"/>
              <a:ext cx="22064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整合宏基因组数据，发酵香肠10肽筛选案例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47750" y="3333750"/>
              <a:ext cx="6096000" cy="666750"/>
            </a:xfrm>
            <a:prstGeom prst="roundRect">
              <a:avLst>
                <a:gd name="adj" fmla="val 17143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33488" y="34270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A580C"/>
                  </a:solidFill>
                  <a:latin typeface="Arial"/>
                  <a:ea typeface="Microsoft YaHei"/>
                  <a:cs typeface="Arial"/>
                </a:rPr>
                <a:t>可解释与安全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3488" y="3625691"/>
              <a:ext cx="25895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SHAP/LIME揭示MolLogP、VSA_EState6关键作用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33488" y="3768566"/>
              <a:ext cx="21810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SpepToxPred毒性预测，LA-VAE安全设计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47750" y="4191000"/>
              <a:ext cx="6096000" cy="666750"/>
            </a:xfrm>
            <a:prstGeom prst="roundRect">
              <a:avLst>
                <a:gd name="adj" fmla="val 17143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33488" y="4284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产业层面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3488" y="4482941"/>
              <a:ext cx="18145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高通量实验+计算闭环，自动化平台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33488" y="4625816"/>
              <a:ext cx="25824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88519" indent="-88519">
                <a:buClr>
                  <a:srgbClr val="475569"/>
                </a:buClr>
                <a:buSzTx/>
                <a:buFontTx/>
                <a:buChar char="•"/>
              </a:pPr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智能设计：LA-VAE潜在空间优化，味觉回避机制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0" y="1143000"/>
              <a:ext cx="3810000" cy="4762500"/>
            </a:xfrm>
            <a:prstGeom prst="roundRect">
              <a:avLst>
                <a:gd name="adj" fmla="val 5000"/>
              </a:avLst>
            </a:prstGeom>
            <a:solidFill>
              <a:srgbClr val="1E40A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99654" y="1299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挑战与思考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905750" y="1619250"/>
              <a:ext cx="3238500" cy="666750"/>
            </a:xfrm>
            <a:prstGeom prst="roundRect">
              <a:avLst>
                <a:gd name="adj" fmla="val 1714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91488" y="17125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数据覆盖不全面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91488" y="1911191"/>
              <a:ext cx="14666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现有数据库2617条，仍需扩充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91488" y="2054066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稀有肽、长肽数据不足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905750" y="2476500"/>
              <a:ext cx="3238500" cy="666750"/>
            </a:xfrm>
            <a:prstGeom prst="roundRect">
              <a:avLst>
                <a:gd name="adj" fmla="val 1714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91488" y="25698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评分函数准确性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91488" y="2768441"/>
              <a:ext cx="13341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蛋白动态性、溶剂效应简化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91488" y="2911316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需分子动力学精修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905750" y="3333750"/>
              <a:ext cx="3238500" cy="666750"/>
            </a:xfrm>
            <a:prstGeom prst="roundRect">
              <a:avLst>
                <a:gd name="adj" fmla="val 17143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91488" y="34270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实验验证缺口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91488" y="3625691"/>
              <a:ext cx="9533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计算预测≠感官真实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91488" y="3768566"/>
              <a:ext cx="117412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电子舌+人工评价仍必要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905750" y="4191000"/>
              <a:ext cx="3238500" cy="857250"/>
            </a:xfrm>
            <a:prstGeom prst="roundRect">
              <a:avLst>
                <a:gd name="adj" fmla="val 13333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91488" y="4284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未来范式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91488" y="4482941"/>
              <a:ext cx="13100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+ 肽组学 + 合成生物学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91488" y="4625816"/>
              <a:ext cx="1444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FFEDD5"/>
                  </a:solidFill>
                  <a:latin typeface="Arial"/>
                  <a:ea typeface="Microsoft YaHei"/>
                  <a:cs typeface="Arial"/>
                </a:rPr>
                <a:t>从发现到设计，智能风味工厂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1E3A8A">
              <a:alpha val="5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0" y="-952500"/>
            <a:ext cx="5715000" cy="571500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0" y="3810000"/>
            <a:ext cx="3810000" cy="3810000"/>
          </a:xfrm>
          <a:prstGeom prst="ellipse">
            <a:avLst/>
          </a:prstGeom>
          <a:solidFill>
            <a:srgbClr val="FFFFFF">
              <a:alpha val="5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42950" y="1086802"/>
            <a:ext cx="4308038" cy="2796064"/>
            <a:chOff x="742950" y="1086802"/>
            <a:chExt cx="4308038" cy="2796064"/>
          </a:xfrm>
        </p:grpSpPr>
        <p:sp>
          <p:nvSpPr>
            <p:cNvPr id="6" name="TextBox 6"/>
            <p:cNvSpPr txBox="1"/>
            <p:nvPr/>
          </p:nvSpPr>
          <p:spPr>
            <a:xfrm>
              <a:off x="742950" y="1086802"/>
              <a:ext cx="1128522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致谢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142" y="1759268"/>
              <a:ext cx="1001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3C5FD"/>
                  </a:solidFill>
                  <a:latin typeface="Arial"/>
                  <a:ea typeface="Arial"/>
                  <a:cs typeface="Arial"/>
                </a:rPr>
                <a:t>THANK YOU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0955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4380" y="2314575"/>
              <a:ext cx="2110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机器学习让鲜味肽筛选从</a:t>
              </a:r>
              <a:br/>
              <a:r>
                <a:rPr lang="zh-CN" sz="150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大海捞针变为精准导航</a:t>
              </a:r>
              <a:br/>
              <a:r>
                <a:rPr lang="zh-CN" sz="150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从经验驱动到数据驱动，</a:t>
              </a:r>
              <a:br/>
              <a:r>
                <a:rPr lang="zh-CN" sz="1500" dirty="0">
                  <a:solidFill>
                    <a:srgbClr val="DBEAFE"/>
                  </a:solidFill>
                  <a:latin typeface="Arial"/>
                  <a:ea typeface="Microsoft YaHei"/>
                  <a:cs typeface="Arial"/>
                </a:rPr>
                <a:t>AI正在重塑食品风味科学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7238" y="3530441"/>
              <a:ext cx="42937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3C5FD"/>
                  </a:solidFill>
                  <a:latin typeface="Arial"/>
                  <a:ea typeface="Microsoft YaHei"/>
                  <a:cs typeface="Arial"/>
                </a:rPr>
                <a:t>参考文献：Food Chemistry 2023-2025, Foods 2026, LWT 2024, Biomaterials 2023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238" y="3720941"/>
              <a:ext cx="33963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93C5FD"/>
                  </a:solidFill>
                  <a:latin typeface="Arial"/>
                  <a:ea typeface="Microsoft YaHei"/>
                  <a:cs typeface="Arial"/>
                </a:rPr>
                <a:t>工具：Umami-MRNN | Umami-YYDS | TPDM | AlphaFold3 | AutoDock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0" y="1905000"/>
            <a:ext cx="3810000" cy="2857500"/>
            <a:chOff x="7620000" y="1905000"/>
            <a:chExt cx="3810000" cy="2857500"/>
          </a:xfrm>
        </p:grpSpPr>
        <p:sp>
          <p:nvSpPr>
            <p:cNvPr id="13" name="Rectangle 13"/>
            <p:cNvSpPr/>
            <p:nvPr/>
          </p:nvSpPr>
          <p:spPr>
            <a:xfrm>
              <a:off x="7620000" y="1905000"/>
              <a:ext cx="3810000" cy="28575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82534" y="2089785"/>
              <a:ext cx="10153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1E40AF"/>
                  </a:solidFill>
                  <a:latin typeface="Arial"/>
                  <a:ea typeface="Arial"/>
                  <a:cs typeface="Arial"/>
                </a:rPr>
                <a:t>Q &amp;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90154" y="2537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欢迎交流讨论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96250" y="2857500"/>
              <a:ext cx="2857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1488" y="29984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联系方式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91488" y="3197066"/>
              <a:ext cx="14997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邮箱：research@food-ai.lab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91488" y="3387566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课题组：食品风味感知创新团队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96250" y="3619500"/>
              <a:ext cx="2857500" cy="571500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81988" y="3720941"/>
              <a:ext cx="12316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E40AF"/>
                  </a:solidFill>
                  <a:latin typeface="Arial"/>
                  <a:ea typeface="Microsoft YaHei"/>
                  <a:cs typeface="Arial"/>
                </a:rPr>
                <a:t>PPT由PPT-Master生成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81988" y="3871912"/>
              <a:ext cx="13170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可编辑 .pptx | 15页 | 学术版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l_umami_peptide_screening">
  <a:themeElements>
    <a:clrScheme name="ml_umami_peptide_screen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l_umami_peptide_screening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l_umami_peptide_screen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2026-08-27T12:38:51Z</dcterms:created>
  <dcterms:modified xsi:type="dcterms:W3CDTF">2026-08-27T12:38:51Z</dcterms:modified>
  <cp:category/>
  <cp:contentStatus/>
</cp:coreProperties>
</file>