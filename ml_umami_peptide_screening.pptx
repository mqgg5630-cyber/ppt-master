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umami_peptide_screen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umami_peptide_screen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191500" y="381000"/>
            <a:ext cx="2667000" cy="2667000"/>
          </a:xfrm>
          <a:prstGeom prst="ellipse">
            <a:avLst/>
          </a:prstGeom>
          <a:solidFill>
            <a:srgbClr val="DBEAFE">
              <a:alpha val="5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7334250" y="3048000"/>
            <a:ext cx="3429000" cy="3429000"/>
          </a:xfrm>
          <a:prstGeom prst="ellipse">
            <a:avLst/>
          </a:prstGeom>
          <a:solidFill>
            <a:srgbClr val="FFEDD5">
              <a:alpha val="60000"/>
            </a:srgbClr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743712" y="828675"/>
            <a:ext cx="5352288" cy="4433126"/>
            <a:chOff x="743712" y="828675"/>
            <a:chExt cx="5352288" cy="4433126"/>
          </a:xfrm>
        </p:grpSpPr>
        <p:grpSp>
          <p:nvGrpSpPr>
            <p:cNvPr id="13" name="Group 13"/>
            <p:cNvGrpSpPr/>
            <p:nvPr/>
          </p:nvGrpSpPr>
          <p:grpSpPr>
            <a:xfrm>
              <a:off x="828675" y="828675"/>
              <a:ext cx="400049" cy="400050"/>
              <a:chOff x="828675" y="828675"/>
              <a:chExt cx="400049" cy="4000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28700" y="1050925"/>
                <a:ext cx="15557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77800">
                    <a:moveTo>
                      <a:pt x="77787" y="0"/>
                    </a:moveTo>
                    <a:cubicBezTo>
                      <a:pt x="34827" y="0"/>
                      <a:pt x="0" y="34827"/>
                      <a:pt x="0" y="77787"/>
                    </a:cubicBezTo>
                    <a:lnTo>
                      <a:pt x="0" y="100012"/>
                    </a:lnTo>
                    <a:cubicBezTo>
                      <a:pt x="0" y="142973"/>
                      <a:pt x="34827" y="177800"/>
                      <a:pt x="77787" y="177800"/>
                    </a:cubicBezTo>
                    <a:cubicBezTo>
                      <a:pt x="120748" y="177800"/>
                      <a:pt x="155575" y="142973"/>
                      <a:pt x="155575" y="100012"/>
                    </a:cubicBezTo>
                    <a:lnTo>
                      <a:pt x="155575" y="60007"/>
                    </a:lnTo>
                  </a:path>
                </a:pathLst>
              </a:custGeom>
              <a:noFill/>
              <a:ln w="44450">
                <a:solidFill>
                  <a:srgbClr val="1E40A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73125" y="1050925"/>
                <a:ext cx="15557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77800">
                    <a:moveTo>
                      <a:pt x="77787" y="0"/>
                    </a:moveTo>
                    <a:cubicBezTo>
                      <a:pt x="120748" y="0"/>
                      <a:pt x="155575" y="34827"/>
                      <a:pt x="155575" y="77787"/>
                    </a:cubicBezTo>
                    <a:lnTo>
                      <a:pt x="155575" y="100012"/>
                    </a:lnTo>
                    <a:cubicBezTo>
                      <a:pt x="155575" y="142973"/>
                      <a:pt x="120748" y="177800"/>
                      <a:pt x="77787" y="177800"/>
                    </a:cubicBezTo>
                    <a:cubicBezTo>
                      <a:pt x="34827" y="177800"/>
                      <a:pt x="0" y="142973"/>
                      <a:pt x="0" y="100012"/>
                    </a:cubicBezTo>
                    <a:lnTo>
                      <a:pt x="0" y="60007"/>
                    </a:lnTo>
                  </a:path>
                </a:pathLst>
              </a:custGeom>
              <a:noFill/>
              <a:ln w="44450">
                <a:solidFill>
                  <a:srgbClr val="1E40A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39824" y="962025"/>
                <a:ext cx="8890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55575">
                    <a:moveTo>
                      <a:pt x="11112" y="155575"/>
                    </a:moveTo>
                    <a:cubicBezTo>
                      <a:pt x="54073" y="155575"/>
                      <a:pt x="88900" y="120748"/>
                      <a:pt x="88900" y="77787"/>
                    </a:cubicBezTo>
                    <a:cubicBezTo>
                      <a:pt x="88900" y="34827"/>
                      <a:pt x="54073" y="0"/>
                      <a:pt x="11112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44450">
                <a:solidFill>
                  <a:srgbClr val="1E40A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28700" y="828675"/>
                <a:ext cx="155575" cy="140017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40017">
                    <a:moveTo>
                      <a:pt x="155575" y="140017"/>
                    </a:moveTo>
                    <a:lnTo>
                      <a:pt x="155575" y="77787"/>
                    </a:lnTo>
                    <a:cubicBezTo>
                      <a:pt x="155575" y="34827"/>
                      <a:pt x="120748" y="0"/>
                      <a:pt x="77787" y="0"/>
                    </a:cubicBezTo>
                    <a:cubicBezTo>
                      <a:pt x="34827" y="0"/>
                      <a:pt x="0" y="34827"/>
                      <a:pt x="0" y="77787"/>
                    </a:cubicBezTo>
                  </a:path>
                </a:pathLst>
              </a:custGeom>
              <a:noFill/>
              <a:ln w="44450">
                <a:solidFill>
                  <a:srgbClr val="1E40A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28675" y="962025"/>
                <a:ext cx="8890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55575">
                    <a:moveTo>
                      <a:pt x="77787" y="155575"/>
                    </a:moveTo>
                    <a:cubicBezTo>
                      <a:pt x="34827" y="155575"/>
                      <a:pt x="0" y="120748"/>
                      <a:pt x="0" y="77787"/>
                    </a:cubicBezTo>
                    <a:cubicBezTo>
                      <a:pt x="0" y="34827"/>
                      <a:pt x="34827" y="0"/>
                      <a:pt x="77787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44450">
                <a:solidFill>
                  <a:srgbClr val="1E40A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73125" y="828675"/>
                <a:ext cx="155575" cy="300037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300037">
                    <a:moveTo>
                      <a:pt x="0" y="140017"/>
                    </a:moveTo>
                    <a:lnTo>
                      <a:pt x="0" y="77787"/>
                    </a:lnTo>
                    <a:cubicBezTo>
                      <a:pt x="0" y="34827"/>
                      <a:pt x="34827" y="0"/>
                      <a:pt x="77787" y="0"/>
                    </a:cubicBezTo>
                    <a:cubicBezTo>
                      <a:pt x="120748" y="0"/>
                      <a:pt x="155575" y="34827"/>
                      <a:pt x="155575" y="77787"/>
                    </a:cubicBezTo>
                    <a:lnTo>
                      <a:pt x="155575" y="300037"/>
                    </a:lnTo>
                  </a:path>
                </a:pathLst>
              </a:custGeom>
              <a:noFill/>
              <a:ln w="44450">
                <a:solidFill>
                  <a:srgbClr val="1E40AF"/>
                </a:solidFill>
              </a:ln>
            </p:spPr>
          </p:sp>
        </p:grpSp>
        <p:sp>
          <p:nvSpPr>
            <p:cNvPr id="14" name="Rectangle 14"/>
            <p:cNvSpPr/>
            <p:nvPr/>
          </p:nvSpPr>
          <p:spPr>
            <a:xfrm>
              <a:off x="762000" y="1428750"/>
              <a:ext cx="76200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3712" y="161163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机器学习筛选鲜味肽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618" y="2203132"/>
              <a:ext cx="274091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从传统肽组学到智能虚拟筛选</a:t>
              </a:r>
              <a:br/>
              <a:r>
                <a:rPr lang="zh-CN" sz="16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的技术范式升级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048000"/>
              <a:ext cx="5334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142" y="3188018"/>
              <a:ext cx="31512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食品科学 × 生物信息学 × 人工智能</a:t>
              </a:r>
              <a:br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高效 · 精准 · 低成本的鲜味肽发现新路径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000500"/>
              <a:ext cx="1524000" cy="762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49325" y="4162425"/>
              <a:ext cx="177801" cy="153988"/>
              <a:chOff x="949325" y="4162425"/>
              <a:chExt cx="177801" cy="1539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49325" y="4306888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49325" y="41624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100013"/>
                    </a:moveTo>
                    <a:lnTo>
                      <a:pt x="44450" y="33338"/>
                    </a:lnTo>
                    <a:lnTo>
                      <a:pt x="88900" y="55563"/>
                    </a:lnTo>
                    <a:lnTo>
                      <a:pt x="133350" y="0"/>
                    </a:lnTo>
                    <a:lnTo>
                      <a:pt x="177801" y="4445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231392" y="4140518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96.5%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8017" y="4378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准确率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476500" y="4000500"/>
              <a:ext cx="1524000" cy="762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2658436" y="4134811"/>
              <a:ext cx="188579" cy="188579"/>
              <a:chOff x="2658436" y="4134811"/>
              <a:chExt cx="188579" cy="18857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704454" y="4181485"/>
                <a:ext cx="95887" cy="95887"/>
              </a:xfrm>
              <a:custGeom>
                <a:avLst/>
                <a:gdLst/>
                <a:ahLst/>
                <a:cxnLst/>
                <a:rect l="l" t="t" r="r" b="b"/>
                <a:pathLst>
                  <a:path w="95887" h="95887">
                    <a:moveTo>
                      <a:pt x="79698" y="79042"/>
                    </a:moveTo>
                    <a:cubicBezTo>
                      <a:pt x="91253" y="67881"/>
                      <a:pt x="95887" y="51355"/>
                      <a:pt x="91819" y="35814"/>
                    </a:cubicBezTo>
                    <a:cubicBezTo>
                      <a:pt x="87751" y="20273"/>
                      <a:pt x="75615" y="8136"/>
                      <a:pt x="60073" y="4068"/>
                    </a:cubicBezTo>
                    <a:cubicBezTo>
                      <a:pt x="44532" y="0"/>
                      <a:pt x="28006" y="4634"/>
                      <a:pt x="16845" y="16189"/>
                    </a:cubicBezTo>
                    <a:cubicBezTo>
                      <a:pt x="0" y="33631"/>
                      <a:pt x="241" y="61354"/>
                      <a:pt x="17387" y="78500"/>
                    </a:cubicBezTo>
                    <a:cubicBezTo>
                      <a:pt x="34533" y="95646"/>
                      <a:pt x="62257" y="95887"/>
                      <a:pt x="79698" y="79042"/>
                    </a:cubicBez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58436" y="4243167"/>
                <a:ext cx="80223" cy="80223"/>
              </a:xfrm>
              <a:custGeom>
                <a:avLst/>
                <a:gdLst/>
                <a:ahLst/>
                <a:cxnLst/>
                <a:rect l="l" t="t" r="r" b="b"/>
                <a:pathLst>
                  <a:path w="80223" h="80223">
                    <a:moveTo>
                      <a:pt x="62864" y="80223"/>
                    </a:moveTo>
                    <a:cubicBezTo>
                      <a:pt x="80223" y="62864"/>
                      <a:pt x="80223" y="34719"/>
                      <a:pt x="62864" y="17359"/>
                    </a:cubicBezTo>
                    <a:cubicBezTo>
                      <a:pt x="45504" y="0"/>
                      <a:pt x="17359" y="0"/>
                      <a:pt x="0" y="17359"/>
                    </a:cubicBez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766792" y="4134811"/>
                <a:ext cx="80223" cy="80223"/>
              </a:xfrm>
              <a:custGeom>
                <a:avLst/>
                <a:gdLst/>
                <a:ahLst/>
                <a:cxnLst/>
                <a:rect l="l" t="t" r="r" b="b"/>
                <a:pathLst>
                  <a:path w="80223" h="80223">
                    <a:moveTo>
                      <a:pt x="17359" y="0"/>
                    </a:moveTo>
                    <a:cubicBezTo>
                      <a:pt x="0" y="17359"/>
                      <a:pt x="0" y="45504"/>
                      <a:pt x="17359" y="62864"/>
                    </a:cubicBezTo>
                    <a:cubicBezTo>
                      <a:pt x="34719" y="80223"/>
                      <a:pt x="62864" y="80223"/>
                      <a:pt x="80223" y="62864"/>
                    </a:cubicBez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945892" y="4140518"/>
              <a:ext cx="510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637种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12517" y="4378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鲜味肽鉴定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191000" y="4000500"/>
              <a:ext cx="1524000" cy="762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4399463" y="4129088"/>
              <a:ext cx="135524" cy="200026"/>
              <a:chOff x="4399463" y="4129088"/>
              <a:chExt cx="135524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433888" y="4129088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445000" y="4195763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399463" y="4129088"/>
                <a:ext cx="135524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35524" h="200026">
                    <a:moveTo>
                      <a:pt x="45537" y="0"/>
                    </a:moveTo>
                    <a:lnTo>
                      <a:pt x="45537" y="66675"/>
                    </a:lnTo>
                    <a:lnTo>
                      <a:pt x="1087" y="188913"/>
                    </a:lnTo>
                    <a:cubicBezTo>
                      <a:pt x="0" y="191100"/>
                      <a:pt x="3" y="193670"/>
                      <a:pt x="1095" y="195854"/>
                    </a:cubicBezTo>
                    <a:cubicBezTo>
                      <a:pt x="2187" y="198039"/>
                      <a:pt x="4242" y="199583"/>
                      <a:pt x="6643" y="200026"/>
                    </a:cubicBezTo>
                    <a:lnTo>
                      <a:pt x="128881" y="200026"/>
                    </a:lnTo>
                    <a:cubicBezTo>
                      <a:pt x="131283" y="199583"/>
                      <a:pt x="133337" y="198039"/>
                      <a:pt x="134429" y="195854"/>
                    </a:cubicBezTo>
                    <a:cubicBezTo>
                      <a:pt x="135521" y="193670"/>
                      <a:pt x="135524" y="191100"/>
                      <a:pt x="134437" y="188913"/>
                    </a:cubicBezTo>
                    <a:lnTo>
                      <a:pt x="89987" y="66675"/>
                    </a:lnTo>
                    <a:lnTo>
                      <a:pt x="89987" y="0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4660392" y="4140518"/>
              <a:ext cx="739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580C"/>
                  </a:solidFill>
                  <a:latin typeface="Arial"/>
                  <a:ea typeface="Arial"/>
                  <a:cs typeface="Arial"/>
                </a:rPr>
                <a:t>0.22mM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27017" y="4378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最低阈值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4997768"/>
              <a:ext cx="3795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2026 学术报告 | PPT-Master 生成 | 可编辑版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429500" y="762000"/>
            <a:ext cx="4000500" cy="4762500"/>
            <a:chOff x="7429500" y="762000"/>
            <a:chExt cx="4000500" cy="4762500"/>
          </a:xfrm>
        </p:grpSpPr>
        <p:sp>
          <p:nvSpPr>
            <p:cNvPr id="41" name="Rectangle 41"/>
            <p:cNvSpPr/>
            <p:nvPr/>
          </p:nvSpPr>
          <p:spPr>
            <a:xfrm>
              <a:off x="7429500" y="762000"/>
              <a:ext cx="4000500" cy="4762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181975" y="1133475"/>
              <a:ext cx="514350" cy="514350"/>
              <a:chOff x="8181975" y="1133475"/>
              <a:chExt cx="514350" cy="5143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439150" y="1419225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100012" y="0"/>
                    </a:moveTo>
                    <a:cubicBezTo>
                      <a:pt x="44777" y="0"/>
                      <a:pt x="0" y="44777"/>
                      <a:pt x="0" y="100012"/>
                    </a:cubicBezTo>
                    <a:lnTo>
                      <a:pt x="0" y="128588"/>
                    </a:lnTo>
                    <a:cubicBezTo>
                      <a:pt x="0" y="183823"/>
                      <a:pt x="44777" y="228600"/>
                      <a:pt x="100012" y="228600"/>
                    </a:cubicBezTo>
                    <a:cubicBezTo>
                      <a:pt x="155248" y="228600"/>
                      <a:pt x="200025" y="183823"/>
                      <a:pt x="200025" y="128588"/>
                    </a:cubicBezTo>
                    <a:lnTo>
                      <a:pt x="200025" y="77152"/>
                    </a:lnTo>
                  </a:path>
                </a:pathLst>
              </a:custGeom>
              <a:noFill/>
              <a:ln w="57150">
                <a:solidFill>
                  <a:srgbClr val="1E40A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39125" y="1419225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100012" y="0"/>
                    </a:moveTo>
                    <a:cubicBezTo>
                      <a:pt x="155248" y="0"/>
                      <a:pt x="200025" y="44777"/>
                      <a:pt x="200025" y="100012"/>
                    </a:cubicBezTo>
                    <a:lnTo>
                      <a:pt x="200025" y="128588"/>
                    </a:lnTo>
                    <a:cubicBezTo>
                      <a:pt x="200025" y="183823"/>
                      <a:pt x="155248" y="228600"/>
                      <a:pt x="100012" y="228600"/>
                    </a:cubicBezTo>
                    <a:cubicBezTo>
                      <a:pt x="44777" y="228600"/>
                      <a:pt x="0" y="183823"/>
                      <a:pt x="0" y="128588"/>
                    </a:cubicBezTo>
                    <a:lnTo>
                      <a:pt x="0" y="77152"/>
                    </a:lnTo>
                  </a:path>
                </a:pathLst>
              </a:custGeom>
              <a:noFill/>
              <a:ln w="57150">
                <a:solidFill>
                  <a:srgbClr val="1E40A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582025" y="1304925"/>
                <a:ext cx="1143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0025">
                    <a:moveTo>
                      <a:pt x="14288" y="200025"/>
                    </a:moveTo>
                    <a:cubicBezTo>
                      <a:pt x="69523" y="200025"/>
                      <a:pt x="114300" y="155248"/>
                      <a:pt x="114300" y="100012"/>
                    </a:cubicBezTo>
                    <a:cubicBezTo>
                      <a:pt x="114300" y="44777"/>
                      <a:pt x="69523" y="0"/>
                      <a:pt x="1428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57150">
                <a:solidFill>
                  <a:srgbClr val="1E40A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439150" y="1133475"/>
                <a:ext cx="200025" cy="18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80023">
                    <a:moveTo>
                      <a:pt x="200025" y="180023"/>
                    </a:moveTo>
                    <a:lnTo>
                      <a:pt x="200025" y="100012"/>
                    </a:ln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57150">
                <a:solidFill>
                  <a:srgbClr val="1E40A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81975" y="1304925"/>
                <a:ext cx="1143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0025">
                    <a:moveTo>
                      <a:pt x="100012" y="200025"/>
                    </a:move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57150">
                <a:solidFill>
                  <a:srgbClr val="1E40A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39125" y="1133475"/>
                <a:ext cx="200025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385762">
                    <a:moveTo>
                      <a:pt x="0" y="180023"/>
                    </a:moveTo>
                    <a:lnTo>
                      <a:pt x="0" y="100012"/>
                    </a:ln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lnTo>
                      <a:pt x="200025" y="385762"/>
                    </a:lnTo>
                  </a:path>
                </a:pathLst>
              </a:custGeom>
              <a:noFill/>
              <a:ln w="57150">
                <a:solidFill>
                  <a:srgbClr val="1E40A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945880" y="1219200"/>
              <a:ext cx="6995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AI 预测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46642" y="1473518"/>
              <a:ext cx="1155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Transformer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8296046" y="2085975"/>
              <a:ext cx="285979" cy="514750"/>
              <a:chOff x="8296046" y="2085975"/>
              <a:chExt cx="285979" cy="51475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296046" y="2085975"/>
                <a:ext cx="285979" cy="514750"/>
              </a:xfrm>
              <a:custGeom>
                <a:avLst/>
                <a:gdLst/>
                <a:ahLst/>
                <a:cxnLst/>
                <a:rect l="l" t="t" r="r" b="b"/>
                <a:pathLst>
                  <a:path w="285979" h="514750">
                    <a:moveTo>
                      <a:pt x="285979" y="0"/>
                    </a:moveTo>
                    <a:lnTo>
                      <a:pt x="285979" y="28575"/>
                    </a:lnTo>
                    <a:cubicBezTo>
                      <a:pt x="285693" y="124358"/>
                      <a:pt x="237973" y="200682"/>
                      <a:pt x="142875" y="257575"/>
                    </a:cubicBezTo>
                    <a:cubicBezTo>
                      <a:pt x="47777" y="314439"/>
                      <a:pt x="238201" y="200425"/>
                      <a:pt x="143104" y="257175"/>
                    </a:cubicBezTo>
                    <a:cubicBezTo>
                      <a:pt x="48006" y="314039"/>
                      <a:pt x="229" y="390392"/>
                      <a:pt x="0" y="486175"/>
                    </a:cubicBezTo>
                    <a:lnTo>
                      <a:pt x="0" y="514750"/>
                    </a:lnTo>
                  </a:path>
                </a:pathLst>
              </a:custGeom>
              <a:noFill/>
              <a:ln w="57150">
                <a:solidFill>
                  <a:srgbClr val="0E749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96046" y="2085975"/>
                <a:ext cx="285979" cy="514750"/>
              </a:xfrm>
              <a:custGeom>
                <a:avLst/>
                <a:gdLst/>
                <a:ahLst/>
                <a:cxnLst/>
                <a:rect l="l" t="t" r="r" b="b"/>
                <a:pathLst>
                  <a:path w="285979" h="514750">
                    <a:moveTo>
                      <a:pt x="285979" y="514750"/>
                    </a:moveTo>
                    <a:lnTo>
                      <a:pt x="285979" y="486175"/>
                    </a:lnTo>
                    <a:cubicBezTo>
                      <a:pt x="285693" y="390392"/>
                      <a:pt x="237973" y="314068"/>
                      <a:pt x="142875" y="257175"/>
                    </a:cubicBezTo>
                    <a:cubicBezTo>
                      <a:pt x="47777" y="200311"/>
                      <a:pt x="238201" y="314325"/>
                      <a:pt x="143104" y="257575"/>
                    </a:cubicBezTo>
                    <a:cubicBezTo>
                      <a:pt x="48006" y="200682"/>
                      <a:pt x="229" y="124358"/>
                      <a:pt x="0" y="28575"/>
                    </a:cubicBezTo>
                    <a:lnTo>
                      <a:pt x="0" y="0"/>
                    </a:lnTo>
                  </a:path>
                </a:pathLst>
              </a:custGeom>
              <a:noFill/>
              <a:ln w="57150">
                <a:solidFill>
                  <a:srgbClr val="0E749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96275" y="21145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57150">
                <a:solidFill>
                  <a:srgbClr val="0E749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96275" y="25717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57150">
                <a:solidFill>
                  <a:srgbClr val="0E749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24850" y="22288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57150">
                <a:solidFill>
                  <a:srgbClr val="0E749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24850" y="24574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57150">
                <a:solidFill>
                  <a:srgbClr val="0E7490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945880" y="21717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肽组学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46642" y="2426018"/>
              <a:ext cx="935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LC-MS/MS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8192462" y="3048962"/>
              <a:ext cx="493376" cy="493376"/>
              <a:chOff x="8192462" y="3048962"/>
              <a:chExt cx="493376" cy="49337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439150" y="3295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86"/>
                    </a:lnTo>
                  </a:path>
                </a:pathLst>
              </a:custGeom>
              <a:noFill/>
              <a:ln w="57150">
                <a:solidFill>
                  <a:srgbClr val="EA58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92462" y="3048962"/>
                <a:ext cx="493376" cy="493376"/>
              </a:xfrm>
              <a:custGeom>
                <a:avLst/>
                <a:gdLst/>
                <a:ahLst/>
                <a:cxnLst/>
                <a:rect l="l" t="t" r="r" b="b"/>
                <a:pathLst>
                  <a:path w="493376" h="493376">
                    <a:moveTo>
                      <a:pt x="448742" y="44634"/>
                    </a:moveTo>
                    <a:cubicBezTo>
                      <a:pt x="404108" y="0"/>
                      <a:pt x="277292" y="54264"/>
                      <a:pt x="165849" y="165878"/>
                    </a:cubicBezTo>
                    <a:cubicBezTo>
                      <a:pt x="54264" y="277463"/>
                      <a:pt x="0" y="404108"/>
                      <a:pt x="44634" y="448770"/>
                    </a:cubicBezTo>
                    <a:cubicBezTo>
                      <a:pt x="89268" y="493376"/>
                      <a:pt x="216084" y="439112"/>
                      <a:pt x="327527" y="327498"/>
                    </a:cubicBezTo>
                    <a:cubicBezTo>
                      <a:pt x="439112" y="215913"/>
                      <a:pt x="493376" y="89268"/>
                      <a:pt x="448742" y="44606"/>
                    </a:cubicBezTo>
                  </a:path>
                </a:pathLst>
              </a:custGeom>
              <a:noFill/>
              <a:ln w="57150">
                <a:solidFill>
                  <a:srgbClr val="EA58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92462" y="3048962"/>
                <a:ext cx="493376" cy="493376"/>
              </a:xfrm>
              <a:custGeom>
                <a:avLst/>
                <a:gdLst/>
                <a:ahLst/>
                <a:cxnLst/>
                <a:rect l="l" t="t" r="r" b="b"/>
                <a:pathLst>
                  <a:path w="493376" h="493376">
                    <a:moveTo>
                      <a:pt x="44634" y="44634"/>
                    </a:moveTo>
                    <a:cubicBezTo>
                      <a:pt x="0" y="89268"/>
                      <a:pt x="54264" y="216084"/>
                      <a:pt x="165878" y="327527"/>
                    </a:cubicBezTo>
                    <a:cubicBezTo>
                      <a:pt x="277463" y="439112"/>
                      <a:pt x="404108" y="493376"/>
                      <a:pt x="448770" y="448742"/>
                    </a:cubicBezTo>
                    <a:cubicBezTo>
                      <a:pt x="493376" y="404108"/>
                      <a:pt x="439112" y="277292"/>
                      <a:pt x="327498" y="165849"/>
                    </a:cubicBezTo>
                    <a:cubicBezTo>
                      <a:pt x="215913" y="54264"/>
                      <a:pt x="89268" y="0"/>
                      <a:pt x="44606" y="44634"/>
                    </a:cubicBezTo>
                  </a:path>
                </a:pathLst>
              </a:custGeom>
              <a:noFill/>
              <a:ln w="57150">
                <a:solidFill>
                  <a:srgbClr val="EA58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945880" y="3124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分子对接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46642" y="3378518"/>
              <a:ext cx="964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T1R1/T1R3</a:t>
              </a:r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8239125" y="3990975"/>
              <a:ext cx="428625" cy="523875"/>
              <a:chOff x="8239125" y="3990975"/>
              <a:chExt cx="428625" cy="52387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239125" y="4505325"/>
                <a:ext cx="400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9525">
                    <a:moveTo>
                      <a:pt x="0" y="0"/>
                    </a:moveTo>
                    <a:lnTo>
                      <a:pt x="400050" y="0"/>
                    </a:lnTo>
                  </a:path>
                </a:pathLst>
              </a:custGeom>
              <a:noFill/>
              <a:ln w="57150">
                <a:solidFill>
                  <a:srgbClr val="0F172A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67700" y="44196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57150">
                <a:solidFill>
                  <a:srgbClr val="0F172A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96275" y="441960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57150">
                <a:solidFill>
                  <a:srgbClr val="0F172A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53425" y="4048125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71450"/>
                    </a:moveTo>
                    <a:lnTo>
                      <a:pt x="85725" y="257175"/>
                    </a:lnTo>
                    <a:lnTo>
                      <a:pt x="257175" y="85725"/>
                    </a:lnTo>
                    <a:lnTo>
                      <a:pt x="171450" y="0"/>
                    </a:lnTo>
                    <a:lnTo>
                      <a:pt x="0" y="171450"/>
                    </a:lnTo>
                  </a:path>
                </a:pathLst>
              </a:custGeom>
              <a:noFill/>
              <a:ln w="57150">
                <a:solidFill>
                  <a:srgbClr val="0F172A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53425" y="4262438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42862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57150">
                <a:solidFill>
                  <a:srgbClr val="0F172A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582025" y="399097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57150">
                <a:solidFill>
                  <a:srgbClr val="0F172A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439150" y="4199230"/>
                <a:ext cx="185934" cy="306102"/>
              </a:xfrm>
              <a:custGeom>
                <a:avLst/>
                <a:gdLst/>
                <a:ahLst/>
                <a:cxnLst/>
                <a:rect l="l" t="t" r="r" b="b"/>
                <a:pathLst>
                  <a:path w="185934" h="306102">
                    <a:moveTo>
                      <a:pt x="0" y="306095"/>
                    </a:moveTo>
                    <a:cubicBezTo>
                      <a:pt x="73042" y="306102"/>
                      <a:pt x="138068" y="259833"/>
                      <a:pt x="162001" y="190823"/>
                    </a:cubicBezTo>
                    <a:cubicBezTo>
                      <a:pt x="185934" y="121814"/>
                      <a:pt x="163518" y="45218"/>
                      <a:pt x="106156" y="0"/>
                    </a:cubicBezTo>
                  </a:path>
                </a:pathLst>
              </a:custGeom>
              <a:noFill/>
              <a:ln w="57150">
                <a:solidFill>
                  <a:srgbClr val="0F172A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8945880" y="4076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感官验证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46642" y="43310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电子舌+人工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715250" y="4857750"/>
              <a:ext cx="3429000" cy="476250"/>
            </a:xfrm>
            <a:prstGeom prst="roundRect">
              <a:avLst>
                <a:gd name="adj" fmla="val 24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00122" y="4997768"/>
              <a:ext cx="1859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闭环：预测-对接-验证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3810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62000" y="550545"/>
            <a:ext cx="2267834" cy="469392"/>
            <a:chOff x="762000" y="550545"/>
            <a:chExt cx="2267834" cy="469392"/>
          </a:xfrm>
        </p:grpSpPr>
        <p:grpSp>
          <p:nvGrpSpPr>
            <p:cNvPr id="6" name="Group 6"/>
            <p:cNvGrpSpPr/>
            <p:nvPr/>
          </p:nvGrpSpPr>
          <p:grpSpPr>
            <a:xfrm>
              <a:off x="804862" y="614362"/>
              <a:ext cx="257175" cy="257175"/>
              <a:chOff x="804862" y="614362"/>
              <a:chExt cx="257175" cy="2571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804862" y="614362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37148" y="37148"/>
                    </a:moveTo>
                    <a:lnTo>
                      <a:pt x="47149" y="47149"/>
                    </a:lnTo>
                    <a:moveTo>
                      <a:pt x="220027" y="37148"/>
                    </a:moveTo>
                    <a:lnTo>
                      <a:pt x="210026" y="47149"/>
                    </a:ln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55955" y="671512"/>
                <a:ext cx="15499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4990" h="200025">
                    <a:moveTo>
                      <a:pt x="34633" y="128588"/>
                    </a:moveTo>
                    <a:cubicBezTo>
                      <a:pt x="10034" y="110138"/>
                      <a:pt x="0" y="78018"/>
                      <a:pt x="9724" y="48847"/>
                    </a:cubicBezTo>
                    <a:cubicBezTo>
                      <a:pt x="19447" y="19676"/>
                      <a:pt x="46746" y="0"/>
                      <a:pt x="77495" y="0"/>
                    </a:cubicBezTo>
                    <a:cubicBezTo>
                      <a:pt x="108244" y="0"/>
                      <a:pt x="135543" y="19676"/>
                      <a:pt x="145267" y="48847"/>
                    </a:cubicBezTo>
                    <a:cubicBezTo>
                      <a:pt x="154990" y="78018"/>
                      <a:pt x="144957" y="110138"/>
                      <a:pt x="120358" y="128588"/>
                    </a:cubicBezTo>
                    <a:cubicBezTo>
                      <a:pt x="109044" y="139786"/>
                      <a:pt x="103739" y="155703"/>
                      <a:pt x="106070" y="171450"/>
                    </a:cubicBezTo>
                    <a:cubicBezTo>
                      <a:pt x="106070" y="187232"/>
                      <a:pt x="93277" y="200025"/>
                      <a:pt x="77495" y="200025"/>
                    </a:cubicBezTo>
                    <a:cubicBezTo>
                      <a:pt x="61714" y="200025"/>
                      <a:pt x="48920" y="187232"/>
                      <a:pt x="48920" y="171450"/>
                    </a:cubicBezTo>
                    <a:cubicBezTo>
                      <a:pt x="51252" y="155703"/>
                      <a:pt x="45946" y="139786"/>
                      <a:pt x="34633" y="128588"/>
                    </a:cubicBez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900589" y="814388"/>
                <a:ext cx="6572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9525">
                    <a:moveTo>
                      <a:pt x="0" y="0"/>
                    </a:moveTo>
                    <a:lnTo>
                      <a:pt x="65723" y="0"/>
                    </a:ln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1226058" y="55054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88642" y="663892"/>
              <a:ext cx="9411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952500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762000" y="1238250"/>
            <a:ext cx="5143500" cy="4953000"/>
            <a:chOff x="762000" y="1238250"/>
            <a:chExt cx="5143500" cy="4953000"/>
          </a:xfrm>
        </p:grpSpPr>
        <p:sp>
          <p:nvSpPr>
            <p:cNvPr id="11" name="Rectangle 11"/>
            <p:cNvSpPr/>
            <p:nvPr/>
          </p:nvSpPr>
          <p:spPr>
            <a:xfrm>
              <a:off x="762000" y="1238250"/>
              <a:ext cx="5143500" cy="552450"/>
            </a:xfrm>
            <a:prstGeom prst="roundRect">
              <a:avLst>
                <a:gd name="adj" fmla="val 24138"/>
              </a:avLst>
            </a:prstGeom>
            <a:solidFill>
              <a:srgbClr val="F8FAFC"/>
            </a:solidFill>
            <a:ln w="7620">
              <a:solidFill>
                <a:srgbClr val="E2E8F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49515" y="1378140"/>
              <a:ext cx="215519" cy="215519"/>
              <a:chOff x="949515" y="1378140"/>
              <a:chExt cx="215519" cy="21551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02107" y="1431482"/>
                <a:ext cx="109585" cy="109585"/>
              </a:xfrm>
              <a:custGeom>
                <a:avLst/>
                <a:gdLst/>
                <a:ahLst/>
                <a:cxnLst/>
                <a:rect l="l" t="t" r="r" b="b"/>
                <a:pathLst>
                  <a:path w="109585" h="109585">
                    <a:moveTo>
                      <a:pt x="91083" y="90333"/>
                    </a:moveTo>
                    <a:cubicBezTo>
                      <a:pt x="104289" y="77578"/>
                      <a:pt x="109585" y="58691"/>
                      <a:pt x="104936" y="40930"/>
                    </a:cubicBezTo>
                    <a:cubicBezTo>
                      <a:pt x="100287" y="23169"/>
                      <a:pt x="86416" y="9298"/>
                      <a:pt x="68655" y="4649"/>
                    </a:cubicBezTo>
                    <a:cubicBezTo>
                      <a:pt x="50894" y="0"/>
                      <a:pt x="32006" y="5296"/>
                      <a:pt x="19252" y="18502"/>
                    </a:cubicBezTo>
                    <a:cubicBezTo>
                      <a:pt x="0" y="38435"/>
                      <a:pt x="275" y="70119"/>
                      <a:pt x="19871" y="89714"/>
                    </a:cubicBezTo>
                    <a:cubicBezTo>
                      <a:pt x="39466" y="109309"/>
                      <a:pt x="71150" y="109585"/>
                      <a:pt x="91083" y="90333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49515" y="1501976"/>
                <a:ext cx="91683" cy="91683"/>
              </a:xfrm>
              <a:custGeom>
                <a:avLst/>
                <a:gdLst/>
                <a:ahLst/>
                <a:cxnLst/>
                <a:rect l="l" t="t" r="r" b="b"/>
                <a:pathLst>
                  <a:path w="91683" h="91683">
                    <a:moveTo>
                      <a:pt x="71844" y="91683"/>
                    </a:moveTo>
                    <a:cubicBezTo>
                      <a:pt x="91683" y="71844"/>
                      <a:pt x="91683" y="39678"/>
                      <a:pt x="71844" y="19839"/>
                    </a:cubicBezTo>
                    <a:cubicBezTo>
                      <a:pt x="52005" y="0"/>
                      <a:pt x="19839" y="0"/>
                      <a:pt x="0" y="19839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3351" y="1378140"/>
                <a:ext cx="91683" cy="91683"/>
              </a:xfrm>
              <a:custGeom>
                <a:avLst/>
                <a:gdLst/>
                <a:ahLst/>
                <a:cxnLst/>
                <a:rect l="l" t="t" r="r" b="b"/>
                <a:pathLst>
                  <a:path w="91683" h="91683">
                    <a:moveTo>
                      <a:pt x="19839" y="0"/>
                    </a:moveTo>
                    <a:cubicBezTo>
                      <a:pt x="0" y="19839"/>
                      <a:pt x="0" y="52005"/>
                      <a:pt x="19839" y="71844"/>
                    </a:cubicBezTo>
                    <a:cubicBezTo>
                      <a:pt x="39678" y="91683"/>
                      <a:pt x="71844" y="91683"/>
                      <a:pt x="91683" y="71844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79017" y="13020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59255" y="12858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鲜味肽基础与机制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0017" y="1521142"/>
              <a:ext cx="1348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T1R1/T1R3受体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1866900"/>
              <a:ext cx="5143500" cy="552450"/>
            </a:xfrm>
            <a:prstGeom prst="roundRect">
              <a:avLst>
                <a:gd name="adj" fmla="val 24138"/>
              </a:avLst>
            </a:prstGeom>
            <a:solidFill>
              <a:srgbClr val="F8FAFC"/>
            </a:solidFill>
            <a:ln w="7620">
              <a:solidFill>
                <a:srgbClr val="E2E8F0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942975" y="2012950"/>
              <a:ext cx="228600" cy="212724"/>
              <a:chOff x="942975" y="2012950"/>
              <a:chExt cx="228600" cy="21272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42975" y="21145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95375" y="206375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19175" y="2012950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55675" y="2216149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279017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59255" y="1914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筛选价值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60017" y="2149792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风味·健康·产业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2495550"/>
              <a:ext cx="5143500" cy="552450"/>
            </a:xfrm>
            <a:prstGeom prst="roundRect">
              <a:avLst>
                <a:gd name="adj" fmla="val 24138"/>
              </a:avLst>
            </a:prstGeom>
            <a:solidFill>
              <a:srgbClr val="F8FAFC"/>
            </a:solidFill>
            <a:ln w="7620">
              <a:solidFill>
                <a:srgbClr val="E2E8F0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79833" y="2628900"/>
              <a:ext cx="154884" cy="228599"/>
              <a:chOff x="979833" y="2628900"/>
              <a:chExt cx="154884" cy="22859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019175" y="26289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31875" y="27051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79833" y="2628900"/>
                <a:ext cx="154884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54884" h="228599">
                    <a:moveTo>
                      <a:pt x="52042" y="0"/>
                    </a:moveTo>
                    <a:lnTo>
                      <a:pt x="52042" y="76200"/>
                    </a:lnTo>
                    <a:lnTo>
                      <a:pt x="1242" y="215899"/>
                    </a:lnTo>
                    <a:cubicBezTo>
                      <a:pt x="0" y="218399"/>
                      <a:pt x="3" y="221336"/>
                      <a:pt x="1252" y="223832"/>
                    </a:cubicBezTo>
                    <a:cubicBezTo>
                      <a:pt x="2500" y="226329"/>
                      <a:pt x="4848" y="228094"/>
                      <a:pt x="7592" y="228599"/>
                    </a:cubicBezTo>
                    <a:lnTo>
                      <a:pt x="147292" y="228599"/>
                    </a:lnTo>
                    <a:cubicBezTo>
                      <a:pt x="150037" y="228094"/>
                      <a:pt x="152385" y="226329"/>
                      <a:pt x="153633" y="223832"/>
                    </a:cubicBezTo>
                    <a:cubicBezTo>
                      <a:pt x="154881" y="221336"/>
                      <a:pt x="154884" y="218399"/>
                      <a:pt x="153642" y="215899"/>
                    </a:cubicBezTo>
                    <a:lnTo>
                      <a:pt x="102842" y="76200"/>
                    </a:lnTo>
                    <a:lnTo>
                      <a:pt x="102842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279017" y="25593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59255" y="25431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传统方法瓶颈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60017" y="2778442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耗时·高成本·低通量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3124200"/>
              <a:ext cx="5143500" cy="552450"/>
            </a:xfrm>
            <a:prstGeom prst="roundRect">
              <a:avLst>
                <a:gd name="adj" fmla="val 24138"/>
              </a:avLst>
            </a:prstGeom>
            <a:solidFill>
              <a:srgbClr val="F8FAFC"/>
            </a:solidFill>
            <a:ln w="7620">
              <a:solidFill>
                <a:srgbClr val="E2E8F0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42975" y="3257550"/>
              <a:ext cx="228599" cy="228600"/>
              <a:chOff x="942975" y="3257550"/>
              <a:chExt cx="228599" cy="2286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57275" y="33845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68375" y="33845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20774" y="33337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57275" y="325755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2975" y="33337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68375" y="325755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279017" y="31880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59255" y="3171825"/>
              <a:ext cx="733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ML优势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60017" y="3407092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高通量·低成本·可解释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62000" y="3752850"/>
              <a:ext cx="5143500" cy="552450"/>
            </a:xfrm>
            <a:prstGeom prst="roundRect">
              <a:avLst>
                <a:gd name="adj" fmla="val 24138"/>
              </a:avLst>
            </a:prstGeom>
            <a:solidFill>
              <a:srgbClr val="F8FAFC"/>
            </a:solidFill>
            <a:ln w="7620">
              <a:solidFill>
                <a:srgbClr val="E2E8F0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55675" y="3886200"/>
              <a:ext cx="203199" cy="228600"/>
              <a:chOff x="955675" y="3886200"/>
              <a:chExt cx="203199" cy="228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55675" y="388620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55675" y="39243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55675" y="40005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279017" y="38166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659255" y="38004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主流模型对比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660017" y="4035742"/>
              <a:ext cx="1885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SCM/FRL/MRNN/BERT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62000" y="4381500"/>
              <a:ext cx="5143500" cy="552450"/>
            </a:xfrm>
            <a:prstGeom prst="roundRect">
              <a:avLst>
                <a:gd name="adj" fmla="val 24138"/>
              </a:avLst>
            </a:prstGeom>
            <a:solidFill>
              <a:srgbClr val="F8FAFC"/>
            </a:solidFill>
            <a:ln w="7620">
              <a:solidFill>
                <a:srgbClr val="E2E8F0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947636" y="4519511"/>
              <a:ext cx="219278" cy="219278"/>
              <a:chOff x="947636" y="4519511"/>
              <a:chExt cx="219278" cy="21927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1057275" y="462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47636" y="4519511"/>
                <a:ext cx="219278" cy="219278"/>
              </a:xfrm>
              <a:custGeom>
                <a:avLst/>
                <a:gdLst/>
                <a:ahLst/>
                <a:cxnLst/>
                <a:rect l="l" t="t" r="r" b="b"/>
                <a:pathLst>
                  <a:path w="219278" h="219278">
                    <a:moveTo>
                      <a:pt x="199440" y="19837"/>
                    </a:moveTo>
                    <a:cubicBezTo>
                      <a:pt x="179603" y="0"/>
                      <a:pt x="123240" y="24117"/>
                      <a:pt x="73711" y="73723"/>
                    </a:cubicBezTo>
                    <a:cubicBezTo>
                      <a:pt x="24117" y="123317"/>
                      <a:pt x="0" y="179603"/>
                      <a:pt x="19837" y="199453"/>
                    </a:cubicBezTo>
                    <a:cubicBezTo>
                      <a:pt x="39675" y="219278"/>
                      <a:pt x="96037" y="195160"/>
                      <a:pt x="145567" y="145554"/>
                    </a:cubicBezTo>
                    <a:cubicBezTo>
                      <a:pt x="195160" y="95961"/>
                      <a:pt x="219278" y="39675"/>
                      <a:pt x="199440" y="19825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47636" y="4519511"/>
                <a:ext cx="219278" cy="219278"/>
              </a:xfrm>
              <a:custGeom>
                <a:avLst/>
                <a:gdLst/>
                <a:ahLst/>
                <a:cxnLst/>
                <a:rect l="l" t="t" r="r" b="b"/>
                <a:pathLst>
                  <a:path w="219278" h="219278">
                    <a:moveTo>
                      <a:pt x="19837" y="19837"/>
                    </a:moveTo>
                    <a:cubicBezTo>
                      <a:pt x="0" y="39675"/>
                      <a:pt x="24117" y="96037"/>
                      <a:pt x="73723" y="145567"/>
                    </a:cubicBezTo>
                    <a:cubicBezTo>
                      <a:pt x="123317" y="195160"/>
                      <a:pt x="179603" y="219278"/>
                      <a:pt x="199453" y="199440"/>
                    </a:cubicBezTo>
                    <a:cubicBezTo>
                      <a:pt x="219278" y="179603"/>
                      <a:pt x="195160" y="123240"/>
                      <a:pt x="145554" y="73711"/>
                    </a:cubicBezTo>
                    <a:cubicBezTo>
                      <a:pt x="95961" y="24117"/>
                      <a:pt x="39675" y="0"/>
                      <a:pt x="19825" y="19837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279017" y="444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659255" y="4429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特征工程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660017" y="4664392"/>
              <a:ext cx="1885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AAC/DPC/CTD/SMOTE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62000" y="5010150"/>
              <a:ext cx="5143500" cy="552450"/>
            </a:xfrm>
            <a:prstGeom prst="roundRect">
              <a:avLst>
                <a:gd name="adj" fmla="val 24138"/>
              </a:avLst>
            </a:prstGeom>
            <a:solidFill>
              <a:srgbClr val="F8FAFC"/>
            </a:solidFill>
            <a:ln w="7620">
              <a:solidFill>
                <a:srgbClr val="E2E8F0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55675" y="5156200"/>
              <a:ext cx="203199" cy="203199"/>
              <a:chOff x="955675" y="5156200"/>
              <a:chExt cx="203199" cy="203199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955675" y="515620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0" y="1778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  <a:cubicBezTo>
                      <a:pt x="191828" y="0"/>
                      <a:pt x="203199" y="11372"/>
                      <a:pt x="203199" y="25400"/>
                    </a:cubicBezTo>
                    <a:lnTo>
                      <a:pt x="203199" y="177800"/>
                    </a:lnTo>
                    <a:cubicBezTo>
                      <a:pt x="203199" y="191828"/>
                      <a:pt x="191828" y="203199"/>
                      <a:pt x="177800" y="203199"/>
                    </a:cubicBez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93775" y="5232400"/>
                <a:ext cx="1270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50800">
                    <a:moveTo>
                      <a:pt x="0" y="50800"/>
                    </a:moveTo>
                    <a:lnTo>
                      <a:pt x="38100" y="12700"/>
                    </a:lnTo>
                    <a:lnTo>
                      <a:pt x="63500" y="38100"/>
                    </a:lnTo>
                    <a:lnTo>
                      <a:pt x="101600" y="0"/>
                    </a:lnTo>
                    <a:lnTo>
                      <a:pt x="127000" y="254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279017" y="50739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659255" y="50577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虚拟筛选流程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660017" y="5293042"/>
              <a:ext cx="1732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组学→ML→对接→验证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" y="5638800"/>
              <a:ext cx="5143500" cy="552450"/>
            </a:xfrm>
            <a:prstGeom prst="roundRect">
              <a:avLst>
                <a:gd name="adj" fmla="val 24138"/>
              </a:avLst>
            </a:prstGeom>
            <a:solidFill>
              <a:srgbClr val="F8FAFC"/>
            </a:solidFill>
            <a:ln w="7620">
              <a:solidFill>
                <a:srgbClr val="E2E8F0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942975" y="5758229"/>
              <a:ext cx="228663" cy="256406"/>
            </a:xfrm>
            <a:custGeom>
              <a:avLst/>
              <a:gdLst/>
              <a:ahLst/>
              <a:cxnLst/>
              <a:rect l="l" t="t" r="r" b="b"/>
              <a:pathLst>
                <a:path w="228663" h="256406">
                  <a:moveTo>
                    <a:pt x="214312" y="55450"/>
                  </a:moveTo>
                  <a:cubicBezTo>
                    <a:pt x="223199" y="60504"/>
                    <a:pt x="228663" y="69965"/>
                    <a:pt x="228599" y="80189"/>
                  </a:cubicBezTo>
                  <a:lnTo>
                    <a:pt x="228599" y="172696"/>
                  </a:lnTo>
                  <a:cubicBezTo>
                    <a:pt x="228599" y="182970"/>
                    <a:pt x="222973" y="192444"/>
                    <a:pt x="213893" y="197435"/>
                  </a:cubicBezTo>
                  <a:lnTo>
                    <a:pt x="128168" y="251664"/>
                  </a:lnTo>
                  <a:cubicBezTo>
                    <a:pt x="119531" y="256406"/>
                    <a:pt x="109069" y="256406"/>
                    <a:pt x="100431" y="251664"/>
                  </a:cubicBezTo>
                  <a:lnTo>
                    <a:pt x="14707" y="197435"/>
                  </a:lnTo>
                  <a:cubicBezTo>
                    <a:pt x="5657" y="192490"/>
                    <a:pt x="21" y="183008"/>
                    <a:pt x="0" y="172696"/>
                  </a:cubicBezTo>
                  <a:lnTo>
                    <a:pt x="0" y="80176"/>
                  </a:lnTo>
                  <a:cubicBezTo>
                    <a:pt x="0" y="69902"/>
                    <a:pt x="5626" y="60441"/>
                    <a:pt x="14707" y="55450"/>
                  </a:cubicBezTo>
                  <a:lnTo>
                    <a:pt x="100431" y="4904"/>
                  </a:lnTo>
                  <a:cubicBezTo>
                    <a:pt x="109325" y="0"/>
                    <a:pt x="120112" y="0"/>
                    <a:pt x="129006" y="4904"/>
                  </a:cubicBezTo>
                  <a:lnTo>
                    <a:pt x="214731" y="55450"/>
                  </a:lnTo>
                  <a:lnTo>
                    <a:pt x="214312" y="55450"/>
                  </a:lnTo>
                </a:path>
              </a:pathLst>
            </a:custGeom>
            <a:noFill/>
            <a:ln w="25400">
              <a:solidFill>
                <a:srgbClr val="1E40A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279017" y="57026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659255" y="56864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分子对接机制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660017" y="5921692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Arg277盐桥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286500" y="1238250"/>
            <a:ext cx="5143500" cy="4953000"/>
            <a:chOff x="6286500" y="1238250"/>
            <a:chExt cx="5143500" cy="4953000"/>
          </a:xfrm>
        </p:grpSpPr>
        <p:sp>
          <p:nvSpPr>
            <p:cNvPr id="76" name="Rectangle 76"/>
            <p:cNvSpPr/>
            <p:nvPr/>
          </p:nvSpPr>
          <p:spPr>
            <a:xfrm>
              <a:off x="6286500" y="1238250"/>
              <a:ext cx="5143500" cy="4953000"/>
            </a:xfrm>
            <a:prstGeom prst="roundRect">
              <a:avLst>
                <a:gd name="adj" fmla="val 3846"/>
              </a:avLst>
            </a:prstGeom>
            <a:solidFill>
              <a:srgbClr val="1E40AF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619875" y="1476375"/>
              <a:ext cx="285751" cy="285750"/>
              <a:chOff x="6619875" y="1476375"/>
              <a:chExt cx="285751" cy="28575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619875" y="14763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676644" y="15398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726238" y="16986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7040118" y="1517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研究亮点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572250" y="2000250"/>
              <a:ext cx="4572000" cy="5334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755892" y="2092642"/>
              <a:ext cx="2385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96.5% 准确率超越传统方法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755892" y="2283142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DBEAFE"/>
                  </a:solidFill>
                  <a:latin typeface="Arial"/>
                  <a:ea typeface="Arial"/>
                  <a:cs typeface="Arial"/>
                </a:rPr>
                <a:t>Transformer F1 0.903 MCC 0.889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572250" y="2667000"/>
              <a:ext cx="4572000" cy="5334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755892" y="2759392"/>
              <a:ext cx="1913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637种鲜味肽系统鉴定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755892" y="2949892"/>
              <a:ext cx="1821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30%源自11种大豆蛋白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572250" y="3333750"/>
              <a:ext cx="4572000" cy="5334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755892" y="3426142"/>
              <a:ext cx="1988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阈值低至0.22 mmol/L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755892" y="3616642"/>
              <a:ext cx="24716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强度为MSG 3-5倍，协同咸味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572250" y="4000500"/>
              <a:ext cx="4572000" cy="5334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755892" y="4092892"/>
              <a:ext cx="2262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T1R1/T1R3关键残基揭示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755892" y="4283392"/>
              <a:ext cx="2795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Arg277盐桥 D147/N69/R151热点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572250" y="4762500"/>
              <a:ext cx="4572000" cy="762000"/>
            </a:xfrm>
            <a:prstGeom prst="roundRect">
              <a:avLst>
                <a:gd name="adj" fmla="val 175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755892" y="4902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从实验室到餐桌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755130" y="5124450"/>
              <a:ext cx="21259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AI驱动的风味科学革命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5" name="Group 5"/>
            <p:cNvGrpSpPr/>
            <p:nvPr/>
          </p:nvGrpSpPr>
          <p:grpSpPr>
            <a:xfrm>
              <a:off x="806640" y="330390"/>
              <a:ext cx="215519" cy="215519"/>
              <a:chOff x="806640" y="330390"/>
              <a:chExt cx="215519" cy="215519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59232" y="383732"/>
                <a:ext cx="109585" cy="109585"/>
              </a:xfrm>
              <a:custGeom>
                <a:avLst/>
                <a:gdLst/>
                <a:ahLst/>
                <a:cxnLst/>
                <a:rect l="l" t="t" r="r" b="b"/>
                <a:pathLst>
                  <a:path w="109585" h="109585">
                    <a:moveTo>
                      <a:pt x="91083" y="90333"/>
                    </a:moveTo>
                    <a:cubicBezTo>
                      <a:pt x="104289" y="77578"/>
                      <a:pt x="109585" y="58691"/>
                      <a:pt x="104936" y="40930"/>
                    </a:cubicBezTo>
                    <a:cubicBezTo>
                      <a:pt x="100287" y="23169"/>
                      <a:pt x="86416" y="9298"/>
                      <a:pt x="68655" y="4649"/>
                    </a:cubicBezTo>
                    <a:cubicBezTo>
                      <a:pt x="50894" y="0"/>
                      <a:pt x="32006" y="5296"/>
                      <a:pt x="19252" y="18502"/>
                    </a:cubicBezTo>
                    <a:cubicBezTo>
                      <a:pt x="0" y="38435"/>
                      <a:pt x="275" y="70119"/>
                      <a:pt x="19871" y="89714"/>
                    </a:cubicBezTo>
                    <a:cubicBezTo>
                      <a:pt x="39466" y="109309"/>
                      <a:pt x="71150" y="109585"/>
                      <a:pt x="91083" y="90333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06640" y="454226"/>
                <a:ext cx="91683" cy="91683"/>
              </a:xfrm>
              <a:custGeom>
                <a:avLst/>
                <a:gdLst/>
                <a:ahLst/>
                <a:cxnLst/>
                <a:rect l="l" t="t" r="r" b="b"/>
                <a:pathLst>
                  <a:path w="91683" h="91683">
                    <a:moveTo>
                      <a:pt x="71844" y="91683"/>
                    </a:moveTo>
                    <a:cubicBezTo>
                      <a:pt x="91683" y="71844"/>
                      <a:pt x="91683" y="39678"/>
                      <a:pt x="71844" y="19839"/>
                    </a:cubicBezTo>
                    <a:cubicBezTo>
                      <a:pt x="52005" y="0"/>
                      <a:pt x="19839" y="0"/>
                      <a:pt x="0" y="19839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930476" y="330390"/>
                <a:ext cx="91683" cy="91683"/>
              </a:xfrm>
              <a:custGeom>
                <a:avLst/>
                <a:gdLst/>
                <a:ahLst/>
                <a:cxnLst/>
                <a:rect l="l" t="t" r="r" b="b"/>
                <a:pathLst>
                  <a:path w="91683" h="91683">
                    <a:moveTo>
                      <a:pt x="19839" y="0"/>
                    </a:moveTo>
                    <a:cubicBezTo>
                      <a:pt x="0" y="19839"/>
                      <a:pt x="0" y="52005"/>
                      <a:pt x="19839" y="71844"/>
                    </a:cubicBezTo>
                    <a:cubicBezTo>
                      <a:pt x="39678" y="91683"/>
                      <a:pt x="71844" y="91683"/>
                      <a:pt x="91683" y="71844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32332" y="268605"/>
              <a:ext cx="32639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01 鲜味肽基础与呈味机制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0" y="0"/>
            <a:ext cx="4762500" cy="2095500"/>
            <a:chOff x="0" y="0"/>
            <a:chExt cx="4762500" cy="2095500"/>
          </a:xfrm>
        </p:grpSpPr>
        <p:sp>
          <p:nvSpPr>
            <p:cNvPr id="9" name="Rectangle 9"/>
            <p:cNvSpPr/>
            <p:nvPr/>
          </p:nvSpPr>
          <p:spPr>
            <a:xfrm>
              <a:off x="0" y="0"/>
              <a:ext cx="4762500" cy="2095500"/>
            </a:xfrm>
            <a:prstGeom prst="roundRect">
              <a:avLst>
                <a:gd name="adj" fmla="val 8182"/>
              </a:avLst>
            </a:prstGeom>
            <a:solidFill>
              <a:srgbClr val="EFF6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274827" y="185738"/>
              <a:ext cx="174245" cy="257175"/>
              <a:chOff x="274827" y="185738"/>
              <a:chExt cx="174245" cy="2571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19088" y="18573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33375" y="271462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74827" y="185738"/>
                <a:ext cx="17424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74245" h="257175">
                    <a:moveTo>
                      <a:pt x="58548" y="0"/>
                    </a:moveTo>
                    <a:lnTo>
                      <a:pt x="58548" y="85725"/>
                    </a:lnTo>
                    <a:lnTo>
                      <a:pt x="1398" y="242888"/>
                    </a:lnTo>
                    <a:cubicBezTo>
                      <a:pt x="0" y="245699"/>
                      <a:pt x="4" y="249004"/>
                      <a:pt x="1408" y="251812"/>
                    </a:cubicBezTo>
                    <a:cubicBezTo>
                      <a:pt x="2812" y="254620"/>
                      <a:pt x="5454" y="256606"/>
                      <a:pt x="8541" y="257175"/>
                    </a:cubicBezTo>
                    <a:lnTo>
                      <a:pt x="165704" y="257175"/>
                    </a:lnTo>
                    <a:cubicBezTo>
                      <a:pt x="168792" y="256606"/>
                      <a:pt x="171433" y="254620"/>
                      <a:pt x="172837" y="251812"/>
                    </a:cubicBezTo>
                    <a:cubicBezTo>
                      <a:pt x="174241" y="249004"/>
                      <a:pt x="174245" y="245699"/>
                      <a:pt x="172848" y="242888"/>
                    </a:cubicBezTo>
                    <a:lnTo>
                      <a:pt x="115698" y="85725"/>
                    </a:lnTo>
                    <a:lnTo>
                      <a:pt x="115698" y="0"/>
                    </a:ln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659130" y="2190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什么是鲜味肽？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3642" y="521018"/>
              <a:ext cx="309981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2025"/>
                </a:lnSpc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第五种味觉，分子量 &lt; 3000 Da 短肽</a:t>
              </a:r>
            </a:p>
            <a:p>
              <a:pPr algn="l" marL="145732" indent="-145732">
                <a:lnSpc>
                  <a:spcPts val="2025"/>
                </a:lnSpc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主要：谷氨酸(E)、天冬氨酸(D)</a:t>
              </a:r>
            </a:p>
            <a:p>
              <a:pPr algn="l" marL="145732" indent="-145732">
                <a:lnSpc>
                  <a:spcPts val="2025"/>
                </a:lnSpc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阈值 0.22-0.38 mM，强度 MSG 3-5倍</a:t>
              </a:r>
            </a:p>
            <a:p>
              <a:pPr algn="l" marL="145732" indent="-145732">
                <a:lnSpc>
                  <a:spcPts val="2025"/>
                </a:lnSpc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协同咸味，减盐30%不减鲜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0" y="2286000"/>
            <a:ext cx="4762500" cy="1905000"/>
            <a:chOff x="0" y="2286000"/>
            <a:chExt cx="4762500" cy="1905000"/>
          </a:xfrm>
        </p:grpSpPr>
        <p:sp>
          <p:nvSpPr>
            <p:cNvPr id="17" name="Rectangle 17"/>
            <p:cNvSpPr/>
            <p:nvPr/>
          </p:nvSpPr>
          <p:spPr>
            <a:xfrm>
              <a:off x="0" y="2286000"/>
              <a:ext cx="4762500" cy="1905000"/>
            </a:xfrm>
            <a:prstGeom prst="roundRect">
              <a:avLst>
                <a:gd name="adj" fmla="val 9000"/>
              </a:avLst>
            </a:prstGeom>
            <a:solidFill>
              <a:srgbClr val="FFEDD5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28600" y="2466975"/>
              <a:ext cx="228599" cy="228599"/>
              <a:chOff x="228600" y="2466975"/>
              <a:chExt cx="228599" cy="22859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228600" y="246697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0"/>
                    </a:moveTo>
                    <a:lnTo>
                      <a:pt x="0" y="228599"/>
                    </a:lnTo>
                    <a:lnTo>
                      <a:pt x="228599" y="228599"/>
                    </a:ln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79400" y="25177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06399" y="24923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42900" y="25939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19532" y="2563749"/>
                <a:ext cx="2971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36576">
                    <a:moveTo>
                      <a:pt x="0" y="0"/>
                    </a:moveTo>
                    <a:lnTo>
                      <a:pt x="29718" y="36576"/>
                    </a:ln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82117" y="2539898"/>
                <a:ext cx="36030" cy="58242"/>
              </a:xfrm>
              <a:custGeom>
                <a:avLst/>
                <a:gdLst/>
                <a:ahLst/>
                <a:cxnLst/>
                <a:rect l="l" t="t" r="r" b="b"/>
                <a:pathLst>
                  <a:path w="36030" h="58242">
                    <a:moveTo>
                      <a:pt x="0" y="58242"/>
                    </a:moveTo>
                    <a:lnTo>
                      <a:pt x="36030" y="0"/>
                    </a:ln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63880" y="24574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氨基酸分布规律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3642" y="2711768"/>
              <a:ext cx="226828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2025"/>
                </a:lnSpc>
                <a:buClr>
                  <a:srgbClr val="0F172A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N端/C端1/2位规律性强</a:t>
              </a:r>
            </a:p>
            <a:p>
              <a:pPr algn="l" marL="145732" indent="-145732">
                <a:lnSpc>
                  <a:spcPts val="2025"/>
                </a:lnSpc>
                <a:buClr>
                  <a:srgbClr val="0F172A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D/E频率最高，其次G、A、V</a:t>
              </a:r>
            </a:p>
            <a:p>
              <a:pPr algn="l" marL="145732" indent="-145732">
                <a:lnSpc>
                  <a:spcPts val="2025"/>
                </a:lnSpc>
                <a:buClr>
                  <a:srgbClr val="0F172A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酸性+碱性+甜味氨基酸聚类</a:t>
              </a:r>
            </a:p>
            <a:p>
              <a:pPr algn="l" marL="145732" indent="-145732">
                <a:lnSpc>
                  <a:spcPts val="2025"/>
                </a:lnSpc>
                <a:buClr>
                  <a:srgbClr val="0F172A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2层决策系统准确率95%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0" y="0"/>
            <a:ext cx="5524500" cy="4191000"/>
            <a:chOff x="0" y="0"/>
            <a:chExt cx="5524500" cy="4191000"/>
          </a:xfrm>
        </p:grpSpPr>
        <p:sp>
          <p:nvSpPr>
            <p:cNvPr id="28" name="Rectangle 28"/>
            <p:cNvSpPr/>
            <p:nvPr/>
          </p:nvSpPr>
          <p:spPr>
            <a:xfrm>
              <a:off x="0" y="0"/>
              <a:ext cx="5524500" cy="41910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0" y="0"/>
              <a:ext cx="5524500" cy="476250"/>
            </a:xfrm>
            <a:prstGeom prst="roundRect">
              <a:avLst>
                <a:gd name="adj" fmla="val 4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0" y="285750"/>
              <a:ext cx="5524500" cy="190500"/>
            </a:xfrm>
            <a:prstGeom prst="rect">
              <a:avLst/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2880" y="123825"/>
              <a:ext cx="29654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鲜味受体 T1R1/T1R3 作用模式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857375" y="809625"/>
              <a:ext cx="1809750" cy="1809750"/>
            </a:xfrm>
            <a:prstGeom prst="ellipse">
              <a:avLst/>
            </a:prstGeom>
            <a:solidFill>
              <a:srgbClr val="DBEAFE"/>
            </a:solidFill>
            <a:ln w="19050">
              <a:solidFill>
                <a:srgbClr val="1E40A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56370" y="1568768"/>
              <a:ext cx="1011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T1R1/T1R3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48266" y="1806892"/>
              <a:ext cx="1227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Venus flytrap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90500" y="1047750"/>
              <a:ext cx="1143000" cy="419100"/>
            </a:xfrm>
            <a:prstGeom prst="roundRect">
              <a:avLst>
                <a:gd name="adj" fmla="val 22727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2460" y="1159192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DFEGDV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333500" y="1257300"/>
              <a:ext cx="666750" cy="219075"/>
            </a:xfrm>
            <a:custGeom>
              <a:avLst/>
              <a:gdLst/>
              <a:ahLst/>
              <a:cxnLst/>
              <a:rect l="l" t="t" r="r" b="b"/>
              <a:pathLst>
                <a:path w="666750" h="219075">
                  <a:moveTo>
                    <a:pt x="0" y="0"/>
                  </a:moveTo>
                  <a:lnTo>
                    <a:pt x="666750" y="219075"/>
                  </a:lnTo>
                </a:path>
              </a:pathLst>
            </a:custGeom>
            <a:noFill/>
            <a:ln w="19050">
              <a:solidFill>
                <a:srgbClr val="EA580C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91000" y="1047750"/>
              <a:ext cx="1143000" cy="419100"/>
            </a:xfrm>
            <a:prstGeom prst="roundRect">
              <a:avLst>
                <a:gd name="adj" fmla="val 22727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405198" y="1159192"/>
              <a:ext cx="714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D/E残基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619500" y="1257300"/>
              <a:ext cx="571500" cy="219075"/>
            </a:xfrm>
            <a:custGeom>
              <a:avLst/>
              <a:gdLst/>
              <a:ahLst/>
              <a:cxnLst/>
              <a:rect l="l" t="t" r="r" b="b"/>
              <a:pathLst>
                <a:path w="571500" h="219075">
                  <a:moveTo>
                    <a:pt x="57150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0E749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90500" y="2857500"/>
              <a:ext cx="152400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314325" y="2970884"/>
              <a:ext cx="171498" cy="192305"/>
            </a:xfrm>
            <a:custGeom>
              <a:avLst/>
              <a:gdLst/>
              <a:ahLst/>
              <a:cxnLst/>
              <a:rect l="l" t="t" r="r" b="b"/>
              <a:pathLst>
                <a:path w="171498" h="192305">
                  <a:moveTo>
                    <a:pt x="160734" y="41587"/>
                  </a:moveTo>
                  <a:cubicBezTo>
                    <a:pt x="167400" y="45378"/>
                    <a:pt x="171498" y="52474"/>
                    <a:pt x="171450" y="60142"/>
                  </a:cubicBezTo>
                  <a:lnTo>
                    <a:pt x="171450" y="129522"/>
                  </a:lnTo>
                  <a:cubicBezTo>
                    <a:pt x="171450" y="137228"/>
                    <a:pt x="167230" y="144333"/>
                    <a:pt x="160420" y="148077"/>
                  </a:cubicBezTo>
                  <a:lnTo>
                    <a:pt x="96126" y="188749"/>
                  </a:lnTo>
                  <a:cubicBezTo>
                    <a:pt x="89648" y="192305"/>
                    <a:pt x="81802" y="192305"/>
                    <a:pt x="75324" y="188749"/>
                  </a:cubicBezTo>
                  <a:lnTo>
                    <a:pt x="11030" y="148077"/>
                  </a:lnTo>
                  <a:cubicBezTo>
                    <a:pt x="4243" y="144368"/>
                    <a:pt x="16" y="137256"/>
                    <a:pt x="0" y="129522"/>
                  </a:cubicBezTo>
                  <a:lnTo>
                    <a:pt x="0" y="60132"/>
                  </a:lnTo>
                  <a:cubicBezTo>
                    <a:pt x="0" y="52427"/>
                    <a:pt x="4220" y="45331"/>
                    <a:pt x="11030" y="41587"/>
                  </a:cubicBezTo>
                  <a:lnTo>
                    <a:pt x="75324" y="3678"/>
                  </a:lnTo>
                  <a:cubicBezTo>
                    <a:pt x="81994" y="0"/>
                    <a:pt x="90085" y="0"/>
                    <a:pt x="96755" y="3678"/>
                  </a:cubicBezTo>
                  <a:lnTo>
                    <a:pt x="161049" y="41587"/>
                  </a:lnTo>
                  <a:lnTo>
                    <a:pt x="160734" y="41587"/>
                  </a:lnTo>
                </a:path>
              </a:pathLst>
            </a:custGeom>
            <a:noFill/>
            <a:ln w="19050">
              <a:solidFill>
                <a:srgbClr val="1E40A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4642" y="2997518"/>
              <a:ext cx="1025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Arg277盐桥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8892" y="3188018"/>
              <a:ext cx="1098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D/E关键结合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000250" y="2857500"/>
              <a:ext cx="152400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311817" y="299751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D147/N69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301050" y="3188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小分子热点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810000" y="2857500"/>
              <a:ext cx="152400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343354" y="2997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R151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10800" y="3188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大分子热点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5" name="Group 5"/>
            <p:cNvGrpSpPr/>
            <p:nvPr/>
          </p:nvGrpSpPr>
          <p:grpSpPr>
            <a:xfrm>
              <a:off x="800100" y="323850"/>
              <a:ext cx="228599" cy="228600"/>
              <a:chOff x="800100" y="323850"/>
              <a:chExt cx="228599" cy="228600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00100" y="323850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45515" y="374650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85190" y="501649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32332" y="268605"/>
              <a:ext cx="32639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02 为什么要筛选鲜味肽？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762000" y="952500"/>
            <a:ext cx="10668000" cy="4286250"/>
            <a:chOff x="762000" y="952500"/>
            <a:chExt cx="10668000" cy="4286250"/>
          </a:xfrm>
        </p:grpSpPr>
        <p:sp>
          <p:nvSpPr>
            <p:cNvPr id="9" name="Rectangle 9"/>
            <p:cNvSpPr/>
            <p:nvPr/>
          </p:nvSpPr>
          <p:spPr>
            <a:xfrm>
              <a:off x="762000" y="952500"/>
              <a:ext cx="5143500" cy="20002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9525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90600" y="1181100"/>
              <a:ext cx="495300" cy="495300"/>
            </a:xfrm>
            <a:prstGeom prst="ellipse">
              <a:avLst/>
            </a:prstGeom>
            <a:solidFill>
              <a:srgbClr val="1E40AF">
                <a:alpha val="12000"/>
              </a:srgbClr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49350" y="1362075"/>
              <a:ext cx="177801" cy="153988"/>
              <a:chOff x="1149350" y="1362075"/>
              <a:chExt cx="177801" cy="15398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149350" y="1506538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49350" y="136207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100013"/>
                    </a:moveTo>
                    <a:lnTo>
                      <a:pt x="44450" y="33338"/>
                    </a:lnTo>
                    <a:lnTo>
                      <a:pt x="88900" y="55563"/>
                    </a:lnTo>
                    <a:lnTo>
                      <a:pt x="133350" y="0"/>
                    </a:lnTo>
                    <a:lnTo>
                      <a:pt x="177801" y="4445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610868" y="1250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风味增强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392" y="1549718"/>
              <a:ext cx="1713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天然鲜味剂替代MSG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8517" y="1902142"/>
              <a:ext cx="1685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阈值低、强度高3-5×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95375" y="2238375"/>
              <a:ext cx="1143000" cy="304800"/>
            </a:xfrm>
            <a:prstGeom prst="roundRect">
              <a:avLst>
                <a:gd name="adj" fmla="val 3125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83767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高价值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952500"/>
              <a:ext cx="5143500" cy="20002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9525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515100" y="1181100"/>
              <a:ext cx="495300" cy="495300"/>
            </a:xfrm>
            <a:prstGeom prst="ellipse">
              <a:avLst/>
            </a:prstGeom>
            <a:solidFill>
              <a:srgbClr val="0E7490">
                <a:alpha val="12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659641" y="1328738"/>
              <a:ext cx="205446" cy="203138"/>
              <a:chOff x="6659641" y="1328738"/>
              <a:chExt cx="205446" cy="20313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59641" y="1339850"/>
                <a:ext cx="192009" cy="192026"/>
              </a:xfrm>
              <a:custGeom>
                <a:avLst/>
                <a:gdLst/>
                <a:ahLst/>
                <a:cxnLst/>
                <a:rect l="l" t="t" r="r" b="b"/>
                <a:pathLst>
                  <a:path w="192009" h="192026">
                    <a:moveTo>
                      <a:pt x="192009" y="44895"/>
                    </a:moveTo>
                    <a:lnTo>
                      <a:pt x="57303" y="179623"/>
                    </a:lnTo>
                    <a:cubicBezTo>
                      <a:pt x="44906" y="192023"/>
                      <a:pt x="24803" y="192026"/>
                      <a:pt x="12403" y="179629"/>
                    </a:cubicBezTo>
                    <a:cubicBezTo>
                      <a:pt x="2" y="167231"/>
                      <a:pt x="0" y="147129"/>
                      <a:pt x="12397" y="134728"/>
                    </a:cubicBezTo>
                    <a:lnTo>
                      <a:pt x="147103" y="0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07188" y="143986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815989" y="1462088"/>
                <a:ext cx="49098" cy="56767"/>
              </a:xfrm>
              <a:custGeom>
                <a:avLst/>
                <a:gdLst/>
                <a:ahLst/>
                <a:cxnLst/>
                <a:rect l="l" t="t" r="r" b="b"/>
                <a:pathLst>
                  <a:path w="49098" h="56767">
                    <a:moveTo>
                      <a:pt x="24549" y="0"/>
                    </a:moveTo>
                    <a:lnTo>
                      <a:pt x="41218" y="17780"/>
                    </a:lnTo>
                    <a:cubicBezTo>
                      <a:pt x="49098" y="26715"/>
                      <a:pt x="48531" y="40275"/>
                      <a:pt x="39933" y="48521"/>
                    </a:cubicBezTo>
                    <a:cubicBezTo>
                      <a:pt x="31334" y="56767"/>
                      <a:pt x="17763" y="56767"/>
                      <a:pt x="9165" y="48521"/>
                    </a:cubicBezTo>
                    <a:cubicBezTo>
                      <a:pt x="567" y="40275"/>
                      <a:pt x="0" y="26715"/>
                      <a:pt x="7880" y="17780"/>
                    </a:cubicBezTo>
                    <a:lnTo>
                      <a:pt x="24549" y="0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96088" y="13287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135368" y="1250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健康减盐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36892" y="15497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低钠调味品开发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3017" y="1902142"/>
              <a:ext cx="144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减盐30%鲜味不减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19875" y="2238375"/>
              <a:ext cx="1143000" cy="304800"/>
            </a:xfrm>
            <a:prstGeom prst="roundRect">
              <a:avLst>
                <a:gd name="adj" fmla="val 3125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08267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高价值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238500"/>
              <a:ext cx="5143500" cy="20002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32385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90600" y="3467100"/>
              <a:ext cx="495300" cy="495300"/>
            </a:xfrm>
            <a:prstGeom prst="ellipse">
              <a:avLst/>
            </a:prstGeom>
            <a:solidFill>
              <a:srgbClr val="EA580C">
                <a:alpha val="12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143961" y="3620461"/>
              <a:ext cx="188579" cy="188579"/>
              <a:chOff x="1143961" y="3620461"/>
              <a:chExt cx="188579" cy="18857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89979" y="3667135"/>
                <a:ext cx="95887" cy="95887"/>
              </a:xfrm>
              <a:custGeom>
                <a:avLst/>
                <a:gdLst/>
                <a:ahLst/>
                <a:cxnLst/>
                <a:rect l="l" t="t" r="r" b="b"/>
                <a:pathLst>
                  <a:path w="95887" h="95887">
                    <a:moveTo>
                      <a:pt x="79698" y="79042"/>
                    </a:moveTo>
                    <a:cubicBezTo>
                      <a:pt x="91253" y="67881"/>
                      <a:pt x="95887" y="51355"/>
                      <a:pt x="91819" y="35814"/>
                    </a:cubicBezTo>
                    <a:cubicBezTo>
                      <a:pt x="87751" y="20273"/>
                      <a:pt x="75615" y="8136"/>
                      <a:pt x="60073" y="4068"/>
                    </a:cubicBezTo>
                    <a:cubicBezTo>
                      <a:pt x="44532" y="0"/>
                      <a:pt x="28006" y="4634"/>
                      <a:pt x="16845" y="16189"/>
                    </a:cubicBezTo>
                    <a:cubicBezTo>
                      <a:pt x="0" y="33631"/>
                      <a:pt x="241" y="61354"/>
                      <a:pt x="17387" y="78500"/>
                    </a:cubicBezTo>
                    <a:cubicBezTo>
                      <a:pt x="34533" y="95646"/>
                      <a:pt x="62257" y="95887"/>
                      <a:pt x="79698" y="79042"/>
                    </a:cubicBez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43961" y="3728817"/>
                <a:ext cx="80223" cy="80223"/>
              </a:xfrm>
              <a:custGeom>
                <a:avLst/>
                <a:gdLst/>
                <a:ahLst/>
                <a:cxnLst/>
                <a:rect l="l" t="t" r="r" b="b"/>
                <a:pathLst>
                  <a:path w="80223" h="80223">
                    <a:moveTo>
                      <a:pt x="62864" y="80223"/>
                    </a:moveTo>
                    <a:cubicBezTo>
                      <a:pt x="80223" y="62864"/>
                      <a:pt x="80223" y="34719"/>
                      <a:pt x="62864" y="17359"/>
                    </a:cubicBezTo>
                    <a:cubicBezTo>
                      <a:pt x="45504" y="0"/>
                      <a:pt x="17359" y="0"/>
                      <a:pt x="0" y="17359"/>
                    </a:cubicBez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52317" y="3620461"/>
                <a:ext cx="80223" cy="80223"/>
              </a:xfrm>
              <a:custGeom>
                <a:avLst/>
                <a:gdLst/>
                <a:ahLst/>
                <a:cxnLst/>
                <a:rect l="l" t="t" r="r" b="b"/>
                <a:pathLst>
                  <a:path w="80223" h="80223">
                    <a:moveTo>
                      <a:pt x="17359" y="0"/>
                    </a:moveTo>
                    <a:cubicBezTo>
                      <a:pt x="0" y="17359"/>
                      <a:pt x="0" y="45504"/>
                      <a:pt x="17359" y="62864"/>
                    </a:cubicBezTo>
                    <a:cubicBezTo>
                      <a:pt x="34719" y="80223"/>
                      <a:pt x="62864" y="80223"/>
                      <a:pt x="80223" y="62864"/>
                    </a:cubicBez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610868" y="3536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营养功能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12392" y="3835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降血压降血脂潜力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8517" y="4188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生物活性肽多功能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95375" y="4524375"/>
              <a:ext cx="1143000" cy="304800"/>
            </a:xfrm>
            <a:prstGeom prst="roundRect">
              <a:avLst>
                <a:gd name="adj" fmla="val 3125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83767" y="4569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高价值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86500" y="3238500"/>
              <a:ext cx="5143500" cy="20002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86500" y="32385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515100" y="3467100"/>
              <a:ext cx="495300" cy="495300"/>
            </a:xfrm>
            <a:prstGeom prst="ellipse">
              <a:avLst/>
            </a:prstGeom>
            <a:solidFill>
              <a:srgbClr val="0F172A">
                <a:alpha val="12000"/>
              </a:srgbClr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693440" y="3614738"/>
              <a:ext cx="138607" cy="200026"/>
              <a:chOff x="6693440" y="3614738"/>
              <a:chExt cx="138607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697186" y="3748088"/>
                <a:ext cx="13112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1128" h="9525">
                    <a:moveTo>
                      <a:pt x="0" y="0"/>
                    </a:moveTo>
                    <a:lnTo>
                      <a:pt x="131128" y="0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93440" y="3614738"/>
                <a:ext cx="138607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38607" h="200026">
                    <a:moveTo>
                      <a:pt x="91535" y="0"/>
                    </a:moveTo>
                    <a:lnTo>
                      <a:pt x="91535" y="81588"/>
                    </a:lnTo>
                    <a:cubicBezTo>
                      <a:pt x="115374" y="90007"/>
                      <a:pt x="132401" y="111184"/>
                      <a:pt x="135504" y="136275"/>
                    </a:cubicBezTo>
                    <a:cubicBezTo>
                      <a:pt x="138607" y="161366"/>
                      <a:pt x="127252" y="186053"/>
                      <a:pt x="106182" y="200026"/>
                    </a:cubicBezTo>
                    <a:lnTo>
                      <a:pt x="32450" y="200026"/>
                    </a:lnTo>
                    <a:cubicBezTo>
                      <a:pt x="11366" y="186058"/>
                      <a:pt x="0" y="161365"/>
                      <a:pt x="3101" y="136266"/>
                    </a:cubicBezTo>
                    <a:cubicBezTo>
                      <a:pt x="6202" y="111166"/>
                      <a:pt x="23236" y="89982"/>
                      <a:pt x="47085" y="81566"/>
                    </a:cubicBezTo>
                    <a:lnTo>
                      <a:pt x="47085" y="0"/>
                    </a:lnTo>
                    <a:lnTo>
                      <a:pt x="91535" y="0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29413" y="3614738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135368" y="3536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产业价值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36892" y="3835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发酵食品风味调控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13017" y="4188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腐乳火腿酱油牡蛎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19875" y="4524375"/>
              <a:ext cx="1143000" cy="304800"/>
            </a:xfrm>
            <a:prstGeom prst="roundRect">
              <a:avLst>
                <a:gd name="adj" fmla="val 3125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08267" y="4569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高价值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9" name="Group 9"/>
            <p:cNvGrpSpPr/>
            <p:nvPr/>
          </p:nvGrpSpPr>
          <p:grpSpPr>
            <a:xfrm>
              <a:off x="825500" y="323850"/>
              <a:ext cx="190499" cy="238124"/>
              <a:chOff x="825500" y="323850"/>
              <a:chExt cx="190499" cy="238124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25500" y="552449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rgbClr val="0F172A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38200" y="514349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rgbClr val="0F172A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50900" y="514349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rgbClr val="0F172A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76300" y="349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76200"/>
                    </a:moveTo>
                    <a:lnTo>
                      <a:pt x="38100" y="114300"/>
                    </a:lnTo>
                    <a:lnTo>
                      <a:pt x="114300" y="38100"/>
                    </a:lnTo>
                    <a:lnTo>
                      <a:pt x="76200" y="0"/>
                    </a:ln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rgbClr val="0F172A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76300" y="44450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905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25400">
                <a:solidFill>
                  <a:srgbClr val="0F172A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77899" y="3238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25400">
                <a:solidFill>
                  <a:srgbClr val="0F172A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14400" y="416407"/>
                <a:ext cx="82637" cy="136045"/>
              </a:xfrm>
              <a:custGeom>
                <a:avLst/>
                <a:gdLst/>
                <a:ahLst/>
                <a:cxnLst/>
                <a:rect l="l" t="t" r="r" b="b"/>
                <a:pathLst>
                  <a:path w="82637" h="136045">
                    <a:moveTo>
                      <a:pt x="0" y="136042"/>
                    </a:moveTo>
                    <a:cubicBezTo>
                      <a:pt x="32463" y="136045"/>
                      <a:pt x="61363" y="115481"/>
                      <a:pt x="72000" y="84810"/>
                    </a:cubicBezTo>
                    <a:cubicBezTo>
                      <a:pt x="82637" y="54139"/>
                      <a:pt x="72675" y="20097"/>
                      <a:pt x="47180" y="0"/>
                    </a:cubicBezTo>
                  </a:path>
                </a:pathLst>
              </a:custGeom>
              <a:noFill/>
              <a:ln w="25400">
                <a:solidFill>
                  <a:srgbClr val="0F172A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132332" y="268605"/>
              <a:ext cx="29812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03 传统鉴定方法的局限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0" y="0"/>
            <a:ext cx="4953000" cy="4953000"/>
            <a:chOff x="0" y="0"/>
            <a:chExt cx="4953000" cy="4953000"/>
          </a:xfrm>
        </p:grpSpPr>
        <p:sp>
          <p:nvSpPr>
            <p:cNvPr id="13" name="Rectangle 13"/>
            <p:cNvSpPr/>
            <p:nvPr/>
          </p:nvSpPr>
          <p:spPr>
            <a:xfrm>
              <a:off x="0" y="0"/>
              <a:ext cx="4953000" cy="4953000"/>
            </a:xfrm>
            <a:prstGeom prst="roundRect">
              <a:avLst>
                <a:gd name="adj" fmla="val 384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256088" y="176213"/>
              <a:ext cx="135524" cy="200026"/>
              <a:chOff x="256088" y="176213"/>
              <a:chExt cx="135524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90513" y="1762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01625" y="242888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56088" y="176213"/>
                <a:ext cx="135524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35524" h="200026">
                    <a:moveTo>
                      <a:pt x="45537" y="0"/>
                    </a:moveTo>
                    <a:lnTo>
                      <a:pt x="45537" y="66675"/>
                    </a:lnTo>
                    <a:lnTo>
                      <a:pt x="1087" y="188913"/>
                    </a:lnTo>
                    <a:cubicBezTo>
                      <a:pt x="0" y="191100"/>
                      <a:pt x="3" y="193670"/>
                      <a:pt x="1095" y="195854"/>
                    </a:cubicBezTo>
                    <a:cubicBezTo>
                      <a:pt x="2187" y="198039"/>
                      <a:pt x="4242" y="199583"/>
                      <a:pt x="6643" y="200026"/>
                    </a:cubicBezTo>
                    <a:lnTo>
                      <a:pt x="128881" y="200026"/>
                    </a:lnTo>
                    <a:cubicBezTo>
                      <a:pt x="131283" y="199583"/>
                      <a:pt x="133337" y="198039"/>
                      <a:pt x="134429" y="195854"/>
                    </a:cubicBezTo>
                    <a:cubicBezTo>
                      <a:pt x="135521" y="193670"/>
                      <a:pt x="135524" y="191100"/>
                      <a:pt x="134437" y="188913"/>
                    </a:cubicBezTo>
                    <a:lnTo>
                      <a:pt x="89987" y="66675"/>
                    </a:lnTo>
                    <a:lnTo>
                      <a:pt x="89987" y="0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63880" y="171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传统流程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228600" y="514350"/>
              <a:ext cx="304800" cy="3048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1665" y="5686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9892" y="57816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酶水解 / 发酵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81000" y="819150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9050">
              <a:solidFill>
                <a:srgbClr val="E2E8F0"/>
              </a:solidFill>
              <a:prstDash val="dash"/>
            </a:ln>
          </p:spPr>
        </p:sp>
        <p:sp>
          <p:nvSpPr>
            <p:cNvPr id="23" name="Ellipse 23"/>
            <p:cNvSpPr/>
            <p:nvPr/>
          </p:nvSpPr>
          <p:spPr>
            <a:xfrm>
              <a:off x="228600" y="1228725"/>
              <a:ext cx="304800" cy="3048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1665" y="12830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9892" y="12925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超滤分离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81000" y="153352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9050">
              <a:solidFill>
                <a:srgbClr val="E2E8F0"/>
              </a:solidFill>
              <a:prstDash val="dash"/>
            </a:ln>
          </p:spPr>
        </p:sp>
        <p:sp>
          <p:nvSpPr>
            <p:cNvPr id="27" name="Ellipse 27"/>
            <p:cNvSpPr/>
            <p:nvPr/>
          </p:nvSpPr>
          <p:spPr>
            <a:xfrm>
              <a:off x="228600" y="1943100"/>
              <a:ext cx="304800" cy="3048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1665" y="19973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892" y="2006918"/>
              <a:ext cx="12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色谱纯化 HPLC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81000" y="2247900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9050">
              <a:solidFill>
                <a:srgbClr val="E2E8F0"/>
              </a:solidFill>
              <a:prstDash val="dash"/>
            </a:ln>
          </p:spPr>
        </p:sp>
        <p:sp>
          <p:nvSpPr>
            <p:cNvPr id="31" name="Ellipse 31"/>
            <p:cNvSpPr/>
            <p:nvPr/>
          </p:nvSpPr>
          <p:spPr>
            <a:xfrm>
              <a:off x="228600" y="2657475"/>
              <a:ext cx="304800" cy="3048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1665" y="27117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9892" y="2721292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LC-MS/MS鉴定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81000" y="296227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9050">
              <a:solidFill>
                <a:srgbClr val="E2E8F0"/>
              </a:solidFill>
              <a:prstDash val="dash"/>
            </a:ln>
          </p:spPr>
        </p:sp>
        <p:sp>
          <p:nvSpPr>
            <p:cNvPr id="35" name="Ellipse 35"/>
            <p:cNvSpPr/>
            <p:nvPr/>
          </p:nvSpPr>
          <p:spPr>
            <a:xfrm>
              <a:off x="228600" y="3371850"/>
              <a:ext cx="304800" cy="3048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21665" y="34261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9892" y="3435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感官评价验证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90500" y="4286250"/>
              <a:ext cx="4572000" cy="476250"/>
            </a:xfrm>
            <a:prstGeom prst="roundRect">
              <a:avLst>
                <a:gd name="adj" fmla="val 24000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26517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痛点：耗时数周、成本高、通量低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0" y="0"/>
            <a:ext cx="5238750" cy="4953000"/>
            <a:chOff x="0" y="0"/>
            <a:chExt cx="5238750" cy="4953000"/>
          </a:xfrm>
        </p:grpSpPr>
        <p:sp>
          <p:nvSpPr>
            <p:cNvPr id="41" name="Rectangle 41"/>
            <p:cNvSpPr/>
            <p:nvPr/>
          </p:nvSpPr>
          <p:spPr>
            <a:xfrm>
              <a:off x="0" y="0"/>
              <a:ext cx="5238750" cy="4953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4288">
              <a:solidFill>
                <a:srgbClr val="EA580C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0" y="0"/>
              <a:ext cx="5238750" cy="514350"/>
            </a:xfrm>
            <a:prstGeom prst="roundRect">
              <a:avLst>
                <a:gd name="adj" fmla="val 37037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0" y="323850"/>
              <a:ext cx="5238750" cy="19050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82880" y="142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机器学习带来的变革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90500" y="666750"/>
              <a:ext cx="4857750" cy="762000"/>
            </a:xfrm>
            <a:prstGeom prst="roundRect">
              <a:avLst>
                <a:gd name="adj" fmla="val 17500"/>
              </a:avLst>
            </a:prstGeom>
            <a:solidFill>
              <a:srgbClr val="F8FAFC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371475" y="847725"/>
              <a:ext cx="228600" cy="228600"/>
              <a:chOff x="371475" y="847725"/>
              <a:chExt cx="228600" cy="228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371475" y="847725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88900"/>
                    </a:moveTo>
                    <a:cubicBezTo>
                      <a:pt x="0" y="137998"/>
                      <a:pt x="39802" y="177800"/>
                      <a:pt x="88900" y="177800"/>
                    </a:cubicBezTo>
                    <a:cubicBezTo>
                      <a:pt x="137998" y="177800"/>
                      <a:pt x="177800" y="137998"/>
                      <a:pt x="177800" y="88900"/>
                    </a:cubicBezTo>
                    <a:cubicBezTo>
                      <a:pt x="177800" y="39802"/>
                      <a:pt x="137998" y="0"/>
                      <a:pt x="88900" y="0"/>
                    </a:cubicBezTo>
                    <a:cubicBezTo>
                      <a:pt x="39802" y="0"/>
                      <a:pt x="0" y="39802"/>
                      <a:pt x="0" y="88900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23875" y="10001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762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06755" y="7715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高通量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7517" y="1016318"/>
              <a:ext cx="1603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2000+肽段快速筛选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810000" y="857250"/>
              <a:ext cx="857250" cy="342900"/>
            </a:xfrm>
            <a:prstGeom prst="roundRect">
              <a:avLst>
                <a:gd name="adj" fmla="val 27778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55255" y="921068"/>
              <a:ext cx="366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99%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90500" y="1619250"/>
              <a:ext cx="4857750" cy="762000"/>
            </a:xfrm>
            <a:prstGeom prst="roundRect">
              <a:avLst>
                <a:gd name="adj" fmla="val 17500"/>
              </a:avLst>
            </a:prstGeom>
            <a:solidFill>
              <a:srgbClr val="F8FAFC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384175" y="1800225"/>
              <a:ext cx="203199" cy="228600"/>
              <a:chOff x="384175" y="1800225"/>
              <a:chExt cx="203199" cy="228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384175" y="1800225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84175" y="18383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384175" y="19145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06755" y="17240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低成本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7517" y="1968818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减少90%湿实验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810000" y="1809750"/>
              <a:ext cx="857250" cy="342900"/>
            </a:xfrm>
            <a:prstGeom prst="roundRect">
              <a:avLst>
                <a:gd name="adj" fmla="val 27778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002778" y="1873568"/>
              <a:ext cx="471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↓90%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90500" y="2571750"/>
              <a:ext cx="4857750" cy="762000"/>
            </a:xfrm>
            <a:prstGeom prst="roundRect">
              <a:avLst>
                <a:gd name="adj" fmla="val 17500"/>
              </a:avLst>
            </a:prstGeom>
            <a:solidFill>
              <a:srgbClr val="F8FAFC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371475" y="2765425"/>
              <a:ext cx="228600" cy="212724"/>
              <a:chOff x="371475" y="2765425"/>
              <a:chExt cx="228600" cy="212724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371475" y="2867025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523875" y="2816225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447675" y="2765425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384175" y="2968624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06755" y="26765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高精度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7517" y="2921318"/>
              <a:ext cx="1095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96.5%准确率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3810000" y="2762250"/>
              <a:ext cx="857250" cy="342900"/>
            </a:xfrm>
            <a:prstGeom prst="roundRect">
              <a:avLst>
                <a:gd name="adj" fmla="val 27778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950302" y="2826068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96.5%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90500" y="3524250"/>
              <a:ext cx="4857750" cy="762000"/>
            </a:xfrm>
            <a:prstGeom prst="roundRect">
              <a:avLst>
                <a:gd name="adj" fmla="val 17500"/>
              </a:avLst>
            </a:prstGeom>
            <a:solidFill>
              <a:srgbClr val="F8FAFC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371475" y="3705225"/>
              <a:ext cx="228599" cy="228600"/>
              <a:chOff x="371475" y="3705225"/>
              <a:chExt cx="228599" cy="2286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371475" y="3705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416890" y="3756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456565" y="3883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706755" y="36290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可解释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7517" y="3873818"/>
              <a:ext cx="1521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SHAP揭示D/E关键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3810000" y="3714750"/>
              <a:ext cx="857250" cy="342900"/>
            </a:xfrm>
            <a:prstGeom prst="roundRect">
              <a:avLst>
                <a:gd name="adj" fmla="val 27778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146076" y="3778568"/>
              <a:ext cx="1850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AI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8" name="Group 8"/>
            <p:cNvGrpSpPr/>
            <p:nvPr/>
          </p:nvGrpSpPr>
          <p:grpSpPr>
            <a:xfrm>
              <a:off x="800100" y="323850"/>
              <a:ext cx="228599" cy="228600"/>
              <a:chOff x="800100" y="323850"/>
              <a:chExt cx="228599" cy="228600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914400" y="4508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25500" y="4508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977899" y="4000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914400" y="32385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00100" y="4000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25500" y="32385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32332" y="268605"/>
              <a:ext cx="26985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04 机器学习整体优势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762000" y="952500"/>
            <a:ext cx="10572750" cy="4476750"/>
            <a:chOff x="762000" y="952500"/>
            <a:chExt cx="10572750" cy="4476750"/>
          </a:xfrm>
        </p:grpSpPr>
        <p:sp>
          <p:nvSpPr>
            <p:cNvPr id="12" name="Rectangle 12"/>
            <p:cNvSpPr/>
            <p:nvPr/>
          </p:nvSpPr>
          <p:spPr>
            <a:xfrm>
              <a:off x="762000" y="952500"/>
              <a:ext cx="514350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95250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1E40A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95362" y="1185862"/>
              <a:ext cx="257175" cy="257175"/>
              <a:chOff x="995362" y="1185862"/>
              <a:chExt cx="257175" cy="2571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995362" y="11858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66812" y="13573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85725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420368" y="11077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效率革命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21142"/>
              <a:ext cx="1761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传统数周 → AI数小时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642" y="1759268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2000肽段锁定10候选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2500" y="2095500"/>
              <a:ext cx="4762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5642" y="2187892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 · 可重复 · 可扩展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91250" y="952500"/>
              <a:ext cx="514350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91250" y="95250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0E749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38900" y="1185862"/>
              <a:ext cx="228600" cy="257176"/>
              <a:chOff x="6438900" y="1185862"/>
              <a:chExt cx="228600" cy="25717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438900" y="118586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rgbClr val="0E749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38900" y="12287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0E749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38900" y="131445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0E749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849618" y="11077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成本优化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4892" y="1521142"/>
              <a:ext cx="12754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减少90%湿实验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4892" y="1759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虚拟筛选先行验证后置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381750" y="2095500"/>
              <a:ext cx="4762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4892" y="2187892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 · 可重复 · 可扩展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333750"/>
              <a:ext cx="514350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33337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009650" y="3609975"/>
              <a:ext cx="228600" cy="195262"/>
              <a:chOff x="1009650" y="3609975"/>
              <a:chExt cx="228600" cy="19526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009650" y="3795712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EA58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09650" y="36099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128588"/>
                    </a:moveTo>
                    <a:lnTo>
                      <a:pt x="57150" y="42862"/>
                    </a:lnTo>
                    <a:lnTo>
                      <a:pt x="114300" y="71438"/>
                    </a:lnTo>
                    <a:lnTo>
                      <a:pt x="171450" y="0"/>
                    </a:lnTo>
                    <a:lnTo>
                      <a:pt x="228600" y="57150"/>
                    </a:lnTo>
                  </a:path>
                </a:pathLst>
              </a:custGeom>
              <a:noFill/>
              <a:ln w="28575">
                <a:solidFill>
                  <a:srgbClr val="EA58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420368" y="34890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精度突破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5642" y="39023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多模型交叉验证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5642" y="4140518"/>
              <a:ext cx="2297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Transformer 96.5%准确率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4476750"/>
              <a:ext cx="4762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5642" y="4569142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 · 可重复 · 可扩展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91250" y="3333750"/>
              <a:ext cx="514350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91250" y="33337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29856" y="3572356"/>
              <a:ext cx="246688" cy="246688"/>
              <a:chOff x="6429856" y="3572356"/>
              <a:chExt cx="246688" cy="246688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553200" y="3695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0F172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29856" y="3572356"/>
                <a:ext cx="246688" cy="246688"/>
              </a:xfrm>
              <a:custGeom>
                <a:avLst/>
                <a:gdLst/>
                <a:ahLst/>
                <a:cxnLst/>
                <a:rect l="l" t="t" r="r" b="b"/>
                <a:pathLst>
                  <a:path w="246688" h="246688">
                    <a:moveTo>
                      <a:pt x="224371" y="22317"/>
                    </a:moveTo>
                    <a:cubicBezTo>
                      <a:pt x="202054" y="0"/>
                      <a:pt x="138646" y="27132"/>
                      <a:pt x="82925" y="82939"/>
                    </a:cubicBezTo>
                    <a:cubicBezTo>
                      <a:pt x="27132" y="138732"/>
                      <a:pt x="0" y="202054"/>
                      <a:pt x="22317" y="224385"/>
                    </a:cubicBezTo>
                    <a:cubicBezTo>
                      <a:pt x="44634" y="246688"/>
                      <a:pt x="108042" y="219556"/>
                      <a:pt x="163763" y="163749"/>
                    </a:cubicBezTo>
                    <a:cubicBezTo>
                      <a:pt x="219556" y="107956"/>
                      <a:pt x="246688" y="44634"/>
                      <a:pt x="224371" y="22303"/>
                    </a:cubicBezTo>
                  </a:path>
                </a:pathLst>
              </a:custGeom>
              <a:noFill/>
              <a:ln w="28575">
                <a:solidFill>
                  <a:srgbClr val="0F172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29856" y="3572356"/>
                <a:ext cx="246688" cy="246688"/>
              </a:xfrm>
              <a:custGeom>
                <a:avLst/>
                <a:gdLst/>
                <a:ahLst/>
                <a:cxnLst/>
                <a:rect l="l" t="t" r="r" b="b"/>
                <a:pathLst>
                  <a:path w="246688" h="246688">
                    <a:moveTo>
                      <a:pt x="22317" y="22317"/>
                    </a:moveTo>
                    <a:cubicBezTo>
                      <a:pt x="0" y="44634"/>
                      <a:pt x="27132" y="108042"/>
                      <a:pt x="82939" y="163763"/>
                    </a:cubicBezTo>
                    <a:cubicBezTo>
                      <a:pt x="138732" y="219556"/>
                      <a:pt x="202054" y="246688"/>
                      <a:pt x="224385" y="224371"/>
                    </a:cubicBezTo>
                    <a:cubicBezTo>
                      <a:pt x="246688" y="202054"/>
                      <a:pt x="219556" y="138646"/>
                      <a:pt x="163749" y="82925"/>
                    </a:cubicBezTo>
                    <a:cubicBezTo>
                      <a:pt x="107956" y="27132"/>
                      <a:pt x="44634" y="0"/>
                      <a:pt x="22303" y="22317"/>
                    </a:cubicBezTo>
                  </a:path>
                </a:pathLst>
              </a:custGeom>
              <a:noFill/>
              <a:ln w="28575">
                <a:solidFill>
                  <a:srgbClr val="0F172A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849618" y="34890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机制洞察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74892" y="3902392"/>
              <a:ext cx="1640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可解释AI+分子对接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74892" y="4140518"/>
              <a:ext cx="1751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D/E Arg277盐桥热点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381750" y="4476750"/>
              <a:ext cx="4762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74892" y="4569142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 · 可重复 · 可扩展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6" name="Group 6"/>
            <p:cNvGrpSpPr/>
            <p:nvPr/>
          </p:nvGrpSpPr>
          <p:grpSpPr>
            <a:xfrm>
              <a:off x="800100" y="336550"/>
              <a:ext cx="228600" cy="212724"/>
              <a:chOff x="800100" y="336550"/>
              <a:chExt cx="228600" cy="212724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00100" y="4381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952500" y="38735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76300" y="336550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12800" y="539749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1132332" y="268605"/>
              <a:ext cx="32639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05 主流预测模型全景对比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762000" y="857250"/>
            <a:ext cx="10668000" cy="5391150"/>
            <a:chOff x="762000" y="857250"/>
            <a:chExt cx="10668000" cy="5391150"/>
          </a:xfrm>
        </p:grpSpPr>
        <p:sp>
          <p:nvSpPr>
            <p:cNvPr id="10" name="Rectangle 10"/>
            <p:cNvSpPr/>
            <p:nvPr/>
          </p:nvSpPr>
          <p:spPr>
            <a:xfrm>
              <a:off x="762000" y="857250"/>
              <a:ext cx="10668000" cy="419100"/>
            </a:xfrm>
            <a:prstGeom prst="roundRect">
              <a:avLst>
                <a:gd name="adj" fmla="val 22727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392" y="9686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60142" y="9686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算法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65142" y="9686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特征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0642" y="9686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准确率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89392" y="9686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亮点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371600"/>
              <a:ext cx="10668000" cy="552450"/>
            </a:xfrm>
            <a:prstGeom prst="roundRect">
              <a:avLst>
                <a:gd name="adj" fmla="val 17241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0392" y="1492568"/>
              <a:ext cx="1109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iUmami-SCM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0142" y="14925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评分卡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5142" y="1492568"/>
              <a:ext cx="801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AA倾向性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60642" y="1492568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88.9%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9392" y="1492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首个序列预测器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1981200"/>
              <a:ext cx="1066800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0392" y="2102168"/>
              <a:ext cx="11424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UMPred-FRL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60142" y="2102168"/>
              <a:ext cx="84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集成6算法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65142" y="2102168"/>
              <a:ext cx="658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7种编码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0642" y="2102168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86.7%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89392" y="2102168"/>
              <a:ext cx="824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Meta预测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2590800"/>
              <a:ext cx="10668000" cy="552450"/>
            </a:xfrm>
            <a:prstGeom prst="roundRect">
              <a:avLst>
                <a:gd name="adj" fmla="val 17241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0392" y="2711768"/>
              <a:ext cx="1125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Umami-YYDS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60142" y="2711768"/>
              <a:ext cx="43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GBDT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65142" y="2711768"/>
              <a:ext cx="658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8描述符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0642" y="2711768"/>
              <a:ext cx="471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89%+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89392" y="271176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二肽/三肽矩阵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3200400"/>
              <a:ext cx="1066800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0392" y="3321368"/>
              <a:ext cx="116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Umami-MRNN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60142" y="3321368"/>
              <a:ext cx="791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RNN+MLP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65142" y="3321368"/>
              <a:ext cx="1175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AAC/DPC/DDE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0642" y="3321368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90.5%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9392" y="3321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首个神经网络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3810000"/>
              <a:ext cx="10668000" cy="552450"/>
            </a:xfrm>
            <a:prstGeom prst="roundRect">
              <a:avLst>
                <a:gd name="adj" fmla="val 17241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0392" y="3930968"/>
              <a:ext cx="1125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Umami-BERT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60142" y="3930968"/>
              <a:ext cx="1350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BERT+Inception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65142" y="3930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预训练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0642" y="3930968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93.2%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89392" y="3930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注意力可解释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" y="4419600"/>
              <a:ext cx="1066800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2000" y="441960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0392" y="4540568"/>
              <a:ext cx="1212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Transformer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60142" y="4540568"/>
              <a:ext cx="1155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Transformer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65142" y="454056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8理化描述符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0642" y="4540568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580C"/>
                  </a:solidFill>
                  <a:latin typeface="Arial"/>
                  <a:ea typeface="Arial"/>
                  <a:cs typeface="Arial"/>
                </a:rPr>
                <a:t>96.5%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89392" y="4540568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SOTA F1 0.903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" y="5029200"/>
              <a:ext cx="10668000" cy="552450"/>
            </a:xfrm>
            <a:prstGeom prst="roundRect">
              <a:avLst>
                <a:gd name="adj" fmla="val 17241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0392" y="5150168"/>
              <a:ext cx="859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gcForest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60142" y="5150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深度森林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65142" y="5150168"/>
              <a:ext cx="1262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ProtBERT+CTD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0642" y="5150168"/>
              <a:ext cx="366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93%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89392" y="5150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级联森林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000" y="5715000"/>
              <a:ext cx="10668000" cy="533400"/>
            </a:xfrm>
            <a:prstGeom prst="roundRect">
              <a:avLst>
                <a:gd name="adj" fmla="val 21429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5642" y="5874068"/>
              <a:ext cx="5803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趋势：统计特征 → 深度表示 → Transformer，准确率 88.9% → 96.5%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5" name="Group 5"/>
            <p:cNvGrpSpPr/>
            <p:nvPr/>
          </p:nvGrpSpPr>
          <p:grpSpPr>
            <a:xfrm>
              <a:off x="804761" y="328511"/>
              <a:ext cx="219278" cy="219278"/>
              <a:chOff x="804761" y="328511"/>
              <a:chExt cx="219278" cy="21927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914400" y="438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0E7490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04761" y="328511"/>
                <a:ext cx="219278" cy="219278"/>
              </a:xfrm>
              <a:custGeom>
                <a:avLst/>
                <a:gdLst/>
                <a:ahLst/>
                <a:cxnLst/>
                <a:rect l="l" t="t" r="r" b="b"/>
                <a:pathLst>
                  <a:path w="219278" h="219278">
                    <a:moveTo>
                      <a:pt x="199440" y="19837"/>
                    </a:moveTo>
                    <a:cubicBezTo>
                      <a:pt x="179603" y="0"/>
                      <a:pt x="123240" y="24117"/>
                      <a:pt x="73711" y="73723"/>
                    </a:cubicBezTo>
                    <a:cubicBezTo>
                      <a:pt x="24117" y="123317"/>
                      <a:pt x="0" y="179603"/>
                      <a:pt x="19837" y="199453"/>
                    </a:cubicBezTo>
                    <a:cubicBezTo>
                      <a:pt x="39675" y="219278"/>
                      <a:pt x="96037" y="195160"/>
                      <a:pt x="145567" y="145554"/>
                    </a:cubicBezTo>
                    <a:cubicBezTo>
                      <a:pt x="195160" y="95961"/>
                      <a:pt x="219278" y="39675"/>
                      <a:pt x="199440" y="19825"/>
                    </a:cubicBezTo>
                  </a:path>
                </a:pathLst>
              </a:custGeom>
              <a:noFill/>
              <a:ln w="25400">
                <a:solidFill>
                  <a:srgbClr val="0E749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04761" y="328511"/>
                <a:ext cx="219278" cy="219278"/>
              </a:xfrm>
              <a:custGeom>
                <a:avLst/>
                <a:gdLst/>
                <a:ahLst/>
                <a:cxnLst/>
                <a:rect l="l" t="t" r="r" b="b"/>
                <a:pathLst>
                  <a:path w="219278" h="219278">
                    <a:moveTo>
                      <a:pt x="19837" y="19837"/>
                    </a:moveTo>
                    <a:cubicBezTo>
                      <a:pt x="0" y="39675"/>
                      <a:pt x="24117" y="96037"/>
                      <a:pt x="73723" y="145567"/>
                    </a:cubicBezTo>
                    <a:cubicBezTo>
                      <a:pt x="123317" y="195160"/>
                      <a:pt x="179603" y="219278"/>
                      <a:pt x="199453" y="199440"/>
                    </a:cubicBezTo>
                    <a:cubicBezTo>
                      <a:pt x="219278" y="179603"/>
                      <a:pt x="195160" y="123240"/>
                      <a:pt x="145554" y="73711"/>
                    </a:cubicBezTo>
                    <a:cubicBezTo>
                      <a:pt x="95961" y="24117"/>
                      <a:pt x="39675" y="0"/>
                      <a:pt x="19825" y="19837"/>
                    </a:cubicBezTo>
                  </a:path>
                </a:pathLst>
              </a:custGeom>
              <a:noFill/>
              <a:ln w="25400">
                <a:solidFill>
                  <a:srgbClr val="0E7490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32332" y="268605"/>
              <a:ext cx="29812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06 特征工程与数据处理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0" y="0"/>
            <a:ext cx="5143500" cy="4953000"/>
            <a:chOff x="0" y="0"/>
            <a:chExt cx="5143500" cy="4953000"/>
          </a:xfrm>
        </p:grpSpPr>
        <p:sp>
          <p:nvSpPr>
            <p:cNvPr id="9" name="Rectangle 9"/>
            <p:cNvSpPr/>
            <p:nvPr/>
          </p:nvSpPr>
          <p:spPr>
            <a:xfrm>
              <a:off x="0" y="0"/>
              <a:ext cx="5143500" cy="4953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229561" y="181936"/>
              <a:ext cx="188579" cy="188579"/>
              <a:chOff x="229561" y="181936"/>
              <a:chExt cx="188579" cy="18857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75579" y="228610"/>
                <a:ext cx="95887" cy="95887"/>
              </a:xfrm>
              <a:custGeom>
                <a:avLst/>
                <a:gdLst/>
                <a:ahLst/>
                <a:cxnLst/>
                <a:rect l="l" t="t" r="r" b="b"/>
                <a:pathLst>
                  <a:path w="95887" h="95887">
                    <a:moveTo>
                      <a:pt x="79698" y="79042"/>
                    </a:moveTo>
                    <a:cubicBezTo>
                      <a:pt x="91253" y="67881"/>
                      <a:pt x="95887" y="51355"/>
                      <a:pt x="91819" y="35814"/>
                    </a:cubicBezTo>
                    <a:cubicBezTo>
                      <a:pt x="87751" y="20273"/>
                      <a:pt x="75615" y="8136"/>
                      <a:pt x="60073" y="4068"/>
                    </a:cubicBezTo>
                    <a:cubicBezTo>
                      <a:pt x="44532" y="0"/>
                      <a:pt x="28006" y="4634"/>
                      <a:pt x="16845" y="16189"/>
                    </a:cubicBezTo>
                    <a:cubicBezTo>
                      <a:pt x="0" y="33631"/>
                      <a:pt x="241" y="61354"/>
                      <a:pt x="17387" y="78500"/>
                    </a:cubicBezTo>
                    <a:cubicBezTo>
                      <a:pt x="34533" y="95646"/>
                      <a:pt x="62257" y="95887"/>
                      <a:pt x="79698" y="79042"/>
                    </a:cubicBez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29561" y="290292"/>
                <a:ext cx="80223" cy="80223"/>
              </a:xfrm>
              <a:custGeom>
                <a:avLst/>
                <a:gdLst/>
                <a:ahLst/>
                <a:cxnLst/>
                <a:rect l="l" t="t" r="r" b="b"/>
                <a:pathLst>
                  <a:path w="80223" h="80223">
                    <a:moveTo>
                      <a:pt x="62864" y="80223"/>
                    </a:moveTo>
                    <a:cubicBezTo>
                      <a:pt x="80223" y="62864"/>
                      <a:pt x="80223" y="34719"/>
                      <a:pt x="62864" y="17359"/>
                    </a:cubicBezTo>
                    <a:cubicBezTo>
                      <a:pt x="45504" y="0"/>
                      <a:pt x="17359" y="0"/>
                      <a:pt x="0" y="17359"/>
                    </a:cubicBez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37917" y="181936"/>
                <a:ext cx="80223" cy="80223"/>
              </a:xfrm>
              <a:custGeom>
                <a:avLst/>
                <a:gdLst/>
                <a:ahLst/>
                <a:cxnLst/>
                <a:rect l="l" t="t" r="r" b="b"/>
                <a:pathLst>
                  <a:path w="80223" h="80223">
                    <a:moveTo>
                      <a:pt x="17359" y="0"/>
                    </a:moveTo>
                    <a:cubicBezTo>
                      <a:pt x="0" y="17359"/>
                      <a:pt x="0" y="45504"/>
                      <a:pt x="17359" y="62864"/>
                    </a:cubicBezTo>
                    <a:cubicBezTo>
                      <a:pt x="34719" y="80223"/>
                      <a:pt x="62864" y="80223"/>
                      <a:pt x="80223" y="62864"/>
                    </a:cubicBez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563880" y="1714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核心特征类型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0500" y="571500"/>
              <a:ext cx="4762500" cy="419100"/>
            </a:xfrm>
            <a:prstGeom prst="roundRect">
              <a:avLst>
                <a:gd name="adj" fmla="val 2272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90500" y="571500"/>
              <a:ext cx="762000" cy="419100"/>
            </a:xfrm>
            <a:prstGeom prst="roundRect">
              <a:avLst>
                <a:gd name="adj" fmla="val 2272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8892" y="682942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AAC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8517" y="682942"/>
              <a:ext cx="1358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氨基酸组成 20维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90500" y="1066800"/>
              <a:ext cx="4762500" cy="419100"/>
            </a:xfrm>
            <a:prstGeom prst="roundRect">
              <a:avLst>
                <a:gd name="adj" fmla="val 2272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0500" y="1066800"/>
              <a:ext cx="762000" cy="419100"/>
            </a:xfrm>
            <a:prstGeom prst="roundRect">
              <a:avLst>
                <a:gd name="adj" fmla="val 2272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8892" y="1178242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DPC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8517" y="1178242"/>
              <a:ext cx="1276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二肽组成 400维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90500" y="1562100"/>
              <a:ext cx="4762500" cy="419100"/>
            </a:xfrm>
            <a:prstGeom prst="roundRect">
              <a:avLst>
                <a:gd name="adj" fmla="val 2272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0500" y="1562100"/>
              <a:ext cx="762000" cy="419100"/>
            </a:xfrm>
            <a:prstGeom prst="roundRect">
              <a:avLst>
                <a:gd name="adj" fmla="val 2272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78892" y="1673542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DDE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8517" y="1673542"/>
              <a:ext cx="1276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二肽偏差 400维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0500" y="2057400"/>
              <a:ext cx="4762500" cy="419100"/>
            </a:xfrm>
            <a:prstGeom prst="roundRect">
              <a:avLst>
                <a:gd name="adj" fmla="val 2272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0500" y="2057400"/>
              <a:ext cx="762000" cy="419100"/>
            </a:xfrm>
            <a:prstGeom prst="roundRect">
              <a:avLst>
                <a:gd name="adj" fmla="val 2272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78892" y="2168842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CTD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8517" y="2168842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组成-转换-分布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0500" y="2552700"/>
              <a:ext cx="4762500" cy="419100"/>
            </a:xfrm>
            <a:prstGeom prst="roundRect">
              <a:avLst>
                <a:gd name="adj" fmla="val 2272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0500" y="2552700"/>
              <a:ext cx="762000" cy="419100"/>
            </a:xfrm>
            <a:prstGeom prst="roundRect">
              <a:avLst>
                <a:gd name="adj" fmla="val 2272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8892" y="266414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PAAC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8517" y="2664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伪氨基酸组成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90500" y="3048000"/>
              <a:ext cx="4762500" cy="419100"/>
            </a:xfrm>
            <a:prstGeom prst="roundRect">
              <a:avLst>
                <a:gd name="adj" fmla="val 2272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90500" y="3048000"/>
              <a:ext cx="762000" cy="419100"/>
            </a:xfrm>
            <a:prstGeom prst="roundRect">
              <a:avLst>
                <a:gd name="adj" fmla="val 2272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78892" y="3159442"/>
              <a:ext cx="386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OPF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8517" y="31594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重叠属性特征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90500" y="3543300"/>
              <a:ext cx="4762500" cy="419100"/>
            </a:xfrm>
            <a:prstGeom prst="roundRect">
              <a:avLst>
                <a:gd name="adj" fmla="val 2272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90500" y="3543300"/>
              <a:ext cx="762000" cy="419100"/>
            </a:xfrm>
            <a:prstGeom prst="roundRect">
              <a:avLst>
                <a:gd name="adj" fmla="val 2272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8892" y="36547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分子指纹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8517" y="3654742"/>
              <a:ext cx="907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MolLogP等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90500" y="4038600"/>
              <a:ext cx="4762500" cy="419100"/>
            </a:xfrm>
            <a:prstGeom prst="roundRect">
              <a:avLst>
                <a:gd name="adj" fmla="val 2272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90500" y="4038600"/>
              <a:ext cx="762000" cy="419100"/>
            </a:xfrm>
            <a:prstGeom prst="roundRect">
              <a:avLst>
                <a:gd name="adj" fmla="val 2272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78892" y="4150042"/>
              <a:ext cx="1212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Transformer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8517" y="4150042"/>
              <a:ext cx="1217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ProtBERT嵌入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0" y="0"/>
            <a:ext cx="5238750" cy="4953000"/>
            <a:chOff x="0" y="0"/>
            <a:chExt cx="5238750" cy="4953000"/>
          </a:xfrm>
        </p:grpSpPr>
        <p:sp>
          <p:nvSpPr>
            <p:cNvPr id="48" name="Rectangle 48"/>
            <p:cNvSpPr/>
            <p:nvPr/>
          </p:nvSpPr>
          <p:spPr>
            <a:xfrm>
              <a:off x="0" y="0"/>
              <a:ext cx="5238750" cy="4953000"/>
            </a:xfrm>
            <a:prstGeom prst="roundRect">
              <a:avLst>
                <a:gd name="adj" fmla="val 384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234950" y="187325"/>
              <a:ext cx="200026" cy="200026"/>
              <a:chOff x="234950" y="18732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234950" y="187325"/>
                <a:ext cx="177801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88913">
                    <a:moveTo>
                      <a:pt x="81788" y="180167"/>
                    </a:moveTo>
                    <a:lnTo>
                      <a:pt x="55563" y="188913"/>
                    </a:lnTo>
                    <a:lnTo>
                      <a:pt x="55563" y="94457"/>
                    </a:lnTo>
                    <a:lnTo>
                      <a:pt x="5779" y="39694"/>
                    </a:lnTo>
                    <a:cubicBezTo>
                      <a:pt x="2061" y="35604"/>
                      <a:pt x="1" y="30275"/>
                      <a:pt x="0" y="24748"/>
                    </a:cubicBezTo>
                    <a:lnTo>
                      <a:pt x="0" y="0"/>
                    </a:lnTo>
                    <a:lnTo>
                      <a:pt x="177801" y="0"/>
                    </a:lnTo>
                    <a:lnTo>
                      <a:pt x="177801" y="24136"/>
                    </a:lnTo>
                    <a:cubicBezTo>
                      <a:pt x="177799" y="30030"/>
                      <a:pt x="175457" y="35683"/>
                      <a:pt x="171289" y="39850"/>
                    </a:cubicBezTo>
                    <a:lnTo>
                      <a:pt x="122238" y="88900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57188" y="3095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14973" y="367348"/>
                <a:ext cx="20003" cy="20003"/>
              </a:xfrm>
              <a:custGeom>
                <a:avLst/>
                <a:gdLst/>
                <a:ahLst/>
                <a:cxnLst/>
                <a:rect l="l" t="t" r="r" b="b"/>
                <a:pathLst>
                  <a:path w="20003" h="20003">
                    <a:moveTo>
                      <a:pt x="0" y="0"/>
                    </a:moveTo>
                    <a:lnTo>
                      <a:pt x="20003" y="20003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63880" y="1714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数据处理关键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90500" y="571500"/>
              <a:ext cx="485775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74142" y="663892"/>
              <a:ext cx="1285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SMOTE 过采样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4142" y="90201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84鲜味 vs 129非鲜味 → 平衡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4142" y="1140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提升小样本泛化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90500" y="1619250"/>
              <a:ext cx="485775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74142" y="1711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特征选择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74142" y="1949768"/>
              <a:ext cx="1866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互信息·皮尔森·F回归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74142" y="2187892"/>
              <a:ext cx="1785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1338维→关键特征降维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90500" y="2667000"/>
              <a:ext cx="485775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74142" y="27593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混合表示学习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74142" y="2997518"/>
              <a:ext cx="265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CTD+KNNProtein+Transformer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74142" y="3235642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多尺度互补 96%+准确率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90500" y="3714750"/>
              <a:ext cx="4857750" cy="857250"/>
            </a:xfrm>
            <a:prstGeom prst="roundRect">
              <a:avLst>
                <a:gd name="adj" fmla="val 13333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74142" y="3807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SHAP 可解释性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74142" y="4045268"/>
              <a:ext cx="2331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MolLogP·VSA_EState6关键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74142" y="42833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指导理性设计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4" name="Group 4"/>
            <p:cNvGrpSpPr/>
            <p:nvPr/>
          </p:nvGrpSpPr>
          <p:grpSpPr>
            <a:xfrm>
              <a:off x="812800" y="336550"/>
              <a:ext cx="203199" cy="203199"/>
              <a:chOff x="812800" y="336550"/>
              <a:chExt cx="203199" cy="203199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12800" y="33655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0" y="1778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  <a:cubicBezTo>
                      <a:pt x="191828" y="0"/>
                      <a:pt x="203199" y="11372"/>
                      <a:pt x="203199" y="25400"/>
                    </a:cubicBezTo>
                    <a:lnTo>
                      <a:pt x="203199" y="177800"/>
                    </a:lnTo>
                    <a:cubicBezTo>
                      <a:pt x="203199" y="191828"/>
                      <a:pt x="191828" y="203199"/>
                      <a:pt x="177800" y="203199"/>
                    </a:cubicBez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50900" y="412750"/>
                <a:ext cx="1270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50800">
                    <a:moveTo>
                      <a:pt x="0" y="50800"/>
                    </a:moveTo>
                    <a:lnTo>
                      <a:pt x="38100" y="12700"/>
                    </a:lnTo>
                    <a:lnTo>
                      <a:pt x="63500" y="38100"/>
                    </a:lnTo>
                    <a:lnTo>
                      <a:pt x="101600" y="0"/>
                    </a:lnTo>
                    <a:lnTo>
                      <a:pt x="127000" y="254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1132332" y="268605"/>
              <a:ext cx="26985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07 完整虚拟筛选流程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762000" y="952500"/>
            <a:ext cx="10429875" cy="1428750"/>
            <a:chOff x="762000" y="952500"/>
            <a:chExt cx="10429875" cy="1428750"/>
          </a:xfrm>
        </p:grpSpPr>
        <p:sp>
          <p:nvSpPr>
            <p:cNvPr id="8" name="Rectangle 8"/>
            <p:cNvSpPr/>
            <p:nvPr/>
          </p:nvSpPr>
          <p:spPr>
            <a:xfrm>
              <a:off x="762000" y="952500"/>
              <a:ext cx="1619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1E40AF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62075" y="981075"/>
              <a:ext cx="419100" cy="4191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12290" y="1102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428750" y="1485900"/>
              <a:ext cx="285750" cy="352425"/>
              <a:chOff x="1428750" y="1485900"/>
              <a:chExt cx="285750" cy="3524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28750" y="182880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38100">
                <a:solidFill>
                  <a:srgbClr val="1E40A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47800" y="17716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rgbClr val="1E40A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66850" y="17716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1E40A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504950" y="15240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114300"/>
                    </a:moveTo>
                    <a:lnTo>
                      <a:pt x="57150" y="171450"/>
                    </a:lnTo>
                    <a:lnTo>
                      <a:pt x="171450" y="57150"/>
                    </a:lnTo>
                    <a:lnTo>
                      <a:pt x="114300" y="0"/>
                    </a:lnTo>
                    <a:lnTo>
                      <a:pt x="0" y="114300"/>
                    </a:lnTo>
                  </a:path>
                </a:pathLst>
              </a:custGeom>
              <a:noFill/>
              <a:ln w="38100">
                <a:solidFill>
                  <a:srgbClr val="1E40A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504950" y="166687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28575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38100">
                <a:solidFill>
                  <a:srgbClr val="1E40A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657350" y="14859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38100">
                <a:solidFill>
                  <a:srgbClr val="1E40A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562100" y="1624736"/>
                <a:ext cx="123956" cy="204068"/>
              </a:xfrm>
              <a:custGeom>
                <a:avLst/>
                <a:gdLst/>
                <a:ahLst/>
                <a:cxnLst/>
                <a:rect l="l" t="t" r="r" b="b"/>
                <a:pathLst>
                  <a:path w="123956" h="204068">
                    <a:moveTo>
                      <a:pt x="0" y="204064"/>
                    </a:moveTo>
                    <a:cubicBezTo>
                      <a:pt x="48695" y="204068"/>
                      <a:pt x="92045" y="173222"/>
                      <a:pt x="108001" y="127215"/>
                    </a:cubicBezTo>
                    <a:cubicBezTo>
                      <a:pt x="123956" y="81209"/>
                      <a:pt x="109012" y="30145"/>
                      <a:pt x="70771" y="0"/>
                    </a:cubicBezTo>
                  </a:path>
                </a:pathLst>
              </a:custGeom>
              <a:noFill/>
              <a:ln w="38100">
                <a:solidFill>
                  <a:srgbClr val="1E40A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898017" y="1902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肽组学鉴定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8017" y="2092642"/>
              <a:ext cx="935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LC-MS/MS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381250" y="166687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524125" y="952500"/>
              <a:ext cx="1619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0E7490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124200" y="981075"/>
              <a:ext cx="419100" cy="419100"/>
            </a:xfrm>
            <a:prstGeom prst="ellipse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74415" y="1102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3171825" y="1485900"/>
              <a:ext cx="304800" cy="342900"/>
              <a:chOff x="3171825" y="1485900"/>
              <a:chExt cx="304800" cy="3429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171825" y="148590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38100">
                <a:solidFill>
                  <a:srgbClr val="0E749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171825" y="15430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rgbClr val="0E749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171825" y="16573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rgbClr val="0E749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660142" y="1902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数据库去重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60142" y="2092642"/>
              <a:ext cx="7303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TasteDB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143375" y="166687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86250" y="952500"/>
              <a:ext cx="1619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EA580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886325" y="981075"/>
              <a:ext cx="419100" cy="41910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036540" y="1102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4914900" y="1485900"/>
              <a:ext cx="342900" cy="342900"/>
              <a:chOff x="4914900" y="1485900"/>
              <a:chExt cx="342900" cy="3429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086350" y="16764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66675" y="0"/>
                    </a:moveTo>
                    <a:cubicBezTo>
                      <a:pt x="29851" y="0"/>
                      <a:pt x="0" y="29851"/>
                      <a:pt x="0" y="66675"/>
                    </a:cubicBezTo>
                    <a:lnTo>
                      <a:pt x="0" y="85725"/>
                    </a:lnTo>
                    <a:cubicBezTo>
                      <a:pt x="0" y="122549"/>
                      <a:pt x="29851" y="152400"/>
                      <a:pt x="66675" y="152400"/>
                    </a:cubicBezTo>
                    <a:cubicBezTo>
                      <a:pt x="103499" y="152400"/>
                      <a:pt x="133350" y="122549"/>
                      <a:pt x="133350" y="85725"/>
                    </a:cubicBezTo>
                    <a:lnTo>
                      <a:pt x="133350" y="51435"/>
                    </a:lnTo>
                  </a:path>
                </a:pathLst>
              </a:custGeom>
              <a:noFill/>
              <a:ln w="38100">
                <a:solidFill>
                  <a:srgbClr val="EA58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953000" y="16764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66675" y="0"/>
                    </a:moveTo>
                    <a:cubicBezTo>
                      <a:pt x="103499" y="0"/>
                      <a:pt x="133350" y="29851"/>
                      <a:pt x="133350" y="66675"/>
                    </a:cubicBezTo>
                    <a:lnTo>
                      <a:pt x="133350" y="85725"/>
                    </a:lnTo>
                    <a:cubicBezTo>
                      <a:pt x="133350" y="122549"/>
                      <a:pt x="103499" y="152400"/>
                      <a:pt x="66675" y="152400"/>
                    </a:cubicBezTo>
                    <a:cubicBezTo>
                      <a:pt x="29851" y="152400"/>
                      <a:pt x="0" y="122549"/>
                      <a:pt x="0" y="85725"/>
                    </a:cubicBezTo>
                    <a:lnTo>
                      <a:pt x="0" y="51435"/>
                    </a:lnTo>
                  </a:path>
                </a:pathLst>
              </a:custGeom>
              <a:noFill/>
              <a:ln w="38100">
                <a:solidFill>
                  <a:srgbClr val="EA58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181600" y="160020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9525" y="133350"/>
                    </a:moveTo>
                    <a:cubicBezTo>
                      <a:pt x="46349" y="133350"/>
                      <a:pt x="76200" y="103499"/>
                      <a:pt x="76200" y="66675"/>
                    </a:cubicBezTo>
                    <a:cubicBezTo>
                      <a:pt x="76200" y="29851"/>
                      <a:pt x="46349" y="0"/>
                      <a:pt x="9525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EA58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086350" y="1485900"/>
                <a:ext cx="133350" cy="12001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20015">
                    <a:moveTo>
                      <a:pt x="133350" y="120015"/>
                    </a:moveTo>
                    <a:lnTo>
                      <a:pt x="133350" y="66675"/>
                    </a:ln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38100">
                <a:solidFill>
                  <a:srgbClr val="EA58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914900" y="160020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66675" y="133350"/>
                    </a:moveTo>
                    <a:cubicBezTo>
                      <a:pt x="29851" y="133350"/>
                      <a:pt x="0" y="103499"/>
                      <a:pt x="0" y="66675"/>
                    </a:cubicBezTo>
                    <a:cubicBezTo>
                      <a:pt x="0" y="29851"/>
                      <a:pt x="29851" y="0"/>
                      <a:pt x="66675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38100">
                <a:solidFill>
                  <a:srgbClr val="EA58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953000" y="1485900"/>
                <a:ext cx="13335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57175">
                    <a:moveTo>
                      <a:pt x="0" y="120015"/>
                    </a:move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ubicBezTo>
                      <a:pt x="103499" y="0"/>
                      <a:pt x="133350" y="29851"/>
                      <a:pt x="133350" y="66675"/>
                    </a:cubicBezTo>
                    <a:lnTo>
                      <a:pt x="133350" y="257175"/>
                    </a:lnTo>
                  </a:path>
                </a:pathLst>
              </a:custGeom>
              <a:noFill/>
              <a:ln w="38100">
                <a:solidFill>
                  <a:srgbClr val="EA58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4422267" y="1902142"/>
              <a:ext cx="659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ML预测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22267" y="2092642"/>
              <a:ext cx="84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4模型交叉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5905500" y="166687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8375" y="952500"/>
              <a:ext cx="1619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0F172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648450" y="981075"/>
              <a:ext cx="419100" cy="419100"/>
            </a:xfrm>
            <a:prstGeom prst="ellipse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98665" y="1102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6684016" y="1492891"/>
              <a:ext cx="328917" cy="328917"/>
              <a:chOff x="6684016" y="1492891"/>
              <a:chExt cx="328917" cy="328917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848475" y="1657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38100">
                <a:solidFill>
                  <a:srgbClr val="0F172A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84016" y="1492891"/>
                <a:ext cx="328917" cy="328917"/>
              </a:xfrm>
              <a:custGeom>
                <a:avLst/>
                <a:gdLst/>
                <a:ahLst/>
                <a:cxnLst/>
                <a:rect l="l" t="t" r="r" b="b"/>
                <a:pathLst>
                  <a:path w="328917" h="328917">
                    <a:moveTo>
                      <a:pt x="299161" y="29756"/>
                    </a:moveTo>
                    <a:cubicBezTo>
                      <a:pt x="269405" y="0"/>
                      <a:pt x="184861" y="36176"/>
                      <a:pt x="110566" y="110585"/>
                    </a:cubicBezTo>
                    <a:cubicBezTo>
                      <a:pt x="36176" y="184975"/>
                      <a:pt x="0" y="269405"/>
                      <a:pt x="29756" y="299180"/>
                    </a:cubicBezTo>
                    <a:cubicBezTo>
                      <a:pt x="59512" y="328917"/>
                      <a:pt x="144056" y="292741"/>
                      <a:pt x="218351" y="218332"/>
                    </a:cubicBezTo>
                    <a:cubicBezTo>
                      <a:pt x="292741" y="143942"/>
                      <a:pt x="328917" y="59512"/>
                      <a:pt x="299161" y="29737"/>
                    </a:cubicBezTo>
                  </a:path>
                </a:pathLst>
              </a:custGeom>
              <a:noFill/>
              <a:ln w="38100">
                <a:solidFill>
                  <a:srgbClr val="0F172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84016" y="1492891"/>
                <a:ext cx="328917" cy="328917"/>
              </a:xfrm>
              <a:custGeom>
                <a:avLst/>
                <a:gdLst/>
                <a:ahLst/>
                <a:cxnLst/>
                <a:rect l="l" t="t" r="r" b="b"/>
                <a:pathLst>
                  <a:path w="328917" h="328917">
                    <a:moveTo>
                      <a:pt x="29756" y="29756"/>
                    </a:moveTo>
                    <a:cubicBezTo>
                      <a:pt x="0" y="59512"/>
                      <a:pt x="36176" y="144056"/>
                      <a:pt x="110585" y="218351"/>
                    </a:cubicBezTo>
                    <a:cubicBezTo>
                      <a:pt x="184975" y="292741"/>
                      <a:pt x="269405" y="328917"/>
                      <a:pt x="299180" y="299161"/>
                    </a:cubicBezTo>
                    <a:cubicBezTo>
                      <a:pt x="328917" y="269405"/>
                      <a:pt x="292741" y="184861"/>
                      <a:pt x="218332" y="110566"/>
                    </a:cubicBezTo>
                    <a:cubicBezTo>
                      <a:pt x="143942" y="36176"/>
                      <a:pt x="59512" y="0"/>
                      <a:pt x="29737" y="29756"/>
                    </a:cubicBezTo>
                  </a:path>
                </a:pathLst>
              </a:custGeom>
              <a:noFill/>
              <a:ln w="38100">
                <a:solidFill>
                  <a:srgbClr val="0F172A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184392" y="1902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分子对接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84392" y="2092642"/>
              <a:ext cx="964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T1R1/T1R3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7667625" y="166687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10500" y="952500"/>
              <a:ext cx="1619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1E40AF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8410575" y="981075"/>
              <a:ext cx="419100" cy="4191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60790" y="1102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8494437" y="1485900"/>
              <a:ext cx="232327" cy="342900"/>
              <a:chOff x="8494437" y="1485900"/>
              <a:chExt cx="232327" cy="3429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553450" y="14859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rgbClr val="1E40A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572500" y="16002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38100">
                <a:solidFill>
                  <a:srgbClr val="1E40A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494437" y="1485900"/>
                <a:ext cx="232327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32327" h="342900">
                    <a:moveTo>
                      <a:pt x="78063" y="0"/>
                    </a:moveTo>
                    <a:lnTo>
                      <a:pt x="78063" y="114300"/>
                    </a:lnTo>
                    <a:lnTo>
                      <a:pt x="1863" y="323850"/>
                    </a:lnTo>
                    <a:cubicBezTo>
                      <a:pt x="0" y="327599"/>
                      <a:pt x="5" y="332005"/>
                      <a:pt x="1877" y="335749"/>
                    </a:cubicBezTo>
                    <a:cubicBezTo>
                      <a:pt x="3750" y="339494"/>
                      <a:pt x="7271" y="342142"/>
                      <a:pt x="11388" y="342900"/>
                    </a:cubicBezTo>
                    <a:lnTo>
                      <a:pt x="220938" y="342900"/>
                    </a:lnTo>
                    <a:cubicBezTo>
                      <a:pt x="225055" y="342142"/>
                      <a:pt x="228577" y="339494"/>
                      <a:pt x="230450" y="335749"/>
                    </a:cubicBezTo>
                    <a:cubicBezTo>
                      <a:pt x="232322" y="332005"/>
                      <a:pt x="232327" y="327599"/>
                      <a:pt x="230463" y="323850"/>
                    </a:cubicBezTo>
                    <a:lnTo>
                      <a:pt x="154263" y="114300"/>
                    </a:lnTo>
                    <a:lnTo>
                      <a:pt x="154263" y="0"/>
                    </a:lnTo>
                  </a:path>
                </a:pathLst>
              </a:custGeom>
              <a:noFill/>
              <a:ln w="38100">
                <a:solidFill>
                  <a:srgbClr val="1E40A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946517" y="1902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感官验证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46517" y="2092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电子舌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9429750" y="166687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572625" y="952500"/>
              <a:ext cx="1619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0E7490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0172700" y="981075"/>
              <a:ext cx="419100" cy="419100"/>
            </a:xfrm>
            <a:prstGeom prst="ellipse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322915" y="1102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10201275" y="1485900"/>
              <a:ext cx="342900" cy="342900"/>
              <a:chOff x="10201275" y="1485900"/>
              <a:chExt cx="342900" cy="3429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10201275" y="1485900"/>
                <a:ext cx="342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71450">
                    <a:moveTo>
                      <a:pt x="0" y="171450"/>
                    </a:moveTo>
                    <a:lnTo>
                      <a:pt x="19050" y="171450"/>
                    </a:lnTo>
                    <a:moveTo>
                      <a:pt x="171450" y="0"/>
                    </a:moveTo>
                    <a:lnTo>
                      <a:pt x="171450" y="19050"/>
                    </a:lnTo>
                    <a:moveTo>
                      <a:pt x="323850" y="171450"/>
                    </a:moveTo>
                    <a:lnTo>
                      <a:pt x="342900" y="171450"/>
                    </a:lnTo>
                    <a:moveTo>
                      <a:pt x="49530" y="49530"/>
                    </a:moveTo>
                    <a:lnTo>
                      <a:pt x="62865" y="62865"/>
                    </a:lnTo>
                    <a:moveTo>
                      <a:pt x="293370" y="49530"/>
                    </a:moveTo>
                    <a:lnTo>
                      <a:pt x="280035" y="62865"/>
                    </a:lnTo>
                  </a:path>
                </a:pathLst>
              </a:custGeom>
              <a:noFill/>
              <a:ln w="38100">
                <a:solidFill>
                  <a:srgbClr val="0E7490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0269398" y="1562100"/>
                <a:ext cx="206654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6654" h="266700">
                    <a:moveTo>
                      <a:pt x="46177" y="171450"/>
                    </a:moveTo>
                    <a:cubicBezTo>
                      <a:pt x="13378" y="146851"/>
                      <a:pt x="0" y="104024"/>
                      <a:pt x="12965" y="65129"/>
                    </a:cubicBezTo>
                    <a:cubicBezTo>
                      <a:pt x="25930" y="26235"/>
                      <a:pt x="62328" y="0"/>
                      <a:pt x="103327" y="0"/>
                    </a:cubicBezTo>
                    <a:cubicBezTo>
                      <a:pt x="144325" y="0"/>
                      <a:pt x="180724" y="26235"/>
                      <a:pt x="193689" y="65129"/>
                    </a:cubicBezTo>
                    <a:cubicBezTo>
                      <a:pt x="206654" y="104024"/>
                      <a:pt x="193276" y="146851"/>
                      <a:pt x="160477" y="171450"/>
                    </a:cubicBezTo>
                    <a:cubicBezTo>
                      <a:pt x="145392" y="186382"/>
                      <a:pt x="138319" y="207604"/>
                      <a:pt x="141427" y="228600"/>
                    </a:cubicBezTo>
                    <a:cubicBezTo>
                      <a:pt x="141427" y="249642"/>
                      <a:pt x="124369" y="266700"/>
                      <a:pt x="103327" y="266700"/>
                    </a:cubicBezTo>
                    <a:cubicBezTo>
                      <a:pt x="82285" y="266700"/>
                      <a:pt x="65227" y="249642"/>
                      <a:pt x="65227" y="228600"/>
                    </a:cubicBezTo>
                    <a:cubicBezTo>
                      <a:pt x="68335" y="207604"/>
                      <a:pt x="61261" y="186382"/>
                      <a:pt x="46177" y="171450"/>
                    </a:cubicBezTo>
                  </a:path>
                </a:pathLst>
              </a:custGeom>
              <a:noFill/>
              <a:ln w="38100">
                <a:solidFill>
                  <a:srgbClr val="0E7490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10328910" y="1752600"/>
                <a:ext cx="8763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7630" h="9525">
                    <a:moveTo>
                      <a:pt x="0" y="0"/>
                    </a:moveTo>
                    <a:lnTo>
                      <a:pt x="87630" y="0"/>
                    </a:lnTo>
                  </a:path>
                </a:pathLst>
              </a:custGeom>
              <a:noFill/>
              <a:ln w="38100">
                <a:solidFill>
                  <a:srgbClr val="0E7490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9708642" y="1902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应用开发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08642" y="2092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调味品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0" y="0"/>
            <a:ext cx="10668000" cy="2857500"/>
            <a:chOff x="0" y="0"/>
            <a:chExt cx="10668000" cy="2857500"/>
          </a:xfrm>
        </p:grpSpPr>
        <p:sp>
          <p:nvSpPr>
            <p:cNvPr id="75" name="Rectangle 75"/>
            <p:cNvSpPr/>
            <p:nvPr/>
          </p:nvSpPr>
          <p:spPr>
            <a:xfrm>
              <a:off x="0" y="0"/>
              <a:ext cx="6667500" cy="2857500"/>
            </a:xfrm>
            <a:prstGeom prst="roundRect">
              <a:avLst>
                <a:gd name="adj" fmla="val 6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254540" y="176213"/>
              <a:ext cx="138607" cy="200026"/>
              <a:chOff x="254540" y="176213"/>
              <a:chExt cx="138607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258286" y="309563"/>
                <a:ext cx="13112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1128" h="9525">
                    <a:moveTo>
                      <a:pt x="0" y="0"/>
                    </a:moveTo>
                    <a:lnTo>
                      <a:pt x="131128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254540" y="176213"/>
                <a:ext cx="138607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38607" h="200026">
                    <a:moveTo>
                      <a:pt x="91535" y="0"/>
                    </a:moveTo>
                    <a:lnTo>
                      <a:pt x="91535" y="81588"/>
                    </a:lnTo>
                    <a:cubicBezTo>
                      <a:pt x="115374" y="90007"/>
                      <a:pt x="132401" y="111184"/>
                      <a:pt x="135504" y="136275"/>
                    </a:cubicBezTo>
                    <a:cubicBezTo>
                      <a:pt x="138607" y="161366"/>
                      <a:pt x="127252" y="186053"/>
                      <a:pt x="106182" y="200026"/>
                    </a:cubicBezTo>
                    <a:lnTo>
                      <a:pt x="32450" y="200026"/>
                    </a:lnTo>
                    <a:cubicBezTo>
                      <a:pt x="11366" y="186058"/>
                      <a:pt x="0" y="161365"/>
                      <a:pt x="3101" y="136266"/>
                    </a:cubicBezTo>
                    <a:cubicBezTo>
                      <a:pt x="6202" y="111166"/>
                      <a:pt x="23236" y="89982"/>
                      <a:pt x="47085" y="81566"/>
                    </a:cubicBezTo>
                    <a:lnTo>
                      <a:pt x="47085" y="0"/>
                    </a:lnTo>
                    <a:lnTo>
                      <a:pt x="91535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90513" y="1762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563880" y="171450"/>
              <a:ext cx="3498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金华火腿案例：2000+肽段 → 10种新型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83642" y="521018"/>
              <a:ext cx="35469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1. LC-MS鉴定2000+，长度≤10筛选159条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83642" y="806768"/>
              <a:ext cx="41230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2. 四模型交叉：SCM&gt;588, FRL&gt;0.5, YYDS&gt;0.9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83642" y="1092518"/>
              <a:ext cx="389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3. LibDock对接T1R1/T1R3，13高置信→10验证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83642" y="1378268"/>
              <a:ext cx="3729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4. 感官：KSTEL、DELIK鲜味提升21%、22%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90500" y="1714500"/>
              <a:ext cx="6286500" cy="571500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326517" y="1806892"/>
              <a:ext cx="2720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闭环：数据→ML→对接→感官验证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26517" y="20450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大幅缩短周期，提升效率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858000" y="0"/>
              <a:ext cx="3810000" cy="2857500"/>
            </a:xfrm>
            <a:prstGeom prst="roundRect">
              <a:avLst>
                <a:gd name="adj" fmla="val 6000"/>
              </a:avLst>
            </a:prstGeom>
            <a:solidFill>
              <a:srgbClr val="1E40AF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7092950" y="176213"/>
              <a:ext cx="177801" cy="200025"/>
              <a:chOff x="7092950" y="176213"/>
              <a:chExt cx="177801" cy="200025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092950" y="176213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092950" y="2095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7092950" y="2762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7421880" y="171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关键工具链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041642" y="521018"/>
              <a:ext cx="2406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DBEAFE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在线：MRNN, YYDS, TPDM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041642" y="806768"/>
              <a:ext cx="24163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DBEAFE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数据库：TasteDB, BIOPEP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041642" y="1092518"/>
              <a:ext cx="2345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DBEAFE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对接：AutoDock, LibDock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041642" y="1378268"/>
              <a:ext cx="21498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DBEAFE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结构：AlphaFold3 TMC4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041642" y="1664018"/>
              <a:ext cx="2076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DBEAFE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验证：电子舌+三角试验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7048500" y="2000250"/>
              <a:ext cx="3429000" cy="57150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232142" y="2092642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多模型交叉=鲁棒性↑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232142" y="2330768"/>
              <a:ext cx="1594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假阳性↓ 成功率77%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5" name="Group 5"/>
            <p:cNvGrpSpPr/>
            <p:nvPr/>
          </p:nvGrpSpPr>
          <p:grpSpPr>
            <a:xfrm>
              <a:off x="804761" y="328511"/>
              <a:ext cx="219278" cy="219278"/>
              <a:chOff x="804761" y="328511"/>
              <a:chExt cx="219278" cy="21927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914400" y="438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04761" y="328511"/>
                <a:ext cx="219278" cy="219278"/>
              </a:xfrm>
              <a:custGeom>
                <a:avLst/>
                <a:gdLst/>
                <a:ahLst/>
                <a:cxnLst/>
                <a:rect l="l" t="t" r="r" b="b"/>
                <a:pathLst>
                  <a:path w="219278" h="219278">
                    <a:moveTo>
                      <a:pt x="199440" y="19837"/>
                    </a:moveTo>
                    <a:cubicBezTo>
                      <a:pt x="179603" y="0"/>
                      <a:pt x="123240" y="24117"/>
                      <a:pt x="73711" y="73723"/>
                    </a:cubicBezTo>
                    <a:cubicBezTo>
                      <a:pt x="24117" y="123317"/>
                      <a:pt x="0" y="179603"/>
                      <a:pt x="19837" y="199453"/>
                    </a:cubicBezTo>
                    <a:cubicBezTo>
                      <a:pt x="39675" y="219278"/>
                      <a:pt x="96037" y="195160"/>
                      <a:pt x="145567" y="145554"/>
                    </a:cubicBezTo>
                    <a:cubicBezTo>
                      <a:pt x="195160" y="95961"/>
                      <a:pt x="219278" y="39675"/>
                      <a:pt x="199440" y="19825"/>
                    </a:cubicBez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04761" y="328511"/>
                <a:ext cx="219278" cy="219278"/>
              </a:xfrm>
              <a:custGeom>
                <a:avLst/>
                <a:gdLst/>
                <a:ahLst/>
                <a:cxnLst/>
                <a:rect l="l" t="t" r="r" b="b"/>
                <a:pathLst>
                  <a:path w="219278" h="219278">
                    <a:moveTo>
                      <a:pt x="19837" y="19837"/>
                    </a:moveTo>
                    <a:cubicBezTo>
                      <a:pt x="0" y="39675"/>
                      <a:pt x="24117" y="96037"/>
                      <a:pt x="73723" y="145567"/>
                    </a:cubicBezTo>
                    <a:cubicBezTo>
                      <a:pt x="123317" y="195160"/>
                      <a:pt x="179603" y="219278"/>
                      <a:pt x="199453" y="199440"/>
                    </a:cubicBezTo>
                    <a:cubicBezTo>
                      <a:pt x="219278" y="179603"/>
                      <a:pt x="195160" y="123240"/>
                      <a:pt x="145554" y="73711"/>
                    </a:cubicBezTo>
                    <a:cubicBezTo>
                      <a:pt x="95961" y="24117"/>
                      <a:pt x="39675" y="0"/>
                      <a:pt x="19825" y="19837"/>
                    </a:cubicBezTo>
                  </a:path>
                </a:pathLst>
              </a:custGeom>
              <a:noFill/>
              <a:ln w="25400">
                <a:solidFill>
                  <a:srgbClr val="EA580C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32332" y="268605"/>
              <a:ext cx="35466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08 分子对接与受体互作机制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0" y="0"/>
            <a:ext cx="5715000" cy="4953000"/>
            <a:chOff x="0" y="0"/>
            <a:chExt cx="5715000" cy="4953000"/>
          </a:xfrm>
        </p:grpSpPr>
        <p:sp>
          <p:nvSpPr>
            <p:cNvPr id="9" name="Rectangle 9"/>
            <p:cNvSpPr/>
            <p:nvPr/>
          </p:nvSpPr>
          <p:spPr>
            <a:xfrm>
              <a:off x="0" y="0"/>
              <a:ext cx="5715000" cy="4953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3838" y="164032"/>
              <a:ext cx="200081" cy="224357"/>
            </a:xfrm>
            <a:custGeom>
              <a:avLst/>
              <a:gdLst/>
              <a:ahLst/>
              <a:cxnLst/>
              <a:rect l="l" t="t" r="r" b="b"/>
              <a:pathLst>
                <a:path w="200081" h="224357">
                  <a:moveTo>
                    <a:pt x="187524" y="48519"/>
                  </a:moveTo>
                  <a:cubicBezTo>
                    <a:pt x="195301" y="52941"/>
                    <a:pt x="200081" y="61220"/>
                    <a:pt x="200026" y="70166"/>
                  </a:cubicBezTo>
                  <a:lnTo>
                    <a:pt x="200026" y="151110"/>
                  </a:lnTo>
                  <a:cubicBezTo>
                    <a:pt x="200026" y="160100"/>
                    <a:pt x="195103" y="168390"/>
                    <a:pt x="187157" y="172757"/>
                  </a:cubicBezTo>
                  <a:lnTo>
                    <a:pt x="112148" y="220207"/>
                  </a:lnTo>
                  <a:cubicBezTo>
                    <a:pt x="104590" y="224357"/>
                    <a:pt x="95436" y="224357"/>
                    <a:pt x="87878" y="220207"/>
                  </a:cubicBezTo>
                  <a:lnTo>
                    <a:pt x="12868" y="172757"/>
                  </a:lnTo>
                  <a:cubicBezTo>
                    <a:pt x="4950" y="168430"/>
                    <a:pt x="18" y="160133"/>
                    <a:pt x="0" y="151110"/>
                  </a:cubicBezTo>
                  <a:lnTo>
                    <a:pt x="0" y="70155"/>
                  </a:lnTo>
                  <a:cubicBezTo>
                    <a:pt x="0" y="61165"/>
                    <a:pt x="4923" y="52886"/>
                    <a:pt x="12868" y="48519"/>
                  </a:cubicBezTo>
                  <a:lnTo>
                    <a:pt x="87878" y="4291"/>
                  </a:lnTo>
                  <a:cubicBezTo>
                    <a:pt x="95660" y="0"/>
                    <a:pt x="105099" y="0"/>
                    <a:pt x="112881" y="4291"/>
                  </a:cubicBezTo>
                  <a:lnTo>
                    <a:pt x="187891" y="48519"/>
                  </a:lnTo>
                  <a:lnTo>
                    <a:pt x="187524" y="48519"/>
                  </a:lnTo>
                </a:path>
              </a:pathLst>
            </a:custGeom>
            <a:noFill/>
            <a:ln w="22225">
              <a:solidFill>
                <a:srgbClr val="1E40A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3880" y="171450"/>
              <a:ext cx="20448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T1R1/T1R3 结合模式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905000" y="952500"/>
              <a:ext cx="1905000" cy="1905000"/>
            </a:xfrm>
            <a:prstGeom prst="ellipse">
              <a:avLst/>
            </a:prstGeom>
            <a:solidFill>
              <a:srgbClr val="DBEAFE"/>
            </a:solidFill>
            <a:ln w="19050">
              <a:solidFill>
                <a:srgbClr val="1E40A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51620" y="1711642"/>
              <a:ext cx="1011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T1R1/T1R3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43516" y="1949768"/>
              <a:ext cx="1227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Venus flytrap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0500" y="1047750"/>
              <a:ext cx="1238250" cy="457200"/>
            </a:xfrm>
            <a:prstGeom prst="roundRect">
              <a:avLst>
                <a:gd name="adj" fmla="val 25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5927" y="1178242"/>
              <a:ext cx="647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DFEGDV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428750" y="1276350"/>
              <a:ext cx="666750" cy="247650"/>
            </a:xfrm>
            <a:custGeom>
              <a:avLst/>
              <a:gdLst/>
              <a:ahLst/>
              <a:cxnLst/>
              <a:rect l="l" t="t" r="r" b="b"/>
              <a:pathLst>
                <a:path w="666750" h="247650">
                  <a:moveTo>
                    <a:pt x="0" y="0"/>
                  </a:moveTo>
                  <a:lnTo>
                    <a:pt x="666750" y="247650"/>
                  </a:lnTo>
                </a:path>
              </a:pathLst>
            </a:custGeom>
            <a:noFill/>
            <a:ln w="19050">
              <a:solidFill>
                <a:srgbClr val="EA580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095750" y="1047750"/>
              <a:ext cx="1238250" cy="457200"/>
            </a:xfrm>
            <a:prstGeom prst="roundRect">
              <a:avLst>
                <a:gd name="adj" fmla="val 25000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57573" y="1178242"/>
              <a:ext cx="714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D/E残基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619500" y="1276350"/>
              <a:ext cx="476250" cy="247650"/>
            </a:xfrm>
            <a:custGeom>
              <a:avLst/>
              <a:gdLst/>
              <a:ahLst/>
              <a:cxnLst/>
              <a:rect l="l" t="t" r="r" b="b"/>
              <a:pathLst>
                <a:path w="476250" h="247650">
                  <a:moveTo>
                    <a:pt x="47625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0E749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90500" y="2952750"/>
              <a:ext cx="1619250" cy="666750"/>
            </a:xfrm>
            <a:prstGeom prst="roundRect">
              <a:avLst>
                <a:gd name="adj" fmla="val 1714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09562" y="3063112"/>
              <a:ext cx="142915" cy="160254"/>
            </a:xfrm>
            <a:custGeom>
              <a:avLst/>
              <a:gdLst/>
              <a:ahLst/>
              <a:cxnLst/>
              <a:rect l="l" t="t" r="r" b="b"/>
              <a:pathLst>
                <a:path w="142915" h="160254">
                  <a:moveTo>
                    <a:pt x="133945" y="34656"/>
                  </a:moveTo>
                  <a:cubicBezTo>
                    <a:pt x="139500" y="37815"/>
                    <a:pt x="142915" y="43728"/>
                    <a:pt x="142875" y="50118"/>
                  </a:cubicBezTo>
                  <a:lnTo>
                    <a:pt x="142875" y="107935"/>
                  </a:lnTo>
                  <a:cubicBezTo>
                    <a:pt x="142875" y="114356"/>
                    <a:pt x="139359" y="120278"/>
                    <a:pt x="133683" y="123397"/>
                  </a:cubicBezTo>
                  <a:lnTo>
                    <a:pt x="80105" y="157290"/>
                  </a:lnTo>
                  <a:cubicBezTo>
                    <a:pt x="74707" y="160254"/>
                    <a:pt x="68168" y="160254"/>
                    <a:pt x="62770" y="157290"/>
                  </a:cubicBezTo>
                  <a:lnTo>
                    <a:pt x="9192" y="123397"/>
                  </a:lnTo>
                  <a:cubicBezTo>
                    <a:pt x="3536" y="120306"/>
                    <a:pt x="13" y="114380"/>
                    <a:pt x="0" y="107935"/>
                  </a:cubicBezTo>
                  <a:lnTo>
                    <a:pt x="0" y="50110"/>
                  </a:lnTo>
                  <a:cubicBezTo>
                    <a:pt x="0" y="43689"/>
                    <a:pt x="3516" y="37775"/>
                    <a:pt x="9192" y="34656"/>
                  </a:cubicBezTo>
                  <a:lnTo>
                    <a:pt x="62770" y="3065"/>
                  </a:lnTo>
                  <a:cubicBezTo>
                    <a:pt x="68328" y="0"/>
                    <a:pt x="75070" y="0"/>
                    <a:pt x="80629" y="3065"/>
                  </a:cubicBezTo>
                  <a:lnTo>
                    <a:pt x="134207" y="34656"/>
                  </a:lnTo>
                  <a:lnTo>
                    <a:pt x="133945" y="34656"/>
                  </a:lnTo>
                </a:path>
              </a:pathLst>
            </a:custGeom>
            <a:noFill/>
            <a:ln w="15875">
              <a:solidFill>
                <a:srgbClr val="1E40A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7017" y="3045142"/>
              <a:ext cx="1025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Arg277盐桥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8892" y="3283268"/>
              <a:ext cx="714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D/E关键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047875" y="2952750"/>
              <a:ext cx="1619250" cy="666750"/>
            </a:xfrm>
            <a:prstGeom prst="roundRect">
              <a:avLst>
                <a:gd name="adj" fmla="val 1714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407067" y="3045142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D147/N69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96300" y="32832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小分子热点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905250" y="2952750"/>
              <a:ext cx="1619250" cy="666750"/>
            </a:xfrm>
            <a:prstGeom prst="roundRect">
              <a:avLst>
                <a:gd name="adj" fmla="val 1714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86229" y="304514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R151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53674" y="32832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大分子热点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0500" y="3810000"/>
              <a:ext cx="5334000" cy="762000"/>
            </a:xfrm>
            <a:prstGeom prst="roundRect">
              <a:avLst>
                <a:gd name="adj" fmla="val 15000"/>
              </a:avLst>
            </a:prstGeom>
            <a:solidFill>
              <a:srgbClr val="FFEDD5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14325" y="3933825"/>
              <a:ext cx="171450" cy="171450"/>
              <a:chOff x="314325" y="3933825"/>
              <a:chExt cx="171450" cy="1714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14325" y="393382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3"/>
                    </a:lnTo>
                    <a:moveTo>
                      <a:pt x="146685" y="24765"/>
                    </a:moveTo>
                    <a:lnTo>
                      <a:pt x="140018" y="31433"/>
                    </a:lnTo>
                  </a:path>
                </a:pathLst>
              </a:custGeom>
              <a:noFill/>
              <a:ln w="19050">
                <a:solidFill>
                  <a:srgbClr val="EA58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48387" y="397192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EA58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78142" y="406717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EA58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64642" y="3950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关键发现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8892" y="4188142"/>
              <a:ext cx="4550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小分子D147/N69，大分子R151，Asp/Glu末端稳定结合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0" y="0"/>
            <a:ext cx="4762500" cy="4953000"/>
            <a:chOff x="0" y="0"/>
            <a:chExt cx="4762500" cy="4953000"/>
          </a:xfrm>
        </p:grpSpPr>
        <p:sp>
          <p:nvSpPr>
            <p:cNvPr id="39" name="Rectangle 39"/>
            <p:cNvSpPr/>
            <p:nvPr/>
          </p:nvSpPr>
          <p:spPr>
            <a:xfrm>
              <a:off x="0" y="0"/>
              <a:ext cx="4762500" cy="49530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23838" y="187325"/>
              <a:ext cx="200025" cy="187326"/>
              <a:chOff x="223838" y="187325"/>
              <a:chExt cx="200025" cy="1873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223838" y="276225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57188" y="231775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22238"/>
                    </a:lnTo>
                    <a:cubicBezTo>
                      <a:pt x="66675" y="128375"/>
                      <a:pt x="61700" y="133350"/>
                      <a:pt x="5556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290513" y="187325"/>
                <a:ext cx="666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1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66688"/>
                    </a:lnTo>
                    <a:cubicBezTo>
                      <a:pt x="66675" y="172825"/>
                      <a:pt x="61700" y="177801"/>
                      <a:pt x="55563" y="177801"/>
                    </a:cubicBezTo>
                    <a:lnTo>
                      <a:pt x="11113" y="177801"/>
                    </a:lnTo>
                    <a:cubicBezTo>
                      <a:pt x="4975" y="177801"/>
                      <a:pt x="0" y="172825"/>
                      <a:pt x="0" y="1666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34950" y="365126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63880" y="1714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对接评分与验证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90500" y="571500"/>
              <a:ext cx="43815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74142" y="663892"/>
              <a:ext cx="2221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LibDock / AutoDock Vina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4142" y="902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结合能排序，筛选高亲和力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4142" y="1140142"/>
              <a:ext cx="206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同源建模 SWISS-MODEL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90500" y="1714500"/>
              <a:ext cx="43815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4142" y="1806892"/>
              <a:ext cx="1773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AlphaFold3 结构预测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74142" y="2045018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TMC4咸味通道3D结构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4142" y="22831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牡蛎肽增强咸味机制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90500" y="2857500"/>
              <a:ext cx="43815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74142" y="2949892"/>
              <a:ext cx="1754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量子化学+分子动力学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4142" y="31880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电荷分布、溶剂效应模拟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4142" y="3426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鲜味强度聚类分析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90500" y="4000500"/>
              <a:ext cx="4381500" cy="666750"/>
            </a:xfrm>
            <a:prstGeom prst="roundRect">
              <a:avLst>
                <a:gd name="adj" fmla="val 2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74142" y="4092892"/>
              <a:ext cx="3287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VmmScore = Mlp4Umami + mm-Score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74142" y="4331018"/>
              <a:ext cx="174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预测+受体匹配一体化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5" name="Group 5"/>
            <p:cNvGrpSpPr/>
            <p:nvPr/>
          </p:nvGrpSpPr>
          <p:grpSpPr>
            <a:xfrm>
              <a:off x="835188" y="323850"/>
              <a:ext cx="158407" cy="228599"/>
              <a:chOff x="835188" y="323850"/>
              <a:chExt cx="158407" cy="228599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39470" y="476250"/>
                <a:ext cx="1498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9860" h="9525">
                    <a:moveTo>
                      <a:pt x="0" y="0"/>
                    </a:moveTo>
                    <a:lnTo>
                      <a:pt x="149860" y="0"/>
                    </a:lnTo>
                  </a:path>
                </a:pathLst>
              </a:custGeom>
              <a:noFill/>
              <a:ln w="25400">
                <a:solidFill>
                  <a:srgbClr val="0E7490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35188" y="323850"/>
                <a:ext cx="158407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58407" h="228599">
                    <a:moveTo>
                      <a:pt x="104611" y="0"/>
                    </a:moveTo>
                    <a:lnTo>
                      <a:pt x="104611" y="93243"/>
                    </a:lnTo>
                    <a:cubicBezTo>
                      <a:pt x="131855" y="102865"/>
                      <a:pt x="151315" y="127067"/>
                      <a:pt x="154861" y="155742"/>
                    </a:cubicBezTo>
                    <a:cubicBezTo>
                      <a:pt x="158407" y="184417"/>
                      <a:pt x="145430" y="212631"/>
                      <a:pt x="121350" y="228599"/>
                    </a:cubicBezTo>
                    <a:lnTo>
                      <a:pt x="37085" y="228599"/>
                    </a:lnTo>
                    <a:cubicBezTo>
                      <a:pt x="12990" y="212637"/>
                      <a:pt x="0" y="184416"/>
                      <a:pt x="3544" y="155731"/>
                    </a:cubicBezTo>
                    <a:cubicBezTo>
                      <a:pt x="7088" y="127047"/>
                      <a:pt x="26556" y="102836"/>
                      <a:pt x="53811" y="93218"/>
                    </a:cubicBezTo>
                    <a:lnTo>
                      <a:pt x="53811" y="0"/>
                    </a:lnTo>
                    <a:lnTo>
                      <a:pt x="104611" y="0"/>
                    </a:lnTo>
                  </a:path>
                </a:pathLst>
              </a:custGeom>
              <a:noFill/>
              <a:ln w="25400">
                <a:solidFill>
                  <a:srgbClr val="0E749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76300" y="3238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0E7490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32332" y="268605"/>
              <a:ext cx="35466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09 典型案例：腐乳成熟过程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0" y="0"/>
            <a:ext cx="4953000" cy="4953000"/>
            <a:chOff x="0" y="0"/>
            <a:chExt cx="4953000" cy="4953000"/>
          </a:xfrm>
        </p:grpSpPr>
        <p:sp>
          <p:nvSpPr>
            <p:cNvPr id="9" name="Rectangle 9"/>
            <p:cNvSpPr/>
            <p:nvPr/>
          </p:nvSpPr>
          <p:spPr>
            <a:xfrm>
              <a:off x="0" y="0"/>
              <a:ext cx="4953000" cy="4953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246063" y="176213"/>
              <a:ext cx="166688" cy="209550"/>
              <a:chOff x="246063" y="176213"/>
              <a:chExt cx="166688" cy="2095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46063" y="376238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57175" y="342901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68288" y="342901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90513" y="198438"/>
                <a:ext cx="100013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100013">
                    <a:moveTo>
                      <a:pt x="0" y="66675"/>
                    </a:moveTo>
                    <a:lnTo>
                      <a:pt x="33338" y="100013"/>
                    </a:lnTo>
                    <a:lnTo>
                      <a:pt x="100013" y="33338"/>
                    </a:lnTo>
                    <a:lnTo>
                      <a:pt x="66675" y="0"/>
                    </a:lnTo>
                    <a:lnTo>
                      <a:pt x="0" y="66675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90513" y="281782"/>
                <a:ext cx="16669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16669" h="16669">
                    <a:moveTo>
                      <a:pt x="16669" y="0"/>
                    </a:moveTo>
                    <a:lnTo>
                      <a:pt x="0" y="16669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79413" y="176213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0"/>
                    </a:moveTo>
                    <a:lnTo>
                      <a:pt x="33338" y="33338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23850" y="257201"/>
                <a:ext cx="72308" cy="119040"/>
              </a:xfrm>
              <a:custGeom>
                <a:avLst/>
                <a:gdLst/>
                <a:ahLst/>
                <a:cxnLst/>
                <a:rect l="l" t="t" r="r" b="b"/>
                <a:pathLst>
                  <a:path w="72308" h="119040">
                    <a:moveTo>
                      <a:pt x="0" y="119037"/>
                    </a:moveTo>
                    <a:cubicBezTo>
                      <a:pt x="28405" y="119040"/>
                      <a:pt x="53693" y="101046"/>
                      <a:pt x="63001" y="74209"/>
                    </a:cubicBezTo>
                    <a:cubicBezTo>
                      <a:pt x="72308" y="47372"/>
                      <a:pt x="63591" y="17585"/>
                      <a:pt x="41283" y="0"/>
                    </a:cubicBez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63880" y="171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研究设计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3642" y="521018"/>
              <a:ext cx="25583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样本：腐乳0-90天发酵肽组学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3642" y="806768"/>
              <a:ext cx="2790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关键窗口：前60天高峰 P&lt;0.05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3642" y="1092518"/>
              <a:ext cx="3176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前体：319种大豆蛋白，30%来自11种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3642" y="1378268"/>
              <a:ext cx="2540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β-伴大豆球蛋白特定位点水解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90500" y="1809750"/>
              <a:ext cx="4572000" cy="952500"/>
            </a:xfrm>
            <a:prstGeom prst="roundRect">
              <a:avLst>
                <a:gd name="adj" fmla="val 14000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19088" y="1938338"/>
              <a:ext cx="200025" cy="200025"/>
              <a:chOff x="319088" y="1938338"/>
              <a:chExt cx="200025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19100" y="20494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8" y="71487"/>
                      <a:pt x="77788" y="50006"/>
                    </a:cubicBezTo>
                    <a:lnTo>
                      <a:pt x="77788" y="30004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41313" y="20494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4663" y="20050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5556" y="77788"/>
                    </a:moveTo>
                    <a:cubicBezTo>
                      <a:pt x="27037" y="77788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19100" y="1938338"/>
                <a:ext cx="77788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0009">
                    <a:moveTo>
                      <a:pt x="77788" y="70009"/>
                    </a:moveTo>
                    <a:lnTo>
                      <a:pt x="77788" y="38894"/>
                    </a:lnTo>
                    <a:cubicBezTo>
                      <a:pt x="77788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19088" y="20050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38894" y="77788"/>
                    </a:move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41313" y="1938338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59892" y="1949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机器学习筛选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8892" y="2235518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随机森林+理化参数，准确率89%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8892" y="2473642"/>
              <a:ext cx="1404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鉴定637种鲜味肽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90500" y="2952750"/>
              <a:ext cx="4572000" cy="1143000"/>
            </a:xfrm>
            <a:prstGeom prst="roundRect">
              <a:avLst>
                <a:gd name="adj" fmla="val 11667"/>
              </a:avLst>
            </a:prstGeom>
            <a:solidFill>
              <a:srgbClr val="FFEDD5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324811" y="3087061"/>
              <a:ext cx="188579" cy="188579"/>
              <a:chOff x="324811" y="3087061"/>
              <a:chExt cx="188579" cy="188579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370829" y="3133735"/>
                <a:ext cx="95887" cy="95887"/>
              </a:xfrm>
              <a:custGeom>
                <a:avLst/>
                <a:gdLst/>
                <a:ahLst/>
                <a:cxnLst/>
                <a:rect l="l" t="t" r="r" b="b"/>
                <a:pathLst>
                  <a:path w="95887" h="95887">
                    <a:moveTo>
                      <a:pt x="79698" y="79042"/>
                    </a:moveTo>
                    <a:cubicBezTo>
                      <a:pt x="91253" y="67881"/>
                      <a:pt x="95887" y="51355"/>
                      <a:pt x="91819" y="35814"/>
                    </a:cubicBezTo>
                    <a:cubicBezTo>
                      <a:pt x="87751" y="20273"/>
                      <a:pt x="75615" y="8136"/>
                      <a:pt x="60073" y="4068"/>
                    </a:cubicBezTo>
                    <a:cubicBezTo>
                      <a:pt x="44532" y="0"/>
                      <a:pt x="28006" y="4634"/>
                      <a:pt x="16845" y="16189"/>
                    </a:cubicBezTo>
                    <a:cubicBezTo>
                      <a:pt x="0" y="33631"/>
                      <a:pt x="241" y="61354"/>
                      <a:pt x="17387" y="78500"/>
                    </a:cubicBezTo>
                    <a:cubicBezTo>
                      <a:pt x="34533" y="95646"/>
                      <a:pt x="62257" y="95887"/>
                      <a:pt x="79698" y="79042"/>
                    </a:cubicBez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24811" y="3195417"/>
                <a:ext cx="80223" cy="80223"/>
              </a:xfrm>
              <a:custGeom>
                <a:avLst/>
                <a:gdLst/>
                <a:ahLst/>
                <a:cxnLst/>
                <a:rect l="l" t="t" r="r" b="b"/>
                <a:pathLst>
                  <a:path w="80223" h="80223">
                    <a:moveTo>
                      <a:pt x="62864" y="80223"/>
                    </a:moveTo>
                    <a:cubicBezTo>
                      <a:pt x="80223" y="62864"/>
                      <a:pt x="80223" y="34719"/>
                      <a:pt x="62864" y="17359"/>
                    </a:cubicBezTo>
                    <a:cubicBezTo>
                      <a:pt x="45504" y="0"/>
                      <a:pt x="17359" y="0"/>
                      <a:pt x="0" y="17359"/>
                    </a:cubicBez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33167" y="3087061"/>
                <a:ext cx="80223" cy="80223"/>
              </a:xfrm>
              <a:custGeom>
                <a:avLst/>
                <a:gdLst/>
                <a:ahLst/>
                <a:cxnLst/>
                <a:rect l="l" t="t" r="r" b="b"/>
                <a:pathLst>
                  <a:path w="80223" h="80223">
                    <a:moveTo>
                      <a:pt x="17359" y="0"/>
                    </a:moveTo>
                    <a:cubicBezTo>
                      <a:pt x="0" y="17359"/>
                      <a:pt x="0" y="45504"/>
                      <a:pt x="17359" y="62864"/>
                    </a:cubicBezTo>
                    <a:cubicBezTo>
                      <a:pt x="34719" y="80223"/>
                      <a:pt x="62864" y="80223"/>
                      <a:pt x="80223" y="62864"/>
                    </a:cubicBez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9892" y="3092768"/>
              <a:ext cx="1209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5种新型鲜味肽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8892" y="3378518"/>
              <a:ext cx="28748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DFEGDV, GRGPTVTDP, NDDRDSYNL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8892" y="3664268"/>
              <a:ext cx="2265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阈值0.22-0.38 mM 双验证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0" y="0"/>
            <a:ext cx="5429250" cy="4953000"/>
            <a:chOff x="0" y="0"/>
            <a:chExt cx="5429250" cy="4953000"/>
          </a:xfrm>
        </p:grpSpPr>
        <p:sp>
          <p:nvSpPr>
            <p:cNvPr id="43" name="Rectangle 43"/>
            <p:cNvSpPr/>
            <p:nvPr/>
          </p:nvSpPr>
          <p:spPr>
            <a:xfrm>
              <a:off x="0" y="0"/>
              <a:ext cx="5429250" cy="4953000"/>
            </a:xfrm>
            <a:prstGeom prst="roundRect">
              <a:avLst>
                <a:gd name="adj" fmla="val 384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234950" y="209550"/>
              <a:ext cx="177801" cy="153988"/>
              <a:chOff x="234950" y="209550"/>
              <a:chExt cx="177801" cy="15398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234950" y="354013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34950" y="2095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100013"/>
                    </a:moveTo>
                    <a:lnTo>
                      <a:pt x="44450" y="33338"/>
                    </a:lnTo>
                    <a:lnTo>
                      <a:pt x="88900" y="55563"/>
                    </a:lnTo>
                    <a:lnTo>
                      <a:pt x="133350" y="0"/>
                    </a:lnTo>
                    <a:lnTo>
                      <a:pt x="177801" y="4445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563880" y="1714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动态变化规律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285750" y="33337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285750" y="142875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78892" y="3473768"/>
              <a:ext cx="295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0天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21892" y="34737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30天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64892" y="34737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60天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07892" y="34737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90天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81000" y="2857500"/>
              <a:ext cx="476250" cy="476250"/>
            </a:xfrm>
            <a:prstGeom prst="roundRect">
              <a:avLst>
                <a:gd name="adj" fmla="val 12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524000" y="2381250"/>
              <a:ext cx="476250" cy="952500"/>
            </a:xfrm>
            <a:prstGeom prst="roundRect">
              <a:avLst>
                <a:gd name="adj" fmla="val 12000"/>
              </a:avLst>
            </a:prstGeom>
            <a:solidFill>
              <a:srgbClr val="1E40AF">
                <a:alpha val="60000"/>
              </a:srgbClr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2667000" y="1619250"/>
              <a:ext cx="476250" cy="1714500"/>
            </a:xfrm>
            <a:prstGeom prst="roundRect">
              <a:avLst>
                <a:gd name="adj" fmla="val 12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810000" y="2000250"/>
              <a:ext cx="476250" cy="1333500"/>
            </a:xfrm>
            <a:prstGeom prst="roundRect">
              <a:avLst>
                <a:gd name="adj" fmla="val 12000"/>
              </a:avLst>
            </a:prstGeom>
            <a:solidFill>
              <a:srgbClr val="1E40AF">
                <a:alpha val="60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716530" y="1378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峰值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90500" y="3810000"/>
              <a:ext cx="5048250" cy="476250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26517" y="3950018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水解位点聚集 → 发酵工艺优化靶点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90500" y="4381500"/>
              <a:ext cx="5048250" cy="476250"/>
            </a:xfrm>
            <a:prstGeom prst="roundRect">
              <a:avLst>
                <a:gd name="adj" fmla="val 24000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26517" y="4473892"/>
              <a:ext cx="31993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Food Chemistry 2025, 486, 144684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5" name="Group 5"/>
            <p:cNvGrpSpPr/>
            <p:nvPr/>
          </p:nvGrpSpPr>
          <p:grpSpPr>
            <a:xfrm>
              <a:off x="812800" y="323850"/>
              <a:ext cx="203199" cy="228600"/>
              <a:chOff x="812800" y="323850"/>
              <a:chExt cx="203199" cy="228600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12800" y="32385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12800" y="3619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12800" y="4381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132332" y="268605"/>
              <a:ext cx="2133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10 多源案例对比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762000" y="857250"/>
            <a:ext cx="10534650" cy="3619500"/>
            <a:chOff x="762000" y="857250"/>
            <a:chExt cx="10534650" cy="3619500"/>
          </a:xfrm>
        </p:grpSpPr>
        <p:sp>
          <p:nvSpPr>
            <p:cNvPr id="9" name="Rectangle 9"/>
            <p:cNvSpPr/>
            <p:nvPr/>
          </p:nvSpPr>
          <p:spPr>
            <a:xfrm>
              <a:off x="762000" y="857250"/>
              <a:ext cx="2000250" cy="3619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85725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1E40AF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35116" y="1033463"/>
              <a:ext cx="205446" cy="203138"/>
              <a:chOff x="935116" y="1033463"/>
              <a:chExt cx="205446" cy="20313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35116" y="1044575"/>
                <a:ext cx="192009" cy="192026"/>
              </a:xfrm>
              <a:custGeom>
                <a:avLst/>
                <a:gdLst/>
                <a:ahLst/>
                <a:cxnLst/>
                <a:rect l="l" t="t" r="r" b="b"/>
                <a:pathLst>
                  <a:path w="192009" h="192026">
                    <a:moveTo>
                      <a:pt x="192009" y="44895"/>
                    </a:moveTo>
                    <a:lnTo>
                      <a:pt x="57303" y="179623"/>
                    </a:lnTo>
                    <a:cubicBezTo>
                      <a:pt x="44906" y="192023"/>
                      <a:pt x="24803" y="192026"/>
                      <a:pt x="12403" y="179629"/>
                    </a:cubicBezTo>
                    <a:cubicBezTo>
                      <a:pt x="2" y="167231"/>
                      <a:pt x="0" y="147129"/>
                      <a:pt x="12397" y="134728"/>
                    </a:cubicBezTo>
                    <a:lnTo>
                      <a:pt x="147103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82663" y="1144588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91464" y="1166813"/>
                <a:ext cx="49098" cy="56767"/>
              </a:xfrm>
              <a:custGeom>
                <a:avLst/>
                <a:gdLst/>
                <a:ahLst/>
                <a:cxnLst/>
                <a:rect l="l" t="t" r="r" b="b"/>
                <a:pathLst>
                  <a:path w="49098" h="56767">
                    <a:moveTo>
                      <a:pt x="24549" y="0"/>
                    </a:moveTo>
                    <a:lnTo>
                      <a:pt x="41218" y="17780"/>
                    </a:lnTo>
                    <a:cubicBezTo>
                      <a:pt x="49098" y="26715"/>
                      <a:pt x="48531" y="40275"/>
                      <a:pt x="39933" y="48521"/>
                    </a:cubicBezTo>
                    <a:cubicBezTo>
                      <a:pt x="31334" y="56767"/>
                      <a:pt x="17763" y="56767"/>
                      <a:pt x="9165" y="48521"/>
                    </a:cubicBezTo>
                    <a:cubicBezTo>
                      <a:pt x="567" y="40275"/>
                      <a:pt x="0" y="26715"/>
                      <a:pt x="7880" y="17780"/>
                    </a:cubicBezTo>
                    <a:lnTo>
                      <a:pt x="24549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1563" y="10334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31392" y="1035368"/>
              <a:ext cx="845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自然+酶解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7255" y="1362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金华火腿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8017" y="1664018"/>
              <a:ext cx="1350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2000+肽 10新型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04875" y="2000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93267" y="2092642"/>
              <a:ext cx="1569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YYDS/MRNN/TPDM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4875" y="2714625"/>
              <a:ext cx="1714500" cy="476250"/>
            </a:xfrm>
            <a:prstGeom prst="roundRect">
              <a:avLst>
                <a:gd name="adj" fmla="val 2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3267" y="2759392"/>
              <a:ext cx="1027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感官+电子舌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3267" y="2949892"/>
              <a:ext cx="84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+分子对接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895600" y="857250"/>
              <a:ext cx="2000250" cy="3619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895600" y="85725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0E7490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077536" y="1039186"/>
              <a:ext cx="188579" cy="188579"/>
              <a:chOff x="3077536" y="1039186"/>
              <a:chExt cx="188579" cy="18857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123554" y="1085860"/>
                <a:ext cx="95887" cy="95887"/>
              </a:xfrm>
              <a:custGeom>
                <a:avLst/>
                <a:gdLst/>
                <a:ahLst/>
                <a:cxnLst/>
                <a:rect l="l" t="t" r="r" b="b"/>
                <a:pathLst>
                  <a:path w="95887" h="95887">
                    <a:moveTo>
                      <a:pt x="79698" y="79042"/>
                    </a:moveTo>
                    <a:cubicBezTo>
                      <a:pt x="91253" y="67881"/>
                      <a:pt x="95887" y="51355"/>
                      <a:pt x="91819" y="35814"/>
                    </a:cubicBezTo>
                    <a:cubicBezTo>
                      <a:pt x="87751" y="20273"/>
                      <a:pt x="75615" y="8136"/>
                      <a:pt x="60073" y="4068"/>
                    </a:cubicBezTo>
                    <a:cubicBezTo>
                      <a:pt x="44532" y="0"/>
                      <a:pt x="28006" y="4634"/>
                      <a:pt x="16845" y="16189"/>
                    </a:cubicBezTo>
                    <a:cubicBezTo>
                      <a:pt x="0" y="33631"/>
                      <a:pt x="241" y="61354"/>
                      <a:pt x="17387" y="78500"/>
                    </a:cubicBezTo>
                    <a:cubicBezTo>
                      <a:pt x="34533" y="95646"/>
                      <a:pt x="62257" y="95887"/>
                      <a:pt x="79698" y="79042"/>
                    </a:cubicBez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077536" y="1147542"/>
                <a:ext cx="80223" cy="80223"/>
              </a:xfrm>
              <a:custGeom>
                <a:avLst/>
                <a:gdLst/>
                <a:ahLst/>
                <a:cxnLst/>
                <a:rect l="l" t="t" r="r" b="b"/>
                <a:pathLst>
                  <a:path w="80223" h="80223">
                    <a:moveTo>
                      <a:pt x="62864" y="80223"/>
                    </a:moveTo>
                    <a:cubicBezTo>
                      <a:pt x="80223" y="62864"/>
                      <a:pt x="80223" y="34719"/>
                      <a:pt x="62864" y="17359"/>
                    </a:cubicBezTo>
                    <a:cubicBezTo>
                      <a:pt x="45504" y="0"/>
                      <a:pt x="17359" y="0"/>
                      <a:pt x="0" y="17359"/>
                    </a:cubicBez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185892" y="1039186"/>
                <a:ext cx="80223" cy="80223"/>
              </a:xfrm>
              <a:custGeom>
                <a:avLst/>
                <a:gdLst/>
                <a:ahLst/>
                <a:cxnLst/>
                <a:rect l="l" t="t" r="r" b="b"/>
                <a:pathLst>
                  <a:path w="80223" h="80223">
                    <a:moveTo>
                      <a:pt x="17359" y="0"/>
                    </a:moveTo>
                    <a:cubicBezTo>
                      <a:pt x="0" y="17359"/>
                      <a:pt x="0" y="45504"/>
                      <a:pt x="17359" y="62864"/>
                    </a:cubicBezTo>
                    <a:cubicBezTo>
                      <a:pt x="34719" y="80223"/>
                      <a:pt x="62864" y="80223"/>
                      <a:pt x="80223" y="62864"/>
                    </a:cubicBez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3364992" y="1035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海鲜鲜味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30855" y="13620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牡蛎水解液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31617" y="1664018"/>
              <a:ext cx="14757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阈值0.24 mg/mL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038475" y="2000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126867" y="2092642"/>
              <a:ext cx="12522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SCM/YYDS/DM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038475" y="2714625"/>
              <a:ext cx="1714500" cy="476250"/>
            </a:xfrm>
            <a:prstGeom prst="roundRect">
              <a:avLst>
                <a:gd name="adj" fmla="val 20000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26867" y="2759392"/>
              <a:ext cx="1027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感官+电子舌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26867" y="2949892"/>
              <a:ext cx="84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+分子对接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029200" y="857250"/>
              <a:ext cx="2000250" cy="3619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029200" y="85725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5237663" y="1033463"/>
              <a:ext cx="135524" cy="200026"/>
              <a:chOff x="5237663" y="1033463"/>
              <a:chExt cx="135524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272088" y="10334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283200" y="1100138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237663" y="1033463"/>
                <a:ext cx="135524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35524" h="200026">
                    <a:moveTo>
                      <a:pt x="45537" y="0"/>
                    </a:moveTo>
                    <a:lnTo>
                      <a:pt x="45537" y="66675"/>
                    </a:lnTo>
                    <a:lnTo>
                      <a:pt x="1087" y="188913"/>
                    </a:lnTo>
                    <a:cubicBezTo>
                      <a:pt x="0" y="191100"/>
                      <a:pt x="3" y="193670"/>
                      <a:pt x="1095" y="195854"/>
                    </a:cubicBezTo>
                    <a:cubicBezTo>
                      <a:pt x="2187" y="198039"/>
                      <a:pt x="4242" y="199583"/>
                      <a:pt x="6643" y="200026"/>
                    </a:cubicBezTo>
                    <a:lnTo>
                      <a:pt x="128881" y="200026"/>
                    </a:lnTo>
                    <a:cubicBezTo>
                      <a:pt x="131283" y="199583"/>
                      <a:pt x="133337" y="198039"/>
                      <a:pt x="134429" y="195854"/>
                    </a:cubicBezTo>
                    <a:cubicBezTo>
                      <a:pt x="135521" y="193670"/>
                      <a:pt x="135524" y="191100"/>
                      <a:pt x="134437" y="188913"/>
                    </a:cubicBezTo>
                    <a:lnTo>
                      <a:pt x="89987" y="66675"/>
                    </a:lnTo>
                    <a:lnTo>
                      <a:pt x="89987" y="0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498592" y="1035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发酵调味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64455" y="13620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酱油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65217" y="1664018"/>
              <a:ext cx="1188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159肽→22候选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72075" y="2000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60467" y="2092642"/>
              <a:ext cx="84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4模型交叉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72075" y="2714625"/>
              <a:ext cx="1714500" cy="476250"/>
            </a:xfrm>
            <a:prstGeom prst="roundRect">
              <a:avLst>
                <a:gd name="adj" fmla="val 2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60467" y="2759392"/>
              <a:ext cx="1027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感官+电子舌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60467" y="2949892"/>
              <a:ext cx="84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+分子对接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62800" y="857250"/>
              <a:ext cx="2000250" cy="3619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62800" y="85725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61238" y="1033463"/>
              <a:ext cx="166688" cy="209550"/>
              <a:chOff x="7361238" y="1033463"/>
              <a:chExt cx="166688" cy="20955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61238" y="1233488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372350" y="1200151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383463" y="1200151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405688" y="1055688"/>
                <a:ext cx="100013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100013">
                    <a:moveTo>
                      <a:pt x="0" y="66675"/>
                    </a:moveTo>
                    <a:lnTo>
                      <a:pt x="33338" y="100013"/>
                    </a:lnTo>
                    <a:lnTo>
                      <a:pt x="100013" y="33338"/>
                    </a:lnTo>
                    <a:lnTo>
                      <a:pt x="66675" y="0"/>
                    </a:lnTo>
                    <a:lnTo>
                      <a:pt x="0" y="66675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405688" y="1139032"/>
                <a:ext cx="16669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16669" h="16669">
                    <a:moveTo>
                      <a:pt x="16669" y="0"/>
                    </a:moveTo>
                    <a:lnTo>
                      <a:pt x="0" y="16669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494588" y="1033463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0"/>
                    </a:moveTo>
                    <a:lnTo>
                      <a:pt x="33338" y="33338"/>
                    </a:ln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439025" y="1114451"/>
                <a:ext cx="72308" cy="119040"/>
              </a:xfrm>
              <a:custGeom>
                <a:avLst/>
                <a:gdLst/>
                <a:ahLst/>
                <a:cxnLst/>
                <a:rect l="l" t="t" r="r" b="b"/>
                <a:pathLst>
                  <a:path w="72308" h="119040">
                    <a:moveTo>
                      <a:pt x="0" y="119037"/>
                    </a:moveTo>
                    <a:cubicBezTo>
                      <a:pt x="28405" y="119040"/>
                      <a:pt x="53693" y="101046"/>
                      <a:pt x="63001" y="74209"/>
                    </a:cubicBezTo>
                    <a:cubicBezTo>
                      <a:pt x="72308" y="47372"/>
                      <a:pt x="63591" y="17585"/>
                      <a:pt x="41283" y="0"/>
                    </a:cubicBezTo>
                  </a:path>
                </a:pathLst>
              </a:custGeom>
              <a:noFill/>
              <a:ln w="22225">
                <a:solidFill>
                  <a:srgbClr val="0F172A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632192" y="10353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豆制品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98055" y="13620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腐乳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98817" y="1664018"/>
              <a:ext cx="1035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637种 5新型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305675" y="2000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94067" y="2092642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随机森林89%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305675" y="2714625"/>
              <a:ext cx="1714500" cy="47625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394067" y="2759392"/>
              <a:ext cx="1027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感官+电子舌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94067" y="2949892"/>
              <a:ext cx="84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+分子对接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296400" y="857250"/>
              <a:ext cx="2000250" cy="3619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296400" y="85725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9472613" y="1044575"/>
              <a:ext cx="200025" cy="187326"/>
              <a:chOff x="9472613" y="1044575"/>
              <a:chExt cx="200025" cy="1873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9472613" y="1133475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7C3AED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605963" y="1089025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22238"/>
                    </a:lnTo>
                    <a:cubicBezTo>
                      <a:pt x="66675" y="128375"/>
                      <a:pt x="61700" y="133350"/>
                      <a:pt x="5556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7C3AED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539288" y="1044575"/>
                <a:ext cx="666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1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66688"/>
                    </a:lnTo>
                    <a:cubicBezTo>
                      <a:pt x="66675" y="172825"/>
                      <a:pt x="61700" y="177801"/>
                      <a:pt x="55563" y="177801"/>
                    </a:cubicBezTo>
                    <a:lnTo>
                      <a:pt x="11113" y="177801"/>
                    </a:lnTo>
                    <a:cubicBezTo>
                      <a:pt x="4975" y="177801"/>
                      <a:pt x="0" y="172825"/>
                      <a:pt x="0" y="1666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7C3AED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9483725" y="1222376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7C3AED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9765792" y="1035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谷物发酵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431655" y="1362075"/>
              <a:ext cx="939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啤酒/小麦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32417" y="1664018"/>
              <a:ext cx="1322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906序列 76潜在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439275" y="2000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527667" y="2092642"/>
              <a:ext cx="1271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MLP-RNN SHAP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439275" y="2714625"/>
              <a:ext cx="1714500" cy="476250"/>
            </a:xfrm>
            <a:prstGeom prst="roundRect">
              <a:avLst>
                <a:gd name="adj" fmla="val 2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527667" y="2759392"/>
              <a:ext cx="1027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感官+电子舌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527667" y="2949892"/>
              <a:ext cx="84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+分子对接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62000" y="4667250"/>
            <a:ext cx="10668000" cy="689801"/>
            <a:chOff x="762000" y="4667250"/>
            <a:chExt cx="10668000" cy="689801"/>
          </a:xfrm>
        </p:grpSpPr>
        <p:sp>
          <p:nvSpPr>
            <p:cNvPr id="86" name="Rectangle 86"/>
            <p:cNvSpPr/>
            <p:nvPr/>
          </p:nvSpPr>
          <p:spPr>
            <a:xfrm>
              <a:off x="762000" y="4667250"/>
              <a:ext cx="10668000" cy="66675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890588" y="4843463"/>
              <a:ext cx="200026" cy="200025"/>
              <a:chOff x="890588" y="4843463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890588" y="48434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930326" y="48879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965042" y="49990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231392" y="4854892"/>
              <a:ext cx="5718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共性：多模型交叉提升可靠性，阈值0.22-0.38 mM，强度超越MSG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231392" y="5093018"/>
              <a:ext cx="4990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来源：Foods 2026, Food Chemistry 2023-2025, LWT 2024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4" name="Group 4"/>
            <p:cNvGrpSpPr/>
            <p:nvPr/>
          </p:nvGrpSpPr>
          <p:grpSpPr>
            <a:xfrm>
              <a:off x="812800" y="361950"/>
              <a:ext cx="203199" cy="174624"/>
              <a:chOff x="812800" y="361950"/>
              <a:chExt cx="203199" cy="174624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12800" y="52704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12800" y="3619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rgbClr val="1E40AF"/>
                </a:solidFill>
              </a:ln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1132332" y="268605"/>
              <a:ext cx="32639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11 阈值预测与产业化应用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0" y="0"/>
            <a:ext cx="5143500" cy="4953000"/>
            <a:chOff x="0" y="0"/>
            <a:chExt cx="5143500" cy="4953000"/>
          </a:xfrm>
        </p:grpSpPr>
        <p:sp>
          <p:nvSpPr>
            <p:cNvPr id="8" name="Rectangle 8"/>
            <p:cNvSpPr/>
            <p:nvPr/>
          </p:nvSpPr>
          <p:spPr>
            <a:xfrm>
              <a:off x="0" y="0"/>
              <a:ext cx="5143500" cy="4953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223838" y="176213"/>
              <a:ext cx="200026" cy="200026"/>
              <a:chOff x="223838" y="176213"/>
              <a:chExt cx="200026" cy="20002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23838" y="1762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0"/>
                    </a:moveTo>
                    <a:lnTo>
                      <a:pt x="0" y="200026"/>
                    </a:lnTo>
                    <a:lnTo>
                      <a:pt x="200026" y="200026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68288" y="2206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79413" y="1984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23850" y="2873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03403" y="260890"/>
                <a:ext cx="26003" cy="32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32004">
                    <a:moveTo>
                      <a:pt x="0" y="0"/>
                    </a:moveTo>
                    <a:lnTo>
                      <a:pt x="26003" y="32004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58166" y="240021"/>
                <a:ext cx="31526" cy="50962"/>
              </a:xfrm>
              <a:custGeom>
                <a:avLst/>
                <a:gdLst/>
                <a:ahLst/>
                <a:cxnLst/>
                <a:rect l="l" t="t" r="r" b="b"/>
                <a:pathLst>
                  <a:path w="31526" h="50962">
                    <a:moveTo>
                      <a:pt x="0" y="50962"/>
                    </a:moveTo>
                    <a:lnTo>
                      <a:pt x="31526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563880" y="1714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阈值预测模型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90500" y="476250"/>
              <a:ext cx="4762500" cy="1047750"/>
            </a:xfrm>
            <a:prstGeom prst="roundRect">
              <a:avLst>
                <a:gd name="adj" fmla="val 1272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26517" y="568642"/>
              <a:ext cx="21958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Umami_IP / 集成梯度提升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6517" y="80676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分子指纹+描述符+氨基酸矩阵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6517" y="1044892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前6子模型集成，定量预测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0500" y="1714500"/>
              <a:ext cx="4762500" cy="1238250"/>
            </a:xfrm>
            <a:prstGeom prst="roundRect">
              <a:avLst>
                <a:gd name="adj" fmla="val 10769"/>
              </a:avLst>
            </a:prstGeom>
            <a:solidFill>
              <a:srgbClr val="FFEDD5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23850" y="1847850"/>
              <a:ext cx="171450" cy="171450"/>
              <a:chOff x="323850" y="1847850"/>
              <a:chExt cx="171450" cy="1714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23850" y="1847850"/>
                <a:ext cx="15240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61925">
                    <a:moveTo>
                      <a:pt x="70104" y="154429"/>
                    </a:moveTo>
                    <a:lnTo>
                      <a:pt x="47625" y="161925"/>
                    </a:lnTo>
                    <a:lnTo>
                      <a:pt x="47625" y="80962"/>
                    </a:lnTo>
                    <a:lnTo>
                      <a:pt x="4953" y="34023"/>
                    </a:lnTo>
                    <a:cubicBezTo>
                      <a:pt x="1766" y="30517"/>
                      <a:pt x="1" y="25950"/>
                      <a:pt x="0" y="21212"/>
                    </a:cubicBezTo>
                    <a:lnTo>
                      <a:pt x="0" y="0"/>
                    </a:lnTo>
                    <a:lnTo>
                      <a:pt x="152400" y="0"/>
                    </a:lnTo>
                    <a:lnTo>
                      <a:pt x="152400" y="20688"/>
                    </a:lnTo>
                    <a:cubicBezTo>
                      <a:pt x="152399" y="25740"/>
                      <a:pt x="150391" y="30585"/>
                      <a:pt x="146818" y="34157"/>
                    </a:cubicBezTo>
                    <a:lnTo>
                      <a:pt x="104775" y="76200"/>
                    </a:lnTo>
                  </a:path>
                </a:pathLst>
              </a:custGeom>
              <a:noFill/>
              <a:ln w="19050">
                <a:solidFill>
                  <a:srgbClr val="EA58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28625" y="19526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EA58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78155" y="2002155"/>
                <a:ext cx="17145" cy="17145"/>
              </a:xfrm>
              <a:custGeom>
                <a:avLst/>
                <a:gdLst/>
                <a:ahLst/>
                <a:cxnLst/>
                <a:rect l="l" t="t" r="r" b="b"/>
                <a:pathLst>
                  <a:path w="17145" h="17145">
                    <a:moveTo>
                      <a:pt x="0" y="0"/>
                    </a:moveTo>
                    <a:lnTo>
                      <a:pt x="17145" y="17145"/>
                    </a:lnTo>
                  </a:path>
                </a:pathLst>
              </a:custGeom>
              <a:noFill/>
              <a:ln w="19050">
                <a:solidFill>
                  <a:srgbClr val="EA58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646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阈值分布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8892" y="2092642"/>
              <a:ext cx="2364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0F172A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新型肽 0.22-0.38 mmol/L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8892" y="2330768"/>
              <a:ext cx="2315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0F172A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牡蛎肽 0.24-0.30 mg/mL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8892" y="2568892"/>
              <a:ext cx="2175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0F172A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低于MSG，强度高3-5倍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0500" y="3143250"/>
              <a:ext cx="4762500" cy="857250"/>
            </a:xfrm>
            <a:prstGeom prst="roundRect">
              <a:avLst>
                <a:gd name="adj" fmla="val 15556"/>
              </a:avLst>
            </a:prstGeom>
            <a:solidFill>
              <a:srgbClr val="1E40AF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319088" y="3271838"/>
              <a:ext cx="200025" cy="200025"/>
              <a:chOff x="319088" y="3271838"/>
              <a:chExt cx="200025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19100" y="33829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8" y="71487"/>
                      <a:pt x="77788" y="50006"/>
                    </a:cubicBezTo>
                    <a:lnTo>
                      <a:pt x="77788" y="30004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41313" y="33829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74663" y="33385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5556" y="77788"/>
                    </a:moveTo>
                    <a:cubicBezTo>
                      <a:pt x="27037" y="77788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19100" y="3271838"/>
                <a:ext cx="77788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0009">
                    <a:moveTo>
                      <a:pt x="77788" y="70009"/>
                    </a:moveTo>
                    <a:lnTo>
                      <a:pt x="77788" y="38894"/>
                    </a:lnTo>
                    <a:cubicBezTo>
                      <a:pt x="77788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19088" y="33385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38894" y="77788"/>
                    </a:move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41313" y="3271838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59892" y="3283268"/>
              <a:ext cx="2074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LA-VAE + SpepToxPred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8892" y="3521392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潜在表示优化+毒性预测+味觉回避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0" y="0"/>
            <a:ext cx="5238750" cy="4953000"/>
            <a:chOff x="0" y="0"/>
            <a:chExt cx="5238750" cy="4953000"/>
          </a:xfrm>
        </p:grpSpPr>
        <p:sp>
          <p:nvSpPr>
            <p:cNvPr id="41" name="Rectangle 41"/>
            <p:cNvSpPr/>
            <p:nvPr/>
          </p:nvSpPr>
          <p:spPr>
            <a:xfrm>
              <a:off x="0" y="0"/>
              <a:ext cx="5238750" cy="4953000"/>
            </a:xfrm>
            <a:prstGeom prst="roundRect">
              <a:avLst>
                <a:gd name="adj" fmla="val 384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23838" y="176213"/>
              <a:ext cx="200026" cy="200025"/>
              <a:chOff x="223838" y="176213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23838" y="1762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63576" y="2206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98292" y="3317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563880" y="171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产业化路径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90500" y="476250"/>
              <a:ext cx="4857750" cy="104775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315991" y="604838"/>
              <a:ext cx="205446" cy="203138"/>
              <a:chOff x="315991" y="604838"/>
              <a:chExt cx="205446" cy="20313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15991" y="615950"/>
                <a:ext cx="192009" cy="192026"/>
              </a:xfrm>
              <a:custGeom>
                <a:avLst/>
                <a:gdLst/>
                <a:ahLst/>
                <a:cxnLst/>
                <a:rect l="l" t="t" r="r" b="b"/>
                <a:pathLst>
                  <a:path w="192009" h="192026">
                    <a:moveTo>
                      <a:pt x="192009" y="44895"/>
                    </a:moveTo>
                    <a:lnTo>
                      <a:pt x="57303" y="179623"/>
                    </a:lnTo>
                    <a:cubicBezTo>
                      <a:pt x="44906" y="192023"/>
                      <a:pt x="24803" y="192026"/>
                      <a:pt x="12403" y="179629"/>
                    </a:cubicBezTo>
                    <a:cubicBezTo>
                      <a:pt x="2" y="167231"/>
                      <a:pt x="0" y="147129"/>
                      <a:pt x="12397" y="134728"/>
                    </a:cubicBezTo>
                    <a:lnTo>
                      <a:pt x="147103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63538" y="71596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472339" y="738188"/>
                <a:ext cx="49098" cy="56767"/>
              </a:xfrm>
              <a:custGeom>
                <a:avLst/>
                <a:gdLst/>
                <a:ahLst/>
                <a:cxnLst/>
                <a:rect l="l" t="t" r="r" b="b"/>
                <a:pathLst>
                  <a:path w="49098" h="56767">
                    <a:moveTo>
                      <a:pt x="24549" y="0"/>
                    </a:moveTo>
                    <a:lnTo>
                      <a:pt x="41218" y="17780"/>
                    </a:lnTo>
                    <a:cubicBezTo>
                      <a:pt x="49098" y="26715"/>
                      <a:pt x="48531" y="40275"/>
                      <a:pt x="39933" y="48521"/>
                    </a:cubicBezTo>
                    <a:cubicBezTo>
                      <a:pt x="31334" y="56767"/>
                      <a:pt x="17763" y="56767"/>
                      <a:pt x="9165" y="48521"/>
                    </a:cubicBezTo>
                    <a:cubicBezTo>
                      <a:pt x="567" y="40275"/>
                      <a:pt x="0" y="26715"/>
                      <a:pt x="7880" y="17780"/>
                    </a:cubicBezTo>
                    <a:lnTo>
                      <a:pt x="24549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52438" y="6048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59892" y="616268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1. 低钠健康调味品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78892" y="8543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鲜味肽增强咸味，减盐不减味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78892" y="1092518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TMC4通道协同效应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90500" y="1714500"/>
              <a:ext cx="4857750" cy="104775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351338" y="1843088"/>
              <a:ext cx="135524" cy="200026"/>
              <a:chOff x="351338" y="1843088"/>
              <a:chExt cx="135524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385763" y="1843088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396875" y="1909763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351338" y="1843088"/>
                <a:ext cx="135524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35524" h="200026">
                    <a:moveTo>
                      <a:pt x="45537" y="0"/>
                    </a:moveTo>
                    <a:lnTo>
                      <a:pt x="45537" y="66675"/>
                    </a:lnTo>
                    <a:lnTo>
                      <a:pt x="1087" y="188913"/>
                    </a:lnTo>
                    <a:cubicBezTo>
                      <a:pt x="0" y="191100"/>
                      <a:pt x="3" y="193670"/>
                      <a:pt x="1095" y="195854"/>
                    </a:cubicBezTo>
                    <a:cubicBezTo>
                      <a:pt x="2187" y="198039"/>
                      <a:pt x="4242" y="199583"/>
                      <a:pt x="6643" y="200026"/>
                    </a:cubicBezTo>
                    <a:lnTo>
                      <a:pt x="128881" y="200026"/>
                    </a:lnTo>
                    <a:cubicBezTo>
                      <a:pt x="131283" y="199583"/>
                      <a:pt x="133337" y="198039"/>
                      <a:pt x="134429" y="195854"/>
                    </a:cubicBezTo>
                    <a:cubicBezTo>
                      <a:pt x="135521" y="193670"/>
                      <a:pt x="135524" y="191100"/>
                      <a:pt x="134437" y="188913"/>
                    </a:cubicBezTo>
                    <a:lnTo>
                      <a:pt x="89987" y="66675"/>
                    </a:lnTo>
                    <a:lnTo>
                      <a:pt x="89987" y="0"/>
                    </a:lnTo>
                  </a:path>
                </a:pathLst>
              </a:custGeom>
              <a:noFill/>
              <a:ln w="22225">
                <a:solidFill>
                  <a:srgbClr val="0E7490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59892" y="1854518"/>
              <a:ext cx="1371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2. 发酵工艺优化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78892" y="20926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前体蛋白水解规律指导定向发酵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78892" y="233076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前60天关键窗口靶点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90500" y="2952750"/>
              <a:ext cx="4857750" cy="104775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319088" y="3081338"/>
              <a:ext cx="200025" cy="200025"/>
              <a:chOff x="319088" y="3081338"/>
              <a:chExt cx="200025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419100" y="31924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8" y="71487"/>
                      <a:pt x="77788" y="50006"/>
                    </a:cubicBezTo>
                    <a:lnTo>
                      <a:pt x="77788" y="30004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341313" y="31924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474663" y="31480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5556" y="77788"/>
                    </a:moveTo>
                    <a:cubicBezTo>
                      <a:pt x="27037" y="77788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419100" y="3081338"/>
                <a:ext cx="77788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0009">
                    <a:moveTo>
                      <a:pt x="77788" y="70009"/>
                    </a:moveTo>
                    <a:lnTo>
                      <a:pt x="77788" y="38894"/>
                    </a:lnTo>
                    <a:cubicBezTo>
                      <a:pt x="77788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319088" y="31480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38894" y="77788"/>
                    </a:move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341313" y="3081338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22225">
                <a:solidFill>
                  <a:srgbClr val="EA58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59892" y="3092768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3. 个性化风味设计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78892" y="33308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模块替换定制鲜味强度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78892" y="35690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量子化学+理性设计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90500" y="4191000"/>
              <a:ext cx="4857750" cy="476250"/>
            </a:xfrm>
            <a:prstGeom prst="roundRect">
              <a:avLst>
                <a:gd name="adj" fmla="val 28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26517" y="4331018"/>
              <a:ext cx="2105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AI驱动的风味科学新范式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268605"/>
            <a:ext cx="10668000" cy="410718"/>
            <a:chOff x="762000" y="268605"/>
            <a:chExt cx="10668000" cy="410718"/>
          </a:xfrm>
        </p:grpSpPr>
        <p:grpSp>
          <p:nvGrpSpPr>
            <p:cNvPr id="4" name="Group 4"/>
            <p:cNvGrpSpPr/>
            <p:nvPr/>
          </p:nvGrpSpPr>
          <p:grpSpPr>
            <a:xfrm>
              <a:off x="812800" y="336550"/>
              <a:ext cx="203199" cy="203199"/>
              <a:chOff x="812800" y="336550"/>
              <a:chExt cx="203199" cy="203199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12800" y="33655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0" y="1778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  <a:cubicBezTo>
                      <a:pt x="191828" y="0"/>
                      <a:pt x="203199" y="11372"/>
                      <a:pt x="203199" y="25400"/>
                    </a:cubicBezTo>
                    <a:lnTo>
                      <a:pt x="203199" y="177800"/>
                    </a:lnTo>
                    <a:cubicBezTo>
                      <a:pt x="203199" y="191828"/>
                      <a:pt x="191828" y="203199"/>
                      <a:pt x="177800" y="203199"/>
                    </a:cubicBez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0E7490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50900" y="412750"/>
                <a:ext cx="1270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50800">
                    <a:moveTo>
                      <a:pt x="0" y="50800"/>
                    </a:moveTo>
                    <a:lnTo>
                      <a:pt x="38100" y="12700"/>
                    </a:lnTo>
                    <a:lnTo>
                      <a:pt x="63500" y="38100"/>
                    </a:lnTo>
                    <a:lnTo>
                      <a:pt x="101600" y="0"/>
                    </a:lnTo>
                    <a:lnTo>
                      <a:pt x="127000" y="25400"/>
                    </a:lnTo>
                  </a:path>
                </a:pathLst>
              </a:custGeom>
              <a:noFill/>
              <a:ln w="25400">
                <a:solidFill>
                  <a:srgbClr val="0E7490"/>
                </a:solidFill>
              </a:ln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1132332" y="268605"/>
              <a:ext cx="2415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12 未来展望与挑战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666750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0" y="0"/>
            <a:ext cx="10668000" cy="4953000"/>
            <a:chOff x="0" y="0"/>
            <a:chExt cx="10668000" cy="4953000"/>
          </a:xfrm>
        </p:grpSpPr>
        <p:sp>
          <p:nvSpPr>
            <p:cNvPr id="8" name="Rectangle 8"/>
            <p:cNvSpPr/>
            <p:nvPr/>
          </p:nvSpPr>
          <p:spPr>
            <a:xfrm>
              <a:off x="0" y="0"/>
              <a:ext cx="6667500" cy="4953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223838" y="176213"/>
              <a:ext cx="200025" cy="200025"/>
              <a:chOff x="223838" y="176213"/>
              <a:chExt cx="200025" cy="2000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323850" y="287338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8" y="71487"/>
                      <a:pt x="77788" y="50006"/>
                    </a:cubicBezTo>
                    <a:lnTo>
                      <a:pt x="77788" y="30004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46063" y="287338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79413" y="242888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5556" y="77788"/>
                    </a:moveTo>
                    <a:cubicBezTo>
                      <a:pt x="27037" y="77788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23850" y="176213"/>
                <a:ext cx="77788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0009">
                    <a:moveTo>
                      <a:pt x="77788" y="70009"/>
                    </a:moveTo>
                    <a:lnTo>
                      <a:pt x="77788" y="38894"/>
                    </a:lnTo>
                    <a:cubicBezTo>
                      <a:pt x="77788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23838" y="242888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38894" y="77788"/>
                    </a:move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46063" y="176213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22225">
                <a:solidFill>
                  <a:srgbClr val="1E40A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563880" y="1714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技术发展趋势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90500" y="476250"/>
              <a:ext cx="6286500" cy="857250"/>
            </a:xfrm>
            <a:prstGeom prst="roundRect">
              <a:avLst>
                <a:gd name="adj" fmla="val 15556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26517" y="568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算法层面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6517" y="8067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改进评分函数，整合溶剂与动态性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6517" y="1044892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多尺度建模：量子→动力学→粗粒化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0500" y="1524000"/>
              <a:ext cx="6286500" cy="857250"/>
            </a:xfrm>
            <a:prstGeom prst="roundRect">
              <a:avLst>
                <a:gd name="adj" fmla="val 15556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1616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数据层面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517" y="1854518"/>
              <a:ext cx="2777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扩大TasteDB，覆盖更多发酵体系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6517" y="20926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整合宏基因组，发酵香肠案例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90500" y="2571750"/>
              <a:ext cx="6286500" cy="857250"/>
            </a:xfrm>
            <a:prstGeom prst="roundRect">
              <a:avLst>
                <a:gd name="adj" fmla="val 15556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6517" y="2664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可解释与安全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6517" y="2902268"/>
              <a:ext cx="27838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SHAP揭示MolLogP、VSA关键作用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6517" y="3140392"/>
              <a:ext cx="2606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SpepToxPred毒性预测安全设计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90500" y="3619500"/>
              <a:ext cx="6286500" cy="857250"/>
            </a:xfrm>
            <a:prstGeom prst="roundRect">
              <a:avLst>
                <a:gd name="adj" fmla="val 15556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6517" y="37118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产业层面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6517" y="3950018"/>
              <a:ext cx="2294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高通量实验+计算闭环自动化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6517" y="4188142"/>
              <a:ext cx="2567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LA-VAE潜在空间优化味觉回避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58000" y="0"/>
              <a:ext cx="3810000" cy="4953000"/>
            </a:xfrm>
            <a:prstGeom prst="roundRect">
              <a:avLst>
                <a:gd name="adj" fmla="val 5000"/>
              </a:avLst>
            </a:prstGeom>
            <a:solidFill>
              <a:srgbClr val="1E40AF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086600" y="180975"/>
              <a:ext cx="228599" cy="228600"/>
              <a:chOff x="7086600" y="180975"/>
              <a:chExt cx="228599" cy="228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086600" y="18097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132015" y="23177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71690" y="35877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421880" y="171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挑战与思考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048500" y="571500"/>
              <a:ext cx="3429000" cy="85725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32142" y="6638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数据覆盖不全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32142" y="90201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2617条仍需扩充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2142" y="1140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稀有肽长肽不足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048500" y="1619250"/>
              <a:ext cx="3429000" cy="85725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32142" y="1711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评分函数准确性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32142" y="19497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动态性溶剂简化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32142" y="21878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需动力学精修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048500" y="2667000"/>
              <a:ext cx="3429000" cy="85725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32142" y="27593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实验验证缺口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32142" y="299751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计算≠感官真实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32142" y="3235642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电子舌+人工仍必要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048500" y="3714750"/>
              <a:ext cx="3429000" cy="952500"/>
            </a:xfrm>
            <a:prstGeom prst="roundRect">
              <a:avLst>
                <a:gd name="adj" fmla="val 14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32142" y="3807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未来范式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32142" y="4045268"/>
              <a:ext cx="1732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AI+组学+合成生物学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32142" y="42833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EDD5"/>
                  </a:solidFill>
                  <a:latin typeface="Arial"/>
                  <a:ea typeface="Microsoft YaHei"/>
                  <a:cs typeface="Arial"/>
                </a:rPr>
                <a:t>智能风味工厂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1E3A8A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0" y="-952500"/>
            <a:ext cx="5715000" cy="57150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0" y="3810000"/>
            <a:ext cx="3810000" cy="3810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42950" y="1086802"/>
            <a:ext cx="4382881" cy="2889123"/>
            <a:chOff x="742950" y="1086802"/>
            <a:chExt cx="4382881" cy="2889123"/>
          </a:xfrm>
        </p:grpSpPr>
        <p:sp>
          <p:nvSpPr>
            <p:cNvPr id="6" name="TextBox 6"/>
            <p:cNvSpPr txBox="1"/>
            <p:nvPr/>
          </p:nvSpPr>
          <p:spPr>
            <a:xfrm>
              <a:off x="742950" y="1086802"/>
              <a:ext cx="112852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致谢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4380" y="1743075"/>
              <a:ext cx="1112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93C5FD"/>
                  </a:solidFill>
                  <a:latin typeface="Arial"/>
                  <a:ea typeface="Arial"/>
                  <a:cs typeface="Arial"/>
                </a:rPr>
                <a:t>THANK YOU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095500"/>
              <a:ext cx="76200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3618" y="2298382"/>
              <a:ext cx="2321814" cy="1265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6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机器学习让鲜味肽筛选</a:t>
              </a:r>
              <a:br/>
              <a:r>
                <a:rPr lang="zh-CN" sz="16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从大海捞针变为精准导航</a:t>
              </a:r>
              <a:br/>
              <a:r>
                <a:rPr lang="zh-CN" sz="16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从经验驱动到数据驱动</a:t>
              </a:r>
              <a:br/>
              <a:r>
                <a:rPr lang="zh-CN" sz="16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AI重塑食品风味科学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142" y="3473768"/>
              <a:ext cx="4370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3C5FD"/>
                  </a:solidFill>
                  <a:latin typeface="Arial"/>
                  <a:ea typeface="Microsoft YaHei"/>
                  <a:cs typeface="Arial"/>
                </a:rPr>
                <a:t>参考文献：Food Chemistry 2023-2025, Foods 2026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3711892"/>
              <a:ext cx="3982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3C5FD"/>
                  </a:solidFill>
                  <a:latin typeface="Arial"/>
                  <a:ea typeface="Microsoft YaHei"/>
                  <a:cs typeface="Arial"/>
                </a:rPr>
                <a:t>工具：Umami-MRNN | YYDS | TPDM | AlphaFold3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0" y="1905000"/>
            <a:ext cx="3810000" cy="2857500"/>
            <a:chOff x="7620000" y="1905000"/>
            <a:chExt cx="3810000" cy="2857500"/>
          </a:xfrm>
        </p:grpSpPr>
        <p:sp>
          <p:nvSpPr>
            <p:cNvPr id="13" name="Rectangle 13"/>
            <p:cNvSpPr/>
            <p:nvPr/>
          </p:nvSpPr>
          <p:spPr>
            <a:xfrm>
              <a:off x="7620000" y="1905000"/>
              <a:ext cx="3810000" cy="2857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139112" y="2138362"/>
              <a:ext cx="257175" cy="257175"/>
              <a:chOff x="8139112" y="2138362"/>
              <a:chExt cx="257175" cy="2571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139112" y="2138362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37147" y="37148"/>
                    </a:moveTo>
                    <a:lnTo>
                      <a:pt x="47149" y="47149"/>
                    </a:lnTo>
                    <a:moveTo>
                      <a:pt x="220028" y="37148"/>
                    </a:moveTo>
                    <a:lnTo>
                      <a:pt x="210026" y="47149"/>
                    </a:ln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90205" y="2195512"/>
                <a:ext cx="15499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4990" h="200025">
                    <a:moveTo>
                      <a:pt x="34633" y="128588"/>
                    </a:moveTo>
                    <a:cubicBezTo>
                      <a:pt x="10034" y="110138"/>
                      <a:pt x="0" y="78018"/>
                      <a:pt x="9724" y="48847"/>
                    </a:cubicBezTo>
                    <a:cubicBezTo>
                      <a:pt x="19447" y="19676"/>
                      <a:pt x="46746" y="0"/>
                      <a:pt x="77495" y="0"/>
                    </a:cubicBezTo>
                    <a:cubicBezTo>
                      <a:pt x="108244" y="0"/>
                      <a:pt x="135543" y="19676"/>
                      <a:pt x="145267" y="48847"/>
                    </a:cubicBezTo>
                    <a:cubicBezTo>
                      <a:pt x="154990" y="78018"/>
                      <a:pt x="144957" y="110138"/>
                      <a:pt x="120358" y="128588"/>
                    </a:cubicBezTo>
                    <a:cubicBezTo>
                      <a:pt x="109044" y="139786"/>
                      <a:pt x="103739" y="155703"/>
                      <a:pt x="106070" y="171450"/>
                    </a:cubicBezTo>
                    <a:cubicBezTo>
                      <a:pt x="106070" y="187232"/>
                      <a:pt x="93277" y="200025"/>
                      <a:pt x="77495" y="200025"/>
                    </a:cubicBezTo>
                    <a:cubicBezTo>
                      <a:pt x="61714" y="200025"/>
                      <a:pt x="48920" y="187232"/>
                      <a:pt x="48920" y="171450"/>
                    </a:cubicBezTo>
                    <a:cubicBezTo>
                      <a:pt x="51252" y="155703"/>
                      <a:pt x="45946" y="139786"/>
                      <a:pt x="34633" y="128588"/>
                    </a:cubicBez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34839" y="2338388"/>
                <a:ext cx="6572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9525">
                    <a:moveTo>
                      <a:pt x="0" y="0"/>
                    </a:moveTo>
                    <a:lnTo>
                      <a:pt x="65723" y="0"/>
                    </a:lnTo>
                  </a:path>
                </a:pathLst>
              </a:custGeom>
              <a:noFill/>
              <a:ln w="28575">
                <a:solidFill>
                  <a:srgbClr val="1E40A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558784" y="2042160"/>
              <a:ext cx="10153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Q &amp; 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88630" y="25050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欢迎交流讨论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0" y="2857500"/>
              <a:ext cx="2857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89392" y="2997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联系方式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89392" y="3235642"/>
              <a:ext cx="2467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邮箱：research@food-ai.lab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89392" y="3473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课题组：食品风味感知团队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0" y="3810000"/>
              <a:ext cx="2857500" cy="666750"/>
            </a:xfrm>
            <a:prstGeom prst="roundRect">
              <a:avLst>
                <a:gd name="adj" fmla="val 1714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79892" y="3902392"/>
              <a:ext cx="2119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PPT-Master生成 可编辑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79892" y="41405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15页学术版 | 图标+大字体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umami_peptide_screening">
  <a:themeElements>
    <a:clrScheme name="ml_umami_peptide_screen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umami_peptide_screening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umami_peptide_screen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2026-08-27T12:49:42Z</dcterms:created>
  <dcterms:modified xsi:type="dcterms:W3CDTF">2026-08-27T12:49:42Z</dcterms:modified>
  <cp:category/>
  <cp:contentStatus/>
</cp:coreProperties>
</file>